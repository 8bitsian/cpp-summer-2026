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s/slide31.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49.xml" ContentType="application/vnd.openxmlformats-officedocument.presentationml.slide+xml"/>
  <Override PartName="/ppt/slides/slide48.xml" ContentType="application/vnd.openxmlformats-officedocument.presentationml.slide+xml"/>
  <Override PartName="/ppt/slides/slide54.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47.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1.xml" ContentType="application/vnd.openxmlformats-officedocument.presentationml.slide+xml"/>
  <Override PartName="/ppt/slides/slide40.xml" ContentType="application/vnd.openxmlformats-officedocument.presentationml.slide+xml"/>
  <Override PartName="/ppt/slides/slide22.xml" ContentType="application/vnd.openxmlformats-officedocument.presentationml.slide+xml"/>
  <Override PartName="/ppt/slides/slide21.xml" ContentType="application/vnd.openxmlformats-officedocument.presentationml.slide+xml"/>
  <Override PartName="/ppt/slides/slide20.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30.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0.xml" ContentType="application/vnd.openxmlformats-officedocument.presentationml.slide+xml"/>
  <Override PartName="/ppt/slides/slide14.xml" ContentType="application/vnd.openxmlformats-officedocument.presentationml.slide+xml"/>
  <Override PartName="/ppt/slides/slide12.xml" ContentType="application/vnd.openxmlformats-officedocument.presentationml.slide+xml"/>
  <Override PartName="/ppt/slides/slide15.xml" ContentType="application/vnd.openxmlformats-officedocument.presentationml.slide+xml"/>
  <Override PartName="/ppt/slides/slide13.xml" ContentType="application/vnd.openxmlformats-officedocument.presentationml.slide+xml"/>
  <Override PartName="/ppt/slideMasters/slideMaster1.xml" ContentType="application/vnd.openxmlformats-officedocument.presentationml.slideMaster+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2.xml" ContentType="application/vnd.openxmlformats-officedocument.presentationml.slideLayout+xml"/>
  <Override PartName="/ppt/slideLayouts/slideLayout6.xml" ContentType="application/vnd.openxmlformats-officedocument.presentationml.slideLayout+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slideLayouts/slideLayout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handoutMasters/handoutMaster1.xml" ContentType="application/vnd.openxmlformats-officedocument.presentationml.handout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wmf"/><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6"/>
  </p:notesMasterIdLst>
  <p:handoutMasterIdLst>
    <p:handoutMasterId r:id="rId57"/>
  </p:handoutMasterIdLst>
  <p:sldIdLst>
    <p:sldId id="358" r:id="rId2"/>
    <p:sldId id="360" r:id="rId3"/>
    <p:sldId id="317" r:id="rId4"/>
    <p:sldId id="318" r:id="rId5"/>
    <p:sldId id="265" r:id="rId6"/>
    <p:sldId id="319" r:id="rId7"/>
    <p:sldId id="320" r:id="rId8"/>
    <p:sldId id="321" r:id="rId9"/>
    <p:sldId id="322" r:id="rId10"/>
    <p:sldId id="323" r:id="rId11"/>
    <p:sldId id="324" r:id="rId12"/>
    <p:sldId id="325" r:id="rId13"/>
    <p:sldId id="326" r:id="rId14"/>
    <p:sldId id="329" r:id="rId15"/>
    <p:sldId id="330" r:id="rId16"/>
    <p:sldId id="327" r:id="rId17"/>
    <p:sldId id="328" r:id="rId18"/>
    <p:sldId id="278" r:id="rId19"/>
    <p:sldId id="331" r:id="rId20"/>
    <p:sldId id="332" r:id="rId21"/>
    <p:sldId id="281" r:id="rId22"/>
    <p:sldId id="333" r:id="rId23"/>
    <p:sldId id="334" r:id="rId24"/>
    <p:sldId id="284" r:id="rId25"/>
    <p:sldId id="335" r:id="rId26"/>
    <p:sldId id="336" r:id="rId27"/>
    <p:sldId id="337" r:id="rId28"/>
    <p:sldId id="338" r:id="rId29"/>
    <p:sldId id="339" r:id="rId30"/>
    <p:sldId id="290" r:id="rId31"/>
    <p:sldId id="340" r:id="rId32"/>
    <p:sldId id="341" r:id="rId33"/>
    <p:sldId id="293" r:id="rId34"/>
    <p:sldId id="342" r:id="rId35"/>
    <p:sldId id="343" r:id="rId36"/>
    <p:sldId id="344" r:id="rId37"/>
    <p:sldId id="345" r:id="rId38"/>
    <p:sldId id="346" r:id="rId39"/>
    <p:sldId id="347" r:id="rId40"/>
    <p:sldId id="348" r:id="rId41"/>
    <p:sldId id="349" r:id="rId42"/>
    <p:sldId id="302" r:id="rId43"/>
    <p:sldId id="350" r:id="rId44"/>
    <p:sldId id="351" r:id="rId45"/>
    <p:sldId id="305" r:id="rId46"/>
    <p:sldId id="352" r:id="rId47"/>
    <p:sldId id="307" r:id="rId48"/>
    <p:sldId id="310" r:id="rId49"/>
    <p:sldId id="311" r:id="rId50"/>
    <p:sldId id="353" r:id="rId51"/>
    <p:sldId id="354" r:id="rId52"/>
    <p:sldId id="355" r:id="rId53"/>
    <p:sldId id="309" r:id="rId54"/>
    <p:sldId id="356" r:id="rId55"/>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056" userDrawn="1">
          <p15:clr>
            <a:srgbClr val="A4A3A4"/>
          </p15:clr>
        </p15:guide>
        <p15:guide id="2" pos="120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7797"/>
    <a:srgbClr val="FA8218"/>
    <a:srgbClr val="0488AE"/>
    <a:srgbClr val="E6FCFE"/>
    <a:srgbClr val="DAFBFE"/>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11" autoAdjust="0"/>
    <p:restoredTop sz="94707" autoAdjust="0"/>
  </p:normalViewPr>
  <p:slideViewPr>
    <p:cSldViewPr showGuides="1">
      <p:cViewPr varScale="1">
        <p:scale>
          <a:sx n="110" d="100"/>
          <a:sy n="110" d="100"/>
        </p:scale>
        <p:origin x="858" y="108"/>
      </p:cViewPr>
      <p:guideLst>
        <p:guide orient="horz" pos="1056"/>
        <p:guide pos="1200"/>
      </p:guideLst>
    </p:cSldViewPr>
  </p:slideViewPr>
  <p:outlineViewPr>
    <p:cViewPr>
      <p:scale>
        <a:sx n="33" d="100"/>
        <a:sy n="33" d="100"/>
      </p:scale>
      <p:origin x="0" y="-26298"/>
    </p:cViewPr>
  </p:outlineViewPr>
  <p:notesTextViewPr>
    <p:cViewPr>
      <p:scale>
        <a:sx n="100" d="100"/>
        <a:sy n="100" d="100"/>
      </p:scale>
      <p:origin x="0" y="0"/>
    </p:cViewPr>
  </p:notesTextViewPr>
  <p:notesViewPr>
    <p:cSldViewPr showGuides="1">
      <p:cViewPr varScale="1">
        <p:scale>
          <a:sx n="56" d="100"/>
          <a:sy n="56" d="100"/>
        </p:scale>
        <p:origin x="-2856" y="-84"/>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customXml" Target="../customXml/item2.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notesMaster" Target="notesMasters/notesMaster1.xml"/><Relationship Id="rId64" Type="http://schemas.openxmlformats.org/officeDocument/2006/relationships/customXml" Target="../customXml/item3.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customXml" Target="../customXml/item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cs typeface="Arial" charset="0"/>
              </a:defRPr>
            </a:lvl1pPr>
          </a:lstStyle>
          <a:p>
            <a:pPr>
              <a:defRPr/>
            </a:pP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cs typeface="Arial" charset="0"/>
              </a:defRPr>
            </a:lvl1pPr>
          </a:lstStyle>
          <a:p>
            <a:pPr>
              <a:defRPr/>
            </a:pPr>
            <a:fld id="{5F0AE3DC-7D1E-4086-8B26-6A37435274EB}" type="datetimeFigureOut">
              <a:rPr lang="en-US"/>
              <a:pPr>
                <a:defRPr/>
              </a:pPr>
              <a:t>8/19/2021</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cs typeface="Arial" charset="0"/>
              </a:defRPr>
            </a:lvl1pPr>
          </a:lstStyle>
          <a:p>
            <a:pPr>
              <a:defRPr/>
            </a:pP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5963174B-67BA-49D2-9D4E-B47AC86152D6}" type="slidenum">
              <a:rPr lang="en-US" altLang="en-US"/>
              <a:pPr/>
              <a:t>‹#›</a:t>
            </a:fld>
            <a:endParaRPr lang="en-US" altLang="en-US"/>
          </a:p>
        </p:txBody>
      </p:sp>
    </p:spTree>
    <p:extLst>
      <p:ext uri="{BB962C8B-B14F-4D97-AF65-F5344CB8AC3E}">
        <p14:creationId xmlns:p14="http://schemas.microsoft.com/office/powerpoint/2010/main" val="36535158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cs typeface="Arial" charset="0"/>
              </a:defRPr>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hangingPunct="1">
              <a:defRPr sz="1200">
                <a:latin typeface="Arial" charset="0"/>
                <a:cs typeface="Arial" charset="0"/>
              </a:defRPr>
            </a:lvl1pPr>
          </a:lstStyle>
          <a:p>
            <a:pPr>
              <a:defRPr/>
            </a:pPr>
            <a:fld id="{6E4B2093-C707-4E82-94F8-FE5CAA5B559C}" type="datetimeFigureOut">
              <a:rPr lang="en-US"/>
              <a:pPr>
                <a:defRPr/>
              </a:pPr>
              <a:t>8/19/2021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cs typeface="Arial" charset="0"/>
              </a:defRPr>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fld id="{659A4476-3708-4B41-BFDA-BC5F8D10BF9B}" type="slidenum">
              <a:rPr lang="en-US" altLang="en-US"/>
              <a:pPr/>
              <a:t>‹#›</a:t>
            </a:fld>
            <a:endParaRPr lang="en-US" altLang="en-US"/>
          </a:p>
        </p:txBody>
      </p:sp>
    </p:spTree>
    <p:extLst>
      <p:ext uri="{BB962C8B-B14F-4D97-AF65-F5344CB8AC3E}">
        <p14:creationId xmlns:p14="http://schemas.microsoft.com/office/powerpoint/2010/main" val="334670371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11266" name="Rectangle 2"/>
          <p:cNvSpPr>
            <a:spLocks noGrp="1" noChangeArrowheads="1"/>
          </p:cNvSpPr>
          <p:nvPr>
            <p:ph type="ctrTitle"/>
          </p:nvPr>
        </p:nvSpPr>
        <p:spPr>
          <a:xfrm>
            <a:off x="685800" y="2130425"/>
            <a:ext cx="7772400" cy="1470025"/>
          </a:xfrm>
        </p:spPr>
        <p:txBody>
          <a:bodyPr/>
          <a:lstStyle>
            <a:lvl1pPr algn="ctr">
              <a:defRPr sz="8000">
                <a:solidFill>
                  <a:srgbClr val="0488AE"/>
                </a:solidFill>
              </a:defRPr>
            </a:lvl1pPr>
          </a:lstStyle>
          <a:p>
            <a:r>
              <a:rPr lang="en-US" dirty="0"/>
              <a:t>Section #</a:t>
            </a:r>
          </a:p>
        </p:txBody>
      </p:sp>
      <p:sp>
        <p:nvSpPr>
          <p:cNvPr id="11267" name="Rectangle 3"/>
          <p:cNvSpPr>
            <a:spLocks noGrp="1" noChangeArrowheads="1"/>
          </p:cNvSpPr>
          <p:nvPr>
            <p:ph type="subTitle" idx="1"/>
          </p:nvPr>
        </p:nvSpPr>
        <p:spPr>
          <a:xfrm>
            <a:off x="1371600" y="4267200"/>
            <a:ext cx="6400800" cy="1752600"/>
          </a:xfrm>
        </p:spPr>
        <p:txBody>
          <a:bodyPr/>
          <a:lstStyle>
            <a:lvl1pPr marL="0" indent="0" algn="ctr">
              <a:buFontTx/>
              <a:buNone/>
              <a:defRPr/>
            </a:lvl1pPr>
          </a:lstStyle>
          <a:p>
            <a:r>
              <a:rPr lang="en-US"/>
              <a:t>Click to edit Master subtitle style</a:t>
            </a:r>
          </a:p>
        </p:txBody>
      </p:sp>
      <p:sp>
        <p:nvSpPr>
          <p:cNvPr id="4" name="Slide Number Placeholder 4"/>
          <p:cNvSpPr>
            <a:spLocks noGrp="1" noChangeArrowheads="1"/>
          </p:cNvSpPr>
          <p:nvPr>
            <p:ph type="sldNum" sz="quarter" idx="10"/>
          </p:nvPr>
        </p:nvSpPr>
        <p:spPr>
          <a:xfrm>
            <a:off x="6934200" y="6245225"/>
            <a:ext cx="1752600" cy="476250"/>
          </a:xfrm>
        </p:spPr>
        <p:txBody>
          <a:bodyPr/>
          <a:lstStyle>
            <a:lvl1pPr>
              <a:defRPr/>
            </a:lvl1pPr>
          </a:lstStyle>
          <a:p>
            <a:fld id="{205155AE-0103-4C34-AB3E-DD1D007D3EF7}" type="slidenum">
              <a:rPr lang="en-US" altLang="en-US"/>
              <a:pPr/>
              <a:t>‹#›</a:t>
            </a:fld>
            <a:endParaRPr lang="en-US" altLang="en-US"/>
          </a:p>
        </p:txBody>
      </p:sp>
    </p:spTree>
    <p:extLst>
      <p:ext uri="{BB962C8B-B14F-4D97-AF65-F5344CB8AC3E}">
        <p14:creationId xmlns:p14="http://schemas.microsoft.com/office/powerpoint/2010/main" val="10390827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lvl1pPr marL="342900" indent="-342900">
              <a:buFont typeface="Arial" panose="020B0604020202020204" pitchFamily="34" charset="0"/>
              <a:buChar char="•"/>
              <a:defRPr/>
            </a:lvl1pPr>
            <a:lvl2pPr marL="742950" indent="-285750">
              <a:buFont typeface="Arial" panose="020B0604020202020204" pitchFamily="34" charset="0"/>
              <a:buChar char="•"/>
              <a:defRPr/>
            </a:lvl2pPr>
            <a:lvl3pPr marL="1143000" indent="-228600">
              <a:buFont typeface="Arial" panose="020B0604020202020204" pitchFamily="34" charset="0"/>
              <a:buChar char="•"/>
              <a:defRPr/>
            </a:lvl3pPr>
            <a:lvl4pPr marL="1600200" indent="-228600">
              <a:buFont typeface="Arial" panose="020B0604020202020204" pitchFamily="34" charset="0"/>
              <a:buChar char="•"/>
              <a:defRPr/>
            </a:lvl4pPr>
            <a:lvl5pPr marL="2057400" indent="-228600">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6"/>
          <p:cNvSpPr>
            <a:spLocks noGrp="1" noChangeArrowheads="1"/>
          </p:cNvSpPr>
          <p:nvPr>
            <p:ph type="sldNum" sz="quarter" idx="10"/>
          </p:nvPr>
        </p:nvSpPr>
        <p:spPr>
          <a:ln/>
        </p:spPr>
        <p:txBody>
          <a:bodyPr/>
          <a:lstStyle>
            <a:lvl1pPr>
              <a:defRPr/>
            </a:lvl1pPr>
          </a:lstStyle>
          <a:p>
            <a:fld id="{2D9B0591-317C-46EB-99E0-316C9E9BE2AC}" type="slidenum">
              <a:rPr lang="en-US" altLang="en-US"/>
              <a:pPr/>
              <a:t>‹#›</a:t>
            </a:fld>
            <a:endParaRPr lang="en-US" altLang="en-US"/>
          </a:p>
        </p:txBody>
      </p:sp>
    </p:spTree>
    <p:extLst>
      <p:ext uri="{BB962C8B-B14F-4D97-AF65-F5344CB8AC3E}">
        <p14:creationId xmlns:p14="http://schemas.microsoft.com/office/powerpoint/2010/main" val="17661249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a:xfrm>
            <a:off x="457200" y="1600201"/>
            <a:ext cx="8229600" cy="1219199"/>
          </a:xfrm>
        </p:spPr>
        <p:txBody>
          <a:bodyPr/>
          <a:lstStyle>
            <a:lvl1pPr marL="342900" indent="-342900">
              <a:buFont typeface="Arial" panose="020B0604020202020204" pitchFamily="34" charset="0"/>
              <a:buChar char="•"/>
              <a:defRPr/>
            </a:lvl1pPr>
            <a:lvl2pPr marL="742950" indent="-285750">
              <a:buFont typeface="Arial" panose="020B0604020202020204" pitchFamily="34" charset="0"/>
              <a:buChar char="•"/>
              <a:defRPr/>
            </a:lvl2pPr>
            <a:lvl3pPr marL="1143000" indent="-228600">
              <a:buFont typeface="Arial" panose="020B0604020202020204" pitchFamily="34" charset="0"/>
              <a:buChar char="•"/>
              <a:defRPr/>
            </a:lvl3pPr>
            <a:lvl4pPr marL="1600200" indent="-228600">
              <a:buFont typeface="Arial" panose="020B0604020202020204" pitchFamily="34" charset="0"/>
              <a:buChar char="•"/>
              <a:defRPr/>
            </a:lvl4pPr>
            <a:lvl5pPr marL="2057400" indent="-228600">
              <a:buFont typeface="Arial" panose="020B0604020202020204" pitchFamily="34"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6"/>
          <p:cNvSpPr>
            <a:spLocks noGrp="1" noChangeArrowheads="1"/>
          </p:cNvSpPr>
          <p:nvPr>
            <p:ph type="sldNum" sz="quarter" idx="10"/>
          </p:nvPr>
        </p:nvSpPr>
        <p:spPr>
          <a:ln/>
        </p:spPr>
        <p:txBody>
          <a:bodyPr/>
          <a:lstStyle>
            <a:lvl1pPr>
              <a:defRPr/>
            </a:lvl1pPr>
          </a:lstStyle>
          <a:p>
            <a:fld id="{2D9B0591-317C-46EB-99E0-316C9E9BE2AC}" type="slidenum">
              <a:rPr lang="en-US" altLang="en-US"/>
              <a:pPr/>
              <a:t>‹#›</a:t>
            </a:fld>
            <a:endParaRPr lang="en-US" altLang="en-US"/>
          </a:p>
        </p:txBody>
      </p:sp>
      <p:sp>
        <p:nvSpPr>
          <p:cNvPr id="6" name="Content Placeholder 5"/>
          <p:cNvSpPr>
            <a:spLocks noGrp="1"/>
          </p:cNvSpPr>
          <p:nvPr>
            <p:ph sz="quarter" idx="11"/>
          </p:nvPr>
        </p:nvSpPr>
        <p:spPr>
          <a:xfrm>
            <a:off x="457200" y="2971800"/>
            <a:ext cx="8229600" cy="9144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8" name="Content Placeholder 7"/>
          <p:cNvSpPr>
            <a:spLocks noGrp="1"/>
          </p:cNvSpPr>
          <p:nvPr>
            <p:ph sz="quarter" idx="12"/>
          </p:nvPr>
        </p:nvSpPr>
        <p:spPr>
          <a:xfrm>
            <a:off x="457200" y="4267200"/>
            <a:ext cx="8229600" cy="9144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10" name="Content Placeholder 9"/>
          <p:cNvSpPr>
            <a:spLocks noGrp="1"/>
          </p:cNvSpPr>
          <p:nvPr>
            <p:ph sz="quarter" idx="13"/>
          </p:nvPr>
        </p:nvSpPr>
        <p:spPr>
          <a:xfrm>
            <a:off x="457200" y="5562600"/>
            <a:ext cx="8305800" cy="914400"/>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Tree>
    <p:extLst>
      <p:ext uri="{BB962C8B-B14F-4D97-AF65-F5344CB8AC3E}">
        <p14:creationId xmlns:p14="http://schemas.microsoft.com/office/powerpoint/2010/main" val="9856892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sldNum" sz="quarter" idx="10"/>
          </p:nvPr>
        </p:nvSpPr>
        <p:spPr>
          <a:ln/>
        </p:spPr>
        <p:txBody>
          <a:bodyPr/>
          <a:lstStyle>
            <a:lvl1pPr>
              <a:defRPr/>
            </a:lvl1pPr>
          </a:lstStyle>
          <a:p>
            <a:fld id="{6639D9AF-EFAA-4CB8-8BFB-7ECF3DF30227}" type="slidenum">
              <a:rPr lang="en-US" altLang="en-US"/>
              <a:pPr/>
              <a:t>‹#›</a:t>
            </a:fld>
            <a:endParaRPr lang="en-US" altLang="en-US"/>
          </a:p>
        </p:txBody>
      </p:sp>
    </p:spTree>
    <p:extLst>
      <p:ext uri="{BB962C8B-B14F-4D97-AF65-F5344CB8AC3E}">
        <p14:creationId xmlns:p14="http://schemas.microsoft.com/office/powerpoint/2010/main" val="20907789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sldNum" sz="quarter" idx="10"/>
          </p:nvPr>
        </p:nvSpPr>
        <p:spPr>
          <a:ln/>
        </p:spPr>
        <p:txBody>
          <a:bodyPr/>
          <a:lstStyle>
            <a:lvl1pPr>
              <a:defRPr/>
            </a:lvl1pPr>
          </a:lstStyle>
          <a:p>
            <a:fld id="{B4E02A3A-FB03-4357-BCEC-9ABC1820E865}" type="slidenum">
              <a:rPr lang="en-US" altLang="en-US"/>
              <a:pPr/>
              <a:t>‹#›</a:t>
            </a:fld>
            <a:endParaRPr lang="en-US" altLang="en-US"/>
          </a:p>
        </p:txBody>
      </p:sp>
    </p:spTree>
    <p:extLst>
      <p:ext uri="{BB962C8B-B14F-4D97-AF65-F5344CB8AC3E}">
        <p14:creationId xmlns:p14="http://schemas.microsoft.com/office/powerpoint/2010/main" val="25837741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sldNum" sz="quarter" idx="10"/>
          </p:nvPr>
        </p:nvSpPr>
        <p:spPr>
          <a:ln/>
        </p:spPr>
        <p:txBody>
          <a:bodyPr/>
          <a:lstStyle>
            <a:lvl1pPr>
              <a:defRPr/>
            </a:lvl1pPr>
          </a:lstStyle>
          <a:p>
            <a:fld id="{48BA7278-F0C2-48B0-B3F2-CB825935E877}" type="slidenum">
              <a:rPr lang="en-US" altLang="en-US"/>
              <a:pPr/>
              <a:t>‹#›</a:t>
            </a:fld>
            <a:endParaRPr lang="en-US" altLang="en-US"/>
          </a:p>
        </p:txBody>
      </p:sp>
    </p:spTree>
    <p:extLst>
      <p:ext uri="{BB962C8B-B14F-4D97-AF65-F5344CB8AC3E}">
        <p14:creationId xmlns:p14="http://schemas.microsoft.com/office/powerpoint/2010/main" val="31622463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sldNum" sz="quarter" idx="10"/>
          </p:nvPr>
        </p:nvSpPr>
        <p:spPr>
          <a:ln/>
        </p:spPr>
        <p:txBody>
          <a:bodyPr/>
          <a:lstStyle>
            <a:lvl1pPr>
              <a:defRPr/>
            </a:lvl1pPr>
          </a:lstStyle>
          <a:p>
            <a:fld id="{4EB4E44D-8089-4E2B-BE92-43D0D8C4FB9D}" type="slidenum">
              <a:rPr lang="en-US" altLang="en-US"/>
              <a:pPr/>
              <a:t>‹#›</a:t>
            </a:fld>
            <a:endParaRPr lang="en-US" altLang="en-US"/>
          </a:p>
        </p:txBody>
      </p:sp>
    </p:spTree>
    <p:extLst>
      <p:ext uri="{BB962C8B-B14F-4D97-AF65-F5344CB8AC3E}">
        <p14:creationId xmlns:p14="http://schemas.microsoft.com/office/powerpoint/2010/main" val="1152750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sldNum" sz="quarter" idx="10"/>
          </p:nvPr>
        </p:nvSpPr>
        <p:spPr>
          <a:ln/>
        </p:spPr>
        <p:txBody>
          <a:bodyPr/>
          <a:lstStyle>
            <a:lvl1pPr>
              <a:defRPr/>
            </a:lvl1pPr>
          </a:lstStyle>
          <a:p>
            <a:fld id="{E4608D1D-059C-4141-AA49-8F989320BC9B}" type="slidenum">
              <a:rPr lang="en-US" altLang="en-US"/>
              <a:pPr/>
              <a:t>‹#›</a:t>
            </a:fld>
            <a:endParaRPr lang="en-US" altLang="en-US"/>
          </a:p>
        </p:txBody>
      </p:sp>
    </p:spTree>
    <p:extLst>
      <p:ext uri="{BB962C8B-B14F-4D97-AF65-F5344CB8AC3E}">
        <p14:creationId xmlns:p14="http://schemas.microsoft.com/office/powerpoint/2010/main" val="25695562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fld id="{4EDC30FE-5139-45DE-B9F8-B9DB6BCA4485}" type="slidenum">
              <a:rPr lang="en-US" altLang="en-US"/>
              <a:pPr/>
              <a:t>‹#›</a:t>
            </a:fld>
            <a:endParaRPr lang="en-US" altLang="en-US"/>
          </a:p>
        </p:txBody>
      </p:sp>
    </p:spTree>
    <p:extLst>
      <p:ext uri="{BB962C8B-B14F-4D97-AF65-F5344CB8AC3E}">
        <p14:creationId xmlns:p14="http://schemas.microsoft.com/office/powerpoint/2010/main" val="32465626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sldNum" sz="quarter" idx="10"/>
          </p:nvPr>
        </p:nvSpPr>
        <p:spPr>
          <a:ln/>
        </p:spPr>
        <p:txBody>
          <a:bodyPr/>
          <a:lstStyle>
            <a:lvl1pPr>
              <a:defRPr/>
            </a:lvl1pPr>
          </a:lstStyle>
          <a:p>
            <a:fld id="{1258A31A-F511-4E09-9CAC-AD6FCFEEF63A}" type="slidenum">
              <a:rPr lang="en-US" altLang="en-US"/>
              <a:pPr/>
              <a:t>‹#›</a:t>
            </a:fld>
            <a:endParaRPr lang="en-US" altLang="en-US"/>
          </a:p>
        </p:txBody>
      </p:sp>
    </p:spTree>
    <p:extLst>
      <p:ext uri="{BB962C8B-B14F-4D97-AF65-F5344CB8AC3E}">
        <p14:creationId xmlns:p14="http://schemas.microsoft.com/office/powerpoint/2010/main" val="36652484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a:ln/>
        </p:spPr>
        <p:txBody>
          <a:bodyPr/>
          <a:lstStyle>
            <a:lvl1pPr>
              <a:defRPr/>
            </a:lvl1pPr>
          </a:lstStyle>
          <a:p>
            <a:fld id="{06196A2C-B535-42DB-94E3-CCD45D506700}" type="slidenum">
              <a:rPr lang="en-US" altLang="en-US"/>
              <a:pPr/>
              <a:t>‹#›</a:t>
            </a:fld>
            <a:endParaRPr lang="en-US" altLang="en-US"/>
          </a:p>
        </p:txBody>
      </p:sp>
    </p:spTree>
    <p:extLst>
      <p:ext uri="{BB962C8B-B14F-4D97-AF65-F5344CB8AC3E}">
        <p14:creationId xmlns:p14="http://schemas.microsoft.com/office/powerpoint/2010/main" val="16324010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sldNum" sz="quarter" idx="10"/>
          </p:nvPr>
        </p:nvSpPr>
        <p:spPr>
          <a:ln/>
        </p:spPr>
        <p:txBody>
          <a:bodyPr/>
          <a:lstStyle>
            <a:lvl1pPr>
              <a:defRPr/>
            </a:lvl1pPr>
          </a:lstStyle>
          <a:p>
            <a:fld id="{6016B99F-8FAA-4E38-894F-DE7BD7B71CD4}" type="slidenum">
              <a:rPr lang="en-US" altLang="en-US"/>
              <a:pPr/>
              <a:t>‹#›</a:t>
            </a:fld>
            <a:endParaRPr lang="en-US" altLang="en-US"/>
          </a:p>
        </p:txBody>
      </p:sp>
    </p:spTree>
    <p:extLst>
      <p:ext uri="{BB962C8B-B14F-4D97-AF65-F5344CB8AC3E}">
        <p14:creationId xmlns:p14="http://schemas.microsoft.com/office/powerpoint/2010/main" val="29624748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400"/>
            </a:lvl1pPr>
          </a:lstStyle>
          <a:p>
            <a:fld id="{A70979B2-BF9D-47D3-BF05-5E365A4319BA}" type="slidenum">
              <a:rPr lang="en-US" altLang="en-US"/>
              <a:pPr/>
              <a:t>‹#›</a:t>
            </a:fld>
            <a:endParaRPr lang="en-US" altLang="en-US"/>
          </a:p>
        </p:txBody>
      </p:sp>
      <p:sp>
        <p:nvSpPr>
          <p:cNvPr id="1029" name="Text Box 14"/>
          <p:cNvSpPr txBox="1">
            <a:spLocks noChangeArrowheads="1"/>
          </p:cNvSpPr>
          <p:nvPr userDrawn="1"/>
        </p:nvSpPr>
        <p:spPr bwMode="auto">
          <a:xfrm>
            <a:off x="1181100" y="6411913"/>
            <a:ext cx="6781800" cy="276225"/>
          </a:xfrm>
          <a:prstGeom prst="rect">
            <a:avLst/>
          </a:prstGeom>
          <a:noFill/>
          <a:ln>
            <a:noFill/>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r>
              <a:rPr lang="en-US" altLang="en-US" sz="1200" dirty="0">
                <a:latin typeface="Times New Roman" pitchFamily="18" charset="0"/>
              </a:rPr>
              <a:t>Copyright © 2020, 2018, 2015, 2012, 2009 Pearson Education, Inc. All rights reserved.</a:t>
            </a:r>
          </a:p>
        </p:txBody>
      </p:sp>
      <p:pic>
        <p:nvPicPr>
          <p:cNvPr id="2" name="Picture 6"/>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152400" y="6394450"/>
            <a:ext cx="998538" cy="30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63" r:id="rId1"/>
    <p:sldLayoutId id="2147483853" r:id="rId2"/>
    <p:sldLayoutId id="2147483864" r:id="rId3"/>
    <p:sldLayoutId id="2147483854" r:id="rId4"/>
    <p:sldLayoutId id="2147483855" r:id="rId5"/>
    <p:sldLayoutId id="2147483856" r:id="rId6"/>
    <p:sldLayoutId id="2147483857" r:id="rId7"/>
    <p:sldLayoutId id="2147483858" r:id="rId8"/>
    <p:sldLayoutId id="2147483859" r:id="rId9"/>
    <p:sldLayoutId id="2147483860" r:id="rId10"/>
    <p:sldLayoutId id="2147483861" r:id="rId11"/>
    <p:sldLayoutId id="2147483862" r:id="rId12"/>
  </p:sldLayoutIdLst>
  <p:timing>
    <p:tnLst>
      <p:par>
        <p:cTn id="1" dur="indefinite" restart="never" nodeType="tmRoot"/>
      </p:par>
    </p:tnLst>
  </p:timing>
  <p:txStyles>
    <p:titleStyle>
      <a:lvl1pPr algn="l" rtl="0" eaLnBrk="0" fontAlgn="base" hangingPunct="0">
        <a:spcBef>
          <a:spcPct val="0"/>
        </a:spcBef>
        <a:spcAft>
          <a:spcPct val="0"/>
        </a:spcAft>
        <a:defRPr sz="4400">
          <a:solidFill>
            <a:srgbClr val="0488AE"/>
          </a:solidFill>
          <a:latin typeface="+mj-lt"/>
          <a:ea typeface="+mj-ea"/>
          <a:cs typeface="+mj-cs"/>
        </a:defRPr>
      </a:lvl1pPr>
      <a:lvl2pPr algn="l" rtl="0" eaLnBrk="0" fontAlgn="base" hangingPunct="0">
        <a:spcBef>
          <a:spcPct val="0"/>
        </a:spcBef>
        <a:spcAft>
          <a:spcPct val="0"/>
        </a:spcAft>
        <a:defRPr sz="4400">
          <a:solidFill>
            <a:srgbClr val="0488AE"/>
          </a:solidFill>
          <a:latin typeface="Arial" charset="0"/>
          <a:cs typeface="Arial" charset="0"/>
        </a:defRPr>
      </a:lvl2pPr>
      <a:lvl3pPr algn="l" rtl="0" eaLnBrk="0" fontAlgn="base" hangingPunct="0">
        <a:spcBef>
          <a:spcPct val="0"/>
        </a:spcBef>
        <a:spcAft>
          <a:spcPct val="0"/>
        </a:spcAft>
        <a:defRPr sz="4400">
          <a:solidFill>
            <a:srgbClr val="0488AE"/>
          </a:solidFill>
          <a:latin typeface="Arial" charset="0"/>
          <a:cs typeface="Arial" charset="0"/>
        </a:defRPr>
      </a:lvl3pPr>
      <a:lvl4pPr algn="l" rtl="0" eaLnBrk="0" fontAlgn="base" hangingPunct="0">
        <a:spcBef>
          <a:spcPct val="0"/>
        </a:spcBef>
        <a:spcAft>
          <a:spcPct val="0"/>
        </a:spcAft>
        <a:defRPr sz="4400">
          <a:solidFill>
            <a:srgbClr val="0488AE"/>
          </a:solidFill>
          <a:latin typeface="Arial" charset="0"/>
          <a:cs typeface="Arial" charset="0"/>
        </a:defRPr>
      </a:lvl4pPr>
      <a:lvl5pPr algn="l" rtl="0" eaLnBrk="0" fontAlgn="base" hangingPunct="0">
        <a:spcBef>
          <a:spcPct val="0"/>
        </a:spcBef>
        <a:spcAft>
          <a:spcPct val="0"/>
        </a:spcAft>
        <a:defRPr sz="4400">
          <a:solidFill>
            <a:srgbClr val="0488AE"/>
          </a:solidFill>
          <a:latin typeface="Arial" charset="0"/>
          <a:cs typeface="Arial" charset="0"/>
        </a:defRPr>
      </a:lvl5pPr>
      <a:lvl6pPr marL="457200" algn="l" rtl="0" fontAlgn="base">
        <a:spcBef>
          <a:spcPct val="0"/>
        </a:spcBef>
        <a:spcAft>
          <a:spcPct val="0"/>
        </a:spcAft>
        <a:defRPr sz="4400">
          <a:solidFill>
            <a:srgbClr val="FF3300"/>
          </a:solidFill>
          <a:latin typeface="Arial" charset="0"/>
          <a:cs typeface="Arial" charset="0"/>
        </a:defRPr>
      </a:lvl6pPr>
      <a:lvl7pPr marL="914400" algn="l" rtl="0" fontAlgn="base">
        <a:spcBef>
          <a:spcPct val="0"/>
        </a:spcBef>
        <a:spcAft>
          <a:spcPct val="0"/>
        </a:spcAft>
        <a:defRPr sz="4400">
          <a:solidFill>
            <a:srgbClr val="FF3300"/>
          </a:solidFill>
          <a:latin typeface="Arial" charset="0"/>
          <a:cs typeface="Arial" charset="0"/>
        </a:defRPr>
      </a:lvl7pPr>
      <a:lvl8pPr marL="1371600" algn="l" rtl="0" fontAlgn="base">
        <a:spcBef>
          <a:spcPct val="0"/>
        </a:spcBef>
        <a:spcAft>
          <a:spcPct val="0"/>
        </a:spcAft>
        <a:defRPr sz="4400">
          <a:solidFill>
            <a:srgbClr val="FF3300"/>
          </a:solidFill>
          <a:latin typeface="Arial" charset="0"/>
          <a:cs typeface="Arial" charset="0"/>
        </a:defRPr>
      </a:lvl8pPr>
      <a:lvl9pPr marL="1828800" algn="l" rtl="0" fontAlgn="base">
        <a:spcBef>
          <a:spcPct val="0"/>
        </a:spcBef>
        <a:spcAft>
          <a:spcPct val="0"/>
        </a:spcAft>
        <a:defRPr sz="4400">
          <a:solidFill>
            <a:srgbClr val="FF3300"/>
          </a:solidFill>
          <a:latin typeface="Arial" charset="0"/>
          <a:cs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cs typeface="+mn-cs"/>
        </a:defRPr>
      </a:lvl2pPr>
      <a:lvl3pPr marL="1143000" indent="-228600" algn="l" rtl="0" eaLnBrk="0" fontAlgn="base" hangingPunct="0">
        <a:spcBef>
          <a:spcPct val="20000"/>
        </a:spcBef>
        <a:spcAft>
          <a:spcPct val="0"/>
        </a:spcAft>
        <a:buChar char="•"/>
        <a:defRPr sz="2400">
          <a:solidFill>
            <a:schemeClr val="tx1"/>
          </a:solidFill>
          <a:latin typeface="+mn-lt"/>
          <a:cs typeface="+mn-cs"/>
        </a:defRPr>
      </a:lvl3pPr>
      <a:lvl4pPr marL="1600200" indent="-228600" algn="l" rtl="0" eaLnBrk="0" fontAlgn="base" hangingPunct="0">
        <a:spcBef>
          <a:spcPct val="20000"/>
        </a:spcBef>
        <a:spcAft>
          <a:spcPct val="0"/>
        </a:spcAft>
        <a:buChar char="–"/>
        <a:defRPr sz="2000">
          <a:solidFill>
            <a:schemeClr val="tx1"/>
          </a:solidFill>
          <a:latin typeface="+mn-lt"/>
          <a:cs typeface="+mn-cs"/>
        </a:defRPr>
      </a:lvl4pPr>
      <a:lvl5pPr marL="2057400" indent="-228600" algn="l" rtl="0" eaLnBrk="0" fontAlgn="base" hangingPunct="0">
        <a:spcBef>
          <a:spcPct val="20000"/>
        </a:spcBef>
        <a:spcAft>
          <a:spcPct val="0"/>
        </a:spcAft>
        <a:buChar char="»"/>
        <a:defRPr sz="2000">
          <a:solidFill>
            <a:schemeClr val="tx1"/>
          </a:solidFill>
          <a:latin typeface="+mn-lt"/>
          <a:cs typeface="+mn-cs"/>
        </a:defRPr>
      </a:lvl5pPr>
      <a:lvl6pPr marL="2514600" indent="-228600" algn="l" rtl="0" fontAlgn="base">
        <a:spcBef>
          <a:spcPct val="20000"/>
        </a:spcBef>
        <a:spcAft>
          <a:spcPct val="0"/>
        </a:spcAft>
        <a:buChar char="»"/>
        <a:defRPr sz="2000">
          <a:solidFill>
            <a:schemeClr val="tx1"/>
          </a:solidFill>
          <a:latin typeface="+mn-lt"/>
          <a:cs typeface="+mn-cs"/>
        </a:defRPr>
      </a:lvl6pPr>
      <a:lvl7pPr marL="2971800" indent="-228600" algn="l" rtl="0" fontAlgn="base">
        <a:spcBef>
          <a:spcPct val="20000"/>
        </a:spcBef>
        <a:spcAft>
          <a:spcPct val="0"/>
        </a:spcAft>
        <a:buChar char="»"/>
        <a:defRPr sz="2000">
          <a:solidFill>
            <a:schemeClr val="tx1"/>
          </a:solidFill>
          <a:latin typeface="+mn-lt"/>
          <a:cs typeface="+mn-cs"/>
        </a:defRPr>
      </a:lvl7pPr>
      <a:lvl8pPr marL="3429000" indent="-228600" algn="l" rtl="0" fontAlgn="base">
        <a:spcBef>
          <a:spcPct val="20000"/>
        </a:spcBef>
        <a:spcAft>
          <a:spcPct val="0"/>
        </a:spcAft>
        <a:buChar char="»"/>
        <a:defRPr sz="2000">
          <a:solidFill>
            <a:schemeClr val="tx1"/>
          </a:solidFill>
          <a:latin typeface="+mn-lt"/>
          <a:cs typeface="+mn-cs"/>
        </a:defRPr>
      </a:lvl8pPr>
      <a:lvl9pPr marL="3886200" indent="-228600" algn="l" rtl="0" fontAlgn="base">
        <a:spcBef>
          <a:spcPct val="20000"/>
        </a:spcBef>
        <a:spcAft>
          <a:spcPct val="0"/>
        </a:spcAft>
        <a:buChar char="»"/>
        <a:defRPr sz="2000">
          <a:solidFill>
            <a:schemeClr val="tx1"/>
          </a:solidFill>
          <a:latin typeface="+mn-lt"/>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9600" y="1447200"/>
            <a:ext cx="7772400" cy="1470025"/>
          </a:xfrm>
        </p:spPr>
        <p:txBody>
          <a:bodyPr/>
          <a:lstStyle/>
          <a:p>
            <a:pPr lvl="0" eaLnBrk="1" hangingPunct="1">
              <a:lnSpc>
                <a:spcPct val="140000"/>
              </a:lnSpc>
              <a:spcBef>
                <a:spcPts val="0"/>
              </a:spcBef>
            </a:pPr>
            <a:r>
              <a:rPr lang="en-US" altLang="en-US" sz="4400" b="1" kern="1200" dirty="0">
                <a:solidFill>
                  <a:srgbClr val="037797"/>
                </a:solidFill>
                <a:latin typeface="Arial" panose="020B0604020202020204" pitchFamily="34" charset="0"/>
                <a:ea typeface="+mn-ea"/>
                <a:cs typeface="Arial" panose="020B0604020202020204" pitchFamily="34" charset="0"/>
              </a:rPr>
              <a:t>Chapter 20:</a:t>
            </a:r>
            <a:r>
              <a:rPr lang="en-US" altLang="en-US" sz="2800" b="1" kern="1200" dirty="0">
                <a:solidFill>
                  <a:srgbClr val="000000"/>
                </a:solidFill>
                <a:latin typeface="Arial" panose="020B0604020202020204" pitchFamily="34" charset="0"/>
                <a:ea typeface="+mn-ea"/>
                <a:cs typeface="Arial" panose="020B0604020202020204" pitchFamily="34" charset="0"/>
              </a:rPr>
              <a:t/>
            </a:r>
            <a:br>
              <a:rPr lang="en-US" altLang="en-US" sz="2800" b="1" kern="1200" dirty="0">
                <a:solidFill>
                  <a:srgbClr val="000000"/>
                </a:solidFill>
                <a:latin typeface="Arial" panose="020B0604020202020204" pitchFamily="34" charset="0"/>
                <a:ea typeface="+mn-ea"/>
                <a:cs typeface="Arial" panose="020B0604020202020204" pitchFamily="34" charset="0"/>
              </a:rPr>
            </a:br>
            <a:r>
              <a:rPr lang="en-US" altLang="en-US" sz="2800" b="1" kern="1200" dirty="0" smtClean="0">
                <a:solidFill>
                  <a:srgbClr val="000000"/>
                </a:solidFill>
                <a:latin typeface="Arial" panose="020B0604020202020204" pitchFamily="34" charset="0"/>
                <a:ea typeface="+mn-ea"/>
                <a:cs typeface="Arial" panose="020B0604020202020204" pitchFamily="34" charset="0"/>
              </a:rPr>
              <a:t>Recursion</a:t>
            </a:r>
            <a:endParaRPr lang="en-IN" dirty="0"/>
          </a:p>
        </p:txBody>
      </p:sp>
    </p:spTree>
    <p:extLst>
      <p:ext uri="{BB962C8B-B14F-4D97-AF65-F5344CB8AC3E}">
        <p14:creationId xmlns:p14="http://schemas.microsoft.com/office/powerpoint/2010/main" val="31204683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Introduction to Recursion</a:t>
            </a:r>
            <a:endParaRPr lang="en-IN" dirty="0">
              <a:solidFill>
                <a:srgbClr val="037797"/>
              </a:solidFill>
            </a:endParaRPr>
          </a:p>
        </p:txBody>
      </p:sp>
      <p:sp>
        <p:nvSpPr>
          <p:cNvPr id="3" name="Content Placeholder 2"/>
          <p:cNvSpPr>
            <a:spLocks noGrp="1"/>
          </p:cNvSpPr>
          <p:nvPr>
            <p:ph idx="1"/>
          </p:nvPr>
        </p:nvSpPr>
        <p:spPr/>
        <p:txBody>
          <a:bodyPr/>
          <a:lstStyle/>
          <a:p>
            <a:pPr lvl="0">
              <a:lnSpc>
                <a:spcPct val="90000"/>
              </a:lnSpc>
              <a:buFontTx/>
              <a:buChar char="•"/>
            </a:pPr>
            <a:r>
              <a:rPr lang="en-US" altLang="en-US" sz="2400" dirty="0">
                <a:solidFill>
                  <a:srgbClr val="000000"/>
                </a:solidFill>
              </a:rPr>
              <a:t>A </a:t>
            </a:r>
            <a:r>
              <a:rPr lang="en-US" altLang="en-US" sz="2400" u="sng" dirty="0">
                <a:solidFill>
                  <a:srgbClr val="000000"/>
                </a:solidFill>
              </a:rPr>
              <a:t>recursive function</a:t>
            </a:r>
            <a:r>
              <a:rPr lang="en-US" altLang="en-US" sz="2400" dirty="0">
                <a:solidFill>
                  <a:srgbClr val="000000"/>
                </a:solidFill>
              </a:rPr>
              <a:t> contains a call to itself:</a:t>
            </a:r>
          </a:p>
          <a:p>
            <a:pPr lvl="1">
              <a:lnSpc>
                <a:spcPct val="85000"/>
              </a:lnSpc>
              <a:buNone/>
            </a:pPr>
            <a:r>
              <a:rPr lang="en-US" altLang="en-US" sz="2000" dirty="0">
                <a:solidFill>
                  <a:srgbClr val="000000"/>
                </a:solidFill>
                <a:latin typeface="Courier New" panose="02070309020205020404" pitchFamily="49" charset="0"/>
              </a:rPr>
              <a:t>void </a:t>
            </a:r>
            <a:r>
              <a:rPr lang="en-US" altLang="en-US" sz="2000" dirty="0" err="1">
                <a:solidFill>
                  <a:srgbClr val="000000"/>
                </a:solidFill>
                <a:latin typeface="Courier New" panose="02070309020205020404" pitchFamily="49" charset="0"/>
              </a:rPr>
              <a:t>countDown</a:t>
            </a:r>
            <a:r>
              <a:rPr lang="en-US" altLang="en-US" sz="2000" dirty="0">
                <a:solidFill>
                  <a:srgbClr val="000000"/>
                </a:solidFill>
                <a:latin typeface="Courier New" panose="02070309020205020404" pitchFamily="49" charset="0"/>
              </a:rPr>
              <a:t>(</a:t>
            </a:r>
            <a:r>
              <a:rPr lang="en-US" altLang="en-US" sz="2000" dirty="0" err="1">
                <a:solidFill>
                  <a:srgbClr val="000000"/>
                </a:solidFill>
                <a:latin typeface="Courier New" panose="02070309020205020404" pitchFamily="49" charset="0"/>
              </a:rPr>
              <a:t>int</a:t>
            </a:r>
            <a:r>
              <a:rPr lang="en-US" altLang="en-US" sz="2000" dirty="0">
                <a:solidFill>
                  <a:srgbClr val="000000"/>
                </a:solidFill>
                <a:latin typeface="Courier New" panose="02070309020205020404" pitchFamily="49" charset="0"/>
              </a:rPr>
              <a:t> </a:t>
            </a:r>
            <a:r>
              <a:rPr lang="en-US" altLang="en-US" sz="2000" dirty="0" err="1">
                <a:solidFill>
                  <a:srgbClr val="000000"/>
                </a:solidFill>
                <a:latin typeface="Courier New" panose="02070309020205020404" pitchFamily="49" charset="0"/>
              </a:rPr>
              <a:t>num</a:t>
            </a:r>
            <a:r>
              <a:rPr lang="en-US" altLang="en-US" sz="2000" dirty="0">
                <a:solidFill>
                  <a:srgbClr val="000000"/>
                </a:solidFill>
                <a:latin typeface="Courier New" panose="02070309020205020404" pitchFamily="49" charset="0"/>
              </a:rPr>
              <a:t>)</a:t>
            </a:r>
          </a:p>
          <a:p>
            <a:pPr lvl="1">
              <a:lnSpc>
                <a:spcPct val="85000"/>
              </a:lnSpc>
              <a:buNone/>
            </a:pPr>
            <a:r>
              <a:rPr lang="en-US" altLang="en-US" sz="2000" dirty="0">
                <a:solidFill>
                  <a:srgbClr val="000000"/>
                </a:solidFill>
                <a:latin typeface="Courier New" panose="02070309020205020404" pitchFamily="49" charset="0"/>
              </a:rPr>
              <a:t>{ 	</a:t>
            </a:r>
          </a:p>
          <a:p>
            <a:pPr marL="1188000" lvl="1">
              <a:lnSpc>
                <a:spcPct val="85000"/>
              </a:lnSpc>
              <a:buNone/>
            </a:pPr>
            <a:r>
              <a:rPr lang="en-US" altLang="en-US" sz="2000" dirty="0" smtClean="0">
                <a:solidFill>
                  <a:srgbClr val="000000"/>
                </a:solidFill>
                <a:latin typeface="Courier New" panose="02070309020205020404" pitchFamily="49" charset="0"/>
              </a:rPr>
              <a:t>if </a:t>
            </a:r>
            <a:r>
              <a:rPr lang="en-US" altLang="en-US" sz="2000" dirty="0">
                <a:solidFill>
                  <a:srgbClr val="000000"/>
                </a:solidFill>
                <a:latin typeface="Courier New" panose="02070309020205020404" pitchFamily="49" charset="0"/>
              </a:rPr>
              <a:t>(</a:t>
            </a:r>
            <a:r>
              <a:rPr lang="en-US" altLang="en-US" sz="2000" dirty="0" err="1">
                <a:solidFill>
                  <a:srgbClr val="000000"/>
                </a:solidFill>
                <a:latin typeface="Courier New" panose="02070309020205020404" pitchFamily="49" charset="0"/>
              </a:rPr>
              <a:t>num</a:t>
            </a:r>
            <a:r>
              <a:rPr lang="en-US" altLang="en-US" sz="2000" dirty="0">
                <a:solidFill>
                  <a:srgbClr val="000000"/>
                </a:solidFill>
                <a:latin typeface="Courier New" panose="02070309020205020404" pitchFamily="49" charset="0"/>
              </a:rPr>
              <a:t> == 0)</a:t>
            </a:r>
          </a:p>
          <a:p>
            <a:pPr marL="1656000" lvl="1">
              <a:lnSpc>
                <a:spcPct val="85000"/>
              </a:lnSpc>
              <a:buNone/>
            </a:pPr>
            <a:r>
              <a:rPr lang="en-US" altLang="en-US" sz="2000" dirty="0" err="1" smtClean="0">
                <a:solidFill>
                  <a:srgbClr val="000000"/>
                </a:solidFill>
                <a:latin typeface="Courier New" panose="02070309020205020404" pitchFamily="49" charset="0"/>
              </a:rPr>
              <a:t>cout</a:t>
            </a:r>
            <a:r>
              <a:rPr lang="en-US" altLang="en-US" sz="2000" dirty="0" smtClean="0">
                <a:solidFill>
                  <a:srgbClr val="000000"/>
                </a:solidFill>
                <a:latin typeface="Courier New" panose="02070309020205020404" pitchFamily="49" charset="0"/>
              </a:rPr>
              <a:t> </a:t>
            </a:r>
            <a:r>
              <a:rPr lang="en-US" altLang="en-US" sz="2000" dirty="0">
                <a:solidFill>
                  <a:srgbClr val="000000"/>
                </a:solidFill>
                <a:latin typeface="Courier New" panose="02070309020205020404" pitchFamily="49" charset="0"/>
              </a:rPr>
              <a:t>&lt;&lt; "Blastoff!";</a:t>
            </a:r>
          </a:p>
          <a:p>
            <a:pPr marL="1188000" lvl="1">
              <a:lnSpc>
                <a:spcPct val="85000"/>
              </a:lnSpc>
              <a:buNone/>
            </a:pPr>
            <a:r>
              <a:rPr lang="en-US" altLang="en-US" sz="2000" dirty="0" smtClean="0">
                <a:solidFill>
                  <a:srgbClr val="000000"/>
                </a:solidFill>
                <a:latin typeface="Courier New" panose="02070309020205020404" pitchFamily="49" charset="0"/>
              </a:rPr>
              <a:t>else</a:t>
            </a:r>
            <a:endParaRPr lang="en-US" altLang="en-US" sz="2000" dirty="0">
              <a:solidFill>
                <a:srgbClr val="000000"/>
              </a:solidFill>
              <a:latin typeface="Courier New" panose="02070309020205020404" pitchFamily="49" charset="0"/>
            </a:endParaRPr>
          </a:p>
          <a:p>
            <a:pPr marL="1188000" lvl="1">
              <a:lnSpc>
                <a:spcPct val="85000"/>
              </a:lnSpc>
              <a:buNone/>
            </a:pPr>
            <a:r>
              <a:rPr lang="en-US" altLang="en-US" sz="2000" dirty="0" smtClean="0">
                <a:solidFill>
                  <a:srgbClr val="000000"/>
                </a:solidFill>
                <a:latin typeface="Courier New" panose="02070309020205020404" pitchFamily="49" charset="0"/>
              </a:rPr>
              <a:t>{ </a:t>
            </a:r>
            <a:endParaRPr lang="en-US" altLang="en-US" sz="2000" dirty="0">
              <a:solidFill>
                <a:srgbClr val="000000"/>
              </a:solidFill>
              <a:latin typeface="Courier New" panose="02070309020205020404" pitchFamily="49" charset="0"/>
            </a:endParaRPr>
          </a:p>
          <a:p>
            <a:pPr marL="1656000" lvl="1">
              <a:lnSpc>
                <a:spcPct val="85000"/>
              </a:lnSpc>
              <a:buNone/>
            </a:pPr>
            <a:r>
              <a:rPr lang="en-US" altLang="en-US" sz="2000" dirty="0" err="1" smtClean="0">
                <a:solidFill>
                  <a:srgbClr val="000000"/>
                </a:solidFill>
                <a:latin typeface="Courier New" panose="02070309020205020404" pitchFamily="49" charset="0"/>
              </a:rPr>
              <a:t>cout</a:t>
            </a:r>
            <a:r>
              <a:rPr lang="en-US" altLang="en-US" sz="2000" dirty="0" smtClean="0">
                <a:solidFill>
                  <a:srgbClr val="000000"/>
                </a:solidFill>
                <a:latin typeface="Courier New" panose="02070309020205020404" pitchFamily="49" charset="0"/>
              </a:rPr>
              <a:t> </a:t>
            </a:r>
            <a:r>
              <a:rPr lang="en-US" altLang="en-US" sz="2000" dirty="0">
                <a:solidFill>
                  <a:srgbClr val="000000"/>
                </a:solidFill>
                <a:latin typeface="Courier New" panose="02070309020205020404" pitchFamily="49" charset="0"/>
              </a:rPr>
              <a:t>&lt;&lt; </a:t>
            </a:r>
            <a:r>
              <a:rPr lang="en-US" altLang="en-US" sz="2000" dirty="0" err="1">
                <a:solidFill>
                  <a:srgbClr val="000000"/>
                </a:solidFill>
                <a:latin typeface="Courier New" panose="02070309020205020404" pitchFamily="49" charset="0"/>
              </a:rPr>
              <a:t>num</a:t>
            </a:r>
            <a:r>
              <a:rPr lang="en-US" altLang="en-US" sz="2000" dirty="0">
                <a:solidFill>
                  <a:srgbClr val="000000"/>
                </a:solidFill>
                <a:latin typeface="Courier New" panose="02070309020205020404" pitchFamily="49" charset="0"/>
              </a:rPr>
              <a:t> &lt;&lt; "...\n";</a:t>
            </a:r>
          </a:p>
          <a:p>
            <a:pPr marL="1656000" lvl="1">
              <a:lnSpc>
                <a:spcPct val="85000"/>
              </a:lnSpc>
              <a:buNone/>
            </a:pPr>
            <a:r>
              <a:rPr lang="en-US" altLang="en-US" sz="2000" dirty="0" err="1" smtClean="0">
                <a:solidFill>
                  <a:srgbClr val="000000"/>
                </a:solidFill>
                <a:latin typeface="Courier New" panose="02070309020205020404" pitchFamily="49" charset="0"/>
              </a:rPr>
              <a:t>countDown</a:t>
            </a:r>
            <a:r>
              <a:rPr lang="en-US" altLang="en-US" sz="2000" dirty="0" smtClean="0">
                <a:solidFill>
                  <a:srgbClr val="000000"/>
                </a:solidFill>
                <a:latin typeface="Courier New" panose="02070309020205020404" pitchFamily="49" charset="0"/>
              </a:rPr>
              <a:t>(num-1</a:t>
            </a:r>
            <a:r>
              <a:rPr lang="en-US" altLang="en-US" sz="2000" dirty="0">
                <a:solidFill>
                  <a:srgbClr val="000000"/>
                </a:solidFill>
                <a:latin typeface="Courier New" panose="02070309020205020404" pitchFamily="49" charset="0"/>
              </a:rPr>
              <a:t>); // recursive</a:t>
            </a:r>
          </a:p>
          <a:p>
            <a:pPr marL="1188000" lvl="1">
              <a:lnSpc>
                <a:spcPct val="85000"/>
              </a:lnSpc>
              <a:buNone/>
            </a:pPr>
            <a:r>
              <a:rPr lang="en-US" altLang="en-US" sz="2000" dirty="0" smtClean="0">
                <a:solidFill>
                  <a:srgbClr val="000000"/>
                </a:solidFill>
                <a:latin typeface="Courier New" panose="02070309020205020404" pitchFamily="49" charset="0"/>
              </a:rPr>
              <a:t>}                    </a:t>
            </a:r>
            <a:r>
              <a:rPr lang="en-US" altLang="en-US" sz="2000" dirty="0">
                <a:solidFill>
                  <a:srgbClr val="000000"/>
                </a:solidFill>
                <a:latin typeface="Courier New" panose="02070309020205020404" pitchFamily="49" charset="0"/>
              </a:rPr>
              <a:t>// call</a:t>
            </a:r>
          </a:p>
          <a:p>
            <a:pPr lvl="1">
              <a:lnSpc>
                <a:spcPct val="85000"/>
              </a:lnSpc>
              <a:buNone/>
            </a:pPr>
            <a:r>
              <a:rPr lang="en-US" altLang="en-US" sz="2000" dirty="0" smtClean="0">
                <a:solidFill>
                  <a:srgbClr val="000000"/>
                </a:solidFill>
                <a:latin typeface="Courier New" panose="02070309020205020404" pitchFamily="49" charset="0"/>
              </a:rPr>
              <a:t>}</a:t>
            </a:r>
            <a:endParaRPr lang="en-US" altLang="en-US" sz="200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3980602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smtClean="0">
                <a:solidFill>
                  <a:srgbClr val="037797"/>
                </a:solidFill>
              </a:rPr>
              <a:t>What Happens When Called? </a:t>
            </a:r>
            <a:r>
              <a:rPr lang="en-US" altLang="en-US" sz="1200" dirty="0" smtClean="0">
                <a:solidFill>
                  <a:srgbClr val="037797"/>
                </a:solidFill>
              </a:rPr>
              <a:t>(1 of 4)</a:t>
            </a:r>
            <a:endParaRPr lang="en-IN" sz="1200" dirty="0">
              <a:solidFill>
                <a:srgbClr val="037797"/>
              </a:solidFill>
            </a:endParaRPr>
          </a:p>
        </p:txBody>
      </p:sp>
      <p:sp>
        <p:nvSpPr>
          <p:cNvPr id="3" name="Content Placeholder 2"/>
          <p:cNvSpPr>
            <a:spLocks noGrp="1"/>
          </p:cNvSpPr>
          <p:nvPr>
            <p:ph idx="1"/>
          </p:nvPr>
        </p:nvSpPr>
        <p:spPr>
          <a:xfrm>
            <a:off x="309152" y="1678581"/>
            <a:ext cx="8534400" cy="4525963"/>
          </a:xfrm>
        </p:spPr>
        <p:txBody>
          <a:bodyPr/>
          <a:lstStyle/>
          <a:p>
            <a:pPr marL="533400" lvl="0" indent="-533400">
              <a:lnSpc>
                <a:spcPct val="95000"/>
              </a:lnSpc>
              <a:buNone/>
            </a:pPr>
            <a:r>
              <a:rPr lang="en-US" altLang="en-US" sz="2800" dirty="0">
                <a:solidFill>
                  <a:srgbClr val="000000"/>
                </a:solidFill>
              </a:rPr>
              <a:t>If a program contains a line like </a:t>
            </a:r>
            <a:r>
              <a:rPr lang="en-US" altLang="en-US" sz="2800" dirty="0">
                <a:solidFill>
                  <a:srgbClr val="000000"/>
                </a:solidFill>
                <a:latin typeface="Courier New" panose="02070309020205020404" pitchFamily="49" charset="0"/>
              </a:rPr>
              <a:t>countDown(2);</a:t>
            </a:r>
            <a:endParaRPr lang="en-US" altLang="en-US" sz="2800" dirty="0">
              <a:solidFill>
                <a:srgbClr val="000000"/>
              </a:solidFill>
            </a:endParaRPr>
          </a:p>
          <a:p>
            <a:pPr marL="533400" lvl="0" indent="-533400">
              <a:lnSpc>
                <a:spcPct val="95000"/>
              </a:lnSpc>
              <a:buClr>
                <a:srgbClr val="000000"/>
              </a:buClr>
              <a:buFontTx/>
              <a:buAutoNum type="arabicPeriod"/>
            </a:pPr>
            <a:r>
              <a:rPr lang="en-US" altLang="en-US" sz="2800" dirty="0">
                <a:solidFill>
                  <a:srgbClr val="000000"/>
                </a:solidFill>
                <a:latin typeface="Courier New" panose="02070309020205020404" pitchFamily="49" charset="0"/>
              </a:rPr>
              <a:t>countDown(2)</a:t>
            </a:r>
            <a:r>
              <a:rPr lang="en-US" altLang="en-US" sz="2800" dirty="0">
                <a:solidFill>
                  <a:srgbClr val="000000"/>
                </a:solidFill>
              </a:rPr>
              <a:t> generates the output </a:t>
            </a:r>
            <a:r>
              <a:rPr lang="en-US" altLang="en-US" sz="2800" dirty="0">
                <a:solidFill>
                  <a:srgbClr val="000000"/>
                </a:solidFill>
                <a:latin typeface="Courier New" panose="02070309020205020404" pitchFamily="49" charset="0"/>
              </a:rPr>
              <a:t>2...</a:t>
            </a:r>
            <a:r>
              <a:rPr lang="en-US" altLang="en-US" sz="2800" dirty="0">
                <a:solidFill>
                  <a:srgbClr val="000000"/>
                </a:solidFill>
              </a:rPr>
              <a:t>, then it calls </a:t>
            </a:r>
            <a:r>
              <a:rPr lang="en-US" altLang="en-US" sz="2800" dirty="0">
                <a:solidFill>
                  <a:srgbClr val="000000"/>
                </a:solidFill>
                <a:latin typeface="Courier New" panose="02070309020205020404" pitchFamily="49" charset="0"/>
              </a:rPr>
              <a:t>countDown(1)</a:t>
            </a:r>
            <a:endParaRPr lang="en-US" altLang="en-US" sz="2800" dirty="0">
              <a:solidFill>
                <a:srgbClr val="000000"/>
              </a:solidFill>
            </a:endParaRPr>
          </a:p>
          <a:p>
            <a:pPr marL="533400" lvl="0" indent="-533400">
              <a:lnSpc>
                <a:spcPct val="95000"/>
              </a:lnSpc>
              <a:buClr>
                <a:srgbClr val="000000"/>
              </a:buClr>
              <a:buFontTx/>
              <a:buAutoNum type="arabicPeriod"/>
            </a:pPr>
            <a:r>
              <a:rPr lang="en-US" altLang="en-US" sz="2800" dirty="0">
                <a:solidFill>
                  <a:srgbClr val="000000"/>
                </a:solidFill>
                <a:latin typeface="Courier New" panose="02070309020205020404" pitchFamily="49" charset="0"/>
              </a:rPr>
              <a:t>countDown(1)</a:t>
            </a:r>
            <a:r>
              <a:rPr lang="en-US" altLang="en-US" sz="2800" dirty="0">
                <a:solidFill>
                  <a:srgbClr val="000000"/>
                </a:solidFill>
              </a:rPr>
              <a:t> generates the output </a:t>
            </a:r>
            <a:r>
              <a:rPr lang="en-US" altLang="en-US" sz="2800" dirty="0">
                <a:solidFill>
                  <a:srgbClr val="000000"/>
                </a:solidFill>
                <a:latin typeface="Courier New" panose="02070309020205020404" pitchFamily="49" charset="0"/>
              </a:rPr>
              <a:t>1...</a:t>
            </a:r>
            <a:r>
              <a:rPr lang="en-US" altLang="en-US" sz="2800" dirty="0">
                <a:solidFill>
                  <a:srgbClr val="000000"/>
                </a:solidFill>
              </a:rPr>
              <a:t>, then it calls </a:t>
            </a:r>
            <a:r>
              <a:rPr lang="en-US" altLang="en-US" sz="2800" dirty="0">
                <a:solidFill>
                  <a:srgbClr val="000000"/>
                </a:solidFill>
                <a:latin typeface="Courier New" panose="02070309020205020404" pitchFamily="49" charset="0"/>
              </a:rPr>
              <a:t>countDown(0)</a:t>
            </a:r>
          </a:p>
          <a:p>
            <a:pPr marL="533400" lvl="0" indent="-533400">
              <a:lnSpc>
                <a:spcPct val="95000"/>
              </a:lnSpc>
              <a:buClr>
                <a:srgbClr val="000000"/>
              </a:buClr>
              <a:buFontTx/>
              <a:buAutoNum type="arabicPeriod"/>
            </a:pPr>
            <a:r>
              <a:rPr lang="en-US" altLang="en-US" sz="2800" dirty="0">
                <a:solidFill>
                  <a:srgbClr val="000000"/>
                </a:solidFill>
                <a:latin typeface="Courier New" panose="02070309020205020404" pitchFamily="49" charset="0"/>
              </a:rPr>
              <a:t>countDown(0)</a:t>
            </a:r>
            <a:r>
              <a:rPr lang="en-US" altLang="en-US" sz="2800" dirty="0">
                <a:solidFill>
                  <a:srgbClr val="000000"/>
                </a:solidFill>
              </a:rPr>
              <a:t> generates the output </a:t>
            </a:r>
            <a:r>
              <a:rPr lang="en-US" altLang="en-US" sz="2800" dirty="0">
                <a:solidFill>
                  <a:srgbClr val="000000"/>
                </a:solidFill>
                <a:latin typeface="Courier New" panose="02070309020205020404" pitchFamily="49" charset="0"/>
              </a:rPr>
              <a:t>Blastoff!</a:t>
            </a:r>
            <a:r>
              <a:rPr lang="en-US" altLang="en-US" sz="2800" dirty="0">
                <a:solidFill>
                  <a:srgbClr val="000000"/>
                </a:solidFill>
              </a:rPr>
              <a:t>, then returns to </a:t>
            </a:r>
            <a:r>
              <a:rPr lang="en-US" altLang="en-US" sz="2800" dirty="0">
                <a:solidFill>
                  <a:srgbClr val="000000"/>
                </a:solidFill>
                <a:latin typeface="Courier New" panose="02070309020205020404" pitchFamily="49" charset="0"/>
              </a:rPr>
              <a:t>countDown(1)</a:t>
            </a:r>
          </a:p>
          <a:p>
            <a:pPr marL="533400" lvl="0" indent="-533400">
              <a:lnSpc>
                <a:spcPct val="95000"/>
              </a:lnSpc>
              <a:buClr>
                <a:srgbClr val="000000"/>
              </a:buClr>
              <a:buFontTx/>
              <a:buAutoNum type="arabicPeriod"/>
            </a:pPr>
            <a:r>
              <a:rPr lang="en-US" altLang="en-US" sz="2800" dirty="0">
                <a:solidFill>
                  <a:srgbClr val="000000"/>
                </a:solidFill>
                <a:latin typeface="Courier New" panose="02070309020205020404" pitchFamily="49" charset="0"/>
              </a:rPr>
              <a:t>countDown(1)</a:t>
            </a:r>
            <a:r>
              <a:rPr lang="en-US" altLang="en-US" sz="2800" dirty="0">
                <a:solidFill>
                  <a:srgbClr val="000000"/>
                </a:solidFill>
              </a:rPr>
              <a:t> returns to </a:t>
            </a:r>
            <a:r>
              <a:rPr lang="en-US" altLang="en-US" sz="2800" dirty="0">
                <a:solidFill>
                  <a:srgbClr val="000000"/>
                </a:solidFill>
                <a:latin typeface="Courier New" panose="02070309020205020404" pitchFamily="49" charset="0"/>
              </a:rPr>
              <a:t>countDown(2)</a:t>
            </a:r>
          </a:p>
          <a:p>
            <a:pPr marL="533400" lvl="0" indent="-533400">
              <a:lnSpc>
                <a:spcPct val="95000"/>
              </a:lnSpc>
              <a:buClr>
                <a:srgbClr val="000000"/>
              </a:buClr>
              <a:buFontTx/>
              <a:buAutoNum type="arabicPeriod"/>
            </a:pPr>
            <a:r>
              <a:rPr lang="en-US" altLang="en-US" sz="2800" dirty="0">
                <a:solidFill>
                  <a:srgbClr val="000000"/>
                </a:solidFill>
                <a:latin typeface="Courier New" panose="02070309020205020404" pitchFamily="49" charset="0"/>
              </a:rPr>
              <a:t>countDown(2)</a:t>
            </a:r>
            <a:r>
              <a:rPr lang="en-US" altLang="en-US" sz="2800" dirty="0">
                <a:solidFill>
                  <a:srgbClr val="000000"/>
                </a:solidFill>
              </a:rPr>
              <a:t>returns to the calling </a:t>
            </a:r>
            <a:r>
              <a:rPr lang="en-US" altLang="en-US" sz="2800" dirty="0" smtClean="0">
                <a:solidFill>
                  <a:srgbClr val="000000"/>
                </a:solidFill>
              </a:rPr>
              <a:t>function</a:t>
            </a:r>
            <a:endParaRPr lang="en-US" altLang="en-US" sz="280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40397476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What Happens When Called? </a:t>
            </a:r>
            <a:r>
              <a:rPr lang="en-US" altLang="en-US" sz="1200" dirty="0" smtClean="0">
                <a:solidFill>
                  <a:srgbClr val="037797"/>
                </a:solidFill>
              </a:rPr>
              <a:t>(2 </a:t>
            </a:r>
            <a:r>
              <a:rPr lang="en-US" altLang="en-US" sz="1200" dirty="0">
                <a:solidFill>
                  <a:srgbClr val="037797"/>
                </a:solidFill>
              </a:rPr>
              <a:t>of </a:t>
            </a:r>
            <a:r>
              <a:rPr lang="en-US" altLang="en-US" sz="1200" dirty="0" smtClean="0">
                <a:solidFill>
                  <a:srgbClr val="037797"/>
                </a:solidFill>
              </a:rPr>
              <a:t>4)</a:t>
            </a:r>
            <a:endParaRPr lang="en-IN" dirty="0"/>
          </a:p>
        </p:txBody>
      </p:sp>
      <p:pic>
        <p:nvPicPr>
          <p:cNvPr id="4" name="Picture 3" descr="The screenshot shows the steps that take place when a recursive function is called. Step 1. The countDown (2) generates the output 2 and then it calls countDown (1). The first call to countDown num is 2. Step 2. countDown (1) generates the output 1, and then it calls countDown (0). The second call to countDown num is 1. Step 3. countDown (0) generates the output Blastoff!, then returns to countDown (1). The third call to countDown num is 0. Step 4. countDown (1) returns to countDown (2). Step 5. countDown (2) returns to the calling function."/>
          <p:cNvPicPr>
            <a:picLocks noChangeAspect="1"/>
          </p:cNvPicPr>
          <p:nvPr/>
        </p:nvPicPr>
        <p:blipFill>
          <a:blip r:embed="rId2"/>
          <a:stretch>
            <a:fillRect/>
          </a:stretch>
        </p:blipFill>
        <p:spPr>
          <a:xfrm>
            <a:off x="889143" y="1542138"/>
            <a:ext cx="7365715" cy="4699869"/>
          </a:xfrm>
          <a:prstGeom prst="rect">
            <a:avLst/>
          </a:prstGeom>
        </p:spPr>
      </p:pic>
    </p:spTree>
    <p:extLst>
      <p:ext uri="{BB962C8B-B14F-4D97-AF65-F5344CB8AC3E}">
        <p14:creationId xmlns:p14="http://schemas.microsoft.com/office/powerpoint/2010/main" val="7140490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noChangeArrowheads="1"/>
          </p:cNvSpPr>
          <p:nvPr>
            <p:ph type="ctrTitle"/>
          </p:nvPr>
        </p:nvSpPr>
        <p:spPr/>
        <p:txBody>
          <a:bodyPr/>
          <a:lstStyle/>
          <a:p>
            <a:r>
              <a:rPr lang="en-US" altLang="en-US" dirty="0" smtClean="0">
                <a:solidFill>
                  <a:srgbClr val="037797"/>
                </a:solidFill>
              </a:rPr>
              <a:t>20.2</a:t>
            </a:r>
          </a:p>
        </p:txBody>
      </p:sp>
      <p:sp>
        <p:nvSpPr>
          <p:cNvPr id="9219" name="Subtitle 2"/>
          <p:cNvSpPr>
            <a:spLocks noGrp="1" noChangeArrowheads="1"/>
          </p:cNvSpPr>
          <p:nvPr>
            <p:ph type="subTitle" idx="1"/>
          </p:nvPr>
        </p:nvSpPr>
        <p:spPr>
          <a:xfrm>
            <a:off x="1371600" y="4267201"/>
            <a:ext cx="6400800" cy="685800"/>
          </a:xfrm>
        </p:spPr>
        <p:txBody>
          <a:bodyPr/>
          <a:lstStyle/>
          <a:p>
            <a:r>
              <a:rPr lang="en-US" altLang="en-US" dirty="0" smtClean="0"/>
              <a:t>Solving Problems with Recursion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438" y="257220"/>
            <a:ext cx="8229600" cy="944562"/>
          </a:xfrm>
        </p:spPr>
        <p:txBody>
          <a:bodyPr/>
          <a:lstStyle/>
          <a:p>
            <a:r>
              <a:rPr lang="en-US" altLang="en-US" dirty="0">
                <a:solidFill>
                  <a:srgbClr val="037797"/>
                </a:solidFill>
              </a:rPr>
              <a:t>Recursive Functions - Purpose</a:t>
            </a:r>
            <a:endParaRPr lang="en-IN" dirty="0">
              <a:solidFill>
                <a:srgbClr val="037797"/>
              </a:solidFill>
            </a:endParaRPr>
          </a:p>
        </p:txBody>
      </p:sp>
      <p:sp>
        <p:nvSpPr>
          <p:cNvPr id="3" name="Content Placeholder 2"/>
          <p:cNvSpPr>
            <a:spLocks noGrp="1"/>
          </p:cNvSpPr>
          <p:nvPr>
            <p:ph idx="1"/>
          </p:nvPr>
        </p:nvSpPr>
        <p:spPr/>
        <p:txBody>
          <a:bodyPr/>
          <a:lstStyle/>
          <a:p>
            <a:pPr lvl="0">
              <a:buFontTx/>
              <a:buChar char="•"/>
            </a:pPr>
            <a:r>
              <a:rPr lang="en-US" altLang="en-US" dirty="0">
                <a:solidFill>
                  <a:srgbClr val="000000"/>
                </a:solidFill>
              </a:rPr>
              <a:t>Recursive functions are used to reduce a complex problem to a simpler-to-solve problem.</a:t>
            </a:r>
          </a:p>
          <a:p>
            <a:pPr lvl="0">
              <a:buFontTx/>
              <a:buChar char="•"/>
            </a:pPr>
            <a:r>
              <a:rPr lang="en-US" altLang="en-US" dirty="0">
                <a:solidFill>
                  <a:srgbClr val="000000"/>
                </a:solidFill>
              </a:rPr>
              <a:t>The simpler-to-solve problem is known as the </a:t>
            </a:r>
            <a:r>
              <a:rPr lang="en-US" altLang="en-US" u="sng" dirty="0">
                <a:solidFill>
                  <a:srgbClr val="000000"/>
                </a:solidFill>
              </a:rPr>
              <a:t>base case</a:t>
            </a:r>
          </a:p>
          <a:p>
            <a:pPr lvl="0">
              <a:buFontTx/>
              <a:buChar char="•"/>
            </a:pPr>
            <a:r>
              <a:rPr lang="en-US" altLang="en-US" dirty="0">
                <a:solidFill>
                  <a:srgbClr val="000000"/>
                </a:solidFill>
              </a:rPr>
              <a:t>Recursive calls stop when the base case is reached</a:t>
            </a:r>
          </a:p>
        </p:txBody>
      </p:sp>
    </p:spTree>
    <p:extLst>
      <p:ext uri="{BB962C8B-B14F-4D97-AF65-F5344CB8AC3E}">
        <p14:creationId xmlns:p14="http://schemas.microsoft.com/office/powerpoint/2010/main" val="15383011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Stopping the </a:t>
            </a:r>
            <a:r>
              <a:rPr lang="en-US" altLang="en-US" dirty="0" smtClean="0">
                <a:solidFill>
                  <a:srgbClr val="037797"/>
                </a:solidFill>
              </a:rPr>
              <a:t>Recursion </a:t>
            </a:r>
            <a:r>
              <a:rPr lang="en-US" altLang="en-US" sz="1200" dirty="0" smtClean="0">
                <a:solidFill>
                  <a:srgbClr val="037797"/>
                </a:solidFill>
              </a:rPr>
              <a:t>(1 of 4)</a:t>
            </a:r>
            <a:endParaRPr lang="en-IN" sz="1200" dirty="0">
              <a:solidFill>
                <a:srgbClr val="037797"/>
              </a:solidFill>
            </a:endParaRPr>
          </a:p>
        </p:txBody>
      </p:sp>
      <p:sp>
        <p:nvSpPr>
          <p:cNvPr id="3" name="Content Placeholder 2"/>
          <p:cNvSpPr>
            <a:spLocks noGrp="1"/>
          </p:cNvSpPr>
          <p:nvPr>
            <p:ph idx="1"/>
          </p:nvPr>
        </p:nvSpPr>
        <p:spPr/>
        <p:txBody>
          <a:bodyPr/>
          <a:lstStyle/>
          <a:p>
            <a:pPr lvl="0">
              <a:buFontTx/>
              <a:buChar char="•"/>
            </a:pPr>
            <a:r>
              <a:rPr lang="en-US" altLang="en-US" dirty="0">
                <a:solidFill>
                  <a:srgbClr val="000000"/>
                </a:solidFill>
              </a:rPr>
              <a:t>A recursive function must always include a test to determine if another recursive call should be made, or if the recursion should stop with this call</a:t>
            </a:r>
          </a:p>
          <a:p>
            <a:pPr lvl="0">
              <a:buFontTx/>
              <a:buChar char="•"/>
            </a:pPr>
            <a:r>
              <a:rPr lang="en-US" altLang="en-US" dirty="0">
                <a:solidFill>
                  <a:srgbClr val="000000"/>
                </a:solidFill>
              </a:rPr>
              <a:t>In the sample program, the test </a:t>
            </a:r>
            <a:r>
              <a:rPr lang="en-US" altLang="en-US" dirty="0" smtClean="0">
                <a:solidFill>
                  <a:srgbClr val="000000"/>
                </a:solidFill>
              </a:rPr>
              <a:t>is:</a:t>
            </a:r>
          </a:p>
          <a:p>
            <a:pPr marL="900000" lvl="0" indent="0">
              <a:buNone/>
            </a:pPr>
            <a:r>
              <a:rPr lang="en-US" altLang="en-US" dirty="0" smtClean="0">
                <a:solidFill>
                  <a:srgbClr val="000000"/>
                </a:solidFill>
                <a:latin typeface="Courier New" panose="02070309020205020404" pitchFamily="49" charset="0"/>
              </a:rPr>
              <a:t>if </a:t>
            </a:r>
            <a:r>
              <a:rPr lang="en-US" altLang="en-US" dirty="0">
                <a:solidFill>
                  <a:srgbClr val="000000"/>
                </a:solidFill>
                <a:latin typeface="Courier New" panose="02070309020205020404" pitchFamily="49" charset="0"/>
              </a:rPr>
              <a:t>(num == 0</a:t>
            </a:r>
            <a:r>
              <a:rPr lang="en-US" altLang="en-US" dirty="0" smtClean="0">
                <a:solidFill>
                  <a:srgbClr val="000000"/>
                </a:solidFill>
                <a:latin typeface="Courier New" panose="02070309020205020404" pitchFamily="49" charset="0"/>
              </a:rPr>
              <a:t>)</a:t>
            </a:r>
            <a:endParaRPr lang="en-US" altLang="en-US"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321138157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Stopping the Recursion </a:t>
            </a:r>
            <a:r>
              <a:rPr lang="en-US" altLang="en-US" sz="1200" dirty="0" smtClean="0">
                <a:solidFill>
                  <a:srgbClr val="037797"/>
                </a:solidFill>
              </a:rPr>
              <a:t>(2 </a:t>
            </a:r>
            <a:r>
              <a:rPr lang="en-US" altLang="en-US" sz="1200" dirty="0">
                <a:solidFill>
                  <a:srgbClr val="037797"/>
                </a:solidFill>
              </a:rPr>
              <a:t>of 4)</a:t>
            </a:r>
            <a:endParaRPr lang="en-IN" dirty="0">
              <a:solidFill>
                <a:srgbClr val="037797"/>
              </a:solidFill>
            </a:endParaRPr>
          </a:p>
        </p:txBody>
      </p:sp>
      <p:sp>
        <p:nvSpPr>
          <p:cNvPr id="3" name="Content Placeholder 2"/>
          <p:cNvSpPr>
            <a:spLocks noGrp="1"/>
          </p:cNvSpPr>
          <p:nvPr>
            <p:ph idx="1"/>
          </p:nvPr>
        </p:nvSpPr>
        <p:spPr/>
        <p:txBody>
          <a:bodyPr/>
          <a:lstStyle/>
          <a:p>
            <a:pPr lvl="1">
              <a:lnSpc>
                <a:spcPct val="85000"/>
              </a:lnSpc>
              <a:buNone/>
            </a:pPr>
            <a:r>
              <a:rPr lang="en-US" altLang="en-US" sz="2400" dirty="0">
                <a:solidFill>
                  <a:srgbClr val="000000"/>
                </a:solidFill>
                <a:latin typeface="Courier New" panose="02070309020205020404" pitchFamily="49" charset="0"/>
              </a:rPr>
              <a:t>void countDown(</a:t>
            </a:r>
            <a:r>
              <a:rPr lang="en-US" altLang="en-US" sz="2400" dirty="0" err="1">
                <a:solidFill>
                  <a:srgbClr val="000000"/>
                </a:solidFill>
                <a:latin typeface="Courier New" panose="02070309020205020404" pitchFamily="49" charset="0"/>
              </a:rPr>
              <a:t>int</a:t>
            </a:r>
            <a:r>
              <a:rPr lang="en-US" altLang="en-US" sz="2400" dirty="0">
                <a:solidFill>
                  <a:srgbClr val="000000"/>
                </a:solidFill>
                <a:latin typeface="Courier New" panose="02070309020205020404" pitchFamily="49" charset="0"/>
              </a:rPr>
              <a:t> num</a:t>
            </a:r>
            <a:r>
              <a:rPr lang="en-US" altLang="en-US" sz="2400" dirty="0" smtClean="0">
                <a:solidFill>
                  <a:srgbClr val="000000"/>
                </a:solidFill>
                <a:latin typeface="Courier New" panose="02070309020205020404" pitchFamily="49" charset="0"/>
              </a:rPr>
              <a:t>)</a:t>
            </a:r>
          </a:p>
          <a:p>
            <a:pPr lvl="1">
              <a:lnSpc>
                <a:spcPct val="85000"/>
              </a:lnSpc>
              <a:buNone/>
            </a:pPr>
            <a:r>
              <a:rPr lang="en-US" altLang="en-US" sz="2400" dirty="0" smtClean="0">
                <a:solidFill>
                  <a:srgbClr val="000000"/>
                </a:solidFill>
                <a:latin typeface="Courier New" panose="02070309020205020404" pitchFamily="49" charset="0"/>
              </a:rPr>
              <a:t>{</a:t>
            </a:r>
          </a:p>
          <a:p>
            <a:pPr marL="1224000" lvl="1">
              <a:lnSpc>
                <a:spcPct val="85000"/>
              </a:lnSpc>
              <a:buNone/>
            </a:pPr>
            <a:r>
              <a:rPr lang="en-US" altLang="en-US" sz="2400" b="1" dirty="0" smtClean="0">
                <a:solidFill>
                  <a:srgbClr val="000000"/>
                </a:solidFill>
                <a:latin typeface="Courier New" panose="02070309020205020404" pitchFamily="49" charset="0"/>
              </a:rPr>
              <a:t>if </a:t>
            </a:r>
            <a:r>
              <a:rPr lang="en-US" altLang="en-US" sz="2400" b="1" dirty="0">
                <a:solidFill>
                  <a:srgbClr val="000000"/>
                </a:solidFill>
                <a:latin typeface="Courier New" panose="02070309020205020404" pitchFamily="49" charset="0"/>
              </a:rPr>
              <a:t>(num == 0)</a:t>
            </a:r>
            <a:r>
              <a:rPr lang="en-US" altLang="en-US" sz="2400" dirty="0">
                <a:solidFill>
                  <a:srgbClr val="000000"/>
                </a:solidFill>
                <a:latin typeface="Courier New" panose="02070309020205020404" pitchFamily="49" charset="0"/>
              </a:rPr>
              <a:t> // </a:t>
            </a:r>
            <a:r>
              <a:rPr lang="en-US" altLang="en-US" sz="2400" dirty="0" smtClean="0">
                <a:solidFill>
                  <a:srgbClr val="000000"/>
                </a:solidFill>
                <a:latin typeface="Courier New" panose="02070309020205020404" pitchFamily="49" charset="0"/>
              </a:rPr>
              <a:t>test</a:t>
            </a:r>
            <a:endParaRPr lang="en-US" altLang="en-US" sz="2400" b="1" dirty="0" smtClean="0">
              <a:solidFill>
                <a:srgbClr val="000000"/>
              </a:solidFill>
              <a:latin typeface="Courier New" panose="02070309020205020404" pitchFamily="49" charset="0"/>
            </a:endParaRPr>
          </a:p>
          <a:p>
            <a:pPr marL="1728000" lvl="1">
              <a:lnSpc>
                <a:spcPct val="85000"/>
              </a:lnSpc>
              <a:buNone/>
            </a:pPr>
            <a:r>
              <a:rPr lang="en-US" altLang="en-US" sz="2400" dirty="0" smtClean="0">
                <a:solidFill>
                  <a:srgbClr val="000000"/>
                </a:solidFill>
                <a:latin typeface="Courier New" panose="02070309020205020404" pitchFamily="49" charset="0"/>
              </a:rPr>
              <a:t>cout </a:t>
            </a:r>
            <a:r>
              <a:rPr lang="en-US" altLang="en-US" sz="2400" dirty="0">
                <a:solidFill>
                  <a:srgbClr val="000000"/>
                </a:solidFill>
                <a:latin typeface="Courier New" panose="02070309020205020404" pitchFamily="49" charset="0"/>
              </a:rPr>
              <a:t>&lt;&lt; "Blastoff</a:t>
            </a:r>
            <a:r>
              <a:rPr lang="en-US" altLang="en-US" sz="2400" dirty="0" smtClean="0">
                <a:solidFill>
                  <a:srgbClr val="000000"/>
                </a:solidFill>
                <a:latin typeface="Courier New" panose="02070309020205020404" pitchFamily="49" charset="0"/>
              </a:rPr>
              <a:t>!";</a:t>
            </a:r>
          </a:p>
          <a:p>
            <a:pPr marL="1224000" lvl="1">
              <a:lnSpc>
                <a:spcPct val="85000"/>
              </a:lnSpc>
              <a:buNone/>
            </a:pPr>
            <a:r>
              <a:rPr lang="en-US" altLang="en-US" sz="2400" dirty="0" smtClean="0">
                <a:solidFill>
                  <a:srgbClr val="000000"/>
                </a:solidFill>
                <a:latin typeface="Courier New" panose="02070309020205020404" pitchFamily="49" charset="0"/>
              </a:rPr>
              <a:t>else</a:t>
            </a:r>
          </a:p>
          <a:p>
            <a:pPr marL="1224000" lvl="1">
              <a:lnSpc>
                <a:spcPct val="85000"/>
              </a:lnSpc>
              <a:buNone/>
            </a:pPr>
            <a:r>
              <a:rPr lang="en-US" altLang="en-US" sz="2400" dirty="0" smtClean="0">
                <a:solidFill>
                  <a:srgbClr val="000000"/>
                </a:solidFill>
                <a:latin typeface="Courier New" panose="02070309020205020404" pitchFamily="49" charset="0"/>
              </a:rPr>
              <a:t>{</a:t>
            </a:r>
          </a:p>
          <a:p>
            <a:pPr marL="1728000" lvl="1">
              <a:lnSpc>
                <a:spcPct val="85000"/>
              </a:lnSpc>
              <a:buNone/>
            </a:pPr>
            <a:r>
              <a:rPr lang="en-US" altLang="en-US" sz="2400" dirty="0" smtClean="0">
                <a:solidFill>
                  <a:srgbClr val="000000"/>
                </a:solidFill>
                <a:latin typeface="Courier New" panose="02070309020205020404" pitchFamily="49" charset="0"/>
              </a:rPr>
              <a:t>cout </a:t>
            </a:r>
            <a:r>
              <a:rPr lang="en-US" altLang="en-US" sz="2400" dirty="0">
                <a:solidFill>
                  <a:srgbClr val="000000"/>
                </a:solidFill>
                <a:latin typeface="Courier New" panose="02070309020205020404" pitchFamily="49" charset="0"/>
              </a:rPr>
              <a:t>&lt;&lt; num &lt;&lt; "...\n</a:t>
            </a:r>
            <a:r>
              <a:rPr lang="en-US" altLang="en-US" sz="2400" dirty="0" smtClean="0">
                <a:solidFill>
                  <a:srgbClr val="000000"/>
                </a:solidFill>
                <a:latin typeface="Courier New" panose="02070309020205020404" pitchFamily="49" charset="0"/>
              </a:rPr>
              <a:t>";</a:t>
            </a:r>
          </a:p>
          <a:p>
            <a:pPr marL="1728000" lvl="1">
              <a:lnSpc>
                <a:spcPct val="85000"/>
              </a:lnSpc>
              <a:buNone/>
            </a:pPr>
            <a:r>
              <a:rPr lang="en-US" altLang="en-US" sz="2400" dirty="0" err="1" smtClean="0">
                <a:solidFill>
                  <a:srgbClr val="000000"/>
                </a:solidFill>
                <a:latin typeface="Courier New" panose="02070309020205020404" pitchFamily="49" charset="0"/>
              </a:rPr>
              <a:t>countDown</a:t>
            </a:r>
            <a:r>
              <a:rPr lang="en-US" altLang="en-US" sz="2400" dirty="0" smtClean="0">
                <a:solidFill>
                  <a:srgbClr val="000000"/>
                </a:solidFill>
                <a:latin typeface="Courier New" panose="02070309020205020404" pitchFamily="49" charset="0"/>
              </a:rPr>
              <a:t>(num−1</a:t>
            </a:r>
            <a:r>
              <a:rPr lang="en-US" altLang="en-US" sz="2400" dirty="0">
                <a:solidFill>
                  <a:srgbClr val="000000"/>
                </a:solidFill>
                <a:latin typeface="Courier New" panose="02070309020205020404" pitchFamily="49" charset="0"/>
              </a:rPr>
              <a:t>); // </a:t>
            </a:r>
            <a:r>
              <a:rPr lang="en-US" altLang="en-US" sz="2400" dirty="0" smtClean="0">
                <a:solidFill>
                  <a:srgbClr val="000000"/>
                </a:solidFill>
                <a:latin typeface="Courier New" panose="02070309020205020404" pitchFamily="49" charset="0"/>
              </a:rPr>
              <a:t>recursive</a:t>
            </a:r>
          </a:p>
          <a:p>
            <a:pPr marL="1224000" lvl="1">
              <a:lnSpc>
                <a:spcPct val="85000"/>
              </a:lnSpc>
              <a:buNone/>
            </a:pPr>
            <a:r>
              <a:rPr lang="en-US" altLang="en-US" sz="2400" dirty="0" smtClean="0">
                <a:solidFill>
                  <a:srgbClr val="000000"/>
                </a:solidFill>
                <a:latin typeface="Courier New" panose="02070309020205020404" pitchFamily="49" charset="0"/>
              </a:rPr>
              <a:t>}                       // call</a:t>
            </a:r>
          </a:p>
          <a:p>
            <a:pPr lvl="1">
              <a:lnSpc>
                <a:spcPct val="85000"/>
              </a:lnSpc>
              <a:buNone/>
            </a:pPr>
            <a:r>
              <a:rPr lang="en-US" altLang="en-US" sz="2400" dirty="0" smtClean="0">
                <a:solidFill>
                  <a:srgbClr val="000000"/>
                </a:solidFill>
                <a:latin typeface="Courier New" panose="02070309020205020404" pitchFamily="49" charset="0"/>
              </a:rPr>
              <a:t>}</a:t>
            </a:r>
            <a:endParaRPr lang="en-US" altLang="en-US" sz="240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3164599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Stopping the Recursion </a:t>
            </a:r>
            <a:r>
              <a:rPr lang="en-US" altLang="en-US" sz="1200" dirty="0" smtClean="0">
                <a:solidFill>
                  <a:srgbClr val="037797"/>
                </a:solidFill>
              </a:rPr>
              <a:t>(3 </a:t>
            </a:r>
            <a:r>
              <a:rPr lang="en-US" altLang="en-US" sz="1200" dirty="0">
                <a:solidFill>
                  <a:srgbClr val="037797"/>
                </a:solidFill>
              </a:rPr>
              <a:t>of 4)</a:t>
            </a:r>
            <a:endParaRPr lang="en-IN" dirty="0">
              <a:solidFill>
                <a:srgbClr val="037797"/>
              </a:solidFill>
            </a:endParaRPr>
          </a:p>
        </p:txBody>
      </p:sp>
      <p:sp>
        <p:nvSpPr>
          <p:cNvPr id="3" name="Content Placeholder 2"/>
          <p:cNvSpPr>
            <a:spLocks noGrp="1"/>
          </p:cNvSpPr>
          <p:nvPr>
            <p:ph idx="1"/>
          </p:nvPr>
        </p:nvSpPr>
        <p:spPr>
          <a:xfrm>
            <a:off x="457200" y="1600201"/>
            <a:ext cx="8229600" cy="3352800"/>
          </a:xfrm>
        </p:spPr>
        <p:txBody>
          <a:bodyPr/>
          <a:lstStyle/>
          <a:p>
            <a:pPr lvl="0">
              <a:buFontTx/>
              <a:buChar char="•"/>
            </a:pPr>
            <a:r>
              <a:rPr lang="en-US" altLang="en-US" sz="2800" dirty="0">
                <a:solidFill>
                  <a:srgbClr val="000000"/>
                </a:solidFill>
              </a:rPr>
              <a:t>Recursion uses a process of breaking a problem down into smaller problems until the problem can be solved</a:t>
            </a:r>
          </a:p>
          <a:p>
            <a:pPr lvl="0">
              <a:buFontTx/>
              <a:buChar char="•"/>
            </a:pPr>
            <a:r>
              <a:rPr lang="en-US" altLang="en-US" sz="2800" dirty="0">
                <a:solidFill>
                  <a:srgbClr val="000000"/>
                </a:solidFill>
              </a:rPr>
              <a:t>In the </a:t>
            </a:r>
            <a:r>
              <a:rPr lang="en-US" altLang="en-US" sz="2800" dirty="0">
                <a:solidFill>
                  <a:srgbClr val="000000"/>
                </a:solidFill>
                <a:latin typeface="Courier New" panose="02070309020205020404" pitchFamily="49" charset="0"/>
              </a:rPr>
              <a:t>countDown</a:t>
            </a:r>
            <a:r>
              <a:rPr lang="en-US" altLang="en-US" sz="2800" dirty="0">
                <a:solidFill>
                  <a:srgbClr val="000000"/>
                </a:solidFill>
              </a:rPr>
              <a:t> function, a different value is passed to the function each time it is called</a:t>
            </a:r>
          </a:p>
          <a:p>
            <a:pPr lvl="0">
              <a:buFontTx/>
              <a:buChar char="•"/>
            </a:pPr>
            <a:r>
              <a:rPr lang="en-US" altLang="en-US" sz="2800" dirty="0">
                <a:solidFill>
                  <a:srgbClr val="000000"/>
                </a:solidFill>
              </a:rPr>
              <a:t>Eventually, the parameter reaches the value in the test, and the recursion </a:t>
            </a:r>
            <a:r>
              <a:rPr lang="en-US" altLang="en-US" sz="2800" dirty="0" smtClean="0">
                <a:solidFill>
                  <a:srgbClr val="000000"/>
                </a:solidFill>
              </a:rPr>
              <a:t>stops</a:t>
            </a:r>
            <a:endParaRPr lang="en-US" altLang="en-US" sz="2800" dirty="0">
              <a:solidFill>
                <a:srgbClr val="000000"/>
              </a:solidFill>
            </a:endParaRPr>
          </a:p>
        </p:txBody>
      </p:sp>
    </p:spTree>
    <p:extLst>
      <p:ext uri="{BB962C8B-B14F-4D97-AF65-F5344CB8AC3E}">
        <p14:creationId xmlns:p14="http://schemas.microsoft.com/office/powerpoint/2010/main" val="2183520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Stopping the Recursion </a:t>
            </a:r>
            <a:r>
              <a:rPr lang="en-US" altLang="en-US" sz="1200" dirty="0" smtClean="0">
                <a:solidFill>
                  <a:srgbClr val="037797"/>
                </a:solidFill>
              </a:rPr>
              <a:t>(4 </a:t>
            </a:r>
            <a:r>
              <a:rPr lang="en-US" altLang="en-US" sz="1200" dirty="0">
                <a:solidFill>
                  <a:srgbClr val="037797"/>
                </a:solidFill>
              </a:rPr>
              <a:t>of 4)</a:t>
            </a:r>
            <a:endParaRPr lang="en-IN" dirty="0">
              <a:solidFill>
                <a:srgbClr val="037797"/>
              </a:solidFill>
            </a:endParaRPr>
          </a:p>
        </p:txBody>
      </p:sp>
      <p:sp>
        <p:nvSpPr>
          <p:cNvPr id="3" name="Content Placeholder 2"/>
          <p:cNvSpPr>
            <a:spLocks noGrp="1"/>
          </p:cNvSpPr>
          <p:nvPr>
            <p:ph idx="1"/>
          </p:nvPr>
        </p:nvSpPr>
        <p:spPr>
          <a:xfrm>
            <a:off x="76201" y="1822273"/>
            <a:ext cx="8915399" cy="4349927"/>
          </a:xfrm>
        </p:spPr>
        <p:txBody>
          <a:bodyPr/>
          <a:lstStyle/>
          <a:p>
            <a:pPr lvl="1">
              <a:lnSpc>
                <a:spcPct val="85000"/>
              </a:lnSpc>
              <a:spcBef>
                <a:spcPts val="0"/>
              </a:spcBef>
              <a:buNone/>
            </a:pPr>
            <a:r>
              <a:rPr lang="en-US" altLang="en-US" sz="2400" dirty="0">
                <a:solidFill>
                  <a:srgbClr val="000000"/>
                </a:solidFill>
                <a:latin typeface="Courier New" panose="02070309020205020404" pitchFamily="49" charset="0"/>
              </a:rPr>
              <a:t>void countDown(</a:t>
            </a:r>
            <a:r>
              <a:rPr lang="en-US" altLang="en-US" sz="2400" dirty="0" err="1">
                <a:solidFill>
                  <a:srgbClr val="000000"/>
                </a:solidFill>
                <a:latin typeface="Courier New" panose="02070309020205020404" pitchFamily="49" charset="0"/>
              </a:rPr>
              <a:t>int</a:t>
            </a:r>
            <a:r>
              <a:rPr lang="en-US" altLang="en-US" sz="2400" dirty="0">
                <a:solidFill>
                  <a:srgbClr val="000000"/>
                </a:solidFill>
                <a:latin typeface="Courier New" panose="02070309020205020404" pitchFamily="49" charset="0"/>
              </a:rPr>
              <a:t> num</a:t>
            </a:r>
            <a:r>
              <a:rPr lang="en-US" altLang="en-US" sz="2400" dirty="0" smtClean="0">
                <a:solidFill>
                  <a:srgbClr val="000000"/>
                </a:solidFill>
                <a:latin typeface="Courier New" panose="02070309020205020404" pitchFamily="49" charset="0"/>
              </a:rPr>
              <a:t>)</a:t>
            </a:r>
          </a:p>
          <a:p>
            <a:pPr lvl="1">
              <a:lnSpc>
                <a:spcPct val="85000"/>
              </a:lnSpc>
              <a:spcBef>
                <a:spcPts val="576"/>
              </a:spcBef>
              <a:buNone/>
            </a:pPr>
            <a:r>
              <a:rPr lang="en-US" altLang="en-US" sz="2400" dirty="0" smtClean="0">
                <a:solidFill>
                  <a:srgbClr val="000000"/>
                </a:solidFill>
                <a:latin typeface="Courier New" panose="02070309020205020404" pitchFamily="49" charset="0"/>
              </a:rPr>
              <a:t>{</a:t>
            </a:r>
          </a:p>
          <a:p>
            <a:pPr marL="1188000" lvl="1">
              <a:lnSpc>
                <a:spcPct val="85000"/>
              </a:lnSpc>
              <a:spcBef>
                <a:spcPts val="576"/>
              </a:spcBef>
              <a:buNone/>
            </a:pPr>
            <a:r>
              <a:rPr lang="en-US" altLang="en-US" sz="2400" dirty="0" smtClean="0">
                <a:solidFill>
                  <a:srgbClr val="000000"/>
                </a:solidFill>
                <a:latin typeface="Courier New" panose="02070309020205020404" pitchFamily="49" charset="0"/>
              </a:rPr>
              <a:t>if </a:t>
            </a:r>
            <a:r>
              <a:rPr lang="en-US" altLang="en-US" sz="2400" dirty="0">
                <a:solidFill>
                  <a:srgbClr val="000000"/>
                </a:solidFill>
                <a:latin typeface="Courier New" panose="02070309020205020404" pitchFamily="49" charset="0"/>
              </a:rPr>
              <a:t>(num == </a:t>
            </a:r>
            <a:r>
              <a:rPr lang="en-US" altLang="en-US" sz="2400" dirty="0" smtClean="0">
                <a:solidFill>
                  <a:srgbClr val="000000"/>
                </a:solidFill>
                <a:latin typeface="Courier New" panose="02070309020205020404" pitchFamily="49" charset="0"/>
              </a:rPr>
              <a:t>0)</a:t>
            </a:r>
            <a:endParaRPr lang="en-US" altLang="en-US" sz="2400" b="1" dirty="0" smtClean="0">
              <a:solidFill>
                <a:srgbClr val="000000"/>
              </a:solidFill>
              <a:latin typeface="Courier New" panose="02070309020205020404" pitchFamily="49" charset="0"/>
            </a:endParaRPr>
          </a:p>
          <a:p>
            <a:pPr marL="1800000" lvl="1">
              <a:lnSpc>
                <a:spcPct val="85000"/>
              </a:lnSpc>
              <a:spcBef>
                <a:spcPts val="576"/>
              </a:spcBef>
              <a:buNone/>
            </a:pPr>
            <a:r>
              <a:rPr lang="en-US" altLang="en-US" sz="2400" dirty="0" smtClean="0">
                <a:solidFill>
                  <a:srgbClr val="000000"/>
                </a:solidFill>
                <a:latin typeface="Courier New" panose="02070309020205020404" pitchFamily="49" charset="0"/>
              </a:rPr>
              <a:t>cout </a:t>
            </a:r>
            <a:r>
              <a:rPr lang="en-US" altLang="en-US" sz="2400" dirty="0">
                <a:solidFill>
                  <a:srgbClr val="000000"/>
                </a:solidFill>
                <a:latin typeface="Courier New" panose="02070309020205020404" pitchFamily="49" charset="0"/>
              </a:rPr>
              <a:t>&lt;&lt; "Blastoff</a:t>
            </a:r>
            <a:r>
              <a:rPr lang="en-US" altLang="en-US" sz="2400" dirty="0" smtClean="0">
                <a:solidFill>
                  <a:srgbClr val="000000"/>
                </a:solidFill>
                <a:latin typeface="Courier New" panose="02070309020205020404" pitchFamily="49" charset="0"/>
              </a:rPr>
              <a:t>!";</a:t>
            </a:r>
          </a:p>
          <a:p>
            <a:pPr marL="1188000" lvl="1">
              <a:lnSpc>
                <a:spcPct val="85000"/>
              </a:lnSpc>
              <a:spcBef>
                <a:spcPts val="1000"/>
              </a:spcBef>
              <a:buNone/>
            </a:pPr>
            <a:r>
              <a:rPr lang="en-US" altLang="en-US" sz="2400" dirty="0" smtClean="0">
                <a:solidFill>
                  <a:srgbClr val="000000"/>
                </a:solidFill>
                <a:latin typeface="Courier New" panose="02070309020205020404" pitchFamily="49" charset="0"/>
              </a:rPr>
              <a:t>else</a:t>
            </a:r>
          </a:p>
          <a:p>
            <a:pPr marL="1188000" lvl="1">
              <a:lnSpc>
                <a:spcPct val="85000"/>
              </a:lnSpc>
              <a:spcBef>
                <a:spcPts val="576"/>
              </a:spcBef>
              <a:buNone/>
            </a:pPr>
            <a:r>
              <a:rPr lang="en-US" altLang="en-US" sz="2400" dirty="0" smtClean="0">
                <a:solidFill>
                  <a:srgbClr val="000000"/>
                </a:solidFill>
                <a:latin typeface="Courier New" panose="02070309020205020404" pitchFamily="49" charset="0"/>
              </a:rPr>
              <a:t>{</a:t>
            </a:r>
          </a:p>
          <a:p>
            <a:pPr marL="1800000" lvl="1">
              <a:lnSpc>
                <a:spcPct val="85000"/>
              </a:lnSpc>
              <a:spcBef>
                <a:spcPts val="0"/>
              </a:spcBef>
              <a:buNone/>
            </a:pPr>
            <a:r>
              <a:rPr lang="en-US" altLang="en-US" sz="2400" dirty="0" smtClean="0">
                <a:solidFill>
                  <a:srgbClr val="000000"/>
                </a:solidFill>
                <a:latin typeface="Courier New" panose="02070309020205020404" pitchFamily="49" charset="0"/>
              </a:rPr>
              <a:t>cout </a:t>
            </a:r>
            <a:r>
              <a:rPr lang="en-US" altLang="en-US" sz="2400" dirty="0">
                <a:solidFill>
                  <a:srgbClr val="000000"/>
                </a:solidFill>
                <a:latin typeface="Courier New" panose="02070309020205020404" pitchFamily="49" charset="0"/>
              </a:rPr>
              <a:t>&lt;&lt; num &lt;&lt; "...\n</a:t>
            </a:r>
            <a:r>
              <a:rPr lang="en-US" altLang="en-US" sz="2400" dirty="0" smtClean="0">
                <a:solidFill>
                  <a:srgbClr val="000000"/>
                </a:solidFill>
                <a:latin typeface="Courier New" panose="02070309020205020404" pitchFamily="49" charset="0"/>
              </a:rPr>
              <a:t>";</a:t>
            </a:r>
          </a:p>
          <a:p>
            <a:pPr marL="1800000" lvl="1">
              <a:lnSpc>
                <a:spcPct val="85000"/>
              </a:lnSpc>
              <a:spcBef>
                <a:spcPts val="0"/>
              </a:spcBef>
              <a:buNone/>
            </a:pPr>
            <a:r>
              <a:rPr lang="en-US" altLang="en-US" sz="2400" b="1" dirty="0" smtClean="0">
                <a:solidFill>
                  <a:srgbClr val="000000"/>
                </a:solidFill>
                <a:latin typeface="Courier New" panose="02070309020205020404" pitchFamily="49" charset="0"/>
              </a:rPr>
              <a:t>countDown(num-1</a:t>
            </a:r>
            <a:r>
              <a:rPr lang="en-US" altLang="en-US" sz="2400" b="1" dirty="0">
                <a:solidFill>
                  <a:srgbClr val="000000"/>
                </a:solidFill>
                <a:latin typeface="Courier New" panose="02070309020205020404" pitchFamily="49" charset="0"/>
              </a:rPr>
              <a:t>);</a:t>
            </a:r>
            <a:r>
              <a:rPr lang="en-US" altLang="en-US" sz="2400" dirty="0">
                <a:solidFill>
                  <a:srgbClr val="000000"/>
                </a:solidFill>
                <a:latin typeface="Courier New" panose="02070309020205020404" pitchFamily="49" charset="0"/>
              </a:rPr>
              <a:t>// note that the </a:t>
            </a:r>
            <a:r>
              <a:rPr lang="en-US" altLang="en-US" sz="2400" dirty="0" smtClean="0">
                <a:solidFill>
                  <a:srgbClr val="000000"/>
                </a:solidFill>
                <a:latin typeface="Courier New" panose="02070309020205020404" pitchFamily="49" charset="0"/>
              </a:rPr>
              <a:t>value</a:t>
            </a:r>
          </a:p>
          <a:p>
            <a:pPr marL="1188000" lvl="1">
              <a:lnSpc>
                <a:spcPct val="85000"/>
              </a:lnSpc>
              <a:spcBef>
                <a:spcPts val="1800"/>
              </a:spcBef>
              <a:buNone/>
            </a:pPr>
            <a:r>
              <a:rPr lang="en-US" altLang="en-US" sz="2400" dirty="0" smtClean="0">
                <a:solidFill>
                  <a:srgbClr val="000000"/>
                </a:solidFill>
                <a:latin typeface="Courier New" panose="02070309020205020404" pitchFamily="49" charset="0"/>
              </a:rPr>
              <a:t>}                   </a:t>
            </a:r>
            <a:r>
              <a:rPr lang="en-US" altLang="en-US" sz="2400" dirty="0">
                <a:solidFill>
                  <a:srgbClr val="000000"/>
                </a:solidFill>
                <a:latin typeface="Courier New" panose="02070309020205020404" pitchFamily="49" charset="0"/>
              </a:rPr>
              <a:t>// passed to recursive</a:t>
            </a:r>
          </a:p>
          <a:p>
            <a:pPr marL="1188000" lvl="1">
              <a:lnSpc>
                <a:spcPct val="85000"/>
              </a:lnSpc>
              <a:spcBef>
                <a:spcPts val="1000"/>
              </a:spcBef>
              <a:buNone/>
            </a:pPr>
            <a:r>
              <a:rPr lang="en-US" altLang="en-US" sz="2400" dirty="0">
                <a:solidFill>
                  <a:srgbClr val="000000"/>
                </a:solidFill>
                <a:latin typeface="Courier New" panose="02070309020205020404" pitchFamily="49" charset="0"/>
              </a:rPr>
              <a:t>}                   </a:t>
            </a:r>
            <a:r>
              <a:rPr lang="en-US" altLang="en-US" sz="2400" dirty="0" smtClean="0">
                <a:solidFill>
                  <a:srgbClr val="000000"/>
                </a:solidFill>
                <a:latin typeface="Courier New" panose="02070309020205020404" pitchFamily="49" charset="0"/>
              </a:rPr>
              <a:t>// </a:t>
            </a:r>
            <a:r>
              <a:rPr lang="en-US" altLang="en-US" sz="2400" dirty="0">
                <a:solidFill>
                  <a:srgbClr val="000000"/>
                </a:solidFill>
                <a:latin typeface="Courier New" panose="02070309020205020404" pitchFamily="49" charset="0"/>
              </a:rPr>
              <a:t>calls decreases </a:t>
            </a:r>
            <a:r>
              <a:rPr lang="en-US" altLang="en-US" sz="2400" dirty="0" smtClean="0">
                <a:solidFill>
                  <a:srgbClr val="000000"/>
                </a:solidFill>
                <a:latin typeface="Courier New" panose="02070309020205020404" pitchFamily="49" charset="0"/>
              </a:rPr>
              <a:t>by</a:t>
            </a:r>
          </a:p>
          <a:p>
            <a:pPr marL="4680000" lvl="1">
              <a:lnSpc>
                <a:spcPct val="85000"/>
              </a:lnSpc>
              <a:spcBef>
                <a:spcPts val="1000"/>
              </a:spcBef>
              <a:buNone/>
            </a:pPr>
            <a:r>
              <a:rPr lang="en-US" altLang="en-US" sz="2400" dirty="0" smtClean="0">
                <a:solidFill>
                  <a:srgbClr val="000000"/>
                </a:solidFill>
                <a:latin typeface="Courier New" panose="02070309020205020404" pitchFamily="49" charset="0"/>
              </a:rPr>
              <a:t>// </a:t>
            </a:r>
            <a:r>
              <a:rPr lang="en-US" altLang="en-US" sz="2400" dirty="0">
                <a:solidFill>
                  <a:srgbClr val="000000"/>
                </a:solidFill>
                <a:latin typeface="Courier New" panose="02070309020205020404" pitchFamily="49" charset="0"/>
              </a:rPr>
              <a:t>one for each </a:t>
            </a:r>
            <a:r>
              <a:rPr lang="en-US" altLang="en-US" sz="2400" dirty="0" smtClean="0">
                <a:solidFill>
                  <a:srgbClr val="000000"/>
                </a:solidFill>
                <a:latin typeface="Courier New" panose="02070309020205020404" pitchFamily="49" charset="0"/>
              </a:rPr>
              <a:t>call</a:t>
            </a:r>
            <a:endParaRPr lang="en-US" altLang="en-US" sz="240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38035598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What Happens When Called</a:t>
            </a:r>
            <a:r>
              <a:rPr lang="en-US" altLang="en-US" dirty="0" smtClean="0">
                <a:solidFill>
                  <a:srgbClr val="037797"/>
                </a:solidFill>
              </a:rPr>
              <a:t>? </a:t>
            </a:r>
            <a:r>
              <a:rPr lang="en-US" altLang="en-US" sz="1200" dirty="0" smtClean="0">
                <a:solidFill>
                  <a:srgbClr val="037797"/>
                </a:solidFill>
              </a:rPr>
              <a:t>(3 of 4)</a:t>
            </a:r>
            <a:endParaRPr lang="en-IN" sz="1200" dirty="0">
              <a:solidFill>
                <a:srgbClr val="037797"/>
              </a:solidFill>
            </a:endParaRPr>
          </a:p>
        </p:txBody>
      </p:sp>
      <p:sp>
        <p:nvSpPr>
          <p:cNvPr id="3" name="Content Placeholder 2"/>
          <p:cNvSpPr>
            <a:spLocks noGrp="1"/>
          </p:cNvSpPr>
          <p:nvPr>
            <p:ph idx="1"/>
          </p:nvPr>
        </p:nvSpPr>
        <p:spPr>
          <a:xfrm>
            <a:off x="457200" y="1887582"/>
            <a:ext cx="8077200" cy="3809999"/>
          </a:xfrm>
        </p:spPr>
        <p:txBody>
          <a:bodyPr/>
          <a:lstStyle/>
          <a:p>
            <a:pPr marL="533400" lvl="0" indent="-533400">
              <a:lnSpc>
                <a:spcPct val="90000"/>
              </a:lnSpc>
              <a:spcBef>
                <a:spcPct val="50000"/>
              </a:spcBef>
              <a:buFontTx/>
              <a:buChar char="•"/>
            </a:pPr>
            <a:r>
              <a:rPr lang="en-US" altLang="en-US" sz="2800" dirty="0">
                <a:solidFill>
                  <a:srgbClr val="000000"/>
                </a:solidFill>
              </a:rPr>
              <a:t>Each time a recursive function is called, a new copy of the function runs, with new instances of parameters and local variables created</a:t>
            </a:r>
          </a:p>
          <a:p>
            <a:pPr marL="533400" lvl="0" indent="-533400">
              <a:lnSpc>
                <a:spcPct val="90000"/>
              </a:lnSpc>
              <a:spcBef>
                <a:spcPct val="50000"/>
              </a:spcBef>
              <a:buFontTx/>
              <a:buChar char="•"/>
            </a:pPr>
            <a:r>
              <a:rPr lang="en-US" altLang="en-US" sz="2800" dirty="0">
                <a:solidFill>
                  <a:srgbClr val="000000"/>
                </a:solidFill>
              </a:rPr>
              <a:t>As each copy finishes executing, it returns to the copy of the function that called it</a:t>
            </a:r>
          </a:p>
          <a:p>
            <a:pPr marL="533400" lvl="0" indent="-533400">
              <a:lnSpc>
                <a:spcPct val="90000"/>
              </a:lnSpc>
              <a:spcBef>
                <a:spcPct val="50000"/>
              </a:spcBef>
              <a:buFontTx/>
              <a:buChar char="•"/>
            </a:pPr>
            <a:r>
              <a:rPr lang="en-US" altLang="en-US" sz="2800" dirty="0">
                <a:solidFill>
                  <a:srgbClr val="000000"/>
                </a:solidFill>
              </a:rPr>
              <a:t>When the initial copy finishes executing, it returns to the part of the program that made the initial call to the </a:t>
            </a:r>
            <a:r>
              <a:rPr lang="en-US" altLang="en-US" sz="2800" dirty="0" smtClean="0">
                <a:solidFill>
                  <a:srgbClr val="000000"/>
                </a:solidFill>
              </a:rPr>
              <a:t>function</a:t>
            </a:r>
            <a:endParaRPr lang="en-US" altLang="en-US" sz="280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321335932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What Happens When Called? </a:t>
            </a:r>
            <a:r>
              <a:rPr lang="en-US" altLang="en-US" sz="1200" dirty="0" smtClean="0">
                <a:solidFill>
                  <a:srgbClr val="037797"/>
                </a:solidFill>
              </a:rPr>
              <a:t>(4 </a:t>
            </a:r>
            <a:r>
              <a:rPr lang="en-US" altLang="en-US" sz="1200" dirty="0">
                <a:solidFill>
                  <a:srgbClr val="037797"/>
                </a:solidFill>
              </a:rPr>
              <a:t>of </a:t>
            </a:r>
            <a:r>
              <a:rPr lang="en-US" altLang="en-US" sz="1200" dirty="0" smtClean="0">
                <a:solidFill>
                  <a:srgbClr val="037797"/>
                </a:solidFill>
              </a:rPr>
              <a:t>4)</a:t>
            </a:r>
            <a:endParaRPr lang="en-IN" dirty="0">
              <a:solidFill>
                <a:srgbClr val="037797"/>
              </a:solidFill>
            </a:endParaRPr>
          </a:p>
        </p:txBody>
      </p:sp>
      <p:pic>
        <p:nvPicPr>
          <p:cNvPr id="4" name="Picture 3" descr="The screenshot shows the steps that take place when a recursive function is called. Step 1. The countDown (2) generates the output 2 and then it calls countDown (1). The first call to countDown num is 2. Step 2. countDown (1) generates the output 1, and then it calls countDown (0). The second call to countDown num is 1. Step 3. countDown (0) generates the output Blastoff!, then returns to countDown (1). The third call to countDown num is 0. Step 4. countDown (1) returns to countDown (2). Step 5. countDown (2) returns to the calling function. The calling returns from no recursive call to the countDown (0), countDown (1) and returns to the start."/>
          <p:cNvPicPr>
            <a:picLocks noChangeAspect="1"/>
          </p:cNvPicPr>
          <p:nvPr/>
        </p:nvPicPr>
        <p:blipFill>
          <a:blip r:embed="rId2"/>
          <a:stretch>
            <a:fillRect/>
          </a:stretch>
        </p:blipFill>
        <p:spPr>
          <a:xfrm>
            <a:off x="769982" y="1556831"/>
            <a:ext cx="7604034" cy="4843969"/>
          </a:xfrm>
          <a:prstGeom prst="rect">
            <a:avLst/>
          </a:prstGeom>
        </p:spPr>
      </p:pic>
    </p:spTree>
    <p:extLst>
      <p:ext uri="{BB962C8B-B14F-4D97-AF65-F5344CB8AC3E}">
        <p14:creationId xmlns:p14="http://schemas.microsoft.com/office/powerpoint/2010/main" val="41509184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Types of Recursion</a:t>
            </a:r>
            <a:endParaRPr lang="en-IN" dirty="0">
              <a:solidFill>
                <a:srgbClr val="037797"/>
              </a:solidFill>
            </a:endParaRPr>
          </a:p>
        </p:txBody>
      </p:sp>
      <p:sp>
        <p:nvSpPr>
          <p:cNvPr id="3" name="Content Placeholder 2"/>
          <p:cNvSpPr>
            <a:spLocks noGrp="1"/>
          </p:cNvSpPr>
          <p:nvPr>
            <p:ph idx="1"/>
          </p:nvPr>
        </p:nvSpPr>
        <p:spPr/>
        <p:txBody>
          <a:bodyPr/>
          <a:lstStyle/>
          <a:p>
            <a:pPr lvl="0">
              <a:buFontTx/>
              <a:buChar char="•"/>
            </a:pPr>
            <a:r>
              <a:rPr lang="en-US" altLang="en-US" dirty="0">
                <a:solidFill>
                  <a:srgbClr val="000000"/>
                </a:solidFill>
              </a:rPr>
              <a:t>Direct</a:t>
            </a:r>
          </a:p>
          <a:p>
            <a:pPr lvl="1"/>
            <a:r>
              <a:rPr lang="en-US" altLang="en-US" dirty="0">
                <a:solidFill>
                  <a:srgbClr val="000000"/>
                </a:solidFill>
              </a:rPr>
              <a:t>a function calls itself</a:t>
            </a:r>
          </a:p>
          <a:p>
            <a:pPr lvl="0">
              <a:buFontTx/>
              <a:buChar char="•"/>
            </a:pPr>
            <a:r>
              <a:rPr lang="en-US" altLang="en-US" dirty="0">
                <a:solidFill>
                  <a:srgbClr val="000000"/>
                </a:solidFill>
              </a:rPr>
              <a:t>Indirect</a:t>
            </a:r>
          </a:p>
          <a:p>
            <a:pPr lvl="1"/>
            <a:r>
              <a:rPr lang="en-US" altLang="en-US" dirty="0">
                <a:solidFill>
                  <a:srgbClr val="000000"/>
                </a:solidFill>
              </a:rPr>
              <a:t>function A calls function B, and function B calls function A</a:t>
            </a:r>
          </a:p>
          <a:p>
            <a:pPr lvl="1"/>
            <a:r>
              <a:rPr lang="en-US" altLang="en-US" dirty="0">
                <a:solidFill>
                  <a:srgbClr val="000000"/>
                </a:solidFill>
              </a:rPr>
              <a:t>function A calls function B, which calls …, which calls function </a:t>
            </a:r>
            <a:r>
              <a:rPr lang="en-US" altLang="en-US" dirty="0" smtClean="0">
                <a:solidFill>
                  <a:srgbClr val="000000"/>
                </a:solidFill>
              </a:rPr>
              <a:t>A</a:t>
            </a:r>
            <a:endParaRPr lang="en-US" altLang="en-US" dirty="0">
              <a:solidFill>
                <a:srgbClr val="000000"/>
              </a:solidFill>
            </a:endParaRPr>
          </a:p>
        </p:txBody>
      </p:sp>
    </p:spTree>
    <p:extLst>
      <p:ext uri="{BB962C8B-B14F-4D97-AF65-F5344CB8AC3E}">
        <p14:creationId xmlns:p14="http://schemas.microsoft.com/office/powerpoint/2010/main" val="17945099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The Recursive Factorial </a:t>
            </a:r>
            <a:r>
              <a:rPr lang="en-US" altLang="en-US" dirty="0" smtClean="0">
                <a:solidFill>
                  <a:srgbClr val="037797"/>
                </a:solidFill>
              </a:rPr>
              <a:t>Function </a:t>
            </a:r>
            <a:r>
              <a:rPr lang="en-US" altLang="en-US" sz="1200" dirty="0" smtClean="0">
                <a:solidFill>
                  <a:srgbClr val="037797"/>
                </a:solidFill>
              </a:rPr>
              <a:t>(1 of 2)</a:t>
            </a:r>
            <a:endParaRPr lang="en-IN" sz="1200" dirty="0">
              <a:solidFill>
                <a:srgbClr val="037797"/>
              </a:solidFill>
            </a:endParaRPr>
          </a:p>
        </p:txBody>
      </p:sp>
      <p:sp>
        <p:nvSpPr>
          <p:cNvPr id="3" name="Content Placeholder 2"/>
          <p:cNvSpPr>
            <a:spLocks noGrp="1"/>
          </p:cNvSpPr>
          <p:nvPr>
            <p:ph idx="1"/>
          </p:nvPr>
        </p:nvSpPr>
        <p:spPr>
          <a:xfrm>
            <a:off x="309150" y="1826631"/>
            <a:ext cx="8453849" cy="3812169"/>
          </a:xfrm>
        </p:spPr>
        <p:txBody>
          <a:bodyPr/>
          <a:lstStyle/>
          <a:p>
            <a:pPr lvl="0">
              <a:buFontTx/>
              <a:buChar char="•"/>
            </a:pPr>
            <a:r>
              <a:rPr lang="en-US" altLang="en-US" dirty="0">
                <a:solidFill>
                  <a:srgbClr val="000000"/>
                </a:solidFill>
              </a:rPr>
              <a:t>The factorial function: </a:t>
            </a:r>
          </a:p>
          <a:p>
            <a:pPr lvl="1">
              <a:buClr>
                <a:srgbClr val="3333CC"/>
              </a:buClr>
              <a:buNone/>
            </a:pPr>
            <a:r>
              <a:rPr lang="en-US" altLang="en-US" dirty="0">
                <a:solidFill>
                  <a:srgbClr val="000000"/>
                </a:solidFill>
                <a:latin typeface="Courier New" panose="02070309020205020404" pitchFamily="49" charset="0"/>
              </a:rPr>
              <a:t>n! = n*(n-1)*(n-2)*...*3*2*1</a:t>
            </a:r>
            <a:r>
              <a:rPr lang="en-US" altLang="en-US" dirty="0">
                <a:solidFill>
                  <a:srgbClr val="000000"/>
                </a:solidFill>
              </a:rPr>
              <a:t> if </a:t>
            </a:r>
            <a:r>
              <a:rPr lang="en-US" altLang="en-US" dirty="0">
                <a:solidFill>
                  <a:srgbClr val="000000"/>
                </a:solidFill>
                <a:latin typeface="Courier New" panose="02070309020205020404" pitchFamily="49" charset="0"/>
              </a:rPr>
              <a:t>n &gt; 0</a:t>
            </a:r>
          </a:p>
          <a:p>
            <a:pPr lvl="1">
              <a:buClr>
                <a:srgbClr val="3333CC"/>
              </a:buClr>
              <a:buNone/>
            </a:pPr>
            <a:r>
              <a:rPr lang="en-US" altLang="en-US" dirty="0">
                <a:solidFill>
                  <a:srgbClr val="000000"/>
                </a:solidFill>
                <a:latin typeface="Courier New" panose="02070309020205020404" pitchFamily="49" charset="0"/>
              </a:rPr>
              <a:t>n! = 1</a:t>
            </a:r>
            <a:r>
              <a:rPr lang="en-US" altLang="en-US" dirty="0">
                <a:solidFill>
                  <a:srgbClr val="000000"/>
                </a:solidFill>
              </a:rPr>
              <a:t> if </a:t>
            </a:r>
            <a:r>
              <a:rPr lang="en-US" altLang="en-US" dirty="0">
                <a:solidFill>
                  <a:srgbClr val="000000"/>
                </a:solidFill>
                <a:latin typeface="Courier New" panose="02070309020205020404" pitchFamily="49" charset="0"/>
              </a:rPr>
              <a:t>n = 0</a:t>
            </a:r>
          </a:p>
          <a:p>
            <a:pPr lvl="0">
              <a:buFontTx/>
              <a:buChar char="•"/>
            </a:pPr>
            <a:r>
              <a:rPr lang="en-US" altLang="en-US" dirty="0">
                <a:solidFill>
                  <a:srgbClr val="000000"/>
                </a:solidFill>
              </a:rPr>
              <a:t>Can compute factorial of </a:t>
            </a:r>
            <a:r>
              <a:rPr lang="en-US" altLang="en-US" dirty="0">
                <a:solidFill>
                  <a:srgbClr val="000000"/>
                </a:solidFill>
                <a:latin typeface="Courier New" panose="02070309020205020404" pitchFamily="49" charset="0"/>
              </a:rPr>
              <a:t>n</a:t>
            </a:r>
            <a:r>
              <a:rPr lang="en-US" altLang="en-US" dirty="0">
                <a:solidFill>
                  <a:srgbClr val="000000"/>
                </a:solidFill>
              </a:rPr>
              <a:t> if the factorial </a:t>
            </a:r>
            <a:r>
              <a:rPr lang="en-US" altLang="en-US" dirty="0" smtClean="0">
                <a:solidFill>
                  <a:srgbClr val="000000"/>
                </a:solidFill>
              </a:rPr>
              <a:t>of </a:t>
            </a:r>
            <a:r>
              <a:rPr lang="en-US" altLang="en-US" dirty="0" smtClean="0">
                <a:solidFill>
                  <a:srgbClr val="000000"/>
                </a:solidFill>
                <a:latin typeface="Courier New" panose="02070309020205020404" pitchFamily="49" charset="0"/>
              </a:rPr>
              <a:t>(n-1</a:t>
            </a:r>
            <a:r>
              <a:rPr lang="en-US" altLang="en-US" dirty="0">
                <a:solidFill>
                  <a:srgbClr val="000000"/>
                </a:solidFill>
                <a:latin typeface="Courier New" panose="02070309020205020404" pitchFamily="49" charset="0"/>
              </a:rPr>
              <a:t>)</a:t>
            </a:r>
            <a:r>
              <a:rPr lang="en-US" altLang="en-US" dirty="0">
                <a:solidFill>
                  <a:srgbClr val="000000"/>
                </a:solidFill>
              </a:rPr>
              <a:t> is known:</a:t>
            </a:r>
          </a:p>
          <a:p>
            <a:pPr lvl="1">
              <a:buClr>
                <a:srgbClr val="3333CC"/>
              </a:buClr>
              <a:buNone/>
            </a:pPr>
            <a:r>
              <a:rPr lang="en-US" altLang="en-US" dirty="0">
                <a:solidFill>
                  <a:srgbClr val="000000"/>
                </a:solidFill>
                <a:latin typeface="Courier New" panose="02070309020205020404" pitchFamily="49" charset="0"/>
              </a:rPr>
              <a:t>n! = n * (n-1)!</a:t>
            </a:r>
          </a:p>
          <a:p>
            <a:pPr lvl="0">
              <a:buFontTx/>
              <a:buChar char="•"/>
            </a:pPr>
            <a:r>
              <a:rPr lang="en-US" altLang="en-US" dirty="0">
                <a:solidFill>
                  <a:srgbClr val="000000"/>
                </a:solidFill>
                <a:latin typeface="Courier New" panose="02070309020205020404" pitchFamily="49" charset="0"/>
              </a:rPr>
              <a:t>n = 0</a:t>
            </a:r>
            <a:r>
              <a:rPr lang="en-US" altLang="en-US" dirty="0">
                <a:solidFill>
                  <a:srgbClr val="000000"/>
                </a:solidFill>
              </a:rPr>
              <a:t> is the base case</a:t>
            </a:r>
            <a:endParaRPr lang="en-US" altLang="en-US"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22938693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9147" y="161421"/>
            <a:ext cx="8229600" cy="1143000"/>
          </a:xfrm>
        </p:spPr>
        <p:txBody>
          <a:bodyPr/>
          <a:lstStyle/>
          <a:p>
            <a:r>
              <a:rPr lang="en-US" altLang="en-US" dirty="0">
                <a:solidFill>
                  <a:srgbClr val="037797"/>
                </a:solidFill>
              </a:rPr>
              <a:t>The Recursive Factorial Function </a:t>
            </a:r>
            <a:r>
              <a:rPr lang="en-US" altLang="en-US" sz="1200" dirty="0" smtClean="0">
                <a:solidFill>
                  <a:srgbClr val="037797"/>
                </a:solidFill>
              </a:rPr>
              <a:t>(2 </a:t>
            </a:r>
            <a:r>
              <a:rPr lang="en-US" altLang="en-US" sz="1200" dirty="0">
                <a:solidFill>
                  <a:srgbClr val="037797"/>
                </a:solidFill>
              </a:rPr>
              <a:t>of 2)</a:t>
            </a:r>
            <a:endParaRPr lang="en-IN" dirty="0">
              <a:solidFill>
                <a:srgbClr val="037797"/>
              </a:solidFill>
            </a:endParaRPr>
          </a:p>
        </p:txBody>
      </p:sp>
      <p:sp>
        <p:nvSpPr>
          <p:cNvPr id="3" name="Content Placeholder 2"/>
          <p:cNvSpPr>
            <a:spLocks noGrp="1"/>
          </p:cNvSpPr>
          <p:nvPr>
            <p:ph idx="1"/>
          </p:nvPr>
        </p:nvSpPr>
        <p:spPr>
          <a:xfrm>
            <a:off x="222072" y="1748254"/>
            <a:ext cx="8229600" cy="4038600"/>
          </a:xfrm>
        </p:spPr>
        <p:txBody>
          <a:bodyPr/>
          <a:lstStyle/>
          <a:p>
            <a:pPr lvl="1">
              <a:buNone/>
            </a:pPr>
            <a:r>
              <a:rPr lang="en-US" altLang="en-US" dirty="0">
                <a:solidFill>
                  <a:srgbClr val="000000"/>
                </a:solidFill>
                <a:latin typeface="Courier New" panose="02070309020205020404" pitchFamily="49" charset="0"/>
              </a:rPr>
              <a:t>int factorial (int num</a:t>
            </a:r>
            <a:r>
              <a:rPr lang="en-US" altLang="en-US" dirty="0" smtClean="0">
                <a:solidFill>
                  <a:srgbClr val="000000"/>
                </a:solidFill>
                <a:latin typeface="Courier New" panose="02070309020205020404" pitchFamily="49" charset="0"/>
              </a:rPr>
              <a:t>)</a:t>
            </a:r>
          </a:p>
          <a:p>
            <a:pPr lvl="1">
              <a:buNone/>
            </a:pPr>
            <a:r>
              <a:rPr lang="en-US" altLang="en-US" dirty="0" smtClean="0">
                <a:solidFill>
                  <a:srgbClr val="000000"/>
                </a:solidFill>
                <a:latin typeface="Courier New" panose="02070309020205020404" pitchFamily="49" charset="0"/>
              </a:rPr>
              <a:t>{</a:t>
            </a:r>
          </a:p>
          <a:p>
            <a:pPr marL="1101600" lvl="1">
              <a:buNone/>
            </a:pPr>
            <a:r>
              <a:rPr lang="en-US" altLang="en-US" dirty="0" smtClean="0">
                <a:solidFill>
                  <a:srgbClr val="000000"/>
                </a:solidFill>
                <a:latin typeface="Courier New" panose="02070309020205020404" pitchFamily="49" charset="0"/>
              </a:rPr>
              <a:t>if </a:t>
            </a:r>
            <a:r>
              <a:rPr lang="en-US" altLang="en-US" dirty="0">
                <a:solidFill>
                  <a:srgbClr val="000000"/>
                </a:solidFill>
                <a:latin typeface="Courier New" panose="02070309020205020404" pitchFamily="49" charset="0"/>
              </a:rPr>
              <a:t>(num &gt; </a:t>
            </a:r>
            <a:r>
              <a:rPr lang="en-US" altLang="en-US" dirty="0" smtClean="0">
                <a:solidFill>
                  <a:srgbClr val="000000"/>
                </a:solidFill>
                <a:latin typeface="Courier New" panose="02070309020205020404" pitchFamily="49" charset="0"/>
              </a:rPr>
              <a:t>0)</a:t>
            </a:r>
          </a:p>
          <a:p>
            <a:pPr marL="1368000" lvl="1">
              <a:buNone/>
            </a:pPr>
            <a:r>
              <a:rPr lang="en-US" altLang="en-US" dirty="0" smtClean="0">
                <a:solidFill>
                  <a:srgbClr val="000000"/>
                </a:solidFill>
                <a:latin typeface="Courier New" panose="02070309020205020404" pitchFamily="49" charset="0"/>
              </a:rPr>
              <a:t>return </a:t>
            </a:r>
            <a:r>
              <a:rPr lang="en-US" altLang="en-US" dirty="0">
                <a:solidFill>
                  <a:srgbClr val="000000"/>
                </a:solidFill>
                <a:latin typeface="Courier New" panose="02070309020205020404" pitchFamily="49" charset="0"/>
              </a:rPr>
              <a:t>num * factorial(</a:t>
            </a:r>
            <a:r>
              <a:rPr lang="en-US" altLang="en-US" dirty="0" err="1">
                <a:solidFill>
                  <a:srgbClr val="000000"/>
                </a:solidFill>
                <a:latin typeface="Courier New" panose="02070309020205020404" pitchFamily="49" charset="0"/>
              </a:rPr>
              <a:t>num</a:t>
            </a:r>
            <a:r>
              <a:rPr lang="en-US" altLang="en-US" dirty="0">
                <a:solidFill>
                  <a:srgbClr val="000000"/>
                </a:solidFill>
                <a:latin typeface="Courier New" panose="02070309020205020404" pitchFamily="49" charset="0"/>
              </a:rPr>
              <a:t> </a:t>
            </a:r>
            <a:r>
              <a:rPr lang="en-US" altLang="en-US" dirty="0" smtClean="0">
                <a:solidFill>
                  <a:srgbClr val="000000"/>
                </a:solidFill>
                <a:latin typeface="Courier New" panose="02070309020205020404" pitchFamily="49" charset="0"/>
              </a:rPr>
              <a:t>− </a:t>
            </a:r>
            <a:r>
              <a:rPr lang="en-US" altLang="en-US" dirty="0">
                <a:solidFill>
                  <a:srgbClr val="000000"/>
                </a:solidFill>
                <a:latin typeface="Courier New" panose="02070309020205020404" pitchFamily="49" charset="0"/>
              </a:rPr>
              <a:t>1</a:t>
            </a:r>
            <a:r>
              <a:rPr lang="en-US" altLang="en-US" dirty="0" smtClean="0">
                <a:solidFill>
                  <a:srgbClr val="000000"/>
                </a:solidFill>
                <a:latin typeface="Courier New" panose="02070309020205020404" pitchFamily="49" charset="0"/>
              </a:rPr>
              <a:t>);</a:t>
            </a:r>
          </a:p>
          <a:p>
            <a:pPr marL="957600" lvl="1">
              <a:buNone/>
            </a:pPr>
            <a:r>
              <a:rPr lang="en-US" altLang="en-US" dirty="0" smtClean="0">
                <a:solidFill>
                  <a:srgbClr val="000000"/>
                </a:solidFill>
                <a:latin typeface="Courier New" panose="02070309020205020404" pitchFamily="49" charset="0"/>
              </a:rPr>
              <a:t>else</a:t>
            </a:r>
          </a:p>
          <a:p>
            <a:pPr marL="1404000" lvl="1">
              <a:buNone/>
            </a:pPr>
            <a:r>
              <a:rPr lang="en-US" altLang="en-US" dirty="0" smtClean="0">
                <a:solidFill>
                  <a:srgbClr val="000000"/>
                </a:solidFill>
                <a:latin typeface="Courier New" panose="02070309020205020404" pitchFamily="49" charset="0"/>
              </a:rPr>
              <a:t>return </a:t>
            </a:r>
            <a:r>
              <a:rPr lang="en-US" altLang="en-US" dirty="0">
                <a:solidFill>
                  <a:srgbClr val="000000"/>
                </a:solidFill>
                <a:latin typeface="Courier New" panose="02070309020205020404" pitchFamily="49" charset="0"/>
              </a:rPr>
              <a:t>1</a:t>
            </a:r>
            <a:r>
              <a:rPr lang="en-US" altLang="en-US" dirty="0" smtClean="0">
                <a:solidFill>
                  <a:srgbClr val="000000"/>
                </a:solidFill>
                <a:latin typeface="Courier New" panose="02070309020205020404" pitchFamily="49" charset="0"/>
              </a:rPr>
              <a:t>;</a:t>
            </a:r>
          </a:p>
          <a:p>
            <a:pPr lvl="1">
              <a:buNone/>
            </a:pPr>
            <a:r>
              <a:rPr lang="en-US" altLang="en-US" dirty="0" smtClean="0">
                <a:solidFill>
                  <a:srgbClr val="000000"/>
                </a:solidFill>
                <a:latin typeface="Courier New" panose="02070309020205020404" pitchFamily="49" charset="0"/>
              </a:rPr>
              <a:t>}</a:t>
            </a:r>
            <a:endParaRPr lang="en-US" altLang="en-US"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15927242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04800"/>
            <a:ext cx="8229600" cy="609600"/>
          </a:xfrm>
        </p:spPr>
        <p:txBody>
          <a:bodyPr/>
          <a:lstStyle/>
          <a:p>
            <a:r>
              <a:rPr lang="en-US" altLang="en-US" sz="3600" dirty="0">
                <a:solidFill>
                  <a:srgbClr val="037797"/>
                </a:solidFill>
              </a:rPr>
              <a:t>Program 20-3 </a:t>
            </a:r>
            <a:r>
              <a:rPr lang="en-US" altLang="en-US" sz="1200" dirty="0" smtClean="0">
                <a:solidFill>
                  <a:srgbClr val="037797"/>
                </a:solidFill>
              </a:rPr>
              <a:t>(1 of 2)</a:t>
            </a:r>
            <a:endParaRPr lang="en-IN" sz="1200" dirty="0">
              <a:solidFill>
                <a:srgbClr val="037797"/>
              </a:solidFill>
            </a:endParaRPr>
          </a:p>
        </p:txBody>
      </p:sp>
      <p:pic>
        <p:nvPicPr>
          <p:cNvPr id="4" name="Picture 1" descr="The screenshot shows the program source code to demonstrate a recursive function to calculate the factorial of a number. The function prototype represents the integer factorial that contains the parameter for an integer. The main statement gets a number from the user and displays the factoria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0835" y="1482436"/>
            <a:ext cx="6052705" cy="49183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600818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95200"/>
            <a:ext cx="8229600" cy="639762"/>
          </a:xfrm>
        </p:spPr>
        <p:txBody>
          <a:bodyPr/>
          <a:lstStyle/>
          <a:p>
            <a:r>
              <a:rPr lang="en-US" altLang="en-US" sz="3600" dirty="0">
                <a:solidFill>
                  <a:srgbClr val="037797"/>
                </a:solidFill>
              </a:rPr>
              <a:t>Program 20-3 </a:t>
            </a:r>
            <a:r>
              <a:rPr lang="en-US" altLang="en-US" sz="1200" dirty="0" smtClean="0">
                <a:solidFill>
                  <a:srgbClr val="037797"/>
                </a:solidFill>
              </a:rPr>
              <a:t>(2 </a:t>
            </a:r>
            <a:r>
              <a:rPr lang="en-US" altLang="en-US" sz="1200" dirty="0">
                <a:solidFill>
                  <a:srgbClr val="037797"/>
                </a:solidFill>
              </a:rPr>
              <a:t>of 2)</a:t>
            </a:r>
            <a:endParaRPr lang="en-IN" dirty="0">
              <a:solidFill>
                <a:srgbClr val="037797"/>
              </a:solidFill>
            </a:endParaRPr>
          </a:p>
        </p:txBody>
      </p:sp>
      <p:pic>
        <p:nvPicPr>
          <p:cNvPr id="4" name="Picture 1" descr="The screenshot shows the program source code to demonstrate a recursive function to calculate the factorial of a number. The function prototype represents the integer factorial that contains the parameter for an integer. The main statement gets a number from the user and displays the factorial. A recursive function calculates the factorial of the parameter n. The program uses the if-else loop to check if the value of n equals 0 and returns 1 which becomes the base case. Else, it returns n times factorial (n minus 1) which becomes the recursive case. The program output with example input displays the statement that reads, &quot;Enter an integer value and I will display its factorial.&quot; The input is 4 in bold. The output reads, &quot;The factorial of 4 is 24.&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066800"/>
            <a:ext cx="8467725" cy="445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930208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noChangeArrowheads="1"/>
          </p:cNvSpPr>
          <p:nvPr>
            <p:ph type="ctrTitle"/>
          </p:nvPr>
        </p:nvSpPr>
        <p:spPr/>
        <p:txBody>
          <a:bodyPr/>
          <a:lstStyle/>
          <a:p>
            <a:r>
              <a:rPr lang="en-US" altLang="en-US" dirty="0" smtClean="0">
                <a:solidFill>
                  <a:srgbClr val="037797"/>
                </a:solidFill>
              </a:rPr>
              <a:t>20.3</a:t>
            </a:r>
          </a:p>
        </p:txBody>
      </p:sp>
      <p:sp>
        <p:nvSpPr>
          <p:cNvPr id="25603" name="Subtitle 2"/>
          <p:cNvSpPr>
            <a:spLocks noGrp="1" noChangeArrowheads="1"/>
          </p:cNvSpPr>
          <p:nvPr>
            <p:ph type="subTitle" idx="1"/>
          </p:nvPr>
        </p:nvSpPr>
        <p:spPr>
          <a:xfrm>
            <a:off x="1371600" y="4267200"/>
            <a:ext cx="6400800" cy="685800"/>
          </a:xfrm>
        </p:spPr>
        <p:txBody>
          <a:bodyPr/>
          <a:lstStyle/>
          <a:p>
            <a:r>
              <a:rPr lang="en-US" altLang="en-US" dirty="0" smtClean="0"/>
              <a:t>The Recursive gcd Function</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The Recursive gcd </a:t>
            </a:r>
            <a:r>
              <a:rPr lang="en-US" altLang="en-US" dirty="0" smtClean="0">
                <a:solidFill>
                  <a:srgbClr val="037797"/>
                </a:solidFill>
              </a:rPr>
              <a:t>Function </a:t>
            </a:r>
            <a:r>
              <a:rPr lang="en-US" altLang="en-US" sz="1200" dirty="0" smtClean="0">
                <a:solidFill>
                  <a:srgbClr val="037797"/>
                </a:solidFill>
              </a:rPr>
              <a:t>(1 of 2)</a:t>
            </a:r>
            <a:endParaRPr lang="en-IN" sz="1200" dirty="0">
              <a:solidFill>
                <a:srgbClr val="037797"/>
              </a:solidFill>
            </a:endParaRPr>
          </a:p>
        </p:txBody>
      </p:sp>
      <p:sp>
        <p:nvSpPr>
          <p:cNvPr id="3" name="Content Placeholder 2"/>
          <p:cNvSpPr>
            <a:spLocks noGrp="1"/>
          </p:cNvSpPr>
          <p:nvPr>
            <p:ph idx="1"/>
          </p:nvPr>
        </p:nvSpPr>
        <p:spPr>
          <a:xfrm>
            <a:off x="300045" y="1748253"/>
            <a:ext cx="7759737" cy="4204056"/>
          </a:xfrm>
        </p:spPr>
        <p:txBody>
          <a:bodyPr/>
          <a:lstStyle/>
          <a:p>
            <a:pPr lvl="0">
              <a:buFontTx/>
              <a:buChar char="•"/>
            </a:pPr>
            <a:r>
              <a:rPr lang="en-US" altLang="en-US" dirty="0">
                <a:solidFill>
                  <a:srgbClr val="000000"/>
                </a:solidFill>
              </a:rPr>
              <a:t>Greatest common divisor (gcd) is the largest factor that two integers have in common</a:t>
            </a:r>
          </a:p>
          <a:p>
            <a:pPr lvl="0">
              <a:buFontTx/>
              <a:buChar char="•"/>
            </a:pPr>
            <a:r>
              <a:rPr lang="en-US" altLang="en-US" dirty="0">
                <a:solidFill>
                  <a:srgbClr val="000000"/>
                </a:solidFill>
              </a:rPr>
              <a:t>Computed using Euclid's algorithm:</a:t>
            </a:r>
          </a:p>
          <a:p>
            <a:pPr lvl="1">
              <a:buClr>
                <a:srgbClr val="3333CC"/>
              </a:buClr>
              <a:buNone/>
            </a:pPr>
            <a:r>
              <a:rPr lang="en-US" altLang="en-US" dirty="0">
                <a:solidFill>
                  <a:srgbClr val="000000"/>
                </a:solidFill>
                <a:latin typeface="Courier New" panose="02070309020205020404" pitchFamily="49" charset="0"/>
              </a:rPr>
              <a:t>gcd(x, y) = y </a:t>
            </a:r>
            <a:r>
              <a:rPr lang="en-US" altLang="en-US" dirty="0">
                <a:solidFill>
                  <a:srgbClr val="000000"/>
                </a:solidFill>
              </a:rPr>
              <a:t>if </a:t>
            </a:r>
            <a:r>
              <a:rPr lang="en-US" altLang="en-US" dirty="0">
                <a:solidFill>
                  <a:srgbClr val="000000"/>
                </a:solidFill>
                <a:latin typeface="Courier New" panose="02070309020205020404" pitchFamily="49" charset="0"/>
              </a:rPr>
              <a:t>y</a:t>
            </a:r>
            <a:r>
              <a:rPr lang="en-US" altLang="en-US" dirty="0">
                <a:solidFill>
                  <a:srgbClr val="000000"/>
                </a:solidFill>
              </a:rPr>
              <a:t> divides </a:t>
            </a:r>
            <a:r>
              <a:rPr lang="en-US" altLang="en-US" dirty="0">
                <a:solidFill>
                  <a:srgbClr val="000000"/>
                </a:solidFill>
                <a:latin typeface="Courier New" panose="02070309020205020404" pitchFamily="49" charset="0"/>
              </a:rPr>
              <a:t>x</a:t>
            </a:r>
            <a:r>
              <a:rPr lang="en-US" altLang="en-US" dirty="0">
                <a:solidFill>
                  <a:srgbClr val="000000"/>
                </a:solidFill>
              </a:rPr>
              <a:t> evenly</a:t>
            </a:r>
          </a:p>
          <a:p>
            <a:pPr lvl="1">
              <a:buClr>
                <a:srgbClr val="3333CC"/>
              </a:buClr>
              <a:buNone/>
            </a:pPr>
            <a:r>
              <a:rPr lang="en-US" altLang="en-US" dirty="0">
                <a:solidFill>
                  <a:srgbClr val="000000"/>
                </a:solidFill>
                <a:latin typeface="Courier New" panose="02070309020205020404" pitchFamily="49" charset="0"/>
              </a:rPr>
              <a:t>gcd(x, y) = gcd(y, x % y)</a:t>
            </a:r>
            <a:r>
              <a:rPr lang="en-US" altLang="en-US" dirty="0">
                <a:solidFill>
                  <a:srgbClr val="000000"/>
                </a:solidFill>
              </a:rPr>
              <a:t> otherwise</a:t>
            </a:r>
          </a:p>
          <a:p>
            <a:pPr lvl="0">
              <a:buFontTx/>
              <a:buChar char="•"/>
            </a:pPr>
            <a:r>
              <a:rPr lang="en-US" altLang="en-US" dirty="0">
                <a:solidFill>
                  <a:srgbClr val="000000"/>
                </a:solidFill>
                <a:latin typeface="Courier New" panose="02070309020205020404" pitchFamily="49" charset="0"/>
              </a:rPr>
              <a:t>gcd(x, y) = y</a:t>
            </a:r>
            <a:r>
              <a:rPr lang="en-US" altLang="en-US" dirty="0">
                <a:solidFill>
                  <a:srgbClr val="000000"/>
                </a:solidFill>
              </a:rPr>
              <a:t> is the base </a:t>
            </a:r>
            <a:r>
              <a:rPr lang="en-US" altLang="en-US" dirty="0" smtClean="0">
                <a:solidFill>
                  <a:srgbClr val="000000"/>
                </a:solidFill>
              </a:rPr>
              <a:t>case</a:t>
            </a:r>
            <a:endParaRPr lang="en-US" altLang="en-US"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36325497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The Recursive gcd Function </a:t>
            </a:r>
            <a:r>
              <a:rPr lang="en-US" altLang="en-US" sz="1200" dirty="0" smtClean="0">
                <a:solidFill>
                  <a:srgbClr val="037797"/>
                </a:solidFill>
              </a:rPr>
              <a:t>(2 </a:t>
            </a:r>
            <a:r>
              <a:rPr lang="en-US" altLang="en-US" sz="1200" dirty="0">
                <a:solidFill>
                  <a:srgbClr val="037797"/>
                </a:solidFill>
              </a:rPr>
              <a:t>of 2)</a:t>
            </a:r>
            <a:endParaRPr lang="en-IN" dirty="0"/>
          </a:p>
        </p:txBody>
      </p:sp>
      <p:sp>
        <p:nvSpPr>
          <p:cNvPr id="3" name="Content Placeholder 2"/>
          <p:cNvSpPr>
            <a:spLocks noGrp="1"/>
          </p:cNvSpPr>
          <p:nvPr>
            <p:ph idx="1"/>
          </p:nvPr>
        </p:nvSpPr>
        <p:spPr>
          <a:xfrm>
            <a:off x="152393" y="1748250"/>
            <a:ext cx="8229600" cy="4525963"/>
          </a:xfrm>
        </p:spPr>
        <p:txBody>
          <a:bodyPr/>
          <a:lstStyle/>
          <a:p>
            <a:pPr lvl="1">
              <a:buNone/>
            </a:pPr>
            <a:r>
              <a:rPr lang="en-US" altLang="en-US" dirty="0">
                <a:solidFill>
                  <a:srgbClr val="000000"/>
                </a:solidFill>
                <a:latin typeface="Courier New" panose="02070309020205020404" pitchFamily="49" charset="0"/>
              </a:rPr>
              <a:t>int gcd(int x, int y)</a:t>
            </a:r>
          </a:p>
          <a:p>
            <a:pPr lvl="1">
              <a:buNone/>
            </a:pPr>
            <a:r>
              <a:rPr lang="en-US" altLang="en-US" dirty="0" smtClean="0">
                <a:solidFill>
                  <a:srgbClr val="000000"/>
                </a:solidFill>
                <a:latin typeface="Courier New" panose="02070309020205020404" pitchFamily="49" charset="0"/>
              </a:rPr>
              <a:t>{</a:t>
            </a:r>
          </a:p>
          <a:p>
            <a:pPr marL="1440000" lvl="1">
              <a:buNone/>
            </a:pPr>
            <a:r>
              <a:rPr lang="en-US" altLang="en-US" dirty="0" smtClean="0">
                <a:solidFill>
                  <a:srgbClr val="000000"/>
                </a:solidFill>
                <a:latin typeface="Courier New" panose="02070309020205020404" pitchFamily="49" charset="0"/>
              </a:rPr>
              <a:t>if </a:t>
            </a:r>
            <a:r>
              <a:rPr lang="en-US" altLang="en-US" dirty="0">
                <a:solidFill>
                  <a:srgbClr val="000000"/>
                </a:solidFill>
                <a:latin typeface="Courier New" panose="02070309020205020404" pitchFamily="49" charset="0"/>
              </a:rPr>
              <a:t>(x % y == </a:t>
            </a:r>
            <a:r>
              <a:rPr lang="en-US" altLang="en-US" dirty="0" smtClean="0">
                <a:solidFill>
                  <a:srgbClr val="000000"/>
                </a:solidFill>
                <a:latin typeface="Courier New" panose="02070309020205020404" pitchFamily="49" charset="0"/>
              </a:rPr>
              <a:t>0)</a:t>
            </a:r>
          </a:p>
          <a:p>
            <a:pPr marL="2088000" lvl="1">
              <a:buNone/>
            </a:pPr>
            <a:r>
              <a:rPr lang="en-US" altLang="en-US" dirty="0" smtClean="0">
                <a:solidFill>
                  <a:srgbClr val="000000"/>
                </a:solidFill>
                <a:latin typeface="Courier New" panose="02070309020205020404" pitchFamily="49" charset="0"/>
              </a:rPr>
              <a:t>return y;</a:t>
            </a:r>
          </a:p>
          <a:p>
            <a:pPr marL="1440000" lvl="1">
              <a:buNone/>
            </a:pPr>
            <a:r>
              <a:rPr lang="en-US" altLang="en-US" dirty="0" smtClean="0">
                <a:solidFill>
                  <a:srgbClr val="000000"/>
                </a:solidFill>
                <a:latin typeface="Courier New" panose="02070309020205020404" pitchFamily="49" charset="0"/>
              </a:rPr>
              <a:t>else</a:t>
            </a:r>
          </a:p>
          <a:p>
            <a:pPr marL="2124000" lvl="1">
              <a:buNone/>
            </a:pPr>
            <a:r>
              <a:rPr lang="en-US" altLang="en-US" dirty="0" smtClean="0">
                <a:solidFill>
                  <a:srgbClr val="000000"/>
                </a:solidFill>
                <a:latin typeface="Courier New" panose="02070309020205020404" pitchFamily="49" charset="0"/>
              </a:rPr>
              <a:t>return </a:t>
            </a:r>
            <a:r>
              <a:rPr lang="en-US" altLang="en-US" dirty="0">
                <a:solidFill>
                  <a:srgbClr val="000000"/>
                </a:solidFill>
                <a:latin typeface="Courier New" panose="02070309020205020404" pitchFamily="49" charset="0"/>
              </a:rPr>
              <a:t>gcd(y, x % y</a:t>
            </a:r>
            <a:r>
              <a:rPr lang="en-US" altLang="en-US" dirty="0" smtClean="0">
                <a:solidFill>
                  <a:srgbClr val="000000"/>
                </a:solidFill>
                <a:latin typeface="Courier New" panose="02070309020205020404" pitchFamily="49" charset="0"/>
              </a:rPr>
              <a:t>);</a:t>
            </a:r>
          </a:p>
          <a:p>
            <a:pPr lvl="1">
              <a:buNone/>
            </a:pPr>
            <a:r>
              <a:rPr lang="en-US" altLang="en-US" dirty="0" smtClean="0">
                <a:solidFill>
                  <a:srgbClr val="000000"/>
                </a:solidFill>
                <a:latin typeface="Courier New" panose="02070309020205020404" pitchFamily="49" charset="0"/>
              </a:rPr>
              <a:t>}</a:t>
            </a:r>
            <a:endParaRPr lang="en-US" altLang="en-US"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28933361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noChangeArrowheads="1"/>
          </p:cNvSpPr>
          <p:nvPr>
            <p:ph type="ctrTitle"/>
          </p:nvPr>
        </p:nvSpPr>
        <p:spPr/>
        <p:txBody>
          <a:bodyPr/>
          <a:lstStyle/>
          <a:p>
            <a:r>
              <a:rPr lang="en-US" altLang="en-US" dirty="0" smtClean="0">
                <a:solidFill>
                  <a:srgbClr val="037797"/>
                </a:solidFill>
              </a:rPr>
              <a:t>20.4</a:t>
            </a:r>
          </a:p>
        </p:txBody>
      </p:sp>
      <p:sp>
        <p:nvSpPr>
          <p:cNvPr id="29699" name="Subtitle 2"/>
          <p:cNvSpPr>
            <a:spLocks noGrp="1" noChangeArrowheads="1"/>
          </p:cNvSpPr>
          <p:nvPr>
            <p:ph type="subTitle" idx="1"/>
          </p:nvPr>
        </p:nvSpPr>
        <p:spPr>
          <a:xfrm>
            <a:off x="1371600" y="4267199"/>
            <a:ext cx="6400800" cy="1143001"/>
          </a:xfrm>
        </p:spPr>
        <p:txBody>
          <a:bodyPr/>
          <a:lstStyle/>
          <a:p>
            <a:r>
              <a:rPr lang="en-US" altLang="en-US" dirty="0" smtClean="0"/>
              <a:t>Solving Recursively Defined Problems</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Solving Recursively Defined</a:t>
            </a:r>
            <a:br>
              <a:rPr lang="en-US" altLang="en-US" dirty="0">
                <a:solidFill>
                  <a:srgbClr val="037797"/>
                </a:solidFill>
              </a:rPr>
            </a:br>
            <a:r>
              <a:rPr lang="en-US" altLang="en-US" dirty="0" smtClean="0">
                <a:solidFill>
                  <a:srgbClr val="037797"/>
                </a:solidFill>
              </a:rPr>
              <a:t>Problems </a:t>
            </a:r>
            <a:r>
              <a:rPr lang="en-US" altLang="en-US" sz="1200" dirty="0" smtClean="0">
                <a:solidFill>
                  <a:srgbClr val="037797"/>
                </a:solidFill>
              </a:rPr>
              <a:t>(1 of 2)</a:t>
            </a:r>
            <a:endParaRPr lang="en-IN" sz="1200" dirty="0">
              <a:solidFill>
                <a:srgbClr val="037797"/>
              </a:solidFill>
            </a:endParaRPr>
          </a:p>
        </p:txBody>
      </p:sp>
      <p:sp>
        <p:nvSpPr>
          <p:cNvPr id="3" name="Content Placeholder 2"/>
          <p:cNvSpPr>
            <a:spLocks noGrp="1"/>
          </p:cNvSpPr>
          <p:nvPr>
            <p:ph idx="1"/>
          </p:nvPr>
        </p:nvSpPr>
        <p:spPr>
          <a:xfrm>
            <a:off x="309155" y="1678581"/>
            <a:ext cx="8386354" cy="4525963"/>
          </a:xfrm>
        </p:spPr>
        <p:txBody>
          <a:bodyPr/>
          <a:lstStyle/>
          <a:p>
            <a:pPr lvl="0">
              <a:lnSpc>
                <a:spcPct val="80000"/>
              </a:lnSpc>
              <a:buFontTx/>
              <a:buChar char="•"/>
            </a:pPr>
            <a:r>
              <a:rPr lang="en-US" altLang="en-US" dirty="0">
                <a:solidFill>
                  <a:srgbClr val="000000"/>
                </a:solidFill>
              </a:rPr>
              <a:t>The natural definition of some problems leads to a recursive solution</a:t>
            </a:r>
          </a:p>
          <a:p>
            <a:pPr lvl="0">
              <a:lnSpc>
                <a:spcPct val="80000"/>
              </a:lnSpc>
              <a:buFontTx/>
              <a:buChar char="•"/>
            </a:pPr>
            <a:r>
              <a:rPr lang="en-US" altLang="en-US" dirty="0">
                <a:solidFill>
                  <a:srgbClr val="000000"/>
                </a:solidFill>
              </a:rPr>
              <a:t>Example: Fibonacci </a:t>
            </a:r>
            <a:r>
              <a:rPr lang="en-US" altLang="en-US" dirty="0" smtClean="0">
                <a:solidFill>
                  <a:srgbClr val="000000"/>
                </a:solidFill>
              </a:rPr>
              <a:t>numbers:</a:t>
            </a:r>
          </a:p>
          <a:p>
            <a:pPr marL="720000" lvl="0" indent="0">
              <a:lnSpc>
                <a:spcPct val="80000"/>
              </a:lnSpc>
              <a:buNone/>
            </a:pPr>
            <a:r>
              <a:rPr lang="en-US" altLang="en-US" sz="2800" dirty="0" smtClean="0">
                <a:solidFill>
                  <a:srgbClr val="000000"/>
                </a:solidFill>
                <a:latin typeface="Courier New" panose="02070309020205020404" pitchFamily="49" charset="0"/>
              </a:rPr>
              <a:t>0, 1, 1, 2, 3, 5, 8, 13, 21, ...</a:t>
            </a:r>
          </a:p>
          <a:p>
            <a:pPr lvl="0">
              <a:lnSpc>
                <a:spcPct val="80000"/>
              </a:lnSpc>
              <a:buFontTx/>
              <a:buChar char="•"/>
            </a:pPr>
            <a:r>
              <a:rPr lang="en-US" altLang="en-US" dirty="0" smtClean="0">
                <a:solidFill>
                  <a:srgbClr val="000000"/>
                </a:solidFill>
              </a:rPr>
              <a:t>After </a:t>
            </a:r>
            <a:r>
              <a:rPr lang="en-US" altLang="en-US" dirty="0">
                <a:solidFill>
                  <a:srgbClr val="000000"/>
                </a:solidFill>
              </a:rPr>
              <a:t>the starting </a:t>
            </a:r>
            <a:r>
              <a:rPr lang="en-US" altLang="en-US" dirty="0">
                <a:solidFill>
                  <a:srgbClr val="000000"/>
                </a:solidFill>
                <a:latin typeface="Courier New" panose="02070309020205020404" pitchFamily="49" charset="0"/>
              </a:rPr>
              <a:t>0, 1</a:t>
            </a:r>
            <a:r>
              <a:rPr lang="en-US" altLang="en-US" dirty="0">
                <a:solidFill>
                  <a:srgbClr val="000000"/>
                </a:solidFill>
              </a:rPr>
              <a:t>, each number is the sum of the two preceding numbers</a:t>
            </a:r>
          </a:p>
          <a:p>
            <a:pPr lvl="0">
              <a:lnSpc>
                <a:spcPct val="80000"/>
              </a:lnSpc>
              <a:buFontTx/>
              <a:buChar char="•"/>
            </a:pPr>
            <a:r>
              <a:rPr lang="en-US" altLang="en-US" dirty="0">
                <a:solidFill>
                  <a:srgbClr val="000000"/>
                </a:solidFill>
              </a:rPr>
              <a:t>Recursive solution:</a:t>
            </a:r>
          </a:p>
          <a:p>
            <a:pPr lvl="1">
              <a:lnSpc>
                <a:spcPct val="80000"/>
              </a:lnSpc>
              <a:buClr>
                <a:srgbClr val="3333CC"/>
              </a:buClr>
              <a:buNone/>
            </a:pPr>
            <a:r>
              <a:rPr lang="en-US" altLang="en-US" dirty="0">
                <a:solidFill>
                  <a:srgbClr val="000000"/>
                </a:solidFill>
                <a:latin typeface="Courier New" panose="02070309020205020404" pitchFamily="49" charset="0"/>
              </a:rPr>
              <a:t>fib(n) = fib(n </a:t>
            </a:r>
            <a:r>
              <a:rPr lang="en-US" altLang="en-US" dirty="0" smtClean="0">
                <a:solidFill>
                  <a:srgbClr val="000000"/>
                </a:solidFill>
              </a:rPr>
              <a:t>−</a:t>
            </a:r>
            <a:r>
              <a:rPr lang="en-US" altLang="en-US" dirty="0" smtClean="0">
                <a:solidFill>
                  <a:srgbClr val="000000"/>
                </a:solidFill>
                <a:latin typeface="Courier New" panose="02070309020205020404" pitchFamily="49" charset="0"/>
              </a:rPr>
              <a:t> </a:t>
            </a:r>
            <a:r>
              <a:rPr lang="en-US" altLang="en-US" dirty="0">
                <a:solidFill>
                  <a:srgbClr val="000000"/>
                </a:solidFill>
                <a:latin typeface="Courier New" panose="02070309020205020404" pitchFamily="49" charset="0"/>
              </a:rPr>
              <a:t>1) + </a:t>
            </a:r>
            <a:r>
              <a:rPr lang="en-US" altLang="en-US" dirty="0" smtClean="0">
                <a:solidFill>
                  <a:srgbClr val="000000"/>
                </a:solidFill>
                <a:latin typeface="Courier New" panose="02070309020205020404" pitchFamily="49" charset="0"/>
              </a:rPr>
              <a:t>fib(n </a:t>
            </a:r>
            <a:r>
              <a:rPr lang="en-US" altLang="en-US" dirty="0" smtClean="0">
                <a:solidFill>
                  <a:srgbClr val="000000"/>
                </a:solidFill>
              </a:rPr>
              <a:t>−</a:t>
            </a:r>
            <a:r>
              <a:rPr lang="en-US" altLang="en-US" dirty="0" smtClean="0">
                <a:solidFill>
                  <a:srgbClr val="000000"/>
                </a:solidFill>
                <a:latin typeface="Courier New" panose="02070309020205020404" pitchFamily="49" charset="0"/>
              </a:rPr>
              <a:t> 2</a:t>
            </a:r>
            <a:r>
              <a:rPr lang="en-US" altLang="en-US" dirty="0">
                <a:solidFill>
                  <a:srgbClr val="000000"/>
                </a:solidFill>
                <a:latin typeface="Courier New" panose="02070309020205020404" pitchFamily="49" charset="0"/>
              </a:rPr>
              <a:t>);</a:t>
            </a:r>
          </a:p>
          <a:p>
            <a:pPr lvl="0">
              <a:lnSpc>
                <a:spcPct val="80000"/>
              </a:lnSpc>
              <a:buFontTx/>
              <a:buChar char="•"/>
            </a:pPr>
            <a:r>
              <a:rPr lang="en-US" altLang="en-US" dirty="0">
                <a:solidFill>
                  <a:srgbClr val="000000"/>
                </a:solidFill>
              </a:rPr>
              <a:t>Base cases: </a:t>
            </a:r>
            <a:r>
              <a:rPr lang="en-US" altLang="en-US" dirty="0">
                <a:solidFill>
                  <a:srgbClr val="000000"/>
                </a:solidFill>
                <a:latin typeface="Courier New" panose="02070309020205020404" pitchFamily="49" charset="0"/>
              </a:rPr>
              <a:t>n &lt;= 0, n == </a:t>
            </a:r>
            <a:r>
              <a:rPr lang="en-US" altLang="en-US" dirty="0" smtClean="0">
                <a:solidFill>
                  <a:srgbClr val="000000"/>
                </a:solidFill>
                <a:latin typeface="Courier New" panose="02070309020205020404" pitchFamily="49" charset="0"/>
              </a:rPr>
              <a:t>1</a:t>
            </a:r>
            <a:endParaRPr lang="en-US" altLang="en-US"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18219819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Solving Recursively Defined</a:t>
            </a:r>
            <a:br>
              <a:rPr lang="en-US" altLang="en-US" dirty="0">
                <a:solidFill>
                  <a:srgbClr val="037797"/>
                </a:solidFill>
              </a:rPr>
            </a:br>
            <a:r>
              <a:rPr lang="en-US" altLang="en-US" dirty="0">
                <a:solidFill>
                  <a:srgbClr val="037797"/>
                </a:solidFill>
              </a:rPr>
              <a:t>Problems </a:t>
            </a:r>
            <a:r>
              <a:rPr lang="en-US" altLang="en-US" sz="1200" dirty="0" smtClean="0">
                <a:solidFill>
                  <a:srgbClr val="037797"/>
                </a:solidFill>
              </a:rPr>
              <a:t>(2 </a:t>
            </a:r>
            <a:r>
              <a:rPr lang="en-US" altLang="en-US" sz="1200" dirty="0">
                <a:solidFill>
                  <a:srgbClr val="037797"/>
                </a:solidFill>
              </a:rPr>
              <a:t>of 2)</a:t>
            </a:r>
            <a:endParaRPr lang="en-IN" dirty="0"/>
          </a:p>
        </p:txBody>
      </p:sp>
      <p:sp>
        <p:nvSpPr>
          <p:cNvPr id="3" name="Content Placeholder 2"/>
          <p:cNvSpPr>
            <a:spLocks noGrp="1"/>
          </p:cNvSpPr>
          <p:nvPr>
            <p:ph idx="1"/>
          </p:nvPr>
        </p:nvSpPr>
        <p:spPr>
          <a:xfrm>
            <a:off x="152400" y="1902820"/>
            <a:ext cx="8229600" cy="4114799"/>
          </a:xfrm>
        </p:spPr>
        <p:txBody>
          <a:bodyPr/>
          <a:lstStyle/>
          <a:p>
            <a:pPr lvl="1">
              <a:buClr>
                <a:srgbClr val="000000"/>
              </a:buClr>
              <a:buNone/>
            </a:pPr>
            <a:r>
              <a:rPr lang="en-US" altLang="en-US" sz="2400" dirty="0">
                <a:solidFill>
                  <a:srgbClr val="000000"/>
                </a:solidFill>
                <a:latin typeface="Courier New" panose="02070309020205020404" pitchFamily="49" charset="0"/>
              </a:rPr>
              <a:t>int fib(int n</a:t>
            </a:r>
            <a:r>
              <a:rPr lang="en-US" altLang="en-US" sz="2400" dirty="0" smtClean="0">
                <a:solidFill>
                  <a:srgbClr val="000000"/>
                </a:solidFill>
                <a:latin typeface="Courier New" panose="02070309020205020404" pitchFamily="49" charset="0"/>
              </a:rPr>
              <a:t>)</a:t>
            </a:r>
          </a:p>
          <a:p>
            <a:pPr lvl="1">
              <a:buClr>
                <a:srgbClr val="000000"/>
              </a:buClr>
              <a:buNone/>
            </a:pPr>
            <a:r>
              <a:rPr lang="en-US" altLang="en-US" sz="2400" dirty="0" smtClean="0">
                <a:solidFill>
                  <a:srgbClr val="000000"/>
                </a:solidFill>
                <a:latin typeface="Courier New" panose="02070309020205020404" pitchFamily="49" charset="0"/>
              </a:rPr>
              <a:t>{</a:t>
            </a:r>
          </a:p>
          <a:p>
            <a:pPr marL="1188000" lvl="1">
              <a:buClr>
                <a:srgbClr val="000000"/>
              </a:buClr>
              <a:buNone/>
            </a:pPr>
            <a:r>
              <a:rPr lang="en-US" altLang="en-US" sz="2400" dirty="0" smtClean="0">
                <a:solidFill>
                  <a:srgbClr val="000000"/>
                </a:solidFill>
                <a:latin typeface="Courier New" panose="02070309020205020404" pitchFamily="49" charset="0"/>
              </a:rPr>
              <a:t>if </a:t>
            </a:r>
            <a:r>
              <a:rPr lang="en-US" altLang="en-US" sz="2400" dirty="0">
                <a:solidFill>
                  <a:srgbClr val="000000"/>
                </a:solidFill>
                <a:latin typeface="Courier New" panose="02070309020205020404" pitchFamily="49" charset="0"/>
              </a:rPr>
              <a:t>(n &lt;= </a:t>
            </a:r>
            <a:r>
              <a:rPr lang="en-US" altLang="en-US" sz="2400" dirty="0" smtClean="0">
                <a:solidFill>
                  <a:srgbClr val="000000"/>
                </a:solidFill>
                <a:latin typeface="Courier New" panose="02070309020205020404" pitchFamily="49" charset="0"/>
              </a:rPr>
              <a:t>0)</a:t>
            </a:r>
          </a:p>
          <a:p>
            <a:pPr marL="1836000" lvl="1">
              <a:buClr>
                <a:srgbClr val="000000"/>
              </a:buClr>
              <a:buNone/>
            </a:pPr>
            <a:r>
              <a:rPr lang="en-US" altLang="en-US" sz="2400" dirty="0" smtClean="0">
                <a:solidFill>
                  <a:srgbClr val="000000"/>
                </a:solidFill>
                <a:latin typeface="Courier New" panose="02070309020205020404" pitchFamily="49" charset="0"/>
              </a:rPr>
              <a:t>return 0;</a:t>
            </a:r>
          </a:p>
          <a:p>
            <a:pPr marL="1188000" lvl="1">
              <a:buClr>
                <a:srgbClr val="000000"/>
              </a:buClr>
              <a:buNone/>
            </a:pPr>
            <a:r>
              <a:rPr lang="en-US" altLang="en-US" sz="2400" dirty="0" smtClean="0">
                <a:solidFill>
                  <a:srgbClr val="000000"/>
                </a:solidFill>
                <a:latin typeface="Courier New" panose="02070309020205020404" pitchFamily="49" charset="0"/>
              </a:rPr>
              <a:t>else </a:t>
            </a:r>
            <a:r>
              <a:rPr lang="en-US" altLang="en-US" sz="2400" dirty="0">
                <a:solidFill>
                  <a:srgbClr val="000000"/>
                </a:solidFill>
                <a:latin typeface="Courier New" panose="02070309020205020404" pitchFamily="49" charset="0"/>
              </a:rPr>
              <a:t>if (n == </a:t>
            </a:r>
            <a:r>
              <a:rPr lang="en-US" altLang="en-US" sz="2400" dirty="0" smtClean="0">
                <a:solidFill>
                  <a:srgbClr val="000000"/>
                </a:solidFill>
                <a:latin typeface="Courier New" panose="02070309020205020404" pitchFamily="49" charset="0"/>
              </a:rPr>
              <a:t>1)</a:t>
            </a:r>
          </a:p>
          <a:p>
            <a:pPr marL="1836000" lvl="1">
              <a:buClr>
                <a:srgbClr val="000000"/>
              </a:buClr>
              <a:buNone/>
            </a:pPr>
            <a:r>
              <a:rPr lang="en-US" altLang="en-US" sz="2400" dirty="0" smtClean="0">
                <a:solidFill>
                  <a:srgbClr val="000000"/>
                </a:solidFill>
                <a:latin typeface="Courier New" panose="02070309020205020404" pitchFamily="49" charset="0"/>
              </a:rPr>
              <a:t>return 1;</a:t>
            </a:r>
          </a:p>
          <a:p>
            <a:pPr marL="1188000" lvl="1">
              <a:buClr>
                <a:srgbClr val="000000"/>
              </a:buClr>
              <a:buNone/>
            </a:pPr>
            <a:r>
              <a:rPr lang="en-US" altLang="en-US" sz="2400" dirty="0" smtClean="0">
                <a:solidFill>
                  <a:srgbClr val="000000"/>
                </a:solidFill>
                <a:latin typeface="Courier New" panose="02070309020205020404" pitchFamily="49" charset="0"/>
              </a:rPr>
              <a:t>else</a:t>
            </a:r>
          </a:p>
          <a:p>
            <a:pPr marL="2088000" lvl="1">
              <a:buClr>
                <a:srgbClr val="000000"/>
              </a:buClr>
              <a:buNone/>
            </a:pPr>
            <a:r>
              <a:rPr lang="en-US" altLang="en-US" sz="2400" dirty="0" smtClean="0">
                <a:solidFill>
                  <a:srgbClr val="000000"/>
                </a:solidFill>
                <a:latin typeface="Courier New" panose="02070309020205020404" pitchFamily="49" charset="0"/>
              </a:rPr>
              <a:t>return </a:t>
            </a:r>
            <a:r>
              <a:rPr lang="en-US" altLang="en-US" sz="2400" dirty="0">
                <a:solidFill>
                  <a:srgbClr val="000000"/>
                </a:solidFill>
                <a:latin typeface="Courier New" panose="02070309020205020404" pitchFamily="49" charset="0"/>
              </a:rPr>
              <a:t>fib(n </a:t>
            </a:r>
            <a:r>
              <a:rPr lang="en-US" altLang="en-US" sz="2400" dirty="0" smtClean="0">
                <a:solidFill>
                  <a:srgbClr val="000000"/>
                </a:solidFill>
              </a:rPr>
              <a:t>−</a:t>
            </a:r>
            <a:r>
              <a:rPr lang="en-US" altLang="en-US" sz="2400" dirty="0" smtClean="0">
                <a:solidFill>
                  <a:srgbClr val="000000"/>
                </a:solidFill>
                <a:latin typeface="Courier New" panose="02070309020205020404" pitchFamily="49" charset="0"/>
              </a:rPr>
              <a:t> </a:t>
            </a:r>
            <a:r>
              <a:rPr lang="en-US" altLang="en-US" sz="2400" dirty="0">
                <a:solidFill>
                  <a:srgbClr val="000000"/>
                </a:solidFill>
                <a:latin typeface="Courier New" panose="02070309020205020404" pitchFamily="49" charset="0"/>
              </a:rPr>
              <a:t>1) + fib(n </a:t>
            </a:r>
            <a:r>
              <a:rPr lang="en-US" altLang="en-US" sz="2400" dirty="0" smtClean="0">
                <a:solidFill>
                  <a:srgbClr val="000000"/>
                </a:solidFill>
              </a:rPr>
              <a:t>−</a:t>
            </a:r>
            <a:r>
              <a:rPr lang="en-US" altLang="en-US" sz="2400" dirty="0" smtClean="0">
                <a:solidFill>
                  <a:srgbClr val="000000"/>
                </a:solidFill>
                <a:latin typeface="Courier New" panose="02070309020205020404" pitchFamily="49" charset="0"/>
              </a:rPr>
              <a:t> </a:t>
            </a:r>
            <a:r>
              <a:rPr lang="en-US" altLang="en-US" sz="2400" dirty="0">
                <a:solidFill>
                  <a:srgbClr val="000000"/>
                </a:solidFill>
                <a:latin typeface="Courier New" panose="02070309020205020404" pitchFamily="49" charset="0"/>
              </a:rPr>
              <a:t>2);</a:t>
            </a:r>
          </a:p>
          <a:p>
            <a:pPr lvl="1">
              <a:buClr>
                <a:srgbClr val="000000"/>
              </a:buClr>
              <a:buNone/>
            </a:pPr>
            <a:r>
              <a:rPr lang="en-US" altLang="en-US" sz="2400" dirty="0" smtClean="0">
                <a:solidFill>
                  <a:srgbClr val="000000"/>
                </a:solidFill>
                <a:latin typeface="Courier New" panose="02070309020205020404" pitchFamily="49" charset="0"/>
              </a:rPr>
              <a:t>}</a:t>
            </a:r>
            <a:endParaRPr lang="en-US" altLang="en-US" sz="2400" dirty="0">
              <a:solidFill>
                <a:srgbClr val="000000"/>
              </a:solidFill>
              <a:latin typeface="Courier New" panose="02070309020205020404" pitchFamily="49" charset="0"/>
            </a:endParaRPr>
          </a:p>
        </p:txBody>
      </p:sp>
    </p:spTree>
    <p:extLst>
      <p:ext uri="{BB962C8B-B14F-4D97-AF65-F5344CB8AC3E}">
        <p14:creationId xmlns:p14="http://schemas.microsoft.com/office/powerpoint/2010/main" val="36103125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noChangeArrowheads="1"/>
          </p:cNvSpPr>
          <p:nvPr>
            <p:ph type="ctrTitle"/>
          </p:nvPr>
        </p:nvSpPr>
        <p:spPr/>
        <p:txBody>
          <a:bodyPr/>
          <a:lstStyle/>
          <a:p>
            <a:r>
              <a:rPr lang="en-US" altLang="en-US" dirty="0" smtClean="0">
                <a:solidFill>
                  <a:srgbClr val="037797"/>
                </a:solidFill>
              </a:rPr>
              <a:t>20.5</a:t>
            </a:r>
          </a:p>
        </p:txBody>
      </p:sp>
      <p:sp>
        <p:nvSpPr>
          <p:cNvPr id="33795" name="Subtitle 2"/>
          <p:cNvSpPr>
            <a:spLocks noGrp="1" noChangeArrowheads="1"/>
          </p:cNvSpPr>
          <p:nvPr>
            <p:ph type="subTitle" idx="1"/>
          </p:nvPr>
        </p:nvSpPr>
        <p:spPr>
          <a:xfrm>
            <a:off x="1371600" y="4267199"/>
            <a:ext cx="6400800" cy="685801"/>
          </a:xfrm>
        </p:spPr>
        <p:txBody>
          <a:bodyPr/>
          <a:lstStyle/>
          <a:p>
            <a:r>
              <a:rPr lang="en-US" altLang="en-US" dirty="0" smtClean="0"/>
              <a:t>Recursive Linked List Operations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Recursive Linked List Operations</a:t>
            </a:r>
            <a:endParaRPr lang="en-IN" dirty="0">
              <a:solidFill>
                <a:srgbClr val="037797"/>
              </a:solidFill>
            </a:endParaRPr>
          </a:p>
        </p:txBody>
      </p:sp>
      <p:sp>
        <p:nvSpPr>
          <p:cNvPr id="3" name="Content Placeholder 2"/>
          <p:cNvSpPr>
            <a:spLocks noGrp="1"/>
          </p:cNvSpPr>
          <p:nvPr>
            <p:ph idx="1"/>
          </p:nvPr>
        </p:nvSpPr>
        <p:spPr>
          <a:xfrm>
            <a:off x="300438" y="1748239"/>
            <a:ext cx="8229600" cy="3733799"/>
          </a:xfrm>
        </p:spPr>
        <p:txBody>
          <a:bodyPr/>
          <a:lstStyle/>
          <a:p>
            <a:pPr lvl="0">
              <a:buFontTx/>
              <a:buChar char="•"/>
            </a:pPr>
            <a:r>
              <a:rPr lang="en-US" altLang="en-US" dirty="0">
                <a:solidFill>
                  <a:srgbClr val="000000"/>
                </a:solidFill>
              </a:rPr>
              <a:t>Recursive functions can be members of a linked list class</a:t>
            </a:r>
          </a:p>
          <a:p>
            <a:pPr lvl="0">
              <a:buFontTx/>
              <a:buChar char="•"/>
            </a:pPr>
            <a:r>
              <a:rPr lang="en-US" altLang="en-US" dirty="0">
                <a:solidFill>
                  <a:srgbClr val="000000"/>
                </a:solidFill>
              </a:rPr>
              <a:t>Some applications:</a:t>
            </a:r>
          </a:p>
          <a:p>
            <a:pPr lvl="1"/>
            <a:r>
              <a:rPr lang="en-US" altLang="en-US" dirty="0">
                <a:solidFill>
                  <a:srgbClr val="000000"/>
                </a:solidFill>
              </a:rPr>
              <a:t>Compute the size of (number of nodes in) a list</a:t>
            </a:r>
          </a:p>
          <a:p>
            <a:pPr lvl="1"/>
            <a:r>
              <a:rPr lang="en-US" altLang="en-US" dirty="0">
                <a:solidFill>
                  <a:srgbClr val="000000"/>
                </a:solidFill>
              </a:rPr>
              <a:t>Traverse the list in reverse </a:t>
            </a:r>
            <a:r>
              <a:rPr lang="en-US" altLang="en-US" dirty="0" smtClean="0">
                <a:solidFill>
                  <a:srgbClr val="000000"/>
                </a:solidFill>
              </a:rPr>
              <a:t>order</a:t>
            </a:r>
            <a:endParaRPr lang="en-US" altLang="en-US" dirty="0">
              <a:solidFill>
                <a:srgbClr val="000000"/>
              </a:solidFill>
            </a:endParaRPr>
          </a:p>
        </p:txBody>
      </p:sp>
    </p:spTree>
    <p:extLst>
      <p:ext uri="{BB962C8B-B14F-4D97-AF65-F5344CB8AC3E}">
        <p14:creationId xmlns:p14="http://schemas.microsoft.com/office/powerpoint/2010/main" val="32850225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Counting the Nodes in a Linked List</a:t>
            </a:r>
            <a:endParaRPr lang="en-IN" dirty="0">
              <a:solidFill>
                <a:srgbClr val="037797"/>
              </a:solidFill>
            </a:endParaRPr>
          </a:p>
        </p:txBody>
      </p:sp>
      <p:sp>
        <p:nvSpPr>
          <p:cNvPr id="3" name="Content Placeholder 2"/>
          <p:cNvSpPr>
            <a:spLocks noGrp="1"/>
          </p:cNvSpPr>
          <p:nvPr>
            <p:ph idx="1"/>
          </p:nvPr>
        </p:nvSpPr>
        <p:spPr>
          <a:xfrm>
            <a:off x="457200" y="1600201"/>
            <a:ext cx="8229600" cy="4114800"/>
          </a:xfrm>
        </p:spPr>
        <p:txBody>
          <a:bodyPr/>
          <a:lstStyle/>
          <a:p>
            <a:pPr lvl="0">
              <a:lnSpc>
                <a:spcPct val="90000"/>
              </a:lnSpc>
              <a:buFontTx/>
              <a:buChar char="•"/>
            </a:pPr>
            <a:r>
              <a:rPr lang="en-US" altLang="en-US" dirty="0">
                <a:solidFill>
                  <a:srgbClr val="000000"/>
                </a:solidFill>
              </a:rPr>
              <a:t>Uses a pointer to visit each node</a:t>
            </a:r>
          </a:p>
          <a:p>
            <a:pPr lvl="0">
              <a:lnSpc>
                <a:spcPct val="90000"/>
              </a:lnSpc>
              <a:buFontTx/>
              <a:buChar char="•"/>
            </a:pPr>
            <a:r>
              <a:rPr lang="en-US" altLang="en-US" dirty="0">
                <a:solidFill>
                  <a:srgbClr val="000000"/>
                </a:solidFill>
              </a:rPr>
              <a:t>Algorithm:</a:t>
            </a:r>
          </a:p>
          <a:p>
            <a:pPr lvl="1">
              <a:lnSpc>
                <a:spcPct val="90000"/>
              </a:lnSpc>
            </a:pPr>
            <a:r>
              <a:rPr lang="en-US" altLang="en-US" dirty="0" smtClean="0">
                <a:solidFill>
                  <a:srgbClr val="000000"/>
                </a:solidFill>
              </a:rPr>
              <a:t>pointer </a:t>
            </a:r>
            <a:r>
              <a:rPr lang="en-US" altLang="en-US" dirty="0">
                <a:solidFill>
                  <a:srgbClr val="000000"/>
                </a:solidFill>
              </a:rPr>
              <a:t>starts at head of list</a:t>
            </a:r>
          </a:p>
          <a:p>
            <a:pPr lvl="1">
              <a:lnSpc>
                <a:spcPct val="90000"/>
              </a:lnSpc>
            </a:pPr>
            <a:r>
              <a:rPr lang="en-US" altLang="en-US" dirty="0" smtClean="0">
                <a:solidFill>
                  <a:srgbClr val="000000"/>
                </a:solidFill>
              </a:rPr>
              <a:t>If </a:t>
            </a:r>
            <a:r>
              <a:rPr lang="en-US" altLang="en-US" dirty="0">
                <a:solidFill>
                  <a:srgbClr val="000000"/>
                </a:solidFill>
              </a:rPr>
              <a:t>pointer is null pointer, return 0 (base </a:t>
            </a:r>
            <a:r>
              <a:rPr lang="en-US" altLang="en-US" dirty="0" smtClean="0">
                <a:solidFill>
                  <a:srgbClr val="000000"/>
                </a:solidFill>
              </a:rPr>
              <a:t>case)</a:t>
            </a:r>
          </a:p>
          <a:p>
            <a:pPr marL="738000" lvl="1" indent="0">
              <a:lnSpc>
                <a:spcPct val="90000"/>
              </a:lnSpc>
              <a:buNone/>
            </a:pPr>
            <a:r>
              <a:rPr lang="en-US" altLang="en-US" dirty="0" smtClean="0">
                <a:solidFill>
                  <a:srgbClr val="000000"/>
                </a:solidFill>
              </a:rPr>
              <a:t>else</a:t>
            </a:r>
            <a:r>
              <a:rPr lang="en-US" altLang="en-US" dirty="0">
                <a:solidFill>
                  <a:srgbClr val="000000"/>
                </a:solidFill>
              </a:rPr>
              <a:t>, return 1 + number of nodes in the </a:t>
            </a:r>
            <a:r>
              <a:rPr lang="en-US" altLang="en-US" dirty="0" smtClean="0">
                <a:solidFill>
                  <a:srgbClr val="000000"/>
                </a:solidFill>
              </a:rPr>
              <a:t>list</a:t>
            </a:r>
          </a:p>
          <a:p>
            <a:pPr marL="1026000" lvl="1">
              <a:lnSpc>
                <a:spcPct val="90000"/>
              </a:lnSpc>
              <a:buNone/>
            </a:pPr>
            <a:r>
              <a:rPr lang="en-US" altLang="en-US" dirty="0" smtClean="0">
                <a:solidFill>
                  <a:srgbClr val="000000"/>
                </a:solidFill>
              </a:rPr>
              <a:t>pointed </a:t>
            </a:r>
            <a:r>
              <a:rPr lang="en-US" altLang="en-US" dirty="0">
                <a:solidFill>
                  <a:srgbClr val="000000"/>
                </a:solidFill>
              </a:rPr>
              <a:t>to by current </a:t>
            </a:r>
            <a:r>
              <a:rPr lang="en-US" altLang="en-US" dirty="0" smtClean="0">
                <a:solidFill>
                  <a:srgbClr val="000000"/>
                </a:solidFill>
              </a:rPr>
              <a:t>node</a:t>
            </a:r>
            <a:endParaRPr lang="en-US" altLang="en-US" dirty="0">
              <a:solidFill>
                <a:srgbClr val="000000"/>
              </a:solidFill>
            </a:endParaRPr>
          </a:p>
          <a:p>
            <a:pPr lvl="0">
              <a:lnSpc>
                <a:spcPct val="90000"/>
              </a:lnSpc>
              <a:spcBef>
                <a:spcPts val="3500"/>
              </a:spcBef>
              <a:buFontTx/>
              <a:buChar char="•"/>
            </a:pPr>
            <a:r>
              <a:rPr lang="en-US" altLang="en-US" dirty="0">
                <a:solidFill>
                  <a:srgbClr val="000000"/>
                </a:solidFill>
              </a:rPr>
              <a:t>See the </a:t>
            </a:r>
            <a:r>
              <a:rPr lang="en-US" altLang="en-US" dirty="0">
                <a:solidFill>
                  <a:srgbClr val="000000"/>
                </a:solidFill>
                <a:latin typeface="Courier New" panose="02070309020205020404" pitchFamily="49" charset="0"/>
              </a:rPr>
              <a:t>NumberList</a:t>
            </a:r>
            <a:r>
              <a:rPr lang="en-US" altLang="en-US" dirty="0">
                <a:solidFill>
                  <a:srgbClr val="000000"/>
                </a:solidFill>
              </a:rPr>
              <a:t> class in Chapter </a:t>
            </a:r>
            <a:r>
              <a:rPr lang="en-US" altLang="en-US" dirty="0" smtClean="0">
                <a:solidFill>
                  <a:srgbClr val="000000"/>
                </a:solidFill>
              </a:rPr>
              <a:t>19</a:t>
            </a:r>
            <a:endParaRPr lang="en-US" altLang="en-US" dirty="0">
              <a:solidFill>
                <a:srgbClr val="000000"/>
              </a:solidFill>
            </a:endParaRPr>
          </a:p>
        </p:txBody>
      </p:sp>
    </p:spTree>
    <p:extLst>
      <p:ext uri="{BB962C8B-B14F-4D97-AF65-F5344CB8AC3E}">
        <p14:creationId xmlns:p14="http://schemas.microsoft.com/office/powerpoint/2010/main" val="27764830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9147" y="292057"/>
            <a:ext cx="8229600" cy="868362"/>
          </a:xfrm>
        </p:spPr>
        <p:txBody>
          <a:bodyPr/>
          <a:lstStyle/>
          <a:p>
            <a:pPr lvl="0" eaLnBrk="1" hangingPunct="1">
              <a:spcBef>
                <a:spcPct val="50000"/>
              </a:spcBef>
            </a:pPr>
            <a:r>
              <a:rPr lang="en-US" altLang="en-US" sz="3200" kern="1200" dirty="0">
                <a:solidFill>
                  <a:srgbClr val="037797"/>
                </a:solidFill>
                <a:latin typeface="Arial" panose="020B0604020202020204" pitchFamily="34" charset="0"/>
                <a:ea typeface="+mn-ea"/>
                <a:cs typeface="Arial" panose="020B0604020202020204" pitchFamily="34" charset="0"/>
              </a:rPr>
              <a:t>The </a:t>
            </a:r>
            <a:r>
              <a:rPr lang="en-US" altLang="en-US" sz="3200" kern="1200" dirty="0">
                <a:solidFill>
                  <a:srgbClr val="037797"/>
                </a:solidFill>
                <a:latin typeface="Courier New" panose="02070309020205020404" pitchFamily="49" charset="0"/>
                <a:ea typeface="+mn-ea"/>
                <a:cs typeface="Arial" panose="020B0604020202020204" pitchFamily="34" charset="0"/>
              </a:rPr>
              <a:t>countNodes</a:t>
            </a:r>
            <a:r>
              <a:rPr lang="en-US" altLang="en-US" sz="3200" kern="1200" dirty="0">
                <a:solidFill>
                  <a:srgbClr val="037797"/>
                </a:solidFill>
                <a:latin typeface="Arial" panose="020B0604020202020204" pitchFamily="34" charset="0"/>
                <a:ea typeface="+mn-ea"/>
                <a:cs typeface="Arial" panose="020B0604020202020204" pitchFamily="34" charset="0"/>
              </a:rPr>
              <a:t> function, a private member </a:t>
            </a:r>
            <a:r>
              <a:rPr lang="en-US" altLang="en-US" sz="3200" kern="1200" dirty="0" smtClean="0">
                <a:solidFill>
                  <a:srgbClr val="037797"/>
                </a:solidFill>
                <a:latin typeface="Arial" panose="020B0604020202020204" pitchFamily="34" charset="0"/>
                <a:ea typeface="+mn-ea"/>
                <a:cs typeface="Arial" panose="020B0604020202020204" pitchFamily="34" charset="0"/>
              </a:rPr>
              <a:t>function</a:t>
            </a:r>
            <a:endParaRPr lang="en-IN" sz="3200" dirty="0">
              <a:solidFill>
                <a:srgbClr val="037797"/>
              </a:solidFill>
            </a:endParaRPr>
          </a:p>
        </p:txBody>
      </p:sp>
      <p:pic>
        <p:nvPicPr>
          <p:cNvPr id="4" name="Picture 2" descr="The screenshot shows the countNodes function to count the nodes in a linked list. The function uses a pointer to visit each node. The program uses the if-else loop to check if the pointer is a null pointer. If true, then it returns 0 (base case), else return one plus the number of nodes in the list pointed to by the current nod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573213"/>
            <a:ext cx="7221538" cy="1966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309147" y="4112632"/>
            <a:ext cx="8072853" cy="2059568"/>
          </a:xfrm>
        </p:spPr>
        <p:txBody>
          <a:bodyPr/>
          <a:lstStyle/>
          <a:p>
            <a:pPr marL="457200" indent="-457200" eaLnBrk="1" hangingPunct="1">
              <a:spcBef>
                <a:spcPct val="50000"/>
              </a:spcBef>
            </a:pPr>
            <a:r>
              <a:rPr lang="en-US" altLang="en-US" kern="1200" dirty="0">
                <a:solidFill>
                  <a:srgbClr val="000000"/>
                </a:solidFill>
                <a:latin typeface="Arial" panose="020B0604020202020204" pitchFamily="34" charset="0"/>
                <a:cs typeface="Arial" panose="020B0604020202020204" pitchFamily="34" charset="0"/>
              </a:rPr>
              <a:t>The </a:t>
            </a:r>
            <a:r>
              <a:rPr lang="en-US" altLang="en-US" kern="1200" dirty="0">
                <a:solidFill>
                  <a:srgbClr val="000000"/>
                </a:solidFill>
                <a:latin typeface="Courier New" panose="02070309020205020404" pitchFamily="49" charset="0"/>
                <a:cs typeface="Arial" panose="020B0604020202020204" pitchFamily="34" charset="0"/>
              </a:rPr>
              <a:t>countNodes</a:t>
            </a:r>
            <a:r>
              <a:rPr lang="en-US" altLang="en-US" kern="1200" dirty="0">
                <a:solidFill>
                  <a:srgbClr val="000000"/>
                </a:solidFill>
                <a:latin typeface="Arial" panose="020B0604020202020204" pitchFamily="34" charset="0"/>
                <a:cs typeface="Arial" panose="020B0604020202020204" pitchFamily="34" charset="0"/>
              </a:rPr>
              <a:t> function is executed by the public </a:t>
            </a:r>
            <a:r>
              <a:rPr lang="en-US" altLang="en-US" kern="1200" dirty="0">
                <a:solidFill>
                  <a:srgbClr val="000000"/>
                </a:solidFill>
                <a:latin typeface="Courier New" panose="02070309020205020404" pitchFamily="49" charset="0"/>
                <a:cs typeface="Arial" panose="020B0604020202020204" pitchFamily="34" charset="0"/>
              </a:rPr>
              <a:t>numNodes</a:t>
            </a:r>
            <a:r>
              <a:rPr lang="en-US" altLang="en-US" kern="1200" dirty="0">
                <a:solidFill>
                  <a:srgbClr val="000000"/>
                </a:solidFill>
                <a:latin typeface="Arial" panose="020B0604020202020204" pitchFamily="34" charset="0"/>
                <a:cs typeface="Arial" panose="020B0604020202020204" pitchFamily="34" charset="0"/>
              </a:rPr>
              <a:t> function</a:t>
            </a:r>
            <a:r>
              <a:rPr lang="en-US" altLang="en-US" kern="1200" dirty="0" smtClean="0">
                <a:solidFill>
                  <a:srgbClr val="000000"/>
                </a:solidFill>
                <a:latin typeface="Arial" panose="020B0604020202020204" pitchFamily="34" charset="0"/>
                <a:cs typeface="Arial" panose="020B0604020202020204" pitchFamily="34" charset="0"/>
              </a:rPr>
              <a:t>:</a:t>
            </a:r>
          </a:p>
          <a:p>
            <a:pPr marL="576000" lvl="0" indent="0" eaLnBrk="1" hangingPunct="1">
              <a:spcBef>
                <a:spcPts val="2500"/>
              </a:spcBef>
              <a:buNone/>
            </a:pPr>
            <a:r>
              <a:rPr lang="en-US" altLang="en-US" sz="1800" kern="1200" dirty="0">
                <a:solidFill>
                  <a:srgbClr val="000000"/>
                </a:solidFill>
                <a:latin typeface="Courier New" panose="02070309020205020404" pitchFamily="49" charset="0"/>
                <a:cs typeface="Arial" panose="020B0604020202020204" pitchFamily="34" charset="0"/>
              </a:rPr>
              <a:t>int numNodes() </a:t>
            </a:r>
            <a:r>
              <a:rPr lang="en-US" altLang="en-US" sz="1800" kern="1200" dirty="0" smtClean="0">
                <a:solidFill>
                  <a:srgbClr val="000000"/>
                </a:solidFill>
                <a:latin typeface="Courier New" panose="02070309020205020404" pitchFamily="49" charset="0"/>
                <a:cs typeface="Arial" panose="020B0604020202020204" pitchFamily="34" charset="0"/>
              </a:rPr>
              <a:t>const</a:t>
            </a:r>
          </a:p>
          <a:p>
            <a:pPr marL="972000" lvl="0" indent="0" eaLnBrk="1" hangingPunct="1">
              <a:spcBef>
                <a:spcPts val="0"/>
              </a:spcBef>
              <a:buNone/>
            </a:pPr>
            <a:r>
              <a:rPr lang="en-US" altLang="en-US" sz="1800" kern="1200" dirty="0" smtClean="0">
                <a:solidFill>
                  <a:srgbClr val="000000"/>
                </a:solidFill>
                <a:latin typeface="Courier New" panose="02070309020205020404" pitchFamily="49" charset="0"/>
                <a:cs typeface="Arial" panose="020B0604020202020204" pitchFamily="34" charset="0"/>
              </a:rPr>
              <a:t>{ </a:t>
            </a:r>
            <a:r>
              <a:rPr lang="en-US" altLang="en-US" sz="1800" kern="1200" dirty="0">
                <a:solidFill>
                  <a:srgbClr val="000000"/>
                </a:solidFill>
                <a:latin typeface="Courier New" panose="02070309020205020404" pitchFamily="49" charset="0"/>
                <a:cs typeface="Arial" panose="020B0604020202020204" pitchFamily="34" charset="0"/>
              </a:rPr>
              <a:t>return countNodes(head); </a:t>
            </a:r>
            <a:r>
              <a:rPr lang="en-US" altLang="en-US" sz="1800" kern="1200" dirty="0" smtClean="0">
                <a:solidFill>
                  <a:srgbClr val="000000"/>
                </a:solidFill>
                <a:latin typeface="Courier New" panose="02070309020205020404" pitchFamily="49" charset="0"/>
                <a:cs typeface="Arial" panose="020B0604020202020204" pitchFamily="34" charset="0"/>
              </a:rPr>
              <a:t>}</a:t>
            </a:r>
            <a:endParaRPr lang="en-US" altLang="en-US" sz="1800" kern="1200" dirty="0">
              <a:solidFill>
                <a:srgbClr val="000000"/>
              </a:solidFill>
              <a:latin typeface="Courier New" panose="02070309020205020404" pitchFamily="49" charset="0"/>
              <a:cs typeface="Arial" panose="020B0604020202020204" pitchFamily="34" charset="0"/>
            </a:endParaRPr>
          </a:p>
        </p:txBody>
      </p:sp>
    </p:spTree>
    <p:extLst>
      <p:ext uri="{BB962C8B-B14F-4D97-AF65-F5344CB8AC3E}">
        <p14:creationId xmlns:p14="http://schemas.microsoft.com/office/powerpoint/2010/main" val="35380523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Contents of a List in Reverse Order</a:t>
            </a:r>
            <a:endParaRPr lang="en-IN" dirty="0">
              <a:solidFill>
                <a:srgbClr val="037797"/>
              </a:solidFill>
            </a:endParaRPr>
          </a:p>
        </p:txBody>
      </p:sp>
      <p:sp>
        <p:nvSpPr>
          <p:cNvPr id="3" name="Content Placeholder 2"/>
          <p:cNvSpPr>
            <a:spLocks noGrp="1"/>
          </p:cNvSpPr>
          <p:nvPr>
            <p:ph idx="1"/>
          </p:nvPr>
        </p:nvSpPr>
        <p:spPr>
          <a:xfrm>
            <a:off x="457200" y="1600200"/>
            <a:ext cx="8229600" cy="3505200"/>
          </a:xfrm>
        </p:spPr>
        <p:txBody>
          <a:bodyPr/>
          <a:lstStyle/>
          <a:p>
            <a:pPr lvl="0">
              <a:buFontTx/>
              <a:buChar char="•"/>
            </a:pPr>
            <a:r>
              <a:rPr lang="en-US" altLang="en-US" dirty="0">
                <a:solidFill>
                  <a:srgbClr val="000000"/>
                </a:solidFill>
              </a:rPr>
              <a:t>Algorithm:</a:t>
            </a:r>
          </a:p>
          <a:p>
            <a:pPr lvl="1"/>
            <a:r>
              <a:rPr lang="en-US" altLang="en-US" dirty="0">
                <a:solidFill>
                  <a:srgbClr val="000000"/>
                </a:solidFill>
              </a:rPr>
              <a:t>pointer starts at head of list</a:t>
            </a:r>
          </a:p>
          <a:p>
            <a:pPr lvl="1"/>
            <a:r>
              <a:rPr lang="en-US" altLang="en-US" dirty="0">
                <a:solidFill>
                  <a:srgbClr val="000000"/>
                </a:solidFill>
              </a:rPr>
              <a:t>If the pointer is null pointer, return (base case)</a:t>
            </a:r>
          </a:p>
          <a:p>
            <a:pPr lvl="1"/>
            <a:r>
              <a:rPr lang="en-US" altLang="en-US" dirty="0">
                <a:solidFill>
                  <a:srgbClr val="000000"/>
                </a:solidFill>
              </a:rPr>
              <a:t>If the pointer is not null pointer, advance to next node</a:t>
            </a:r>
          </a:p>
          <a:p>
            <a:pPr lvl="1"/>
            <a:r>
              <a:rPr lang="en-US" altLang="en-US" u="sng" dirty="0">
                <a:solidFill>
                  <a:srgbClr val="000000"/>
                </a:solidFill>
              </a:rPr>
              <a:t>Upon returning from recursive call</a:t>
            </a:r>
            <a:r>
              <a:rPr lang="en-US" altLang="en-US" dirty="0">
                <a:solidFill>
                  <a:srgbClr val="000000"/>
                </a:solidFill>
              </a:rPr>
              <a:t>, display contents of current </a:t>
            </a:r>
            <a:r>
              <a:rPr lang="en-US" altLang="en-US" dirty="0" smtClean="0">
                <a:solidFill>
                  <a:srgbClr val="000000"/>
                </a:solidFill>
              </a:rPr>
              <a:t>node</a:t>
            </a:r>
            <a:endParaRPr lang="en-US" altLang="en-US" dirty="0">
              <a:solidFill>
                <a:srgbClr val="000000"/>
              </a:solidFill>
            </a:endParaRPr>
          </a:p>
        </p:txBody>
      </p:sp>
    </p:spTree>
    <p:extLst>
      <p:ext uri="{BB962C8B-B14F-4D97-AF65-F5344CB8AC3E}">
        <p14:creationId xmlns:p14="http://schemas.microsoft.com/office/powerpoint/2010/main" val="36935573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443" y="170130"/>
            <a:ext cx="6858000" cy="1143000"/>
          </a:xfrm>
        </p:spPr>
        <p:txBody>
          <a:bodyPr/>
          <a:lstStyle/>
          <a:p>
            <a:pPr lvl="0" eaLnBrk="1" hangingPunct="1">
              <a:spcBef>
                <a:spcPct val="50000"/>
              </a:spcBef>
            </a:pPr>
            <a:r>
              <a:rPr lang="en-US" altLang="en-US" sz="3200" kern="1200" dirty="0">
                <a:solidFill>
                  <a:srgbClr val="037797"/>
                </a:solidFill>
                <a:latin typeface="Arial" panose="020B0604020202020204" pitchFamily="34" charset="0"/>
                <a:ea typeface="+mn-ea"/>
                <a:cs typeface="Arial" panose="020B0604020202020204" pitchFamily="34" charset="0"/>
              </a:rPr>
              <a:t>The </a:t>
            </a:r>
            <a:r>
              <a:rPr lang="en-US" altLang="en-US" sz="3200" kern="1200" dirty="0">
                <a:solidFill>
                  <a:srgbClr val="037797"/>
                </a:solidFill>
                <a:latin typeface="Courier New" panose="02070309020205020404" pitchFamily="49" charset="0"/>
                <a:ea typeface="+mn-ea"/>
                <a:cs typeface="Arial" panose="020B0604020202020204" pitchFamily="34" charset="0"/>
              </a:rPr>
              <a:t>showReverse</a:t>
            </a:r>
            <a:r>
              <a:rPr lang="en-US" altLang="en-US" sz="3200" kern="1200" dirty="0">
                <a:solidFill>
                  <a:srgbClr val="037797"/>
                </a:solidFill>
                <a:latin typeface="Arial" panose="020B0604020202020204" pitchFamily="34" charset="0"/>
                <a:ea typeface="+mn-ea"/>
                <a:cs typeface="Arial" panose="020B0604020202020204" pitchFamily="34" charset="0"/>
              </a:rPr>
              <a:t> function, a private member </a:t>
            </a:r>
            <a:r>
              <a:rPr lang="en-US" altLang="en-US" sz="3200" kern="1200" dirty="0" smtClean="0">
                <a:solidFill>
                  <a:srgbClr val="037797"/>
                </a:solidFill>
                <a:latin typeface="Arial" panose="020B0604020202020204" pitchFamily="34" charset="0"/>
                <a:ea typeface="+mn-ea"/>
                <a:cs typeface="Arial" panose="020B0604020202020204" pitchFamily="34" charset="0"/>
              </a:rPr>
              <a:t>function</a:t>
            </a:r>
            <a:endParaRPr lang="en-IN" sz="3200" dirty="0">
              <a:solidFill>
                <a:srgbClr val="037797"/>
              </a:solidFill>
            </a:endParaRPr>
          </a:p>
        </p:txBody>
      </p:sp>
      <p:pic>
        <p:nvPicPr>
          <p:cNvPr id="4" name="Picture 3" descr="The screenshot shows the contents of a list in reverse order. The pointer starts at the head of the list. The program uses the if-loop to check if the pointer is a null pointer. If true, the pointer returns (base case) and displays the contents of the current node. If false, the pointer advances to the next nod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600200"/>
            <a:ext cx="7488238" cy="2249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Content Placeholder 2"/>
          <p:cNvSpPr>
            <a:spLocks noGrp="1"/>
          </p:cNvSpPr>
          <p:nvPr>
            <p:ph idx="1"/>
          </p:nvPr>
        </p:nvSpPr>
        <p:spPr>
          <a:xfrm>
            <a:off x="300443" y="4191000"/>
            <a:ext cx="8382000" cy="1987727"/>
          </a:xfrm>
        </p:spPr>
        <p:txBody>
          <a:bodyPr/>
          <a:lstStyle/>
          <a:p>
            <a:pPr marL="457200" indent="-457200" eaLnBrk="1" hangingPunct="1">
              <a:spcBef>
                <a:spcPct val="50000"/>
              </a:spcBef>
            </a:pPr>
            <a:r>
              <a:rPr lang="en-US" altLang="en-US" kern="1200" dirty="0" smtClean="0">
                <a:solidFill>
                  <a:srgbClr val="000000"/>
                </a:solidFill>
                <a:latin typeface="Arial" panose="020B0604020202020204" pitchFamily="34" charset="0"/>
                <a:cs typeface="Arial" panose="020B0604020202020204" pitchFamily="34" charset="0"/>
              </a:rPr>
              <a:t>The </a:t>
            </a:r>
            <a:r>
              <a:rPr lang="en-US" altLang="en-US" kern="1200" dirty="0" smtClean="0">
                <a:solidFill>
                  <a:srgbClr val="000000"/>
                </a:solidFill>
                <a:latin typeface="Courier New" panose="02070309020205020404" pitchFamily="49" charset="0"/>
                <a:cs typeface="Arial" panose="020B0604020202020204" pitchFamily="34" charset="0"/>
              </a:rPr>
              <a:t>showReverse</a:t>
            </a:r>
            <a:r>
              <a:rPr lang="en-US" altLang="en-US" kern="1200" dirty="0" smtClean="0">
                <a:solidFill>
                  <a:srgbClr val="000000"/>
                </a:solidFill>
                <a:latin typeface="Arial" panose="020B0604020202020204" pitchFamily="34" charset="0"/>
                <a:cs typeface="Arial" panose="020B0604020202020204" pitchFamily="34" charset="0"/>
              </a:rPr>
              <a:t> function is executed by the public </a:t>
            </a:r>
            <a:r>
              <a:rPr lang="en-US" altLang="en-US" kern="1200" dirty="0" smtClean="0">
                <a:solidFill>
                  <a:srgbClr val="000000"/>
                </a:solidFill>
                <a:latin typeface="Courier New" panose="02070309020205020404" pitchFamily="49" charset="0"/>
                <a:cs typeface="Arial" panose="020B0604020202020204" pitchFamily="34" charset="0"/>
              </a:rPr>
              <a:t>displayBackwards</a:t>
            </a:r>
            <a:r>
              <a:rPr lang="en-US" altLang="en-US" kern="1200" dirty="0" smtClean="0">
                <a:solidFill>
                  <a:srgbClr val="000000"/>
                </a:solidFill>
                <a:latin typeface="Arial" panose="020B0604020202020204" pitchFamily="34" charset="0"/>
                <a:cs typeface="Arial" panose="020B0604020202020204" pitchFamily="34" charset="0"/>
              </a:rPr>
              <a:t> function:</a:t>
            </a:r>
          </a:p>
          <a:p>
            <a:pPr marL="1080000" lvl="0" indent="0" eaLnBrk="1" hangingPunct="1">
              <a:spcBef>
                <a:spcPts val="2450"/>
              </a:spcBef>
              <a:buNone/>
            </a:pPr>
            <a:r>
              <a:rPr lang="en-US" altLang="en-US" sz="1800" kern="1200" dirty="0">
                <a:solidFill>
                  <a:srgbClr val="000000"/>
                </a:solidFill>
                <a:latin typeface="Courier New" panose="02070309020205020404" pitchFamily="49" charset="0"/>
                <a:cs typeface="Arial" panose="020B0604020202020204" pitchFamily="34" charset="0"/>
              </a:rPr>
              <a:t>void displayBackwards() </a:t>
            </a:r>
            <a:r>
              <a:rPr lang="en-US" altLang="en-US" sz="1800" kern="1200" dirty="0" smtClean="0">
                <a:solidFill>
                  <a:srgbClr val="000000"/>
                </a:solidFill>
                <a:latin typeface="Courier New" panose="02070309020205020404" pitchFamily="49" charset="0"/>
                <a:cs typeface="Arial" panose="020B0604020202020204" pitchFamily="34" charset="0"/>
              </a:rPr>
              <a:t>const</a:t>
            </a:r>
          </a:p>
          <a:p>
            <a:pPr marL="1800000" lvl="0" indent="0" eaLnBrk="1" hangingPunct="1">
              <a:spcBef>
                <a:spcPts val="0"/>
              </a:spcBef>
              <a:buNone/>
            </a:pPr>
            <a:r>
              <a:rPr lang="en-US" altLang="en-US" sz="1800" kern="1200" dirty="0" smtClean="0">
                <a:solidFill>
                  <a:srgbClr val="000000"/>
                </a:solidFill>
                <a:latin typeface="Courier New" panose="02070309020205020404" pitchFamily="49" charset="0"/>
                <a:cs typeface="Arial" panose="020B0604020202020204" pitchFamily="34" charset="0"/>
              </a:rPr>
              <a:t>{ </a:t>
            </a:r>
            <a:r>
              <a:rPr lang="en-US" altLang="en-US" sz="1800" kern="1200" dirty="0">
                <a:solidFill>
                  <a:srgbClr val="000000"/>
                </a:solidFill>
                <a:latin typeface="Courier New" panose="02070309020205020404" pitchFamily="49" charset="0"/>
                <a:cs typeface="Arial" panose="020B0604020202020204" pitchFamily="34" charset="0"/>
              </a:rPr>
              <a:t>showReverse(head); </a:t>
            </a:r>
            <a:r>
              <a:rPr lang="en-US" altLang="en-US" sz="1800" kern="1200" dirty="0" smtClean="0">
                <a:solidFill>
                  <a:srgbClr val="000000"/>
                </a:solidFill>
                <a:latin typeface="Courier New" panose="02070309020205020404" pitchFamily="49" charset="0"/>
                <a:cs typeface="Arial" panose="020B0604020202020204" pitchFamily="34" charset="0"/>
              </a:rPr>
              <a:t>}</a:t>
            </a:r>
            <a:endParaRPr lang="en-US" altLang="en-US" sz="1800" kern="1200" dirty="0">
              <a:solidFill>
                <a:srgbClr val="000000"/>
              </a:solidFill>
              <a:latin typeface="Courier New" panose="02070309020205020404" pitchFamily="49" charset="0"/>
              <a:cs typeface="Arial" panose="020B0604020202020204" pitchFamily="34" charset="0"/>
            </a:endParaRPr>
          </a:p>
        </p:txBody>
      </p:sp>
    </p:spTree>
    <p:extLst>
      <p:ext uri="{BB962C8B-B14F-4D97-AF65-F5344CB8AC3E}">
        <p14:creationId xmlns:p14="http://schemas.microsoft.com/office/powerpoint/2010/main" val="29455042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noChangeArrowheads="1"/>
          </p:cNvSpPr>
          <p:nvPr>
            <p:ph type="ctrTitle"/>
          </p:nvPr>
        </p:nvSpPr>
        <p:spPr/>
        <p:txBody>
          <a:bodyPr/>
          <a:lstStyle/>
          <a:p>
            <a:r>
              <a:rPr lang="en-US" altLang="en-US" dirty="0" smtClean="0">
                <a:solidFill>
                  <a:srgbClr val="037797"/>
                </a:solidFill>
              </a:rPr>
              <a:t>20.6</a:t>
            </a:r>
          </a:p>
        </p:txBody>
      </p:sp>
      <p:sp>
        <p:nvSpPr>
          <p:cNvPr id="41987" name="Subtitle 2"/>
          <p:cNvSpPr>
            <a:spLocks noGrp="1" noChangeArrowheads="1"/>
          </p:cNvSpPr>
          <p:nvPr>
            <p:ph type="subTitle" idx="1"/>
          </p:nvPr>
        </p:nvSpPr>
        <p:spPr>
          <a:xfrm>
            <a:off x="1371600" y="4267200"/>
            <a:ext cx="6400800" cy="1066800"/>
          </a:xfrm>
        </p:spPr>
        <p:txBody>
          <a:bodyPr/>
          <a:lstStyle/>
          <a:p>
            <a:r>
              <a:rPr lang="en-US" altLang="en-US" dirty="0" smtClean="0"/>
              <a:t>A Recursive Binary Search Function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A Recursive Binary Search </a:t>
            </a:r>
            <a:r>
              <a:rPr lang="en-US" altLang="en-US" dirty="0" smtClean="0">
                <a:solidFill>
                  <a:srgbClr val="037797"/>
                </a:solidFill>
              </a:rPr>
              <a:t>Function </a:t>
            </a:r>
            <a:r>
              <a:rPr lang="en-US" altLang="en-US" sz="1200" dirty="0" smtClean="0">
                <a:solidFill>
                  <a:srgbClr val="037797"/>
                </a:solidFill>
              </a:rPr>
              <a:t>(1 of 2)</a:t>
            </a:r>
            <a:endParaRPr lang="en-IN" sz="1200" dirty="0">
              <a:solidFill>
                <a:srgbClr val="037797"/>
              </a:solidFill>
            </a:endParaRPr>
          </a:p>
        </p:txBody>
      </p:sp>
      <p:sp>
        <p:nvSpPr>
          <p:cNvPr id="3" name="Content Placeholder 2"/>
          <p:cNvSpPr>
            <a:spLocks noGrp="1"/>
          </p:cNvSpPr>
          <p:nvPr>
            <p:ph idx="1"/>
          </p:nvPr>
        </p:nvSpPr>
        <p:spPr/>
        <p:txBody>
          <a:bodyPr/>
          <a:lstStyle/>
          <a:p>
            <a:pPr lvl="0">
              <a:lnSpc>
                <a:spcPct val="80000"/>
              </a:lnSpc>
              <a:buFontTx/>
              <a:buChar char="•"/>
            </a:pPr>
            <a:r>
              <a:rPr lang="en-US" altLang="en-US" sz="2800" dirty="0">
                <a:solidFill>
                  <a:srgbClr val="000000"/>
                </a:solidFill>
              </a:rPr>
              <a:t>Binary search algorithm can easily be written to use recursion</a:t>
            </a:r>
          </a:p>
          <a:p>
            <a:pPr lvl="0">
              <a:lnSpc>
                <a:spcPct val="80000"/>
              </a:lnSpc>
              <a:buFontTx/>
              <a:buChar char="•"/>
            </a:pPr>
            <a:r>
              <a:rPr lang="en-US" altLang="en-US" sz="2800" dirty="0">
                <a:solidFill>
                  <a:srgbClr val="000000"/>
                </a:solidFill>
              </a:rPr>
              <a:t>Base cases: desired value is found, or no more array elements to search</a:t>
            </a:r>
          </a:p>
          <a:p>
            <a:pPr lvl="0">
              <a:lnSpc>
                <a:spcPct val="80000"/>
              </a:lnSpc>
              <a:buFontTx/>
              <a:buChar char="•"/>
            </a:pPr>
            <a:r>
              <a:rPr lang="en-US" altLang="en-US" sz="2800" dirty="0">
                <a:solidFill>
                  <a:srgbClr val="000000"/>
                </a:solidFill>
              </a:rPr>
              <a:t>Algorithm (array in ascending order):</a:t>
            </a:r>
          </a:p>
          <a:p>
            <a:pPr lvl="1">
              <a:lnSpc>
                <a:spcPct val="80000"/>
              </a:lnSpc>
            </a:pPr>
            <a:r>
              <a:rPr lang="en-US" altLang="en-US" sz="2400" dirty="0">
                <a:solidFill>
                  <a:srgbClr val="000000"/>
                </a:solidFill>
              </a:rPr>
              <a:t>If middle element of array segment is desired value, then done</a:t>
            </a:r>
          </a:p>
          <a:p>
            <a:pPr lvl="1">
              <a:lnSpc>
                <a:spcPct val="80000"/>
              </a:lnSpc>
            </a:pPr>
            <a:r>
              <a:rPr lang="en-US" altLang="en-US" sz="2400" dirty="0">
                <a:solidFill>
                  <a:srgbClr val="000000"/>
                </a:solidFill>
              </a:rPr>
              <a:t>Else, if the middle element is too large, repeat binary search in first half of array segment</a:t>
            </a:r>
          </a:p>
          <a:p>
            <a:pPr lvl="1">
              <a:lnSpc>
                <a:spcPct val="80000"/>
              </a:lnSpc>
            </a:pPr>
            <a:r>
              <a:rPr lang="en-US" altLang="en-US" sz="2400" dirty="0">
                <a:solidFill>
                  <a:srgbClr val="000000"/>
                </a:solidFill>
              </a:rPr>
              <a:t>Else, if the middle element is too small, repeat binary search on the second half of array </a:t>
            </a:r>
            <a:r>
              <a:rPr lang="en-US" altLang="en-US" sz="2400" dirty="0" smtClean="0">
                <a:solidFill>
                  <a:srgbClr val="000000"/>
                </a:solidFill>
              </a:rPr>
              <a:t>segment</a:t>
            </a:r>
            <a:endParaRPr lang="en-US" altLang="en-US" sz="2400" dirty="0">
              <a:solidFill>
                <a:srgbClr val="000000"/>
              </a:solidFill>
            </a:endParaRPr>
          </a:p>
        </p:txBody>
      </p:sp>
    </p:spTree>
    <p:extLst>
      <p:ext uri="{BB962C8B-B14F-4D97-AF65-F5344CB8AC3E}">
        <p14:creationId xmlns:p14="http://schemas.microsoft.com/office/powerpoint/2010/main" val="43833700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A Recursive Binary Search Function </a:t>
            </a:r>
            <a:r>
              <a:rPr lang="en-US" altLang="en-US" sz="1200" dirty="0" smtClean="0">
                <a:solidFill>
                  <a:srgbClr val="037797"/>
                </a:solidFill>
              </a:rPr>
              <a:t>(2 </a:t>
            </a:r>
            <a:r>
              <a:rPr lang="en-US" altLang="en-US" sz="1200" dirty="0">
                <a:solidFill>
                  <a:srgbClr val="037797"/>
                </a:solidFill>
              </a:rPr>
              <a:t>of 2)</a:t>
            </a:r>
            <a:endParaRPr lang="en-IN" dirty="0">
              <a:solidFill>
                <a:srgbClr val="037797"/>
              </a:solidFill>
            </a:endParaRPr>
          </a:p>
        </p:txBody>
      </p:sp>
      <p:pic>
        <p:nvPicPr>
          <p:cNvPr id="4" name="Picture 2" descr="The screenshot shows a recursive binary search function. The algorithm uses the if-else loop and moves through the array in ascending order. The if-loop tests if the first is greater than the last, and returns negative 1. If the middle element in the array is equal to the desired value then it returns the middle element. If the middle element is smaller than the value then it repeats the binary search in the second half of the array segment. If the middle element is larger than the desired value, it repeats the search in the first half of the array segmen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828800"/>
            <a:ext cx="8610600" cy="391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216355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noChangeArrowheads="1"/>
          </p:cNvSpPr>
          <p:nvPr>
            <p:ph type="ctrTitle"/>
          </p:nvPr>
        </p:nvSpPr>
        <p:spPr/>
        <p:txBody>
          <a:bodyPr/>
          <a:lstStyle/>
          <a:p>
            <a:r>
              <a:rPr lang="en-US" altLang="en-US" dirty="0" smtClean="0">
                <a:solidFill>
                  <a:srgbClr val="037797"/>
                </a:solidFill>
              </a:rPr>
              <a:t>20.7</a:t>
            </a:r>
          </a:p>
        </p:txBody>
      </p:sp>
      <p:sp>
        <p:nvSpPr>
          <p:cNvPr id="46083" name="Subtitle 2"/>
          <p:cNvSpPr>
            <a:spLocks noGrp="1" noChangeArrowheads="1"/>
          </p:cNvSpPr>
          <p:nvPr>
            <p:ph type="subTitle" idx="1"/>
          </p:nvPr>
        </p:nvSpPr>
        <p:spPr>
          <a:xfrm>
            <a:off x="1371600" y="4267199"/>
            <a:ext cx="6400800" cy="609601"/>
          </a:xfrm>
        </p:spPr>
        <p:txBody>
          <a:bodyPr/>
          <a:lstStyle/>
          <a:p>
            <a:r>
              <a:rPr lang="en-US" altLang="en-US" dirty="0" smtClean="0"/>
              <a:t>The Towers of Hanoi</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The Towers of </a:t>
            </a:r>
            <a:r>
              <a:rPr lang="en-US" altLang="en-US" dirty="0" smtClean="0">
                <a:solidFill>
                  <a:srgbClr val="037797"/>
                </a:solidFill>
              </a:rPr>
              <a:t>Hanoi </a:t>
            </a:r>
            <a:r>
              <a:rPr lang="en-US" altLang="en-US" sz="1200" dirty="0" smtClean="0">
                <a:solidFill>
                  <a:srgbClr val="037797"/>
                </a:solidFill>
              </a:rPr>
              <a:t>(1 of 4)</a:t>
            </a:r>
            <a:endParaRPr lang="en-IN" sz="1200" dirty="0">
              <a:solidFill>
                <a:srgbClr val="037797"/>
              </a:solidFill>
            </a:endParaRPr>
          </a:p>
        </p:txBody>
      </p:sp>
      <p:sp>
        <p:nvSpPr>
          <p:cNvPr id="3" name="Content Placeholder 2"/>
          <p:cNvSpPr>
            <a:spLocks noGrp="1"/>
          </p:cNvSpPr>
          <p:nvPr>
            <p:ph idx="1"/>
          </p:nvPr>
        </p:nvSpPr>
        <p:spPr>
          <a:xfrm>
            <a:off x="457200" y="1600201"/>
            <a:ext cx="8229600" cy="2667000"/>
          </a:xfrm>
        </p:spPr>
        <p:txBody>
          <a:bodyPr/>
          <a:lstStyle/>
          <a:p>
            <a:pPr lvl="0">
              <a:buFontTx/>
              <a:buChar char="•"/>
            </a:pPr>
            <a:r>
              <a:rPr lang="en-US" altLang="en-US" dirty="0">
                <a:solidFill>
                  <a:srgbClr val="000000"/>
                </a:solidFill>
              </a:rPr>
              <a:t>The Towers of Hanoi is a mathematical game that is often used to demonstrate the power of recursion.</a:t>
            </a:r>
          </a:p>
          <a:p>
            <a:pPr lvl="0">
              <a:buFontTx/>
              <a:buChar char="•"/>
            </a:pPr>
            <a:r>
              <a:rPr lang="en-US" altLang="en-US" dirty="0">
                <a:solidFill>
                  <a:srgbClr val="000000"/>
                </a:solidFill>
              </a:rPr>
              <a:t>The game uses three pegs and a set of discs, stacked on one of the pegs</a:t>
            </a:r>
            <a:r>
              <a:rPr lang="en-US" altLang="en-US" dirty="0" smtClean="0">
                <a:solidFill>
                  <a:srgbClr val="000000"/>
                </a:solidFill>
              </a:rPr>
              <a:t>.</a:t>
            </a:r>
            <a:endParaRPr lang="en-US" altLang="en-US" dirty="0">
              <a:solidFill>
                <a:srgbClr val="000000"/>
              </a:solidFill>
            </a:endParaRPr>
          </a:p>
        </p:txBody>
      </p:sp>
      <p:pic>
        <p:nvPicPr>
          <p:cNvPr id="4" name="Picture 4" descr="The screenshot shows the Towers of Hanoi, a mathematical game to demonstrate the power of recursion. It consists of three pegs, a set of discs are stacked on the first peg on the lef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4267200"/>
            <a:ext cx="4953000" cy="170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669202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The Towers of Hanoi </a:t>
            </a:r>
            <a:r>
              <a:rPr lang="en-US" altLang="en-US" sz="1200" dirty="0" smtClean="0">
                <a:solidFill>
                  <a:srgbClr val="037797"/>
                </a:solidFill>
              </a:rPr>
              <a:t>(2 </a:t>
            </a:r>
            <a:r>
              <a:rPr lang="en-US" altLang="en-US" sz="1200" dirty="0">
                <a:solidFill>
                  <a:srgbClr val="037797"/>
                </a:solidFill>
              </a:rPr>
              <a:t>of 4)</a:t>
            </a:r>
            <a:endParaRPr lang="en-IN" dirty="0"/>
          </a:p>
        </p:txBody>
      </p:sp>
      <p:sp>
        <p:nvSpPr>
          <p:cNvPr id="3" name="Content Placeholder 2"/>
          <p:cNvSpPr>
            <a:spLocks noGrp="1"/>
          </p:cNvSpPr>
          <p:nvPr>
            <p:ph idx="1"/>
          </p:nvPr>
        </p:nvSpPr>
        <p:spPr/>
        <p:txBody>
          <a:bodyPr/>
          <a:lstStyle/>
          <a:p>
            <a:pPr lvl="0">
              <a:buFontTx/>
              <a:buChar char="•"/>
            </a:pPr>
            <a:r>
              <a:rPr lang="en-US" altLang="en-US" sz="2800" dirty="0">
                <a:solidFill>
                  <a:srgbClr val="000000"/>
                </a:solidFill>
              </a:rPr>
              <a:t>The object of the game is to move the discs from the first peg to the third peg. Here are the rules:</a:t>
            </a:r>
          </a:p>
          <a:p>
            <a:pPr lvl="1"/>
            <a:r>
              <a:rPr lang="en-US" altLang="en-US" sz="2400" dirty="0">
                <a:solidFill>
                  <a:srgbClr val="000000"/>
                </a:solidFill>
              </a:rPr>
              <a:t>Only one disc may be moved at a time.</a:t>
            </a:r>
          </a:p>
          <a:p>
            <a:pPr lvl="1"/>
            <a:r>
              <a:rPr lang="en-US" altLang="en-US" sz="2400" dirty="0">
                <a:solidFill>
                  <a:srgbClr val="000000"/>
                </a:solidFill>
              </a:rPr>
              <a:t>A disc cannot be placed on top of a smaller disc.</a:t>
            </a:r>
          </a:p>
          <a:p>
            <a:pPr lvl="1"/>
            <a:r>
              <a:rPr lang="en-US" altLang="en-US" sz="2400" dirty="0">
                <a:solidFill>
                  <a:srgbClr val="000000"/>
                </a:solidFill>
              </a:rPr>
              <a:t>All discs must be stored on a peg except while being moved</a:t>
            </a:r>
            <a:r>
              <a:rPr lang="en-US" altLang="en-US" sz="2400" dirty="0" smtClean="0">
                <a:solidFill>
                  <a:srgbClr val="000000"/>
                </a:solidFill>
              </a:rPr>
              <a:t>.</a:t>
            </a:r>
            <a:endParaRPr lang="en-US" altLang="en-US" sz="2400" dirty="0">
              <a:solidFill>
                <a:srgbClr val="000000"/>
              </a:solidFill>
            </a:endParaRPr>
          </a:p>
        </p:txBody>
      </p:sp>
    </p:spTree>
    <p:extLst>
      <p:ext uri="{BB962C8B-B14F-4D97-AF65-F5344CB8AC3E}">
        <p14:creationId xmlns:p14="http://schemas.microsoft.com/office/powerpoint/2010/main" val="7899996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Moving Three Discs</a:t>
            </a:r>
            <a:endParaRPr lang="en-IN" dirty="0">
              <a:solidFill>
                <a:srgbClr val="037797"/>
              </a:solidFill>
            </a:endParaRPr>
          </a:p>
        </p:txBody>
      </p:sp>
      <p:pic>
        <p:nvPicPr>
          <p:cNvPr id="4" name="Picture 3" descr="The screenshot shows the Towers of Hanoi, a mathematical game to move the discs from the first peg to the third peg. The first step shows the original setup which consists of three pegs. A set of discs are stacked on the first peg on the left. The first step is move disc one to peg three. The second step is move disc two to peg two. The third step is move disc one to peg two. The fourth step is move disc three to peg three. The fifth step is move disc one to peg one. The sixth step is move disc two to peg three. The seventh step is move disc one to peg thre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524000"/>
            <a:ext cx="5715000" cy="4900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215406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The Towers of Hanoi </a:t>
            </a:r>
            <a:r>
              <a:rPr lang="en-US" altLang="en-US" sz="1200" dirty="0" smtClean="0">
                <a:solidFill>
                  <a:srgbClr val="037797"/>
                </a:solidFill>
              </a:rPr>
              <a:t>(3 </a:t>
            </a:r>
            <a:r>
              <a:rPr lang="en-US" altLang="en-US" sz="1200" dirty="0">
                <a:solidFill>
                  <a:srgbClr val="037797"/>
                </a:solidFill>
              </a:rPr>
              <a:t>of 4)</a:t>
            </a:r>
            <a:endParaRPr lang="en-IN" dirty="0"/>
          </a:p>
        </p:txBody>
      </p:sp>
      <p:sp>
        <p:nvSpPr>
          <p:cNvPr id="3" name="Content Placeholder 2"/>
          <p:cNvSpPr>
            <a:spLocks noGrp="1"/>
          </p:cNvSpPr>
          <p:nvPr>
            <p:ph idx="1"/>
          </p:nvPr>
        </p:nvSpPr>
        <p:spPr>
          <a:xfrm>
            <a:off x="457200" y="1600201"/>
            <a:ext cx="8229600" cy="2209800"/>
          </a:xfrm>
        </p:spPr>
        <p:txBody>
          <a:bodyPr/>
          <a:lstStyle/>
          <a:p>
            <a:pPr lvl="0">
              <a:buFontTx/>
              <a:buChar char="•"/>
            </a:pPr>
            <a:r>
              <a:rPr lang="en-US" altLang="en-US" dirty="0">
                <a:solidFill>
                  <a:srgbClr val="000000"/>
                </a:solidFill>
              </a:rPr>
              <a:t>The following statement describes the overall solution to the problem:</a:t>
            </a:r>
          </a:p>
          <a:p>
            <a:pPr lvl="1"/>
            <a:r>
              <a:rPr lang="en-US" altLang="en-US" i="1" dirty="0">
                <a:solidFill>
                  <a:srgbClr val="000000"/>
                </a:solidFill>
              </a:rPr>
              <a:t>Move n discs from peg 1 to peg 3 using peg 2 as a temporary peg</a:t>
            </a:r>
            <a:r>
              <a:rPr lang="en-US" altLang="en-US" i="1" dirty="0" smtClean="0">
                <a:solidFill>
                  <a:srgbClr val="333399"/>
                </a:solidFill>
              </a:rPr>
              <a:t>.</a:t>
            </a:r>
            <a:endParaRPr lang="en-US" altLang="en-US" dirty="0">
              <a:solidFill>
                <a:srgbClr val="333399"/>
              </a:solidFill>
            </a:endParaRPr>
          </a:p>
        </p:txBody>
      </p:sp>
    </p:spTree>
    <p:extLst>
      <p:ext uri="{BB962C8B-B14F-4D97-AF65-F5344CB8AC3E}">
        <p14:creationId xmlns:p14="http://schemas.microsoft.com/office/powerpoint/2010/main" val="31240786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The Towers of Hanoi </a:t>
            </a:r>
            <a:r>
              <a:rPr lang="en-US" altLang="en-US" sz="1200" dirty="0" smtClean="0">
                <a:solidFill>
                  <a:srgbClr val="037797"/>
                </a:solidFill>
              </a:rPr>
              <a:t>(4 </a:t>
            </a:r>
            <a:r>
              <a:rPr lang="en-US" altLang="en-US" sz="1200" dirty="0">
                <a:solidFill>
                  <a:srgbClr val="037797"/>
                </a:solidFill>
              </a:rPr>
              <a:t>of 4)</a:t>
            </a:r>
            <a:endParaRPr lang="en-IN" dirty="0"/>
          </a:p>
        </p:txBody>
      </p:sp>
      <p:sp>
        <p:nvSpPr>
          <p:cNvPr id="3" name="Content Placeholder 2"/>
          <p:cNvSpPr>
            <a:spLocks noGrp="1"/>
          </p:cNvSpPr>
          <p:nvPr>
            <p:ph idx="1"/>
          </p:nvPr>
        </p:nvSpPr>
        <p:spPr/>
        <p:txBody>
          <a:bodyPr/>
          <a:lstStyle/>
          <a:p>
            <a:pPr lvl="0">
              <a:lnSpc>
                <a:spcPct val="90000"/>
              </a:lnSpc>
              <a:buFontTx/>
              <a:buChar char="•"/>
            </a:pPr>
            <a:r>
              <a:rPr lang="en-US" altLang="en-US" sz="2800" dirty="0">
                <a:solidFill>
                  <a:srgbClr val="000000"/>
                </a:solidFill>
              </a:rPr>
              <a:t>Algorithm</a:t>
            </a:r>
          </a:p>
          <a:p>
            <a:pPr lvl="1">
              <a:lnSpc>
                <a:spcPct val="90000"/>
              </a:lnSpc>
            </a:pPr>
            <a:r>
              <a:rPr lang="en-US" altLang="en-US" sz="2400" i="1" dirty="0">
                <a:solidFill>
                  <a:srgbClr val="000000"/>
                </a:solidFill>
              </a:rPr>
              <a:t>To move n discs from peg A to peg C, using peg B as a temporary </a:t>
            </a:r>
            <a:r>
              <a:rPr lang="en-US" altLang="en-US" sz="2400" i="1" dirty="0" smtClean="0">
                <a:solidFill>
                  <a:srgbClr val="000000"/>
                </a:solidFill>
              </a:rPr>
              <a:t>peg:</a:t>
            </a:r>
          </a:p>
          <a:p>
            <a:pPr marL="738000" lvl="1" indent="0">
              <a:lnSpc>
                <a:spcPct val="90000"/>
              </a:lnSpc>
              <a:spcBef>
                <a:spcPts val="14"/>
              </a:spcBef>
              <a:buNone/>
            </a:pPr>
            <a:r>
              <a:rPr lang="en-US" altLang="en-US" sz="2400" i="1" dirty="0" smtClean="0">
                <a:solidFill>
                  <a:srgbClr val="000000"/>
                </a:solidFill>
              </a:rPr>
              <a:t>If </a:t>
            </a:r>
            <a:r>
              <a:rPr lang="en-US" altLang="en-US" sz="2400" i="1" dirty="0">
                <a:solidFill>
                  <a:srgbClr val="000000"/>
                </a:solidFill>
              </a:rPr>
              <a:t>n &gt; 0 </a:t>
            </a:r>
            <a:r>
              <a:rPr lang="en-US" altLang="en-US" sz="2400" i="1" dirty="0" smtClean="0">
                <a:solidFill>
                  <a:srgbClr val="000000"/>
                </a:solidFill>
              </a:rPr>
              <a:t>Then</a:t>
            </a:r>
            <a:endParaRPr lang="en-US" altLang="en-US" sz="2400" i="1" dirty="0">
              <a:solidFill>
                <a:srgbClr val="000000"/>
              </a:solidFill>
            </a:endParaRPr>
          </a:p>
          <a:p>
            <a:pPr marL="972000" lvl="1" indent="0">
              <a:lnSpc>
                <a:spcPct val="90000"/>
              </a:lnSpc>
              <a:spcBef>
                <a:spcPts val="0"/>
              </a:spcBef>
              <a:buNone/>
            </a:pPr>
            <a:r>
              <a:rPr lang="en-US" altLang="en-US" sz="2400" i="1" dirty="0" smtClean="0">
                <a:solidFill>
                  <a:srgbClr val="000000"/>
                </a:solidFill>
              </a:rPr>
              <a:t>Move </a:t>
            </a:r>
            <a:r>
              <a:rPr lang="en-US" altLang="en-US" sz="2400" i="1" dirty="0">
                <a:solidFill>
                  <a:srgbClr val="000000"/>
                </a:solidFill>
              </a:rPr>
              <a:t>n </a:t>
            </a:r>
            <a:r>
              <a:rPr lang="en-US" altLang="en-US" sz="2400" i="1" dirty="0" smtClean="0">
                <a:solidFill>
                  <a:srgbClr val="000000"/>
                </a:solidFill>
              </a:rPr>
              <a:t>− </a:t>
            </a:r>
            <a:r>
              <a:rPr lang="en-US" altLang="en-US" sz="2400" i="1" dirty="0">
                <a:solidFill>
                  <a:srgbClr val="000000"/>
                </a:solidFill>
              </a:rPr>
              <a:t>1 discs from peg A to peg B, </a:t>
            </a:r>
            <a:r>
              <a:rPr lang="en-US" altLang="en-US" sz="2400" i="1" dirty="0" smtClean="0">
                <a:solidFill>
                  <a:srgbClr val="000000"/>
                </a:solidFill>
              </a:rPr>
              <a:t>using</a:t>
            </a:r>
            <a:endParaRPr lang="en-US" altLang="en-US" sz="2400" i="1" dirty="0">
              <a:solidFill>
                <a:srgbClr val="000000"/>
              </a:solidFill>
            </a:endParaRPr>
          </a:p>
          <a:p>
            <a:pPr marL="979200" lvl="1" indent="0">
              <a:lnSpc>
                <a:spcPct val="90000"/>
              </a:lnSpc>
              <a:spcBef>
                <a:spcPts val="0"/>
              </a:spcBef>
              <a:buNone/>
            </a:pPr>
            <a:r>
              <a:rPr lang="en-US" altLang="en-US" sz="2400" i="1" dirty="0" smtClean="0">
                <a:solidFill>
                  <a:srgbClr val="000000"/>
                </a:solidFill>
              </a:rPr>
              <a:t>peg </a:t>
            </a:r>
            <a:r>
              <a:rPr lang="en-US" altLang="en-US" sz="2400" i="1" dirty="0">
                <a:solidFill>
                  <a:srgbClr val="000000"/>
                </a:solidFill>
              </a:rPr>
              <a:t>C as a temporary </a:t>
            </a:r>
            <a:r>
              <a:rPr lang="en-US" altLang="en-US" sz="2400" i="1" dirty="0" smtClean="0">
                <a:solidFill>
                  <a:srgbClr val="000000"/>
                </a:solidFill>
              </a:rPr>
              <a:t>peg.</a:t>
            </a:r>
          </a:p>
          <a:p>
            <a:pPr marL="979200" lvl="1" indent="0">
              <a:lnSpc>
                <a:spcPct val="90000"/>
              </a:lnSpc>
              <a:spcBef>
                <a:spcPts val="2600"/>
              </a:spcBef>
              <a:buNone/>
            </a:pPr>
            <a:r>
              <a:rPr lang="en-US" altLang="en-US" sz="2400" i="1" dirty="0" smtClean="0">
                <a:solidFill>
                  <a:srgbClr val="000000"/>
                </a:solidFill>
              </a:rPr>
              <a:t>Move </a:t>
            </a:r>
            <a:r>
              <a:rPr lang="en-US" altLang="en-US" sz="2400" i="1" dirty="0">
                <a:solidFill>
                  <a:srgbClr val="000000"/>
                </a:solidFill>
              </a:rPr>
              <a:t>the remaining disc from the peg A to peg </a:t>
            </a:r>
            <a:r>
              <a:rPr lang="en-US" altLang="en-US" sz="2400" i="1" dirty="0" smtClean="0">
                <a:solidFill>
                  <a:srgbClr val="000000"/>
                </a:solidFill>
              </a:rPr>
              <a:t>C.</a:t>
            </a:r>
          </a:p>
          <a:p>
            <a:pPr marL="979200" lvl="1" indent="0">
              <a:lnSpc>
                <a:spcPct val="90000"/>
              </a:lnSpc>
              <a:spcBef>
                <a:spcPts val="2700"/>
              </a:spcBef>
              <a:buNone/>
            </a:pPr>
            <a:r>
              <a:rPr lang="en-US" altLang="en-US" sz="2400" i="1" dirty="0" smtClean="0">
                <a:solidFill>
                  <a:srgbClr val="000000"/>
                </a:solidFill>
              </a:rPr>
              <a:t>Move </a:t>
            </a:r>
            <a:r>
              <a:rPr lang="en-US" altLang="en-US" sz="2400" i="1" dirty="0">
                <a:solidFill>
                  <a:srgbClr val="000000"/>
                </a:solidFill>
              </a:rPr>
              <a:t>n </a:t>
            </a:r>
            <a:r>
              <a:rPr lang="en-US" altLang="en-US" sz="2400" i="1" dirty="0" smtClean="0">
                <a:solidFill>
                  <a:srgbClr val="000000"/>
                </a:solidFill>
              </a:rPr>
              <a:t>− </a:t>
            </a:r>
            <a:r>
              <a:rPr lang="en-US" altLang="en-US" sz="2400" i="1" dirty="0">
                <a:solidFill>
                  <a:srgbClr val="000000"/>
                </a:solidFill>
              </a:rPr>
              <a:t>1 discs from peg B to peg C, </a:t>
            </a:r>
            <a:r>
              <a:rPr lang="en-US" altLang="en-US" sz="2400" i="1" dirty="0" smtClean="0">
                <a:solidFill>
                  <a:srgbClr val="000000"/>
                </a:solidFill>
              </a:rPr>
              <a:t>using</a:t>
            </a:r>
            <a:endParaRPr lang="en-US" altLang="en-US" sz="2400" i="1" dirty="0">
              <a:solidFill>
                <a:srgbClr val="000000"/>
              </a:solidFill>
            </a:endParaRPr>
          </a:p>
          <a:p>
            <a:pPr marL="972000" lvl="1" indent="0">
              <a:lnSpc>
                <a:spcPct val="90000"/>
              </a:lnSpc>
              <a:spcBef>
                <a:spcPts val="0"/>
              </a:spcBef>
              <a:buNone/>
            </a:pPr>
            <a:r>
              <a:rPr lang="en-US" altLang="en-US" sz="2400" i="1" dirty="0" smtClean="0">
                <a:solidFill>
                  <a:srgbClr val="000000"/>
                </a:solidFill>
              </a:rPr>
              <a:t>peg </a:t>
            </a:r>
            <a:r>
              <a:rPr lang="en-US" altLang="en-US" sz="2400" i="1" dirty="0">
                <a:solidFill>
                  <a:srgbClr val="000000"/>
                </a:solidFill>
              </a:rPr>
              <a:t>A as a temporary </a:t>
            </a:r>
            <a:r>
              <a:rPr lang="en-US" altLang="en-US" sz="2400" i="1" dirty="0" smtClean="0">
                <a:solidFill>
                  <a:srgbClr val="000000"/>
                </a:solidFill>
              </a:rPr>
              <a:t>peg.</a:t>
            </a:r>
            <a:endParaRPr lang="en-US" altLang="en-US" sz="2400" i="1" dirty="0">
              <a:solidFill>
                <a:srgbClr val="000000"/>
              </a:solidFill>
            </a:endParaRPr>
          </a:p>
          <a:p>
            <a:pPr marL="741600" lvl="1" indent="0">
              <a:lnSpc>
                <a:spcPct val="90000"/>
              </a:lnSpc>
              <a:spcBef>
                <a:spcPts val="2500"/>
              </a:spcBef>
              <a:buNone/>
            </a:pPr>
            <a:r>
              <a:rPr lang="en-US" altLang="en-US" sz="2400" i="1" dirty="0" smtClean="0">
                <a:solidFill>
                  <a:srgbClr val="000000"/>
                </a:solidFill>
              </a:rPr>
              <a:t>End If</a:t>
            </a:r>
            <a:endParaRPr lang="en-US" altLang="en-US" sz="2400" dirty="0">
              <a:solidFill>
                <a:srgbClr val="000000"/>
              </a:solidFill>
            </a:endParaRPr>
          </a:p>
        </p:txBody>
      </p:sp>
    </p:spTree>
    <p:extLst>
      <p:ext uri="{BB962C8B-B14F-4D97-AF65-F5344CB8AC3E}">
        <p14:creationId xmlns:p14="http://schemas.microsoft.com/office/powerpoint/2010/main" val="28794373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334962"/>
          </a:xfrm>
        </p:spPr>
        <p:txBody>
          <a:bodyPr/>
          <a:lstStyle/>
          <a:p>
            <a:r>
              <a:rPr lang="en-US" dirty="0" smtClean="0"/>
              <a:t> </a:t>
            </a:r>
            <a:endParaRPr lang="en-IN" dirty="0"/>
          </a:p>
        </p:txBody>
      </p:sp>
      <p:pic>
        <p:nvPicPr>
          <p:cNvPr id="4" name="Picture 1" descr="The screenshot shows the program that displays a solution to the Towers of Hanoi game. The function prototype moveDiscs contains the integer parameters. The main statement includes the number of discs to move, initial &quot;from&quot; peg, initial &quot;to&quot; peg, and the initial &quot;temp&quot; peg. The program starts the game and moves the discs from one peg tot he other. The output reads, &quot;All the pegs are moved.&quo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9138" y="304800"/>
            <a:ext cx="7705725"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04505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334962"/>
          </a:xfrm>
        </p:spPr>
        <p:txBody>
          <a:bodyPr/>
          <a:lstStyle/>
          <a:p>
            <a:r>
              <a:rPr lang="en-US" dirty="0" smtClean="0"/>
              <a:t>  </a:t>
            </a:r>
            <a:endParaRPr lang="en-IN" dirty="0"/>
          </a:p>
        </p:txBody>
      </p:sp>
      <p:pic>
        <p:nvPicPr>
          <p:cNvPr id="4" name="Picture 1" descr="The screenshot shows the program that displays a solution to the Towers of Hanoi game. The function prototype moveDiscs contains the integer parameters. The program starts the game and moves the discs from one peg to the other. The output reads, &quot;All the pegs are moved.&quot; The moveDiscs function displays a disc move in the Towers of Hanoi game. The parameters are: number of discs to move, the peg to move from, the peg to move to, and the temporary peg. The if-loop tests if the number is greater than zero and moves the discs from the beginning to the en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2925" y="304800"/>
            <a:ext cx="8058150" cy="5886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694043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58762"/>
          </a:xfrm>
        </p:spPr>
        <p:txBody>
          <a:bodyPr/>
          <a:lstStyle/>
          <a:p>
            <a:r>
              <a:rPr lang="en-US" dirty="0" smtClean="0"/>
              <a:t>   </a:t>
            </a:r>
            <a:endParaRPr lang="en-IN" dirty="0"/>
          </a:p>
        </p:txBody>
      </p:sp>
      <p:sp>
        <p:nvSpPr>
          <p:cNvPr id="3" name="Content Placeholder 2"/>
          <p:cNvSpPr>
            <a:spLocks noGrp="1"/>
          </p:cNvSpPr>
          <p:nvPr>
            <p:ph idx="1"/>
          </p:nvPr>
        </p:nvSpPr>
        <p:spPr>
          <a:xfrm>
            <a:off x="304800" y="609600"/>
            <a:ext cx="8229600" cy="457200"/>
          </a:xfrm>
        </p:spPr>
        <p:txBody>
          <a:bodyPr/>
          <a:lstStyle/>
          <a:p>
            <a:pPr marL="0" lvl="0" indent="0" eaLnBrk="1" hangingPunct="1">
              <a:spcBef>
                <a:spcPct val="0"/>
              </a:spcBef>
              <a:buNone/>
            </a:pPr>
            <a:r>
              <a:rPr lang="en-US" altLang="en-US" sz="1800" kern="1200" dirty="0" smtClean="0">
                <a:solidFill>
                  <a:srgbClr val="037797"/>
                </a:solidFill>
                <a:latin typeface="Arial" panose="020B0604020202020204" pitchFamily="34" charset="0"/>
                <a:cs typeface="Arial" panose="020B0604020202020204" pitchFamily="34" charset="0"/>
              </a:rPr>
              <a:t>Program 20-10 (Continued)</a:t>
            </a:r>
            <a:endParaRPr lang="en-US" altLang="en-US" sz="1800" kern="1200" dirty="0">
              <a:solidFill>
                <a:srgbClr val="037797"/>
              </a:solidFill>
              <a:latin typeface="Arial" panose="020B0604020202020204" pitchFamily="34" charset="0"/>
              <a:cs typeface="Arial" panose="020B0604020202020204" pitchFamily="34" charset="0"/>
            </a:endParaRPr>
          </a:p>
        </p:txBody>
      </p:sp>
      <p:pic>
        <p:nvPicPr>
          <p:cNvPr id="4" name="Picture 1" descr="The screenshot shows the program output with example input for the Towers of Hanoi game. The output reads, Move a disc from peg one to peg three. Move a disc from peg one to peg two. Move a disc from peg three to peg two. Move a disc from peg one to peg three. Move a disc from peg two to peg one. Move a disc from peg two to peg one. Move a disc from peg one to peg three. All the pegs are move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388" y="2243138"/>
            <a:ext cx="8277225" cy="2371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1113084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Title 1"/>
          <p:cNvSpPr>
            <a:spLocks noGrp="1" noChangeArrowheads="1"/>
          </p:cNvSpPr>
          <p:nvPr>
            <p:ph type="ctrTitle"/>
          </p:nvPr>
        </p:nvSpPr>
        <p:spPr/>
        <p:txBody>
          <a:bodyPr/>
          <a:lstStyle/>
          <a:p>
            <a:r>
              <a:rPr lang="en-US" altLang="en-US" dirty="0" smtClean="0">
                <a:solidFill>
                  <a:srgbClr val="037797"/>
                </a:solidFill>
              </a:rPr>
              <a:t>20.8</a:t>
            </a:r>
          </a:p>
        </p:txBody>
      </p:sp>
      <p:sp>
        <p:nvSpPr>
          <p:cNvPr id="55299" name="Subtitle 2"/>
          <p:cNvSpPr>
            <a:spLocks noGrp="1" noChangeArrowheads="1"/>
          </p:cNvSpPr>
          <p:nvPr>
            <p:ph type="subTitle" idx="1"/>
          </p:nvPr>
        </p:nvSpPr>
        <p:spPr>
          <a:xfrm>
            <a:off x="1371600" y="4267200"/>
            <a:ext cx="6400800" cy="685800"/>
          </a:xfrm>
        </p:spPr>
        <p:txBody>
          <a:bodyPr/>
          <a:lstStyle/>
          <a:p>
            <a:r>
              <a:rPr lang="en-US" altLang="en-US" dirty="0" smtClean="0"/>
              <a:t>The QuickSort Algorithm</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The QuickSort </a:t>
            </a:r>
            <a:r>
              <a:rPr lang="en-US" altLang="en-US" dirty="0" smtClean="0">
                <a:solidFill>
                  <a:srgbClr val="037797"/>
                </a:solidFill>
              </a:rPr>
              <a:t>Algorithm </a:t>
            </a:r>
            <a:r>
              <a:rPr lang="en-US" altLang="en-US" sz="1200" dirty="0" smtClean="0">
                <a:solidFill>
                  <a:srgbClr val="037797"/>
                </a:solidFill>
              </a:rPr>
              <a:t>(1 of 2)</a:t>
            </a:r>
            <a:endParaRPr lang="en-IN" sz="1200" dirty="0">
              <a:solidFill>
                <a:srgbClr val="037797"/>
              </a:solidFill>
            </a:endParaRPr>
          </a:p>
        </p:txBody>
      </p:sp>
      <p:sp>
        <p:nvSpPr>
          <p:cNvPr id="3" name="Content Placeholder 2"/>
          <p:cNvSpPr>
            <a:spLocks noGrp="1"/>
          </p:cNvSpPr>
          <p:nvPr>
            <p:ph idx="1"/>
          </p:nvPr>
        </p:nvSpPr>
        <p:spPr>
          <a:xfrm>
            <a:off x="457200" y="1600201"/>
            <a:ext cx="8229600" cy="2285999"/>
          </a:xfrm>
        </p:spPr>
        <p:txBody>
          <a:bodyPr/>
          <a:lstStyle/>
          <a:p>
            <a:pPr lvl="0">
              <a:buFontTx/>
              <a:buChar char="•"/>
            </a:pPr>
            <a:r>
              <a:rPr lang="en-US" altLang="en-US" dirty="0">
                <a:solidFill>
                  <a:srgbClr val="000000"/>
                </a:solidFill>
              </a:rPr>
              <a:t>Recursive algorithm that can sort an array or a linear linked list</a:t>
            </a:r>
          </a:p>
          <a:p>
            <a:pPr lvl="0">
              <a:buFontTx/>
              <a:buChar char="•"/>
            </a:pPr>
            <a:r>
              <a:rPr lang="en-US" altLang="en-US" dirty="0">
                <a:solidFill>
                  <a:srgbClr val="000000"/>
                </a:solidFill>
              </a:rPr>
              <a:t>Determines an element/node to use as </a:t>
            </a:r>
            <a:r>
              <a:rPr lang="en-US" altLang="en-US" u="sng" dirty="0">
                <a:solidFill>
                  <a:srgbClr val="000000"/>
                </a:solidFill>
              </a:rPr>
              <a:t>pivot value</a:t>
            </a:r>
            <a:r>
              <a:rPr lang="en-US" altLang="en-US" u="sng" dirty="0" smtClean="0">
                <a:solidFill>
                  <a:srgbClr val="000000"/>
                </a:solidFill>
              </a:rPr>
              <a:t>:</a:t>
            </a:r>
            <a:endParaRPr lang="en-US" altLang="en-US" dirty="0">
              <a:solidFill>
                <a:srgbClr val="000000"/>
              </a:solidFill>
            </a:endParaRPr>
          </a:p>
        </p:txBody>
      </p:sp>
      <p:pic>
        <p:nvPicPr>
          <p:cNvPr id="4" name="Picture 3" descr="The screenshot shows the recursive algorithm that sorts an array or linear linked list. The algorithm determines the pivot located between sublist one and sublist two."/>
          <p:cNvPicPr>
            <a:picLocks noChangeAspect="1"/>
          </p:cNvPicPr>
          <p:nvPr/>
        </p:nvPicPr>
        <p:blipFill rotWithShape="1">
          <a:blip r:embed="rId2"/>
          <a:srcRect l="5745" t="1818" r="4539" b="-1818"/>
          <a:stretch/>
        </p:blipFill>
        <p:spPr>
          <a:xfrm>
            <a:off x="1600199" y="4038600"/>
            <a:ext cx="6024563" cy="2095500"/>
          </a:xfrm>
          <a:prstGeom prst="rect">
            <a:avLst/>
          </a:prstGeom>
        </p:spPr>
      </p:pic>
    </p:spTree>
    <p:extLst>
      <p:ext uri="{BB962C8B-B14F-4D97-AF65-F5344CB8AC3E}">
        <p14:creationId xmlns:p14="http://schemas.microsoft.com/office/powerpoint/2010/main" val="98109716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The QuickSort Algorithm </a:t>
            </a:r>
            <a:r>
              <a:rPr lang="en-US" altLang="en-US" sz="1200" dirty="0" smtClean="0">
                <a:solidFill>
                  <a:srgbClr val="037797"/>
                </a:solidFill>
              </a:rPr>
              <a:t>(2 </a:t>
            </a:r>
            <a:r>
              <a:rPr lang="en-US" altLang="en-US" sz="1200" dirty="0">
                <a:solidFill>
                  <a:srgbClr val="037797"/>
                </a:solidFill>
              </a:rPr>
              <a:t>of 2)</a:t>
            </a:r>
            <a:endParaRPr lang="en-IN" dirty="0"/>
          </a:p>
        </p:txBody>
      </p:sp>
      <p:pic>
        <p:nvPicPr>
          <p:cNvPr id="4" name="Picture 3" descr="The screenshot shows the recursive algorithm that sorts an array or linear linked list. The algorithm determines the pivot value located between sublist one and sublist two."/>
          <p:cNvPicPr>
            <a:picLocks noChangeAspect="1"/>
          </p:cNvPicPr>
          <p:nvPr/>
        </p:nvPicPr>
        <p:blipFill rotWithShape="1">
          <a:blip r:embed="rId2"/>
          <a:srcRect t="13853"/>
          <a:stretch/>
        </p:blipFill>
        <p:spPr>
          <a:xfrm>
            <a:off x="1300162" y="1676400"/>
            <a:ext cx="6543675" cy="1895475"/>
          </a:xfrm>
          <a:prstGeom prst="rect">
            <a:avLst/>
          </a:prstGeom>
        </p:spPr>
      </p:pic>
      <p:sp>
        <p:nvSpPr>
          <p:cNvPr id="3" name="Content Placeholder 2"/>
          <p:cNvSpPr>
            <a:spLocks noGrp="1"/>
          </p:cNvSpPr>
          <p:nvPr>
            <p:ph idx="1"/>
          </p:nvPr>
        </p:nvSpPr>
        <p:spPr>
          <a:xfrm>
            <a:off x="300438" y="3733800"/>
            <a:ext cx="8229600" cy="2438400"/>
          </a:xfrm>
        </p:spPr>
        <p:txBody>
          <a:bodyPr/>
          <a:lstStyle/>
          <a:p>
            <a:pPr lvl="0">
              <a:buFontTx/>
              <a:buChar char="•"/>
            </a:pPr>
            <a:r>
              <a:rPr lang="en-US" altLang="en-US" sz="2800" dirty="0">
                <a:solidFill>
                  <a:srgbClr val="000000"/>
                </a:solidFill>
              </a:rPr>
              <a:t>Once pivot value is determined, values are shifted so that elements in sublist1 are &lt; pivot and elements in sublist2 are &gt; pivot</a:t>
            </a:r>
          </a:p>
          <a:p>
            <a:pPr lvl="0">
              <a:buFontTx/>
              <a:buChar char="•"/>
            </a:pPr>
            <a:r>
              <a:rPr lang="en-US" altLang="en-US" sz="2800" dirty="0">
                <a:solidFill>
                  <a:srgbClr val="000000"/>
                </a:solidFill>
              </a:rPr>
              <a:t>Algorithm then sorts sublist1 and sublist2</a:t>
            </a:r>
          </a:p>
          <a:p>
            <a:pPr lvl="0">
              <a:buFontTx/>
              <a:buChar char="•"/>
            </a:pPr>
            <a:r>
              <a:rPr lang="en-US" altLang="en-US" sz="2800" dirty="0">
                <a:solidFill>
                  <a:srgbClr val="000000"/>
                </a:solidFill>
              </a:rPr>
              <a:t>Base case: sublist has size </a:t>
            </a:r>
            <a:r>
              <a:rPr lang="en-US" altLang="en-US" sz="2800" dirty="0" smtClean="0">
                <a:solidFill>
                  <a:srgbClr val="000000"/>
                </a:solidFill>
              </a:rPr>
              <a:t>1</a:t>
            </a:r>
            <a:endParaRPr lang="en-US" altLang="en-US" sz="2800" dirty="0">
              <a:solidFill>
                <a:srgbClr val="000000"/>
              </a:solidFill>
            </a:endParaRPr>
          </a:p>
        </p:txBody>
      </p:sp>
    </p:spTree>
    <p:extLst>
      <p:ext uri="{BB962C8B-B14F-4D97-AF65-F5344CB8AC3E}">
        <p14:creationId xmlns:p14="http://schemas.microsoft.com/office/powerpoint/2010/main" val="326130898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itle 1"/>
          <p:cNvSpPr>
            <a:spLocks noGrp="1" noChangeArrowheads="1"/>
          </p:cNvSpPr>
          <p:nvPr>
            <p:ph type="ctrTitle"/>
          </p:nvPr>
        </p:nvSpPr>
        <p:spPr/>
        <p:txBody>
          <a:bodyPr/>
          <a:lstStyle/>
          <a:p>
            <a:r>
              <a:rPr lang="en-US" altLang="en-US" dirty="0" smtClean="0">
                <a:solidFill>
                  <a:srgbClr val="037797"/>
                </a:solidFill>
              </a:rPr>
              <a:t>20.9</a:t>
            </a:r>
          </a:p>
        </p:txBody>
      </p:sp>
      <p:sp>
        <p:nvSpPr>
          <p:cNvPr id="59395" name="Subtitle 2"/>
          <p:cNvSpPr>
            <a:spLocks noGrp="1" noChangeArrowheads="1"/>
          </p:cNvSpPr>
          <p:nvPr>
            <p:ph type="subTitle" idx="1"/>
          </p:nvPr>
        </p:nvSpPr>
        <p:spPr>
          <a:xfrm>
            <a:off x="1371600" y="4267200"/>
            <a:ext cx="6400800" cy="1066800"/>
          </a:xfrm>
        </p:spPr>
        <p:txBody>
          <a:bodyPr/>
          <a:lstStyle/>
          <a:p>
            <a:r>
              <a:rPr lang="en-US" altLang="en-US" dirty="0" smtClean="0"/>
              <a:t>Exhaustive and Enumeration Algorithms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Exhaustive and Enumeration Algorithms</a:t>
            </a:r>
            <a:endParaRPr lang="en-IN" dirty="0">
              <a:solidFill>
                <a:srgbClr val="037797"/>
              </a:solidFill>
            </a:endParaRPr>
          </a:p>
        </p:txBody>
      </p:sp>
      <p:sp>
        <p:nvSpPr>
          <p:cNvPr id="3" name="Content Placeholder 2"/>
          <p:cNvSpPr>
            <a:spLocks noGrp="1"/>
          </p:cNvSpPr>
          <p:nvPr>
            <p:ph idx="1"/>
          </p:nvPr>
        </p:nvSpPr>
        <p:spPr>
          <a:xfrm>
            <a:off x="457200" y="1600201"/>
            <a:ext cx="8229600" cy="3657599"/>
          </a:xfrm>
        </p:spPr>
        <p:txBody>
          <a:bodyPr/>
          <a:lstStyle/>
          <a:p>
            <a:pPr lvl="0">
              <a:buFontTx/>
              <a:buChar char="•"/>
            </a:pPr>
            <a:r>
              <a:rPr lang="en-US" altLang="en-US" u="sng" dirty="0">
                <a:solidFill>
                  <a:srgbClr val="000000"/>
                </a:solidFill>
              </a:rPr>
              <a:t>Exhaustive algorithm</a:t>
            </a:r>
            <a:r>
              <a:rPr lang="en-US" altLang="en-US" dirty="0">
                <a:solidFill>
                  <a:srgbClr val="000000"/>
                </a:solidFill>
              </a:rPr>
              <a:t>: search a set of combinations to find an optimal one</a:t>
            </a:r>
          </a:p>
          <a:p>
            <a:pPr lvl="1">
              <a:buClr>
                <a:srgbClr val="3333CC"/>
              </a:buClr>
              <a:buNone/>
            </a:pPr>
            <a:r>
              <a:rPr lang="en-US" altLang="en-US" dirty="0">
                <a:solidFill>
                  <a:srgbClr val="000000"/>
                </a:solidFill>
              </a:rPr>
              <a:t>Example: change for a certain amount of money that uses the fewest coins</a:t>
            </a:r>
          </a:p>
          <a:p>
            <a:pPr lvl="0">
              <a:buFontTx/>
              <a:buChar char="•"/>
            </a:pPr>
            <a:r>
              <a:rPr lang="en-US" altLang="en-US" dirty="0">
                <a:solidFill>
                  <a:srgbClr val="000000"/>
                </a:solidFill>
              </a:rPr>
              <a:t>Uses the generation of all possible combinations when determining the optimal one</a:t>
            </a:r>
            <a:r>
              <a:rPr lang="en-US" altLang="en-US" dirty="0" smtClean="0">
                <a:solidFill>
                  <a:srgbClr val="000000"/>
                </a:solidFill>
              </a:rPr>
              <a:t>.</a:t>
            </a:r>
            <a:endParaRPr lang="en-US" altLang="en-US" dirty="0">
              <a:solidFill>
                <a:srgbClr val="000000"/>
              </a:solidFill>
            </a:endParaRPr>
          </a:p>
        </p:txBody>
      </p:sp>
    </p:spTree>
    <p:extLst>
      <p:ext uri="{BB962C8B-B14F-4D97-AF65-F5344CB8AC3E}">
        <p14:creationId xmlns:p14="http://schemas.microsoft.com/office/powerpoint/2010/main" val="55568154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itle 1"/>
          <p:cNvSpPr>
            <a:spLocks noGrp="1" noChangeArrowheads="1"/>
          </p:cNvSpPr>
          <p:nvPr>
            <p:ph type="ctrTitle"/>
          </p:nvPr>
        </p:nvSpPr>
        <p:spPr/>
        <p:txBody>
          <a:bodyPr/>
          <a:lstStyle/>
          <a:p>
            <a:r>
              <a:rPr lang="en-US" altLang="en-US" dirty="0" smtClean="0">
                <a:solidFill>
                  <a:srgbClr val="037797"/>
                </a:solidFill>
              </a:rPr>
              <a:t>20.10</a:t>
            </a:r>
          </a:p>
        </p:txBody>
      </p:sp>
      <p:sp>
        <p:nvSpPr>
          <p:cNvPr id="62467" name="Subtitle 2"/>
          <p:cNvSpPr>
            <a:spLocks noGrp="1" noChangeArrowheads="1"/>
          </p:cNvSpPr>
          <p:nvPr>
            <p:ph type="subTitle" idx="1"/>
          </p:nvPr>
        </p:nvSpPr>
        <p:spPr>
          <a:xfrm>
            <a:off x="1371600" y="4267200"/>
            <a:ext cx="6400800" cy="1219200"/>
          </a:xfrm>
        </p:spPr>
        <p:txBody>
          <a:bodyPr/>
          <a:lstStyle/>
          <a:p>
            <a:r>
              <a:rPr lang="en-US" altLang="en-US" dirty="0" smtClean="0"/>
              <a:t>Recursion and Variadic Function Templates</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Title 1"/>
          <p:cNvSpPr>
            <a:spLocks noGrp="1" noChangeArrowheads="1"/>
          </p:cNvSpPr>
          <p:nvPr>
            <p:ph type="title"/>
          </p:nvPr>
        </p:nvSpPr>
        <p:spPr/>
        <p:txBody>
          <a:bodyPr/>
          <a:lstStyle/>
          <a:p>
            <a:r>
              <a:rPr lang="en-US" altLang="en-US" dirty="0" smtClean="0">
                <a:solidFill>
                  <a:srgbClr val="037797"/>
                </a:solidFill>
              </a:rPr>
              <a:t>Variadic Function Templates </a:t>
            </a:r>
            <a:r>
              <a:rPr lang="en-US" altLang="en-US" sz="1200" dirty="0" smtClean="0">
                <a:solidFill>
                  <a:srgbClr val="037797"/>
                </a:solidFill>
              </a:rPr>
              <a:t>(1 of 4)</a:t>
            </a:r>
          </a:p>
        </p:txBody>
      </p:sp>
      <p:sp>
        <p:nvSpPr>
          <p:cNvPr id="63491" name="Content Placeholder 2"/>
          <p:cNvSpPr>
            <a:spLocks noGrp="1" noChangeArrowheads="1"/>
          </p:cNvSpPr>
          <p:nvPr>
            <p:ph idx="1"/>
          </p:nvPr>
        </p:nvSpPr>
        <p:spPr/>
        <p:txBody>
          <a:bodyPr/>
          <a:lstStyle/>
          <a:p>
            <a:pPr>
              <a:buFontTx/>
              <a:buChar char="•"/>
            </a:pPr>
            <a:r>
              <a:rPr lang="en-US" altLang="en-US" sz="2400" dirty="0" smtClean="0"/>
              <a:t>A variadic function template is a template for a function that takes a variable number of arguments</a:t>
            </a:r>
          </a:p>
          <a:p>
            <a:pPr>
              <a:spcBef>
                <a:spcPts val="3000"/>
              </a:spcBef>
              <a:buFontTx/>
              <a:buChar char="•"/>
            </a:pPr>
            <a:r>
              <a:rPr lang="en-US" altLang="en-US" sz="2400" dirty="0" smtClean="0"/>
              <a:t>Example: Suppose we want to write an </a:t>
            </a:r>
            <a:r>
              <a:rPr lang="en-US" altLang="en-US" sz="2400" dirty="0" smtClean="0">
                <a:latin typeface="Courier New" panose="02070309020205020404" pitchFamily="49" charset="0"/>
                <a:cs typeface="Courier New" panose="02070309020205020404" pitchFamily="49" charset="0"/>
              </a:rPr>
              <a:t>add</a:t>
            </a:r>
            <a:r>
              <a:rPr lang="en-US" altLang="en-US" sz="2400" dirty="0" smtClean="0"/>
              <a:t> function that takes any number of arguments and returns the sum of those arguments:</a:t>
            </a:r>
            <a:endParaRPr lang="en-US" altLang="en-US" sz="2400" dirty="0"/>
          </a:p>
          <a:p>
            <a:pPr marL="360000" indent="0">
              <a:spcBef>
                <a:spcPts val="3000"/>
              </a:spcBef>
              <a:buNone/>
            </a:pPr>
            <a:r>
              <a:rPr lang="en-US" altLang="en-US" sz="2000" dirty="0" smtClean="0">
                <a:latin typeface="Courier New" panose="02070309020205020404" pitchFamily="49" charset="0"/>
                <a:cs typeface="Courier New" panose="02070309020205020404" pitchFamily="49" charset="0"/>
              </a:rPr>
              <a:t>// The following displays 3</a:t>
            </a:r>
            <a:br>
              <a:rPr lang="en-US" altLang="en-US" sz="2000" dirty="0" smtClean="0">
                <a:latin typeface="Courier New" panose="02070309020205020404" pitchFamily="49" charset="0"/>
                <a:cs typeface="Courier New" panose="02070309020205020404" pitchFamily="49" charset="0"/>
              </a:rPr>
            </a:br>
            <a:r>
              <a:rPr lang="en-US" altLang="en-US" sz="2000" dirty="0" smtClean="0">
                <a:latin typeface="Courier New" panose="02070309020205020404" pitchFamily="49" charset="0"/>
                <a:cs typeface="Courier New" panose="02070309020205020404" pitchFamily="49" charset="0"/>
              </a:rPr>
              <a:t>cout &lt;&lt; add(1, 2) &lt;&lt; endl;</a:t>
            </a:r>
            <a:endParaRPr lang="en-US" altLang="en-US" sz="2000" dirty="0">
              <a:latin typeface="Courier New" panose="02070309020205020404" pitchFamily="49" charset="0"/>
              <a:cs typeface="Courier New" panose="02070309020205020404" pitchFamily="49" charset="0"/>
            </a:endParaRPr>
          </a:p>
          <a:p>
            <a:pPr marL="360000" indent="0">
              <a:spcBef>
                <a:spcPts val="3000"/>
              </a:spcBef>
              <a:buNone/>
            </a:pPr>
            <a:r>
              <a:rPr lang="en-US" altLang="en-US" sz="2000" dirty="0" smtClean="0">
                <a:latin typeface="Courier New" panose="02070309020205020404" pitchFamily="49" charset="0"/>
                <a:cs typeface="Courier New" panose="02070309020205020404" pitchFamily="49" charset="0"/>
              </a:rPr>
              <a:t>// The following displays 10</a:t>
            </a:r>
            <a:br>
              <a:rPr lang="en-US" altLang="en-US" sz="2000" dirty="0" smtClean="0">
                <a:latin typeface="Courier New" panose="02070309020205020404" pitchFamily="49" charset="0"/>
                <a:cs typeface="Courier New" panose="02070309020205020404" pitchFamily="49" charset="0"/>
              </a:rPr>
            </a:br>
            <a:r>
              <a:rPr lang="en-US" altLang="en-US" sz="2000" dirty="0" smtClean="0">
                <a:latin typeface="Courier New" panose="02070309020205020404" pitchFamily="49" charset="0"/>
                <a:cs typeface="Courier New" panose="02070309020205020404" pitchFamily="49" charset="0"/>
              </a:rPr>
              <a:t>cout &lt;&lt; add(1, 2, 3, 4) &lt;&lt; endl;</a:t>
            </a:r>
            <a:endParaRPr lang="en-US" altLang="en-US" sz="2400" dirty="0" smtClean="0">
              <a:latin typeface="Courier New" panose="02070309020205020404" pitchFamily="49" charset="0"/>
              <a:cs typeface="Courier New" panose="02070309020205020404" pitchFamily="49" charset="0"/>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itle 1"/>
          <p:cNvSpPr>
            <a:spLocks noGrp="1" noChangeArrowheads="1"/>
          </p:cNvSpPr>
          <p:nvPr>
            <p:ph type="title"/>
          </p:nvPr>
        </p:nvSpPr>
        <p:spPr/>
        <p:txBody>
          <a:bodyPr/>
          <a:lstStyle/>
          <a:p>
            <a:r>
              <a:rPr lang="en-US" altLang="en-US" dirty="0">
                <a:solidFill>
                  <a:srgbClr val="037797"/>
                </a:solidFill>
              </a:rPr>
              <a:t>Variadic Function Templates </a:t>
            </a:r>
            <a:r>
              <a:rPr lang="en-US" altLang="en-US" sz="1200" dirty="0" smtClean="0">
                <a:solidFill>
                  <a:srgbClr val="037797"/>
                </a:solidFill>
              </a:rPr>
              <a:t>(2 </a:t>
            </a:r>
            <a:r>
              <a:rPr lang="en-US" altLang="en-US" sz="1200" dirty="0">
                <a:solidFill>
                  <a:srgbClr val="037797"/>
                </a:solidFill>
              </a:rPr>
              <a:t>of </a:t>
            </a:r>
            <a:r>
              <a:rPr lang="en-US" altLang="en-US" sz="1200" dirty="0" smtClean="0">
                <a:solidFill>
                  <a:srgbClr val="037797"/>
                </a:solidFill>
              </a:rPr>
              <a:t>4)</a:t>
            </a:r>
            <a:endParaRPr lang="en-US" altLang="en-US" dirty="0" smtClean="0">
              <a:solidFill>
                <a:srgbClr val="037797"/>
              </a:solidFill>
            </a:endParaRPr>
          </a:p>
        </p:txBody>
      </p:sp>
      <p:sp>
        <p:nvSpPr>
          <p:cNvPr id="64515" name="Content Placeholder 2"/>
          <p:cNvSpPr>
            <a:spLocks noGrp="1" noChangeArrowheads="1"/>
          </p:cNvSpPr>
          <p:nvPr>
            <p:ph idx="1"/>
          </p:nvPr>
        </p:nvSpPr>
        <p:spPr/>
        <p:txBody>
          <a:bodyPr/>
          <a:lstStyle/>
          <a:p>
            <a:pPr>
              <a:buFontTx/>
              <a:buChar char="•"/>
            </a:pPr>
            <a:r>
              <a:rPr lang="en-US" altLang="en-US" dirty="0" smtClean="0"/>
              <a:t>To write the variadic </a:t>
            </a:r>
            <a:r>
              <a:rPr lang="en-US" altLang="en-US" dirty="0" smtClean="0">
                <a:latin typeface="Courier New" panose="02070309020205020404" pitchFamily="49" charset="0"/>
                <a:cs typeface="Courier New" panose="02070309020205020404" pitchFamily="49" charset="0"/>
              </a:rPr>
              <a:t>add</a:t>
            </a:r>
            <a:r>
              <a:rPr lang="en-US" altLang="en-US" dirty="0" smtClean="0"/>
              <a:t> function, we will write two function templates:</a:t>
            </a:r>
          </a:p>
          <a:p>
            <a:pPr lvl="1"/>
            <a:r>
              <a:rPr lang="en-US" altLang="en-US" dirty="0" smtClean="0"/>
              <a:t>one for an </a:t>
            </a:r>
            <a:r>
              <a:rPr lang="en-US" altLang="en-US" dirty="0" smtClean="0">
                <a:latin typeface="Courier New" panose="02070309020205020404" pitchFamily="49" charset="0"/>
                <a:cs typeface="Courier New" panose="02070309020205020404" pitchFamily="49" charset="0"/>
              </a:rPr>
              <a:t>add</a:t>
            </a:r>
            <a:r>
              <a:rPr lang="en-US" altLang="en-US" dirty="0" smtClean="0"/>
              <a:t> function that handles the base case (when there is only one argument left in the argument list)</a:t>
            </a:r>
          </a:p>
          <a:p>
            <a:pPr lvl="1"/>
            <a:r>
              <a:rPr lang="en-US" altLang="en-US" dirty="0" smtClean="0"/>
              <a:t>another for an overloaded </a:t>
            </a:r>
            <a:r>
              <a:rPr lang="en-US" altLang="en-US" dirty="0" smtClean="0">
                <a:latin typeface="Courier New" panose="02070309020205020404" pitchFamily="49" charset="0"/>
                <a:cs typeface="Courier New" panose="02070309020205020404" pitchFamily="49" charset="0"/>
              </a:rPr>
              <a:t>add</a:t>
            </a:r>
            <a:r>
              <a:rPr lang="en-US" altLang="en-US" dirty="0" smtClean="0"/>
              <a:t> function that handles the recursive case (when there is more than one argument left in the argument list)</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Variadic Function Templates </a:t>
            </a:r>
            <a:r>
              <a:rPr lang="en-US" altLang="en-US" sz="1200" dirty="0" smtClean="0">
                <a:solidFill>
                  <a:srgbClr val="037797"/>
                </a:solidFill>
              </a:rPr>
              <a:t>(3 </a:t>
            </a:r>
            <a:r>
              <a:rPr lang="en-US" altLang="en-US" sz="1200" dirty="0">
                <a:solidFill>
                  <a:srgbClr val="037797"/>
                </a:solidFill>
              </a:rPr>
              <a:t>of 4)</a:t>
            </a:r>
            <a:endParaRPr lang="en-IN" dirty="0"/>
          </a:p>
        </p:txBody>
      </p:sp>
      <p:sp>
        <p:nvSpPr>
          <p:cNvPr id="3" name="Content Placeholder 2"/>
          <p:cNvSpPr>
            <a:spLocks noGrp="1"/>
          </p:cNvSpPr>
          <p:nvPr>
            <p:ph idx="1"/>
          </p:nvPr>
        </p:nvSpPr>
        <p:spPr/>
        <p:txBody>
          <a:bodyPr/>
          <a:lstStyle/>
          <a:p>
            <a:pPr lvl="0">
              <a:buFontTx/>
              <a:buChar char="•"/>
            </a:pPr>
            <a:r>
              <a:rPr lang="en-US" altLang="en-US" sz="2800" dirty="0">
                <a:solidFill>
                  <a:srgbClr val="000000"/>
                </a:solidFill>
              </a:rPr>
              <a:t>Code for the </a:t>
            </a:r>
            <a:r>
              <a:rPr lang="en-US" altLang="en-US" sz="2800" dirty="0">
                <a:solidFill>
                  <a:srgbClr val="000000"/>
                </a:solidFill>
                <a:latin typeface="Courier New" panose="02070309020205020404" pitchFamily="49" charset="0"/>
                <a:cs typeface="Courier New" panose="02070309020205020404" pitchFamily="49" charset="0"/>
              </a:rPr>
              <a:t>add</a:t>
            </a:r>
            <a:r>
              <a:rPr lang="en-US" altLang="en-US" sz="2800" dirty="0">
                <a:solidFill>
                  <a:srgbClr val="000000"/>
                </a:solidFill>
              </a:rPr>
              <a:t> function that handles the base case</a:t>
            </a:r>
            <a:r>
              <a:rPr lang="en-US" altLang="en-US" sz="2800" dirty="0" smtClean="0">
                <a:solidFill>
                  <a:srgbClr val="000000"/>
                </a:solidFill>
              </a:rPr>
              <a:t>:</a:t>
            </a:r>
          </a:p>
          <a:p>
            <a:pPr marL="360000" lvl="0" indent="0">
              <a:spcBef>
                <a:spcPts val="2500"/>
              </a:spcBef>
              <a:buNone/>
            </a:pPr>
            <a:r>
              <a:rPr lang="en-US" altLang="en-US" sz="24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template &lt;typename T&gt;</a:t>
            </a:r>
            <a:endParaRPr lang="en-US" altLang="en-US" sz="24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360000" lvl="0" indent="0">
              <a:spcBef>
                <a:spcPct val="0"/>
              </a:spcBef>
              <a:buNone/>
            </a:pPr>
            <a:r>
              <a:rPr lang="en-US" altLang="en-US" sz="24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T add(T n)</a:t>
            </a:r>
            <a:endParaRPr lang="en-US" altLang="en-US" sz="24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360000" lvl="0" indent="0">
              <a:spcBef>
                <a:spcPct val="0"/>
              </a:spcBef>
              <a:buNone/>
            </a:pPr>
            <a:r>
              <a:rPr lang="en-US" altLang="en-US" sz="24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2400" kern="1200" dirty="0" smtClean="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900000" lvl="0" indent="0">
              <a:spcBef>
                <a:spcPct val="0"/>
              </a:spcBef>
              <a:buNone/>
            </a:pPr>
            <a:r>
              <a:rPr lang="en-US" altLang="en-US" sz="24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return </a:t>
            </a:r>
            <a:r>
              <a:rPr lang="en-US" altLang="en-US" sz="2400" kern="1200" dirty="0">
                <a:solidFill>
                  <a:srgbClr val="000000"/>
                </a:solidFill>
                <a:latin typeface="Courier New" panose="02070309020205020404" pitchFamily="49" charset="0"/>
                <a:ea typeface="Calibri" panose="020F0502020204030204" pitchFamily="34" charset="0"/>
                <a:cs typeface="Times New Roman" panose="02020603050405020304" pitchFamily="18" charset="0"/>
              </a:rPr>
              <a:t>n;</a:t>
            </a:r>
            <a:endParaRPr lang="en-US" altLang="en-US" sz="2400" kern="1200" dirty="0">
              <a:solidFill>
                <a:srgbClr val="000000"/>
              </a:solidFill>
              <a:latin typeface="Calibri" panose="020F0502020204030204" pitchFamily="34" charset="0"/>
              <a:ea typeface="Calibri" panose="020F0502020204030204" pitchFamily="34" charset="0"/>
              <a:cs typeface="Times New Roman" panose="02020603050405020304" pitchFamily="18" charset="0"/>
            </a:endParaRPr>
          </a:p>
          <a:p>
            <a:pPr marL="360000" lvl="0" indent="0">
              <a:spcBef>
                <a:spcPct val="0"/>
              </a:spcBef>
              <a:buNone/>
            </a:pPr>
            <a:r>
              <a:rPr lang="en-US" altLang="en-US" sz="2400" kern="1200" dirty="0" smtClean="0">
                <a:solidFill>
                  <a:srgbClr val="000000"/>
                </a:solidFill>
                <a:latin typeface="Courier New" panose="02070309020205020404" pitchFamily="49" charset="0"/>
                <a:ea typeface="Calibri" panose="020F0502020204030204" pitchFamily="34" charset="0"/>
                <a:cs typeface="Times New Roman" panose="02020603050405020304" pitchFamily="18" charset="0"/>
              </a:rPr>
              <a:t>}</a:t>
            </a:r>
            <a:endParaRPr lang="en-US" altLang="en-US" sz="2400" kern="1200" dirty="0">
              <a:solidFill>
                <a:srgbClr val="000000"/>
              </a:solidFill>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921612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Variadic Function Templates </a:t>
            </a:r>
            <a:r>
              <a:rPr lang="en-US" altLang="en-US" sz="1200" dirty="0" smtClean="0">
                <a:solidFill>
                  <a:srgbClr val="037797"/>
                </a:solidFill>
              </a:rPr>
              <a:t>(4 </a:t>
            </a:r>
            <a:r>
              <a:rPr lang="en-US" altLang="en-US" sz="1200" dirty="0">
                <a:solidFill>
                  <a:srgbClr val="037797"/>
                </a:solidFill>
              </a:rPr>
              <a:t>of 4)</a:t>
            </a:r>
            <a:endParaRPr lang="en-IN" dirty="0"/>
          </a:p>
        </p:txBody>
      </p:sp>
      <p:sp>
        <p:nvSpPr>
          <p:cNvPr id="3" name="Content Placeholder 2"/>
          <p:cNvSpPr>
            <a:spLocks noGrp="1"/>
          </p:cNvSpPr>
          <p:nvPr>
            <p:ph idx="1"/>
          </p:nvPr>
        </p:nvSpPr>
        <p:spPr>
          <a:xfrm>
            <a:off x="457200" y="1600201"/>
            <a:ext cx="8229600" cy="990600"/>
          </a:xfrm>
        </p:spPr>
        <p:txBody>
          <a:bodyPr/>
          <a:lstStyle/>
          <a:p>
            <a:pPr lvl="0">
              <a:buFontTx/>
              <a:buChar char="•"/>
            </a:pPr>
            <a:r>
              <a:rPr lang="en-US" altLang="en-US" sz="2800" dirty="0">
                <a:solidFill>
                  <a:srgbClr val="000000"/>
                </a:solidFill>
              </a:rPr>
              <a:t>Code for the overloaded </a:t>
            </a:r>
            <a:r>
              <a:rPr lang="en-US" altLang="en-US" sz="2800" dirty="0">
                <a:solidFill>
                  <a:srgbClr val="000000"/>
                </a:solidFill>
                <a:latin typeface="Courier New" panose="02070309020205020404" pitchFamily="49" charset="0"/>
                <a:cs typeface="Courier New" panose="02070309020205020404" pitchFamily="49" charset="0"/>
              </a:rPr>
              <a:t>add</a:t>
            </a:r>
            <a:r>
              <a:rPr lang="en-US" altLang="en-US" sz="2800" dirty="0">
                <a:solidFill>
                  <a:srgbClr val="000000"/>
                </a:solidFill>
              </a:rPr>
              <a:t> function that handles the recursive case</a:t>
            </a:r>
            <a:r>
              <a:rPr lang="en-US" altLang="en-US" sz="2800" dirty="0" smtClean="0">
                <a:solidFill>
                  <a:srgbClr val="000000"/>
                </a:solidFill>
              </a:rPr>
              <a:t>:</a:t>
            </a:r>
            <a:endParaRPr lang="en-US" altLang="en-US" sz="2800" dirty="0">
              <a:solidFill>
                <a:srgbClr val="000000"/>
              </a:solidFill>
            </a:endParaRPr>
          </a:p>
        </p:txBody>
      </p:sp>
      <p:pic>
        <p:nvPicPr>
          <p:cNvPr id="5" name="Picture 4" descr="The screenshot shows the variadic function templates. The function template contains the generic type name type T and the template parameter pack TypeArgs. The add function handles the recursive case for the function parameter pack: remainingArgs."/>
          <p:cNvPicPr>
            <a:picLocks noChangeAspect="1"/>
          </p:cNvPicPr>
          <p:nvPr/>
        </p:nvPicPr>
        <p:blipFill>
          <a:blip r:embed="rId2"/>
          <a:stretch>
            <a:fillRect/>
          </a:stretch>
        </p:blipFill>
        <p:spPr>
          <a:xfrm>
            <a:off x="609600" y="3005073"/>
            <a:ext cx="8181541" cy="2938527"/>
          </a:xfrm>
          <a:prstGeom prst="rect">
            <a:avLst/>
          </a:prstGeom>
        </p:spPr>
      </p:pic>
    </p:spTree>
    <p:extLst>
      <p:ext uri="{BB962C8B-B14F-4D97-AF65-F5344CB8AC3E}">
        <p14:creationId xmlns:p14="http://schemas.microsoft.com/office/powerpoint/2010/main" val="343312050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22238"/>
            <a:ext cx="8229600" cy="182562"/>
          </a:xfrm>
        </p:spPr>
        <p:txBody>
          <a:bodyPr/>
          <a:lstStyle/>
          <a:p>
            <a:r>
              <a:rPr lang="en-US" dirty="0" smtClean="0"/>
              <a:t>    </a:t>
            </a:r>
            <a:endParaRPr lang="en-IN" dirty="0"/>
          </a:p>
        </p:txBody>
      </p:sp>
      <p:pic>
        <p:nvPicPr>
          <p:cNvPr id="4" name="Picture 3" descr="The screenshot displays the program source code for a recursive case template. The function template contains type name T in the parameter list. The function template contains the generic type name type T and the template parameter pack TypeArgs. The add function handles the recursive case for the function parameter pack: remainingArgs. The main statement adds the recursive elements till the end."/>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488950"/>
            <a:ext cx="4619625" cy="583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149819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itle 1"/>
          <p:cNvSpPr>
            <a:spLocks noGrp="1" noChangeArrowheads="1"/>
          </p:cNvSpPr>
          <p:nvPr>
            <p:ph type="ctrTitle"/>
          </p:nvPr>
        </p:nvSpPr>
        <p:spPr/>
        <p:txBody>
          <a:bodyPr/>
          <a:lstStyle/>
          <a:p>
            <a:r>
              <a:rPr lang="en-US" altLang="en-US" dirty="0" smtClean="0">
                <a:solidFill>
                  <a:srgbClr val="037797"/>
                </a:solidFill>
              </a:rPr>
              <a:t>20.11</a:t>
            </a:r>
          </a:p>
        </p:txBody>
      </p:sp>
      <p:sp>
        <p:nvSpPr>
          <p:cNvPr id="68611" name="Subtitle 2"/>
          <p:cNvSpPr>
            <a:spLocks noGrp="1" noChangeArrowheads="1"/>
          </p:cNvSpPr>
          <p:nvPr>
            <p:ph type="subTitle" idx="1"/>
          </p:nvPr>
        </p:nvSpPr>
        <p:spPr>
          <a:xfrm>
            <a:off x="1371600" y="4267201"/>
            <a:ext cx="6400800" cy="762000"/>
          </a:xfrm>
        </p:spPr>
        <p:txBody>
          <a:bodyPr/>
          <a:lstStyle/>
          <a:p>
            <a:r>
              <a:rPr lang="en-US" altLang="en-US" dirty="0" smtClean="0"/>
              <a:t>Recursion vs. Iteration</a:t>
            </a: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dirty="0">
                <a:solidFill>
                  <a:srgbClr val="037797"/>
                </a:solidFill>
              </a:rPr>
              <a:t>Recursion vs. Iteration</a:t>
            </a:r>
            <a:endParaRPr lang="en-IN" dirty="0">
              <a:solidFill>
                <a:srgbClr val="037797"/>
              </a:solidFill>
            </a:endParaRPr>
          </a:p>
        </p:txBody>
      </p:sp>
      <p:sp>
        <p:nvSpPr>
          <p:cNvPr id="3" name="Content Placeholder 2"/>
          <p:cNvSpPr>
            <a:spLocks noGrp="1"/>
          </p:cNvSpPr>
          <p:nvPr>
            <p:ph idx="1"/>
          </p:nvPr>
        </p:nvSpPr>
        <p:spPr>
          <a:xfrm>
            <a:off x="309146" y="1981200"/>
            <a:ext cx="8453853" cy="3810000"/>
          </a:xfrm>
        </p:spPr>
        <p:txBody>
          <a:bodyPr/>
          <a:lstStyle/>
          <a:p>
            <a:pPr lvl="0">
              <a:buFontTx/>
              <a:buChar char="•"/>
            </a:pPr>
            <a:r>
              <a:rPr lang="en-US" altLang="en-US" dirty="0">
                <a:solidFill>
                  <a:srgbClr val="000000"/>
                </a:solidFill>
              </a:rPr>
              <a:t>Benefits (+), disadvantages</a:t>
            </a:r>
            <a:r>
              <a:rPr lang="en-US" altLang="en-US" dirty="0" smtClean="0">
                <a:solidFill>
                  <a:srgbClr val="000000"/>
                </a:solidFill>
              </a:rPr>
              <a:t>(−) </a:t>
            </a:r>
            <a:r>
              <a:rPr lang="en-US" altLang="en-US" dirty="0">
                <a:solidFill>
                  <a:srgbClr val="000000"/>
                </a:solidFill>
              </a:rPr>
              <a:t>for recursion:</a:t>
            </a:r>
          </a:p>
          <a:p>
            <a:pPr lvl="1">
              <a:buClr>
                <a:srgbClr val="000000"/>
              </a:buClr>
              <a:buFont typeface="Arial" panose="020B0604020202020204" pitchFamily="34" charset="0"/>
              <a:buChar char="+"/>
            </a:pPr>
            <a:r>
              <a:rPr lang="en-US" altLang="en-US" dirty="0">
                <a:solidFill>
                  <a:srgbClr val="000000"/>
                </a:solidFill>
              </a:rPr>
              <a:t>Models certain algorithms most accurately</a:t>
            </a:r>
          </a:p>
          <a:p>
            <a:pPr lvl="1">
              <a:buClr>
                <a:srgbClr val="000000"/>
              </a:buClr>
              <a:buFont typeface="Arial" panose="020B0604020202020204" pitchFamily="34" charset="0"/>
              <a:buChar char="+"/>
            </a:pPr>
            <a:r>
              <a:rPr lang="en-US" altLang="en-US" dirty="0">
                <a:solidFill>
                  <a:srgbClr val="000000"/>
                </a:solidFill>
              </a:rPr>
              <a:t>Results in shorter, simpler functions</a:t>
            </a:r>
          </a:p>
          <a:p>
            <a:pPr lvl="1"/>
            <a:r>
              <a:rPr lang="en-US" altLang="en-US" dirty="0">
                <a:solidFill>
                  <a:srgbClr val="000000"/>
                </a:solidFill>
              </a:rPr>
              <a:t>May not execute very efficiently</a:t>
            </a:r>
          </a:p>
          <a:p>
            <a:pPr lvl="0">
              <a:buFontTx/>
              <a:buChar char="•"/>
            </a:pPr>
            <a:r>
              <a:rPr lang="en-US" altLang="en-US" dirty="0">
                <a:solidFill>
                  <a:srgbClr val="000000"/>
                </a:solidFill>
              </a:rPr>
              <a:t>Benefits (+), disadvantages</a:t>
            </a:r>
            <a:r>
              <a:rPr lang="en-US" altLang="en-US" dirty="0" smtClean="0">
                <a:solidFill>
                  <a:srgbClr val="000000"/>
                </a:solidFill>
              </a:rPr>
              <a:t>(−) </a:t>
            </a:r>
            <a:r>
              <a:rPr lang="en-US" altLang="en-US" dirty="0">
                <a:solidFill>
                  <a:srgbClr val="000000"/>
                </a:solidFill>
              </a:rPr>
              <a:t>for iteration:</a:t>
            </a:r>
          </a:p>
          <a:p>
            <a:pPr lvl="1">
              <a:buClr>
                <a:srgbClr val="000000"/>
              </a:buClr>
              <a:buFont typeface="Arial" panose="020B0604020202020204" pitchFamily="34" charset="0"/>
              <a:buChar char="+"/>
            </a:pPr>
            <a:r>
              <a:rPr lang="en-US" altLang="en-US" dirty="0">
                <a:solidFill>
                  <a:srgbClr val="000000"/>
                </a:solidFill>
              </a:rPr>
              <a:t>Executes more efficiently than recursion</a:t>
            </a:r>
          </a:p>
          <a:p>
            <a:pPr lvl="1"/>
            <a:r>
              <a:rPr lang="en-US" altLang="en-US" dirty="0">
                <a:solidFill>
                  <a:srgbClr val="000000"/>
                </a:solidFill>
              </a:rPr>
              <a:t>Often is harder to code or </a:t>
            </a:r>
            <a:r>
              <a:rPr lang="en-US" altLang="en-US" dirty="0" smtClean="0">
                <a:solidFill>
                  <a:srgbClr val="000000"/>
                </a:solidFill>
              </a:rPr>
              <a:t>understand</a:t>
            </a:r>
            <a:endParaRPr lang="en-US" altLang="en-US" dirty="0">
              <a:solidFill>
                <a:srgbClr val="000000"/>
              </a:solidFill>
            </a:endParaRPr>
          </a:p>
        </p:txBody>
      </p:sp>
    </p:spTree>
    <p:extLst>
      <p:ext uri="{BB962C8B-B14F-4D97-AF65-F5344CB8AC3E}">
        <p14:creationId xmlns:p14="http://schemas.microsoft.com/office/powerpoint/2010/main" val="3173225322"/>
      </p:ext>
    </p:extLst>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Arial"/>
      </a:majorFont>
      <a:minorFont>
        <a:latin typeface="Arial"/>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2C71FBD443DB645BC32CB9A99CF976B" ma:contentTypeVersion="17" ma:contentTypeDescription="Create a new document." ma:contentTypeScope="" ma:versionID="39a3bbf795037644b9fd5734deb0019b">
  <xsd:schema xmlns:xsd="http://www.w3.org/2001/XMLSchema" xmlns:xs="http://www.w3.org/2001/XMLSchema" xmlns:p="http://schemas.microsoft.com/office/2006/metadata/properties" xmlns:ns1="http://schemas.microsoft.com/sharepoint/v3" xmlns:ns2="a29706ce-7dd9-430f-9203-d15122c9954d" xmlns:ns3="564477d5-28bc-4281-951a-a6595459d476" targetNamespace="http://schemas.microsoft.com/office/2006/metadata/properties" ma:root="true" ma:fieldsID="6bd08733601efdedf8e3b4f70a48190e" ns1:_="" ns2:_="" ns3:_="">
    <xsd:import namespace="http://schemas.microsoft.com/sharepoint/v3"/>
    <xsd:import namespace="a29706ce-7dd9-430f-9203-d15122c9954d"/>
    <xsd:import namespace="564477d5-28bc-4281-951a-a6595459d476"/>
    <xsd:element name="properties">
      <xsd:complexType>
        <xsd:sequence>
          <xsd:element name="documentManagement">
            <xsd:complexType>
              <xsd:all>
                <xsd:element ref="ns2:MediaServiceMetadata" minOccurs="0"/>
                <xsd:element ref="ns2:MediaServiceFastMetadata" minOccurs="0"/>
                <xsd:element ref="ns2:MediaLengthInSeconds" minOccurs="0"/>
                <xsd:element ref="ns2:MediaServiceDateTaken"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ObjectDetectorVersions" minOccurs="0"/>
                <xsd:element ref="ns2:MediaServiceLocation" minOccurs="0"/>
                <xsd:element ref="ns1:_ip_UnifiedCompliancePolicyProperties" minOccurs="0"/>
                <xsd:element ref="ns1:_ip_UnifiedCompliancePolicyUIAc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2" nillable="true" ma:displayName="Unified Compliance Policy Properties" ma:hidden="true" ma:internalName="_ip_UnifiedCompliancePolicyProperties">
      <xsd:simpleType>
        <xsd:restriction base="dms:Note"/>
      </xsd:simpleType>
    </xsd:element>
    <xsd:element name="_ip_UnifiedCompliancePolicyUIAction" ma:index="23"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29706ce-7dd9-430f-9203-d15122c995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MediaLengthInSeconds" ma:hidden="true" ma:internalName="MediaLengthInSeconds" ma:readOnly="true">
      <xsd:simpleType>
        <xsd:restriction base="dms:Unknown"/>
      </xsd:simpleType>
    </xsd:element>
    <xsd:element name="MediaServiceDateTaken" ma:index="11" nillable="true" ma:displayName="MediaServiceDateTaken" ma:hidden="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fab9d10e-cf46-43c3-8dbe-852b4cfb5ddc"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64477d5-28bc-4281-951a-a6595459d476"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8a014298-9250-4e8d-9453-de0460558e4e}" ma:internalName="TaxCatchAll" ma:showField="CatchAllData" ma:web="564477d5-28bc-4281-951a-a6595459d476">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564477d5-28bc-4281-951a-a6595459d476" xsi:nil="true"/>
    <_ip_UnifiedCompliancePolicyUIAction xmlns="http://schemas.microsoft.com/sharepoint/v3" xsi:nil="true"/>
    <_ip_UnifiedCompliancePolicyProperties xmlns="http://schemas.microsoft.com/sharepoint/v3" xsi:nil="true"/>
    <lcf76f155ced4ddcb4097134ff3c332f xmlns="a29706ce-7dd9-430f-9203-d15122c9954d">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01AEA00F-5F54-47F2-AFD1-F6B04839A3D8}"/>
</file>

<file path=customXml/itemProps2.xml><?xml version="1.0" encoding="utf-8"?>
<ds:datastoreItem xmlns:ds="http://schemas.openxmlformats.org/officeDocument/2006/customXml" ds:itemID="{E52B3A32-BBEC-48D1-8288-A72F671EB8EE}"/>
</file>

<file path=customXml/itemProps3.xml><?xml version="1.0" encoding="utf-8"?>
<ds:datastoreItem xmlns:ds="http://schemas.openxmlformats.org/officeDocument/2006/customXml" ds:itemID="{A25037B0-86E6-4016-89A8-73DE6999399B}"/>
</file>

<file path=docProps/app.xml><?xml version="1.0" encoding="utf-8"?>
<Properties xmlns="http://schemas.openxmlformats.org/officeDocument/2006/extended-properties" xmlns:vt="http://schemas.openxmlformats.org/officeDocument/2006/docPropsVTypes">
  <Template/>
  <TotalTime>1449</TotalTime>
  <Words>1738</Words>
  <Application>Microsoft Office PowerPoint</Application>
  <PresentationFormat>On-screen Show (4:3)</PresentationFormat>
  <Paragraphs>235</Paragraphs>
  <Slides>54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54</vt:i4>
      </vt:variant>
    </vt:vector>
  </HeadingPairs>
  <TitlesOfParts>
    <vt:vector size="59" baseType="lpstr">
      <vt:lpstr>Arial</vt:lpstr>
      <vt:lpstr>Calibri</vt:lpstr>
      <vt:lpstr>Courier New</vt:lpstr>
      <vt:lpstr>Times New Roman</vt:lpstr>
      <vt:lpstr>Default Design</vt:lpstr>
      <vt:lpstr>Chapter 20: Recursion</vt:lpstr>
      <vt:lpstr>Introduction to Recursion</vt:lpstr>
      <vt:lpstr>What Happens When Called? (1 of 4)</vt:lpstr>
      <vt:lpstr>What Happens When Called? (2 of 4)</vt:lpstr>
      <vt:lpstr>20.2</vt:lpstr>
      <vt:lpstr>Recursive Functions - Purpose</vt:lpstr>
      <vt:lpstr>Stopping the Recursion (1 of 4)</vt:lpstr>
      <vt:lpstr>Stopping the Recursion (2 of 4)</vt:lpstr>
      <vt:lpstr>Stopping the Recursion (3 of 4)</vt:lpstr>
      <vt:lpstr>Stopping the Recursion (4 of 4)</vt:lpstr>
      <vt:lpstr>What Happens When Called? (3 of 4)</vt:lpstr>
      <vt:lpstr>What Happens When Called? (4 of 4)</vt:lpstr>
      <vt:lpstr>Types of Recursion</vt:lpstr>
      <vt:lpstr>The Recursive Factorial Function (1 of 2)</vt:lpstr>
      <vt:lpstr>The Recursive Factorial Function (2 of 2)</vt:lpstr>
      <vt:lpstr>Program 20-3 (1 of 2)</vt:lpstr>
      <vt:lpstr>Program 20-3 (2 of 2)</vt:lpstr>
      <vt:lpstr>20.3</vt:lpstr>
      <vt:lpstr>The Recursive gcd Function (1 of 2)</vt:lpstr>
      <vt:lpstr>The Recursive gcd Function (2 of 2)</vt:lpstr>
      <vt:lpstr>20.4</vt:lpstr>
      <vt:lpstr>Solving Recursively Defined Problems (1 of 2)</vt:lpstr>
      <vt:lpstr>Solving Recursively Defined Problems (2 of 2)</vt:lpstr>
      <vt:lpstr>20.5</vt:lpstr>
      <vt:lpstr>Recursive Linked List Operations</vt:lpstr>
      <vt:lpstr>Counting the Nodes in a Linked List</vt:lpstr>
      <vt:lpstr>The countNodes function, a private member function</vt:lpstr>
      <vt:lpstr>Contents of a List in Reverse Order</vt:lpstr>
      <vt:lpstr>The showReverse function, a private member function</vt:lpstr>
      <vt:lpstr>20.6</vt:lpstr>
      <vt:lpstr>A Recursive Binary Search Function (1 of 2)</vt:lpstr>
      <vt:lpstr>A Recursive Binary Search Function (2 of 2)</vt:lpstr>
      <vt:lpstr>20.7</vt:lpstr>
      <vt:lpstr>The Towers of Hanoi (1 of 4)</vt:lpstr>
      <vt:lpstr>The Towers of Hanoi (2 of 4)</vt:lpstr>
      <vt:lpstr>Moving Three Discs</vt:lpstr>
      <vt:lpstr>The Towers of Hanoi (3 of 4)</vt:lpstr>
      <vt:lpstr>The Towers of Hanoi (4 of 4)</vt:lpstr>
      <vt:lpstr> </vt:lpstr>
      <vt:lpstr>  </vt:lpstr>
      <vt:lpstr>   </vt:lpstr>
      <vt:lpstr>20.8</vt:lpstr>
      <vt:lpstr>The QuickSort Algorithm (1 of 2)</vt:lpstr>
      <vt:lpstr>The QuickSort Algorithm (2 of 2)</vt:lpstr>
      <vt:lpstr>20.9</vt:lpstr>
      <vt:lpstr>Exhaustive and Enumeration Algorithms</vt:lpstr>
      <vt:lpstr>20.10</vt:lpstr>
      <vt:lpstr>Variadic Function Templates (1 of 4)</vt:lpstr>
      <vt:lpstr>Variadic Function Templates (2 of 4)</vt:lpstr>
      <vt:lpstr>Variadic Function Templates (3 of 4)</vt:lpstr>
      <vt:lpstr>Variadic Function Templates (4 of 4)</vt:lpstr>
      <vt:lpstr>    </vt:lpstr>
      <vt:lpstr>20.11</vt:lpstr>
      <vt:lpstr>Recursion vs. Iteration</vt:lpstr>
    </vt:vector>
  </TitlesOfParts>
  <Company>PEARSON</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2</dc:title>
  <dc:subject>Introduction to C++</dc:subject>
  <dc:creator>Tony Gaddis</dc:creator>
  <cp:lastModifiedBy>codemantra</cp:lastModifiedBy>
  <cp:revision>227</cp:revision>
  <dcterms:created xsi:type="dcterms:W3CDTF">2011-02-16T20:47:20Z</dcterms:created>
  <dcterms:modified xsi:type="dcterms:W3CDTF">2021-08-19T12:56:20Z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0x01010012C71FBD443DB645BC32CB9A99CF976B</vt:lpwstr>
  </property>
</Properties>
</file>