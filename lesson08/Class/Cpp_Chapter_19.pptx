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27.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90" r:id="rId2"/>
    <p:sldId id="291" r:id="rId3"/>
    <p:sldId id="292" r:id="rId4"/>
    <p:sldId id="293" r:id="rId5"/>
    <p:sldId id="294" r:id="rId6"/>
    <p:sldId id="295" r:id="rId7"/>
    <p:sldId id="296" r:id="rId8"/>
    <p:sldId id="297" r:id="rId9"/>
    <p:sldId id="269" r:id="rId10"/>
    <p:sldId id="298" r:id="rId11"/>
    <p:sldId id="299" r:id="rId12"/>
    <p:sldId id="272" r:id="rId13"/>
    <p:sldId id="300" r:id="rId14"/>
    <p:sldId id="301" r:id="rId15"/>
    <p:sldId id="275" r:id="rId16"/>
    <p:sldId id="302" r:id="rId17"/>
    <p:sldId id="303" r:id="rId18"/>
    <p:sldId id="304" r:id="rId19"/>
    <p:sldId id="305" r:id="rId20"/>
    <p:sldId id="306" r:id="rId21"/>
    <p:sldId id="307" r:id="rId22"/>
    <p:sldId id="308" r:id="rId23"/>
    <p:sldId id="309" r:id="rId24"/>
    <p:sldId id="284" r:id="rId25"/>
    <p:sldId id="310" r:id="rId26"/>
    <p:sldId id="311" r:id="rId27"/>
    <p:sldId id="287" r:id="rId28"/>
    <p:sldId id="312" r:id="rId29"/>
    <p:sldId id="313" r:id="rId3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152" userDrawn="1">
          <p15:clr>
            <a:srgbClr val="A4A3A4"/>
          </p15:clr>
        </p15:guide>
        <p15:guide id="2" pos="33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797"/>
    <a:srgbClr val="FA8218"/>
    <a:srgbClr val="0488AE"/>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63" autoAdjust="0"/>
    <p:restoredTop sz="94707" autoAdjust="0"/>
  </p:normalViewPr>
  <p:slideViewPr>
    <p:cSldViewPr showGuides="1">
      <p:cViewPr varScale="1">
        <p:scale>
          <a:sx n="110" d="100"/>
          <a:sy n="110" d="100"/>
        </p:scale>
        <p:origin x="936" y="108"/>
      </p:cViewPr>
      <p:guideLst>
        <p:guide orient="horz" pos="1152"/>
        <p:guide pos="336"/>
      </p:guideLst>
    </p:cSldViewPr>
  </p:slideViewPr>
  <p:outlineViewPr>
    <p:cViewPr>
      <p:scale>
        <a:sx n="33" d="100"/>
        <a:sy n="33" d="100"/>
      </p:scale>
      <p:origin x="0" y="-8124"/>
    </p:cViewPr>
  </p:outlineViewPr>
  <p:notesTextViewPr>
    <p:cViewPr>
      <p:scale>
        <a:sx n="100" d="100"/>
        <a:sy n="100" d="100"/>
      </p:scale>
      <p:origin x="0" y="0"/>
    </p:cViewPr>
  </p:notesTextViewPr>
  <p:notesViewPr>
    <p:cSldViewPr showGuides="1">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100314C7-7D5D-4793-8AB6-F54A25525C5E}" type="datetimeFigureOut">
              <a:rPr lang="en-US"/>
              <a:pPr>
                <a:defRPr/>
              </a:pPr>
              <a:t>8/19/2021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1BF19BB-1334-43A6-B851-37B1F6EFF713}" type="slidenum">
              <a:rPr lang="en-US" altLang="en-US"/>
              <a:pPr/>
              <a:t>‹#›</a:t>
            </a:fld>
            <a:endParaRPr lang="en-US" altLang="en-US" dirty="0"/>
          </a:p>
        </p:txBody>
      </p:sp>
    </p:spTree>
    <p:extLst>
      <p:ext uri="{BB962C8B-B14F-4D97-AF65-F5344CB8AC3E}">
        <p14:creationId xmlns:p14="http://schemas.microsoft.com/office/powerpoint/2010/main" val="3265200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8D750A44-66AA-4CCE-82DA-F00C3C017D24}" type="datetimeFigureOut">
              <a:rPr lang="en-US"/>
              <a:pPr>
                <a:defRPr/>
              </a:pPr>
              <a:t>8/19/2021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231343E9-F676-4403-994F-6A1172EFB34E}" type="slidenum">
              <a:rPr lang="en-US" altLang="en-US"/>
              <a:pPr/>
              <a:t>‹#›</a:t>
            </a:fld>
            <a:endParaRPr lang="en-US" altLang="en-US" dirty="0"/>
          </a:p>
        </p:txBody>
      </p:sp>
    </p:spTree>
    <p:extLst>
      <p:ext uri="{BB962C8B-B14F-4D97-AF65-F5344CB8AC3E}">
        <p14:creationId xmlns:p14="http://schemas.microsoft.com/office/powerpoint/2010/main" val="19833517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37797"/>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D9C9AF12-6D13-453E-884A-D541B38137D5}" type="slidenum">
              <a:rPr lang="en-US" altLang="en-US"/>
              <a:pPr/>
              <a:t>‹#›</a:t>
            </a:fld>
            <a:endParaRPr lang="en-US" altLang="en-US" dirty="0"/>
          </a:p>
        </p:txBody>
      </p:sp>
    </p:spTree>
    <p:extLst>
      <p:ext uri="{BB962C8B-B14F-4D97-AF65-F5344CB8AC3E}">
        <p14:creationId xmlns:p14="http://schemas.microsoft.com/office/powerpoint/2010/main" val="921347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37797"/>
                </a:solidFill>
              </a:defRPr>
            </a:lvl1p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42C6AD7D-D269-4CC8-B412-0840631FC5A2}" type="slidenum">
              <a:rPr lang="en-US" altLang="en-US"/>
              <a:pPr/>
              <a:t>‹#›</a:t>
            </a:fld>
            <a:endParaRPr lang="en-US" altLang="en-US" dirty="0"/>
          </a:p>
        </p:txBody>
      </p:sp>
    </p:spTree>
    <p:extLst>
      <p:ext uri="{BB962C8B-B14F-4D97-AF65-F5344CB8AC3E}">
        <p14:creationId xmlns:p14="http://schemas.microsoft.com/office/powerpoint/2010/main" val="4086830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37797"/>
                </a:solidFill>
              </a:defRPr>
            </a:lvl1pPr>
          </a:lstStyle>
          <a:p>
            <a:r>
              <a:rPr lang="en-US" dirty="0"/>
              <a:t>Click to edit Master title style</a:t>
            </a:r>
          </a:p>
        </p:txBody>
      </p:sp>
      <p:sp>
        <p:nvSpPr>
          <p:cNvPr id="3" name="Content Placeholder 2"/>
          <p:cNvSpPr>
            <a:spLocks noGrp="1"/>
          </p:cNvSpPr>
          <p:nvPr>
            <p:ph idx="1"/>
          </p:nvPr>
        </p:nvSpPr>
        <p:spPr>
          <a:xfrm>
            <a:off x="457200" y="1600201"/>
            <a:ext cx="8229600" cy="1371600"/>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42C6AD7D-D269-4CC8-B412-0840631FC5A2}" type="slidenum">
              <a:rPr lang="en-US" altLang="en-US"/>
              <a:pPr/>
              <a:t>‹#›</a:t>
            </a:fld>
            <a:endParaRPr lang="en-US" altLang="en-US" dirty="0"/>
          </a:p>
        </p:txBody>
      </p:sp>
      <p:sp>
        <p:nvSpPr>
          <p:cNvPr id="6" name="Content Placeholder 5"/>
          <p:cNvSpPr>
            <a:spLocks noGrp="1"/>
          </p:cNvSpPr>
          <p:nvPr>
            <p:ph sz="quarter" idx="11"/>
          </p:nvPr>
        </p:nvSpPr>
        <p:spPr>
          <a:xfrm>
            <a:off x="457200" y="3352800"/>
            <a:ext cx="8077200" cy="129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2727978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rgbClr val="037797"/>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F7D2DEA7-BEEC-4BBB-B349-BC6ADAACCFAD}" type="slidenum">
              <a:rPr lang="en-US" altLang="en-US"/>
              <a:pPr/>
              <a:t>‹#›</a:t>
            </a:fld>
            <a:endParaRPr lang="en-US" altLang="en-US" dirty="0"/>
          </a:p>
        </p:txBody>
      </p:sp>
    </p:spTree>
    <p:extLst>
      <p:ext uri="{BB962C8B-B14F-4D97-AF65-F5344CB8AC3E}">
        <p14:creationId xmlns:p14="http://schemas.microsoft.com/office/powerpoint/2010/main" val="121772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397842E8-0CB0-45D7-B736-E74F3A280428}" type="slidenum">
              <a:rPr lang="en-US" altLang="en-US"/>
              <a:pPr/>
              <a:t>‹#›</a:t>
            </a:fld>
            <a:endParaRPr lang="en-US" altLang="en-US" dirty="0"/>
          </a:p>
        </p:txBody>
      </p:sp>
    </p:spTree>
    <p:extLst>
      <p:ext uri="{BB962C8B-B14F-4D97-AF65-F5344CB8AC3E}">
        <p14:creationId xmlns:p14="http://schemas.microsoft.com/office/powerpoint/2010/main" val="671211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0BF632E7-E8B9-4F53-B2AA-8FF369FBF371}" type="slidenum">
              <a:rPr lang="en-US" altLang="en-US"/>
              <a:pPr/>
              <a:t>‹#›</a:t>
            </a:fld>
            <a:endParaRPr lang="en-US" altLang="en-US" dirty="0"/>
          </a:p>
        </p:txBody>
      </p:sp>
    </p:spTree>
    <p:extLst>
      <p:ext uri="{BB962C8B-B14F-4D97-AF65-F5344CB8AC3E}">
        <p14:creationId xmlns:p14="http://schemas.microsoft.com/office/powerpoint/2010/main" val="915369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010265CB-EECA-4317-81AF-26CB50BFBC61}" type="slidenum">
              <a:rPr lang="en-US" altLang="en-US"/>
              <a:pPr/>
              <a:t>‹#›</a:t>
            </a:fld>
            <a:endParaRPr lang="en-US" altLang="en-US" dirty="0"/>
          </a:p>
        </p:txBody>
      </p:sp>
    </p:spTree>
    <p:extLst>
      <p:ext uri="{BB962C8B-B14F-4D97-AF65-F5344CB8AC3E}">
        <p14:creationId xmlns:p14="http://schemas.microsoft.com/office/powerpoint/2010/main" val="2313375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6100A7DD-627B-457A-9F5F-91686A726190}" type="slidenum">
              <a:rPr lang="en-US" altLang="en-US"/>
              <a:pPr/>
              <a:t>‹#›</a:t>
            </a:fld>
            <a:endParaRPr lang="en-US" altLang="en-US" dirty="0"/>
          </a:p>
        </p:txBody>
      </p:sp>
    </p:spTree>
    <p:extLst>
      <p:ext uri="{BB962C8B-B14F-4D97-AF65-F5344CB8AC3E}">
        <p14:creationId xmlns:p14="http://schemas.microsoft.com/office/powerpoint/2010/main" val="1113266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80E6C87E-9D93-4A9A-AD86-56AD9CC3C89C}" type="slidenum">
              <a:rPr lang="en-US" altLang="en-US"/>
              <a:pPr/>
              <a:t>‹#›</a:t>
            </a:fld>
            <a:endParaRPr lang="en-US" altLang="en-US" dirty="0"/>
          </a:p>
        </p:txBody>
      </p:sp>
    </p:spTree>
    <p:extLst>
      <p:ext uri="{BB962C8B-B14F-4D97-AF65-F5344CB8AC3E}">
        <p14:creationId xmlns:p14="http://schemas.microsoft.com/office/powerpoint/2010/main" val="2033777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52118CEA-EDDF-44C8-B4F6-35E5ADDDCEFD}" type="slidenum">
              <a:rPr lang="en-US" altLang="en-US"/>
              <a:pPr/>
              <a:t>‹#›</a:t>
            </a:fld>
            <a:endParaRPr lang="en-US" altLang="en-US" dirty="0"/>
          </a:p>
        </p:txBody>
      </p:sp>
    </p:spTree>
    <p:extLst>
      <p:ext uri="{BB962C8B-B14F-4D97-AF65-F5344CB8AC3E}">
        <p14:creationId xmlns:p14="http://schemas.microsoft.com/office/powerpoint/2010/main" val="34943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17D149BB-983B-4A5E-B90A-0A8B86D552CF}" type="slidenum">
              <a:rPr lang="en-US" altLang="en-US"/>
              <a:pPr/>
              <a:t>‹#›</a:t>
            </a:fld>
            <a:endParaRPr lang="en-US" altLang="en-US" dirty="0"/>
          </a:p>
        </p:txBody>
      </p:sp>
    </p:spTree>
    <p:extLst>
      <p:ext uri="{BB962C8B-B14F-4D97-AF65-F5344CB8AC3E}">
        <p14:creationId xmlns:p14="http://schemas.microsoft.com/office/powerpoint/2010/main" val="2657840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55BFA682-18EA-4F72-90AA-E956B3BBE421}" type="slidenum">
              <a:rPr lang="en-US" altLang="en-US"/>
              <a:pPr/>
              <a:t>‹#›</a:t>
            </a:fld>
            <a:endParaRPr lang="en-US" altLang="en-US" dirty="0"/>
          </a:p>
        </p:txBody>
      </p:sp>
    </p:spTree>
    <p:extLst>
      <p:ext uri="{BB962C8B-B14F-4D97-AF65-F5344CB8AC3E}">
        <p14:creationId xmlns:p14="http://schemas.microsoft.com/office/powerpoint/2010/main" val="3922468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38B9CF39-6E42-4782-B34C-69FC1EA0E153}" type="slidenum">
              <a:rPr lang="en-US" altLang="en-US"/>
              <a:pPr/>
              <a:t>‹#›</a:t>
            </a:fld>
            <a:endParaRPr lang="en-US" altLang="en-US" dirty="0"/>
          </a:p>
        </p:txBody>
      </p:sp>
      <p:sp>
        <p:nvSpPr>
          <p:cNvPr id="1029" name="Text Box 14"/>
          <p:cNvSpPr txBox="1">
            <a:spLocks noChangeArrowheads="1"/>
          </p:cNvSpPr>
          <p:nvPr userDrawn="1"/>
        </p:nvSpPr>
        <p:spPr bwMode="auto">
          <a:xfrm>
            <a:off x="1181100" y="6419850"/>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2020, 2018, 2015, 2012, 2009 Pearson Education, Inc. All rights reserved.</a:t>
            </a:r>
          </a:p>
        </p:txBody>
      </p:sp>
      <p:pic>
        <p:nvPicPr>
          <p:cNvPr id="2" name="Picture 6"/>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75" r:id="rId1"/>
    <p:sldLayoutId id="2147483865" r:id="rId2"/>
    <p:sldLayoutId id="2147483877"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37797"/>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447200"/>
            <a:ext cx="7772400" cy="1470025"/>
          </a:xfrm>
        </p:spPr>
        <p:txBody>
          <a:bodyPr/>
          <a:lstStyle/>
          <a:p>
            <a:pPr lvl="0" eaLnBrk="1" hangingPunct="1">
              <a:lnSpc>
                <a:spcPct val="140000"/>
              </a:lnSpc>
              <a:spcBef>
                <a:spcPct val="50000"/>
              </a:spcBef>
            </a:pPr>
            <a:r>
              <a:rPr lang="en-US" altLang="en-US" sz="4400" b="1" kern="1200" dirty="0">
                <a:latin typeface="Arial" panose="020B0604020202020204" pitchFamily="34" charset="0"/>
                <a:ea typeface="+mn-ea"/>
                <a:cs typeface="Arial" panose="020B0604020202020204" pitchFamily="34" charset="0"/>
              </a:rPr>
              <a:t>Chapter 19:</a:t>
            </a:r>
            <a:r>
              <a:rPr lang="en-US" altLang="en-US" sz="2800" b="1" kern="1200" dirty="0">
                <a:solidFill>
                  <a:srgbClr val="000000"/>
                </a:solidFill>
                <a:latin typeface="Arial" panose="020B0604020202020204" pitchFamily="34" charset="0"/>
                <a:ea typeface="+mn-ea"/>
                <a:cs typeface="Arial" panose="020B0604020202020204" pitchFamily="34" charset="0"/>
              </a:rPr>
              <a:t/>
            </a:r>
            <a:br>
              <a:rPr lang="en-US" altLang="en-US" sz="2800" b="1" kern="1200" dirty="0">
                <a:solidFill>
                  <a:srgbClr val="000000"/>
                </a:solidFill>
                <a:latin typeface="Arial" panose="020B0604020202020204" pitchFamily="34" charset="0"/>
                <a:ea typeface="+mn-ea"/>
                <a:cs typeface="Arial" panose="020B0604020202020204" pitchFamily="34" charset="0"/>
              </a:rPr>
            </a:br>
            <a:r>
              <a:rPr lang="en-US" altLang="en-US" sz="2800" b="1" kern="1200" dirty="0">
                <a:solidFill>
                  <a:srgbClr val="000000"/>
                </a:solidFill>
                <a:latin typeface="Arial" panose="020B0604020202020204" pitchFamily="34" charset="0"/>
                <a:ea typeface="+mn-ea"/>
                <a:cs typeface="Arial" panose="020B0604020202020204" pitchFamily="34" charset="0"/>
              </a:rPr>
              <a:t>Stacks and </a:t>
            </a:r>
            <a:r>
              <a:rPr lang="en-US" altLang="en-US" sz="2800" b="1" kern="1200" dirty="0" smtClean="0">
                <a:solidFill>
                  <a:srgbClr val="000000"/>
                </a:solidFill>
                <a:latin typeface="Arial" panose="020B0604020202020204" pitchFamily="34" charset="0"/>
                <a:ea typeface="+mn-ea"/>
                <a:cs typeface="Arial" panose="020B0604020202020204" pitchFamily="34" charset="0"/>
              </a:rPr>
              <a:t>Queues</a:t>
            </a:r>
            <a:endParaRPr lang="en-IN" dirty="0"/>
          </a:p>
        </p:txBody>
      </p:sp>
    </p:spTree>
    <p:extLst>
      <p:ext uri="{BB962C8B-B14F-4D97-AF65-F5344CB8AC3E}">
        <p14:creationId xmlns:p14="http://schemas.microsoft.com/office/powerpoint/2010/main" val="990222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19.1</a:t>
            </a:r>
            <a:endParaRPr lang="en-IN" dirty="0"/>
          </a:p>
        </p:txBody>
      </p:sp>
      <p:sp>
        <p:nvSpPr>
          <p:cNvPr id="3" name="Subtitle 2"/>
          <p:cNvSpPr>
            <a:spLocks noGrp="1"/>
          </p:cNvSpPr>
          <p:nvPr>
            <p:ph type="subTitle" idx="1"/>
          </p:nvPr>
        </p:nvSpPr>
        <p:spPr>
          <a:xfrm>
            <a:off x="2324100" y="4267200"/>
            <a:ext cx="4495800" cy="1752600"/>
          </a:xfrm>
        </p:spPr>
        <p:txBody>
          <a:bodyPr/>
          <a:lstStyle/>
          <a:p>
            <a:pPr lvl="0"/>
            <a:r>
              <a:rPr lang="en-US" altLang="en-US" dirty="0">
                <a:solidFill>
                  <a:srgbClr val="000000"/>
                </a:solidFill>
              </a:rPr>
              <a:t>Introduction to the </a:t>
            </a:r>
            <a:r>
              <a:rPr lang="en-US" altLang="en-US" dirty="0" smtClean="0">
                <a:solidFill>
                  <a:srgbClr val="000000"/>
                </a:solidFill>
              </a:rPr>
              <a:t>Stack ADT</a:t>
            </a:r>
            <a:endParaRPr lang="en-US" altLang="en-US" dirty="0">
              <a:solidFill>
                <a:srgbClr val="000000"/>
              </a:solidFill>
            </a:endParaRPr>
          </a:p>
        </p:txBody>
      </p:sp>
    </p:spTree>
    <p:extLst>
      <p:ext uri="{BB962C8B-B14F-4D97-AF65-F5344CB8AC3E}">
        <p14:creationId xmlns:p14="http://schemas.microsoft.com/office/powerpoint/2010/main" val="274931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 to the Stack ADT</a:t>
            </a:r>
            <a:endParaRPr lang="en-IN" dirty="0"/>
          </a:p>
        </p:txBody>
      </p:sp>
      <p:sp>
        <p:nvSpPr>
          <p:cNvPr id="3" name="Content Placeholder 2"/>
          <p:cNvSpPr>
            <a:spLocks noGrp="1"/>
          </p:cNvSpPr>
          <p:nvPr>
            <p:ph idx="1"/>
          </p:nvPr>
        </p:nvSpPr>
        <p:spPr/>
        <p:txBody>
          <a:bodyPr/>
          <a:lstStyle/>
          <a:p>
            <a:pPr lvl="0">
              <a:lnSpc>
                <a:spcPct val="85000"/>
              </a:lnSpc>
              <a:buFontTx/>
              <a:buChar char="•"/>
            </a:pPr>
            <a:r>
              <a:rPr lang="en-US" altLang="en-US" u="sng" dirty="0">
                <a:solidFill>
                  <a:srgbClr val="000000"/>
                </a:solidFill>
              </a:rPr>
              <a:t>Stack</a:t>
            </a:r>
            <a:r>
              <a:rPr lang="en-US" altLang="en-US" dirty="0">
                <a:solidFill>
                  <a:srgbClr val="000000"/>
                </a:solidFill>
              </a:rPr>
              <a:t>: a LIFO (last in, first out) data structure</a:t>
            </a:r>
          </a:p>
          <a:p>
            <a:pPr lvl="0">
              <a:lnSpc>
                <a:spcPct val="85000"/>
              </a:lnSpc>
              <a:buFontTx/>
              <a:buChar char="•"/>
            </a:pPr>
            <a:r>
              <a:rPr lang="en-US" altLang="en-US" dirty="0">
                <a:solidFill>
                  <a:srgbClr val="000000"/>
                </a:solidFill>
              </a:rPr>
              <a:t>Examples:</a:t>
            </a:r>
          </a:p>
          <a:p>
            <a:pPr lvl="1">
              <a:lnSpc>
                <a:spcPct val="85000"/>
              </a:lnSpc>
            </a:pPr>
            <a:r>
              <a:rPr lang="en-US" altLang="en-US" dirty="0">
                <a:solidFill>
                  <a:srgbClr val="000000"/>
                </a:solidFill>
              </a:rPr>
              <a:t>plates in a cafeteria</a:t>
            </a:r>
          </a:p>
          <a:p>
            <a:pPr lvl="1">
              <a:lnSpc>
                <a:spcPct val="85000"/>
              </a:lnSpc>
            </a:pPr>
            <a:r>
              <a:rPr lang="en-US" altLang="en-US" dirty="0">
                <a:solidFill>
                  <a:srgbClr val="000000"/>
                </a:solidFill>
              </a:rPr>
              <a:t>return addresses for function calls</a:t>
            </a:r>
          </a:p>
          <a:p>
            <a:pPr lvl="0">
              <a:lnSpc>
                <a:spcPct val="85000"/>
              </a:lnSpc>
              <a:buFontTx/>
              <a:buChar char="•"/>
            </a:pPr>
            <a:r>
              <a:rPr lang="en-US" altLang="en-US" dirty="0">
                <a:solidFill>
                  <a:srgbClr val="000000"/>
                </a:solidFill>
              </a:rPr>
              <a:t>Implementation:</a:t>
            </a:r>
          </a:p>
          <a:p>
            <a:pPr lvl="1">
              <a:lnSpc>
                <a:spcPct val="85000"/>
              </a:lnSpc>
            </a:pPr>
            <a:r>
              <a:rPr lang="en-US" altLang="en-US" dirty="0">
                <a:solidFill>
                  <a:srgbClr val="000000"/>
                </a:solidFill>
              </a:rPr>
              <a:t>static: fixed size, implemented as array</a:t>
            </a:r>
          </a:p>
          <a:p>
            <a:pPr lvl="1">
              <a:lnSpc>
                <a:spcPct val="85000"/>
              </a:lnSpc>
            </a:pPr>
            <a:r>
              <a:rPr lang="en-US" altLang="en-US" dirty="0">
                <a:solidFill>
                  <a:srgbClr val="000000"/>
                </a:solidFill>
              </a:rPr>
              <a:t>dynamic: variable size, implemented as linked </a:t>
            </a:r>
            <a:r>
              <a:rPr lang="en-US" altLang="en-US" dirty="0" smtClean="0">
                <a:solidFill>
                  <a:srgbClr val="000000"/>
                </a:solidFill>
              </a:rPr>
              <a:t>list</a:t>
            </a:r>
            <a:endParaRPr lang="en-US" altLang="en-US" dirty="0">
              <a:solidFill>
                <a:srgbClr val="000000"/>
              </a:solidFill>
            </a:endParaRPr>
          </a:p>
        </p:txBody>
      </p:sp>
    </p:spTree>
    <p:extLst>
      <p:ext uri="{BB962C8B-B14F-4D97-AF65-F5344CB8AC3E}">
        <p14:creationId xmlns:p14="http://schemas.microsoft.com/office/powerpoint/2010/main" val="1939706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 LIFO Structure</a:t>
            </a:r>
            <a:endParaRPr lang="en-IN" dirty="0"/>
          </a:p>
        </p:txBody>
      </p:sp>
      <p:pic>
        <p:nvPicPr>
          <p:cNvPr id="4" name="Picture 3" descr="The LIFO (Last In First Out) structure is displayed. Five plates numbered from 1 to 5 are arranged one over the other in ascending order. The plate numbered 1 at the bottom of the stack is the first pate in, but the last plate out. The plate numbered 5 on the top of the stack is the last plate in, but first plate ou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90800"/>
            <a:ext cx="5105400"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7031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Stack Operations and Functions</a:t>
            </a:r>
            <a:endParaRPr lang="en-IN" dirty="0"/>
          </a:p>
        </p:txBody>
      </p:sp>
      <p:sp>
        <p:nvSpPr>
          <p:cNvPr id="3" name="Content Placeholder 2"/>
          <p:cNvSpPr>
            <a:spLocks noGrp="1"/>
          </p:cNvSpPr>
          <p:nvPr>
            <p:ph idx="1"/>
          </p:nvPr>
        </p:nvSpPr>
        <p:spPr>
          <a:xfrm>
            <a:off x="304800" y="1828800"/>
            <a:ext cx="8382000" cy="4525963"/>
          </a:xfrm>
        </p:spPr>
        <p:txBody>
          <a:bodyPr/>
          <a:lstStyle/>
          <a:p>
            <a:pPr lvl="0">
              <a:buFontTx/>
              <a:buChar char="•"/>
            </a:pPr>
            <a:r>
              <a:rPr lang="en-US" altLang="en-US" dirty="0">
                <a:solidFill>
                  <a:srgbClr val="000000"/>
                </a:solidFill>
              </a:rPr>
              <a:t>Operations:</a:t>
            </a:r>
          </a:p>
          <a:p>
            <a:pPr lvl="1"/>
            <a:r>
              <a:rPr lang="en-US" altLang="en-US" dirty="0">
                <a:solidFill>
                  <a:srgbClr val="000000"/>
                </a:solidFill>
              </a:rPr>
              <a:t>push: add a value onto the top of the stack</a:t>
            </a:r>
          </a:p>
          <a:p>
            <a:pPr lvl="1"/>
            <a:r>
              <a:rPr lang="en-US" altLang="en-US" dirty="0">
                <a:solidFill>
                  <a:srgbClr val="000000"/>
                </a:solidFill>
              </a:rPr>
              <a:t>pop: remove a value from the top </a:t>
            </a:r>
            <a:r>
              <a:rPr lang="en-US" altLang="en-US" dirty="0" smtClean="0">
                <a:solidFill>
                  <a:srgbClr val="000000"/>
                </a:solidFill>
              </a:rPr>
              <a:t>of the </a:t>
            </a:r>
            <a:r>
              <a:rPr lang="en-US" altLang="en-US" dirty="0">
                <a:solidFill>
                  <a:srgbClr val="000000"/>
                </a:solidFill>
              </a:rPr>
              <a:t>stack</a:t>
            </a:r>
          </a:p>
          <a:p>
            <a:pPr lvl="0">
              <a:buFontTx/>
              <a:buChar char="•"/>
            </a:pPr>
            <a:r>
              <a:rPr lang="en-US" altLang="en-US" dirty="0">
                <a:solidFill>
                  <a:srgbClr val="000000"/>
                </a:solidFill>
              </a:rPr>
              <a:t>Functions:</a:t>
            </a:r>
          </a:p>
          <a:p>
            <a:pPr lvl="1"/>
            <a:r>
              <a:rPr lang="en-US" altLang="en-US" dirty="0">
                <a:solidFill>
                  <a:srgbClr val="000000"/>
                </a:solidFill>
                <a:latin typeface="Courier New" panose="02070309020205020404" pitchFamily="49" charset="0"/>
              </a:rPr>
              <a:t>isFull</a:t>
            </a:r>
            <a:r>
              <a:rPr lang="en-US" altLang="en-US" dirty="0">
                <a:solidFill>
                  <a:srgbClr val="000000"/>
                </a:solidFill>
              </a:rPr>
              <a:t>: </a:t>
            </a:r>
            <a:r>
              <a:rPr lang="en-US" altLang="en-US" dirty="0">
                <a:solidFill>
                  <a:srgbClr val="000000"/>
                </a:solidFill>
                <a:latin typeface="Courier New" panose="02070309020205020404" pitchFamily="49" charset="0"/>
              </a:rPr>
              <a:t>true</a:t>
            </a:r>
            <a:r>
              <a:rPr lang="en-US" altLang="en-US" dirty="0">
                <a:solidFill>
                  <a:srgbClr val="000000"/>
                </a:solidFill>
              </a:rPr>
              <a:t> if the stack is currently full, </a:t>
            </a:r>
            <a:r>
              <a:rPr lang="en-US" altLang="en-US" i="1" dirty="0">
                <a:solidFill>
                  <a:srgbClr val="000000"/>
                </a:solidFill>
              </a:rPr>
              <a:t>i.e.</a:t>
            </a:r>
            <a:r>
              <a:rPr lang="en-US" altLang="en-US" dirty="0">
                <a:solidFill>
                  <a:srgbClr val="000000"/>
                </a:solidFill>
              </a:rPr>
              <a:t>, has no more space to hold additional elements</a:t>
            </a:r>
          </a:p>
          <a:p>
            <a:pPr lvl="1"/>
            <a:r>
              <a:rPr lang="en-US" altLang="en-US" dirty="0">
                <a:solidFill>
                  <a:srgbClr val="000000"/>
                </a:solidFill>
              </a:rPr>
              <a:t>isEmpty: </a:t>
            </a:r>
            <a:r>
              <a:rPr lang="en-US" altLang="en-US" dirty="0">
                <a:solidFill>
                  <a:srgbClr val="000000"/>
                </a:solidFill>
                <a:latin typeface="Courier New" panose="02070309020205020404" pitchFamily="49" charset="0"/>
              </a:rPr>
              <a:t>true</a:t>
            </a:r>
            <a:r>
              <a:rPr lang="en-US" altLang="en-US" dirty="0">
                <a:solidFill>
                  <a:srgbClr val="000000"/>
                </a:solidFill>
              </a:rPr>
              <a:t> if the stack currently contains no </a:t>
            </a:r>
            <a:r>
              <a:rPr lang="en-US" altLang="en-US" dirty="0" smtClean="0">
                <a:solidFill>
                  <a:srgbClr val="000000"/>
                </a:solidFill>
              </a:rPr>
              <a:t>elements</a:t>
            </a:r>
            <a:endParaRPr lang="en-US" altLang="en-US" dirty="0">
              <a:solidFill>
                <a:srgbClr val="000000"/>
              </a:solidFill>
            </a:endParaRPr>
          </a:p>
        </p:txBody>
      </p:sp>
    </p:spTree>
    <p:extLst>
      <p:ext uri="{BB962C8B-B14F-4D97-AF65-F5344CB8AC3E}">
        <p14:creationId xmlns:p14="http://schemas.microsoft.com/office/powerpoint/2010/main" val="83686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2000"/>
            <a:ext cx="8229600" cy="792162"/>
          </a:xfrm>
        </p:spPr>
        <p:txBody>
          <a:bodyPr/>
          <a:lstStyle/>
          <a:p>
            <a:r>
              <a:rPr lang="en-US" altLang="en-US" dirty="0"/>
              <a:t>Stack Operations </a:t>
            </a:r>
            <a:r>
              <a:rPr lang="en-US" altLang="en-US" dirty="0" smtClean="0"/>
              <a:t>- Example </a:t>
            </a:r>
            <a:r>
              <a:rPr lang="en-US" altLang="en-US" sz="1200" dirty="0" smtClean="0"/>
              <a:t>(1 of 2)</a:t>
            </a:r>
            <a:endParaRPr lang="en-IN" dirty="0"/>
          </a:p>
        </p:txBody>
      </p:sp>
      <p:sp>
        <p:nvSpPr>
          <p:cNvPr id="3" name="Content Placeholder 2"/>
          <p:cNvSpPr>
            <a:spLocks noGrp="1"/>
          </p:cNvSpPr>
          <p:nvPr>
            <p:ph idx="1"/>
          </p:nvPr>
        </p:nvSpPr>
        <p:spPr>
          <a:xfrm>
            <a:off x="304800" y="1828800"/>
            <a:ext cx="8229600" cy="685800"/>
          </a:xfrm>
        </p:spPr>
        <p:txBody>
          <a:bodyPr/>
          <a:lstStyle/>
          <a:p>
            <a:pPr lvl="0">
              <a:buFontTx/>
              <a:buChar char="•"/>
            </a:pPr>
            <a:r>
              <a:rPr lang="en-US" altLang="en-US" sz="2800" dirty="0">
                <a:solidFill>
                  <a:srgbClr val="000000"/>
                </a:solidFill>
              </a:rPr>
              <a:t>A stack that can hold </a:t>
            </a:r>
            <a:r>
              <a:rPr lang="en-US" altLang="en-US" sz="2800" dirty="0">
                <a:solidFill>
                  <a:srgbClr val="000000"/>
                </a:solidFill>
                <a:latin typeface="Courier New" panose="02070309020205020404" pitchFamily="49" charset="0"/>
              </a:rPr>
              <a:t>char</a:t>
            </a:r>
            <a:r>
              <a:rPr lang="en-US" altLang="en-US" sz="2800" dirty="0">
                <a:solidFill>
                  <a:srgbClr val="000000"/>
                </a:solidFill>
              </a:rPr>
              <a:t> values:</a:t>
            </a:r>
          </a:p>
        </p:txBody>
      </p:sp>
      <p:pic>
        <p:nvPicPr>
          <p:cNvPr id="4" name="Picture 3" descr="The screenshot shows the push operation. The stacks hold three characters. The stack is initially empty, char 'E' enters the top of the stack by using push ('E') and is pushed to the bottom. The second char 'K' enters the stack using the push ('K') operator. It inserts the character from the top and places it above the character 'E'. The third char 'G' enters the stack using the push ('G') operator. It inserts the character at the top of the stack above the two characters 'K' and 'E'."/>
          <p:cNvPicPr>
            <a:picLocks noChangeAspect="1"/>
          </p:cNvPicPr>
          <p:nvPr/>
        </p:nvPicPr>
        <p:blipFill>
          <a:blip r:embed="rId2"/>
          <a:stretch>
            <a:fillRect/>
          </a:stretch>
        </p:blipFill>
        <p:spPr>
          <a:xfrm>
            <a:off x="304800" y="3078000"/>
            <a:ext cx="7736495" cy="2438611"/>
          </a:xfrm>
          <a:prstGeom prst="rect">
            <a:avLst/>
          </a:prstGeom>
        </p:spPr>
      </p:pic>
    </p:spTree>
    <p:extLst>
      <p:ext uri="{BB962C8B-B14F-4D97-AF65-F5344CB8AC3E}">
        <p14:creationId xmlns:p14="http://schemas.microsoft.com/office/powerpoint/2010/main" val="1612521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2000"/>
            <a:ext cx="8229600" cy="792162"/>
          </a:xfrm>
        </p:spPr>
        <p:txBody>
          <a:bodyPr/>
          <a:lstStyle/>
          <a:p>
            <a:r>
              <a:rPr lang="en-US" altLang="en-US" dirty="0"/>
              <a:t>Stack Operations </a:t>
            </a:r>
            <a:r>
              <a:rPr lang="en-US" altLang="en-US" dirty="0" smtClean="0"/>
              <a:t>- Example </a:t>
            </a:r>
            <a:r>
              <a:rPr lang="en-US" altLang="en-US" sz="1200" dirty="0" smtClean="0"/>
              <a:t>(2 of 2)</a:t>
            </a:r>
            <a:endParaRPr lang="en-IN" dirty="0"/>
          </a:p>
        </p:txBody>
      </p:sp>
      <p:sp>
        <p:nvSpPr>
          <p:cNvPr id="3" name="Content Placeholder 2"/>
          <p:cNvSpPr>
            <a:spLocks noGrp="1"/>
          </p:cNvSpPr>
          <p:nvPr>
            <p:ph idx="1"/>
          </p:nvPr>
        </p:nvSpPr>
        <p:spPr>
          <a:xfrm>
            <a:off x="304800" y="1828800"/>
            <a:ext cx="8229600" cy="685800"/>
          </a:xfrm>
        </p:spPr>
        <p:txBody>
          <a:bodyPr/>
          <a:lstStyle/>
          <a:p>
            <a:pPr lvl="0">
              <a:buFontTx/>
              <a:buChar char="•"/>
            </a:pPr>
            <a:r>
              <a:rPr lang="en-US" altLang="en-US" sz="2800" dirty="0">
                <a:solidFill>
                  <a:srgbClr val="000000"/>
                </a:solidFill>
              </a:rPr>
              <a:t>A stack that can hold </a:t>
            </a:r>
            <a:r>
              <a:rPr lang="en-US" altLang="en-US" sz="2800" dirty="0">
                <a:solidFill>
                  <a:srgbClr val="000000"/>
                </a:solidFill>
                <a:latin typeface="Courier New" panose="02070309020205020404" pitchFamily="49" charset="0"/>
              </a:rPr>
              <a:t>char</a:t>
            </a:r>
            <a:r>
              <a:rPr lang="en-US" altLang="en-US" sz="2800" dirty="0">
                <a:solidFill>
                  <a:srgbClr val="000000"/>
                </a:solidFill>
              </a:rPr>
              <a:t> values:</a:t>
            </a:r>
          </a:p>
        </p:txBody>
      </p:sp>
      <p:pic>
        <p:nvPicPr>
          <p:cNvPr id="5" name="Picture 4" descr="The screenshot shows the pop operation. The stack can hold three characters. The stack is filled with characters from the bottom: 'E', 'K', and 'G'. Here, the pop () operation removes the character 'G' from the top of the stack. Next the pop () operation removes the character 'K' currently at the top of the stack. The pop () operation activates for the final time and removes the character 'E.' The stack is empty after the operation."/>
          <p:cNvPicPr>
            <a:picLocks noChangeAspect="1"/>
          </p:cNvPicPr>
          <p:nvPr/>
        </p:nvPicPr>
        <p:blipFill>
          <a:blip r:embed="rId2"/>
          <a:stretch>
            <a:fillRect/>
          </a:stretch>
        </p:blipFill>
        <p:spPr>
          <a:xfrm>
            <a:off x="304800" y="3114000"/>
            <a:ext cx="7736495" cy="2408129"/>
          </a:xfrm>
          <a:prstGeom prst="rect">
            <a:avLst/>
          </a:prstGeom>
        </p:spPr>
      </p:pic>
    </p:spTree>
    <p:extLst>
      <p:ext uri="{BB962C8B-B14F-4D97-AF65-F5344CB8AC3E}">
        <p14:creationId xmlns:p14="http://schemas.microsoft.com/office/powerpoint/2010/main" val="1101115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87362"/>
          </a:xfrm>
        </p:spPr>
        <p:txBody>
          <a:bodyPr/>
          <a:lstStyle/>
          <a:p>
            <a:r>
              <a:rPr lang="en-IN" dirty="0" smtClean="0"/>
              <a:t> </a:t>
            </a:r>
            <a:endParaRPr lang="en-IN" dirty="0"/>
          </a:p>
        </p:txBody>
      </p:sp>
      <p:pic>
        <p:nvPicPr>
          <p:cNvPr id="3" name="Picture 2" descr="The screenshot shows the specification file for the InStack class. The class InStack declares the private members: pointer to the stack array, stack size, and the indicator for the top of the stack. The public members are the constructor InStack (int);, copy constructor InStack (const InStack ampersand); and destructor -InStack ( ). The stack operations include push (), pop (), isFull () const, and isEmpty () const."/>
          <p:cNvPicPr>
            <a:picLocks noChangeAspect="1"/>
          </p:cNvPicPr>
          <p:nvPr/>
        </p:nvPicPr>
        <p:blipFill>
          <a:blip r:embed="rId2"/>
          <a:stretch>
            <a:fillRect/>
          </a:stretch>
        </p:blipFill>
        <p:spPr>
          <a:xfrm>
            <a:off x="1371600" y="457200"/>
            <a:ext cx="7254869" cy="5724640"/>
          </a:xfrm>
          <a:prstGeom prst="rect">
            <a:avLst/>
          </a:prstGeom>
        </p:spPr>
      </p:pic>
    </p:spTree>
    <p:extLst>
      <p:ext uri="{BB962C8B-B14F-4D97-AF65-F5344CB8AC3E}">
        <p14:creationId xmlns:p14="http://schemas.microsoft.com/office/powerpoint/2010/main" val="2753158194"/>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ctrTitle"/>
          </p:nvPr>
        </p:nvSpPr>
        <p:spPr/>
        <p:txBody>
          <a:bodyPr/>
          <a:lstStyle/>
          <a:p>
            <a:r>
              <a:rPr lang="en-US" altLang="en-US" dirty="0" smtClean="0"/>
              <a:t>19.2</a:t>
            </a:r>
          </a:p>
        </p:txBody>
      </p:sp>
      <p:sp>
        <p:nvSpPr>
          <p:cNvPr id="15363" name="Subtitle 2"/>
          <p:cNvSpPr>
            <a:spLocks noGrp="1" noChangeArrowheads="1"/>
          </p:cNvSpPr>
          <p:nvPr>
            <p:ph type="subTitle" idx="1"/>
          </p:nvPr>
        </p:nvSpPr>
        <p:spPr/>
        <p:txBody>
          <a:bodyPr/>
          <a:lstStyle/>
          <a:p>
            <a:r>
              <a:rPr lang="en-US" altLang="en-US" dirty="0" smtClean="0"/>
              <a:t>Dynamic Stacks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Dynamic Stacks</a:t>
            </a:r>
            <a:endParaRPr lang="en-IN" dirty="0"/>
          </a:p>
        </p:txBody>
      </p:sp>
      <p:sp>
        <p:nvSpPr>
          <p:cNvPr id="3" name="Content Placeholder 2"/>
          <p:cNvSpPr>
            <a:spLocks noGrp="1"/>
          </p:cNvSpPr>
          <p:nvPr>
            <p:ph idx="1"/>
          </p:nvPr>
        </p:nvSpPr>
        <p:spPr/>
        <p:txBody>
          <a:bodyPr/>
          <a:lstStyle/>
          <a:p>
            <a:pPr lvl="0">
              <a:spcBef>
                <a:spcPct val="50000"/>
              </a:spcBef>
              <a:buFontTx/>
              <a:buChar char="•"/>
            </a:pPr>
            <a:r>
              <a:rPr lang="en-US" altLang="en-US" dirty="0">
                <a:solidFill>
                  <a:srgbClr val="000000"/>
                </a:solidFill>
              </a:rPr>
              <a:t>Grow and shrink as necessary</a:t>
            </a:r>
          </a:p>
          <a:p>
            <a:pPr lvl="0">
              <a:spcBef>
                <a:spcPct val="50000"/>
              </a:spcBef>
              <a:buFontTx/>
              <a:buChar char="•"/>
            </a:pPr>
            <a:r>
              <a:rPr lang="en-US" altLang="en-US" dirty="0">
                <a:solidFill>
                  <a:srgbClr val="000000"/>
                </a:solidFill>
              </a:rPr>
              <a:t>Can't ever be full as long as memory is available</a:t>
            </a:r>
          </a:p>
          <a:p>
            <a:pPr lvl="0">
              <a:spcBef>
                <a:spcPct val="50000"/>
              </a:spcBef>
              <a:buFontTx/>
              <a:buChar char="•"/>
            </a:pPr>
            <a:r>
              <a:rPr lang="en-US" altLang="en-US" dirty="0">
                <a:solidFill>
                  <a:srgbClr val="000000"/>
                </a:solidFill>
              </a:rPr>
              <a:t>Implemented as a linked </a:t>
            </a:r>
            <a:r>
              <a:rPr lang="en-US" altLang="en-US" dirty="0" smtClean="0">
                <a:solidFill>
                  <a:srgbClr val="000000"/>
                </a:solidFill>
              </a:rPr>
              <a:t>list</a:t>
            </a:r>
            <a:endParaRPr lang="en-US" altLang="en-US" dirty="0">
              <a:solidFill>
                <a:srgbClr val="000000"/>
              </a:solidFill>
            </a:endParaRPr>
          </a:p>
        </p:txBody>
      </p:sp>
    </p:spTree>
    <p:extLst>
      <p:ext uri="{BB962C8B-B14F-4D97-AF65-F5344CB8AC3E}">
        <p14:creationId xmlns:p14="http://schemas.microsoft.com/office/powerpoint/2010/main" val="231765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Implementing a Stack</a:t>
            </a:r>
            <a:endParaRPr lang="en-IN" dirty="0"/>
          </a:p>
        </p:txBody>
      </p:sp>
      <p:sp>
        <p:nvSpPr>
          <p:cNvPr id="3" name="Content Placeholder 2"/>
          <p:cNvSpPr>
            <a:spLocks noGrp="1"/>
          </p:cNvSpPr>
          <p:nvPr>
            <p:ph idx="1"/>
          </p:nvPr>
        </p:nvSpPr>
        <p:spPr/>
        <p:txBody>
          <a:bodyPr/>
          <a:lstStyle/>
          <a:p>
            <a:pPr lvl="0">
              <a:lnSpc>
                <a:spcPct val="90000"/>
              </a:lnSpc>
              <a:spcBef>
                <a:spcPct val="50000"/>
              </a:spcBef>
              <a:buFontTx/>
              <a:buChar char="•"/>
            </a:pPr>
            <a:r>
              <a:rPr lang="en-US" altLang="en-US" dirty="0">
                <a:solidFill>
                  <a:srgbClr val="000000"/>
                </a:solidFill>
              </a:rPr>
              <a:t>Programmers can program their own routines to implement stack </a:t>
            </a:r>
            <a:r>
              <a:rPr lang="en-US" altLang="en-US" dirty="0" smtClean="0">
                <a:solidFill>
                  <a:srgbClr val="000000"/>
                </a:solidFill>
              </a:rPr>
              <a:t>functions</a:t>
            </a:r>
            <a:endParaRPr lang="en-US" altLang="en-US" dirty="0">
              <a:solidFill>
                <a:srgbClr val="000000"/>
              </a:solidFill>
            </a:endParaRPr>
          </a:p>
          <a:p>
            <a:pPr lvl="0">
              <a:lnSpc>
                <a:spcPct val="91000"/>
              </a:lnSpc>
              <a:spcBef>
                <a:spcPts val="5300"/>
              </a:spcBef>
              <a:buFontTx/>
              <a:buChar char="•"/>
            </a:pPr>
            <a:r>
              <a:rPr lang="en-US" altLang="en-US" dirty="0">
                <a:solidFill>
                  <a:srgbClr val="000000"/>
                </a:solidFill>
              </a:rPr>
              <a:t>See </a:t>
            </a:r>
            <a:r>
              <a:rPr lang="en-US" altLang="en-US" dirty="0">
                <a:solidFill>
                  <a:srgbClr val="000000"/>
                </a:solidFill>
                <a:latin typeface="Courier New" panose="02070309020205020404" pitchFamily="49" charset="0"/>
              </a:rPr>
              <a:t>DynIntStack</a:t>
            </a:r>
            <a:r>
              <a:rPr lang="en-US" altLang="en-US" dirty="0">
                <a:solidFill>
                  <a:srgbClr val="000000"/>
                </a:solidFill>
              </a:rPr>
              <a:t> class in the book for an example</a:t>
            </a:r>
            <a:r>
              <a:rPr lang="en-US" altLang="en-US" dirty="0" smtClean="0">
                <a:solidFill>
                  <a:srgbClr val="000000"/>
                </a:solidFill>
              </a:rPr>
              <a:t>.</a:t>
            </a:r>
            <a:endParaRPr lang="en-US" altLang="en-US" dirty="0">
              <a:solidFill>
                <a:srgbClr val="000000"/>
              </a:solidFill>
            </a:endParaRPr>
          </a:p>
          <a:p>
            <a:pPr lvl="0">
              <a:lnSpc>
                <a:spcPct val="90000"/>
              </a:lnSpc>
              <a:spcBef>
                <a:spcPts val="5400"/>
              </a:spcBef>
              <a:buFontTx/>
              <a:buChar char="•"/>
            </a:pPr>
            <a:r>
              <a:rPr lang="en-US" altLang="en-US" dirty="0">
                <a:solidFill>
                  <a:srgbClr val="000000"/>
                </a:solidFill>
              </a:rPr>
              <a:t>Can also use the implementation of stack available in the </a:t>
            </a:r>
            <a:r>
              <a:rPr lang="en-US" altLang="en-US" dirty="0" smtClean="0">
                <a:solidFill>
                  <a:srgbClr val="000000"/>
                </a:solidFill>
              </a:rPr>
              <a:t>STL</a:t>
            </a:r>
            <a:endParaRPr lang="en-US" altLang="en-US" dirty="0">
              <a:solidFill>
                <a:srgbClr val="000000"/>
              </a:solidFill>
            </a:endParaRPr>
          </a:p>
        </p:txBody>
      </p:sp>
    </p:spTree>
    <p:extLst>
      <p:ext uri="{BB962C8B-B14F-4D97-AF65-F5344CB8AC3E}">
        <p14:creationId xmlns:p14="http://schemas.microsoft.com/office/powerpoint/2010/main" val="3427736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ctrTitle"/>
          </p:nvPr>
        </p:nvSpPr>
        <p:spPr/>
        <p:txBody>
          <a:bodyPr/>
          <a:lstStyle/>
          <a:p>
            <a:r>
              <a:rPr lang="en-US" altLang="en-US" dirty="0" smtClean="0"/>
              <a:t>19.3</a:t>
            </a:r>
          </a:p>
        </p:txBody>
      </p:sp>
      <p:sp>
        <p:nvSpPr>
          <p:cNvPr id="19459" name="Subtitle 2"/>
          <p:cNvSpPr>
            <a:spLocks noGrp="1" noChangeArrowheads="1"/>
          </p:cNvSpPr>
          <p:nvPr>
            <p:ph type="subTitle" idx="1"/>
          </p:nvPr>
        </p:nvSpPr>
        <p:spPr/>
        <p:txBody>
          <a:bodyPr/>
          <a:lstStyle/>
          <a:p>
            <a:r>
              <a:rPr lang="en-US" altLang="en-US" dirty="0" smtClean="0"/>
              <a:t>The STL </a:t>
            </a:r>
            <a:r>
              <a:rPr lang="en-US" altLang="en-US" dirty="0" smtClean="0">
                <a:latin typeface="Courier New" panose="02070309020205020404" pitchFamily="49" charset="0"/>
                <a:cs typeface="Courier New" panose="02070309020205020404" pitchFamily="49" charset="0"/>
              </a:rPr>
              <a:t>stack</a:t>
            </a:r>
            <a:r>
              <a:rPr lang="en-US" altLang="en-US" dirty="0" smtClean="0"/>
              <a:t> Container</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STL </a:t>
            </a:r>
            <a:r>
              <a:rPr lang="en-US" altLang="en-US" dirty="0">
                <a:latin typeface="Courier New" panose="02070309020205020404" pitchFamily="49" charset="0"/>
              </a:rPr>
              <a:t>stack</a:t>
            </a:r>
            <a:r>
              <a:rPr lang="en-US" altLang="en-US" dirty="0"/>
              <a:t> container</a:t>
            </a:r>
            <a:endParaRPr lang="en-IN" dirty="0"/>
          </a:p>
        </p:txBody>
      </p:sp>
      <p:sp>
        <p:nvSpPr>
          <p:cNvPr id="3" name="Content Placeholder 2"/>
          <p:cNvSpPr>
            <a:spLocks noGrp="1"/>
          </p:cNvSpPr>
          <p:nvPr>
            <p:ph idx="1"/>
          </p:nvPr>
        </p:nvSpPr>
        <p:spPr>
          <a:xfrm>
            <a:off x="304800" y="1752601"/>
            <a:ext cx="8229600" cy="3505200"/>
          </a:xfrm>
        </p:spPr>
        <p:txBody>
          <a:bodyPr/>
          <a:lstStyle/>
          <a:p>
            <a:pPr lvl="0">
              <a:lnSpc>
                <a:spcPct val="90000"/>
              </a:lnSpc>
              <a:buFontTx/>
              <a:buChar char="•"/>
            </a:pPr>
            <a:r>
              <a:rPr lang="en-US" altLang="en-US" dirty="0">
                <a:solidFill>
                  <a:srgbClr val="000000"/>
                </a:solidFill>
              </a:rPr>
              <a:t>Stack template can be implemented as a </a:t>
            </a:r>
            <a:r>
              <a:rPr lang="en-US" altLang="en-US" dirty="0">
                <a:solidFill>
                  <a:srgbClr val="000000"/>
                </a:solidFill>
                <a:latin typeface="Courier New" panose="02070309020205020404" pitchFamily="49" charset="0"/>
              </a:rPr>
              <a:t>vector</a:t>
            </a:r>
            <a:r>
              <a:rPr lang="en-US" altLang="en-US" dirty="0">
                <a:solidFill>
                  <a:srgbClr val="000000"/>
                </a:solidFill>
              </a:rPr>
              <a:t>, a linked list, or a </a:t>
            </a:r>
            <a:r>
              <a:rPr lang="en-US" altLang="en-US" dirty="0">
                <a:solidFill>
                  <a:srgbClr val="000000"/>
                </a:solidFill>
                <a:latin typeface="Courier New" panose="02070309020205020404" pitchFamily="49" charset="0"/>
              </a:rPr>
              <a:t>deque</a:t>
            </a:r>
          </a:p>
          <a:p>
            <a:pPr lvl="0">
              <a:lnSpc>
                <a:spcPct val="90000"/>
              </a:lnSpc>
              <a:buFontTx/>
              <a:buChar char="•"/>
            </a:pPr>
            <a:r>
              <a:rPr lang="en-US" altLang="en-US" dirty="0">
                <a:solidFill>
                  <a:srgbClr val="000000"/>
                </a:solidFill>
              </a:rPr>
              <a:t>Implements </a:t>
            </a:r>
            <a:r>
              <a:rPr lang="en-US" altLang="en-US" dirty="0">
                <a:solidFill>
                  <a:srgbClr val="000000"/>
                </a:solidFill>
                <a:latin typeface="Courier New" panose="02070309020205020404" pitchFamily="49" charset="0"/>
              </a:rPr>
              <a:t>push</a:t>
            </a:r>
            <a:r>
              <a:rPr lang="en-US" altLang="en-US" dirty="0">
                <a:solidFill>
                  <a:srgbClr val="000000"/>
                </a:solidFill>
              </a:rPr>
              <a:t>, </a:t>
            </a:r>
            <a:r>
              <a:rPr lang="en-US" altLang="en-US" dirty="0">
                <a:solidFill>
                  <a:srgbClr val="000000"/>
                </a:solidFill>
                <a:latin typeface="Courier New" panose="02070309020205020404" pitchFamily="49" charset="0"/>
              </a:rPr>
              <a:t>pop</a:t>
            </a:r>
            <a:r>
              <a:rPr lang="en-US" altLang="en-US" dirty="0">
                <a:solidFill>
                  <a:srgbClr val="000000"/>
                </a:solidFill>
              </a:rPr>
              <a:t>, and </a:t>
            </a:r>
            <a:r>
              <a:rPr lang="en-US" altLang="en-US" dirty="0">
                <a:solidFill>
                  <a:srgbClr val="000000"/>
                </a:solidFill>
                <a:latin typeface="Courier New" panose="02070309020205020404" pitchFamily="49" charset="0"/>
              </a:rPr>
              <a:t>empty</a:t>
            </a:r>
            <a:r>
              <a:rPr lang="en-US" altLang="en-US" dirty="0">
                <a:solidFill>
                  <a:srgbClr val="000000"/>
                </a:solidFill>
              </a:rPr>
              <a:t> member functions</a:t>
            </a:r>
          </a:p>
          <a:p>
            <a:pPr lvl="0">
              <a:lnSpc>
                <a:spcPct val="90000"/>
              </a:lnSpc>
              <a:buFontTx/>
              <a:buChar char="•"/>
            </a:pPr>
            <a:r>
              <a:rPr lang="en-US" altLang="en-US" dirty="0">
                <a:solidFill>
                  <a:srgbClr val="000000"/>
                </a:solidFill>
              </a:rPr>
              <a:t>Implements other member functions:</a:t>
            </a:r>
          </a:p>
          <a:p>
            <a:pPr lvl="1">
              <a:lnSpc>
                <a:spcPct val="90000"/>
              </a:lnSpc>
            </a:pPr>
            <a:r>
              <a:rPr lang="en-US" altLang="en-US" dirty="0">
                <a:solidFill>
                  <a:srgbClr val="000000"/>
                </a:solidFill>
                <a:latin typeface="Courier New" panose="02070309020205020404" pitchFamily="49" charset="0"/>
              </a:rPr>
              <a:t>size</a:t>
            </a:r>
            <a:r>
              <a:rPr lang="en-US" altLang="en-US" dirty="0">
                <a:solidFill>
                  <a:srgbClr val="000000"/>
                </a:solidFill>
              </a:rPr>
              <a:t>: number of elements on the stack</a:t>
            </a:r>
          </a:p>
          <a:p>
            <a:pPr lvl="1">
              <a:lnSpc>
                <a:spcPct val="90000"/>
              </a:lnSpc>
            </a:pPr>
            <a:r>
              <a:rPr lang="en-US" altLang="en-US" dirty="0">
                <a:solidFill>
                  <a:srgbClr val="000000"/>
                </a:solidFill>
                <a:latin typeface="Courier New" panose="02070309020205020404" pitchFamily="49" charset="0"/>
              </a:rPr>
              <a:t>top</a:t>
            </a:r>
            <a:r>
              <a:rPr lang="en-US" altLang="en-US" dirty="0">
                <a:solidFill>
                  <a:srgbClr val="000000"/>
                </a:solidFill>
              </a:rPr>
              <a:t>: reference to element on top of the </a:t>
            </a:r>
            <a:r>
              <a:rPr lang="en-US" altLang="en-US" dirty="0" smtClean="0">
                <a:solidFill>
                  <a:srgbClr val="000000"/>
                </a:solidFill>
              </a:rPr>
              <a:t>stack</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904182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Defining a </a:t>
            </a:r>
            <a:r>
              <a:rPr lang="en-US" altLang="en-US" dirty="0">
                <a:latin typeface="Courier New" panose="02070309020205020404" pitchFamily="49" charset="0"/>
              </a:rPr>
              <a:t>stack</a:t>
            </a:r>
            <a:endParaRPr lang="en-IN" dirty="0"/>
          </a:p>
        </p:txBody>
      </p:sp>
      <p:sp>
        <p:nvSpPr>
          <p:cNvPr id="3" name="Content Placeholder 2"/>
          <p:cNvSpPr>
            <a:spLocks noGrp="1"/>
          </p:cNvSpPr>
          <p:nvPr>
            <p:ph idx="1"/>
          </p:nvPr>
        </p:nvSpPr>
        <p:spPr>
          <a:xfrm>
            <a:off x="304800" y="1828800"/>
            <a:ext cx="8305800" cy="4525963"/>
          </a:xfrm>
        </p:spPr>
        <p:txBody>
          <a:bodyPr/>
          <a:lstStyle/>
          <a:p>
            <a:pPr lvl="0">
              <a:lnSpc>
                <a:spcPct val="85000"/>
              </a:lnSpc>
              <a:buFontTx/>
              <a:buChar char="•"/>
            </a:pPr>
            <a:r>
              <a:rPr lang="en-US" altLang="en-US" sz="2800" dirty="0">
                <a:solidFill>
                  <a:srgbClr val="000000"/>
                </a:solidFill>
              </a:rPr>
              <a:t>Defining a stack of </a:t>
            </a:r>
            <a:r>
              <a:rPr lang="en-US" altLang="en-US" sz="2800" dirty="0">
                <a:solidFill>
                  <a:srgbClr val="000000"/>
                </a:solidFill>
                <a:latin typeface="Courier New" panose="02070309020205020404" pitchFamily="49" charset="0"/>
              </a:rPr>
              <a:t>char</a:t>
            </a:r>
            <a:r>
              <a:rPr lang="en-US" altLang="en-US" sz="2800" dirty="0">
                <a:solidFill>
                  <a:srgbClr val="000000"/>
                </a:solidFill>
              </a:rPr>
              <a:t>s, named </a:t>
            </a:r>
            <a:r>
              <a:rPr lang="en-US" altLang="en-US" sz="2800" dirty="0">
                <a:solidFill>
                  <a:srgbClr val="000000"/>
                </a:solidFill>
                <a:latin typeface="Courier New" panose="02070309020205020404" pitchFamily="49" charset="0"/>
              </a:rPr>
              <a:t>cstack</a:t>
            </a:r>
            <a:r>
              <a:rPr lang="en-US" altLang="en-US" sz="2800" dirty="0">
                <a:solidFill>
                  <a:srgbClr val="000000"/>
                </a:solidFill>
              </a:rPr>
              <a:t>, implemented using a </a:t>
            </a:r>
            <a:r>
              <a:rPr lang="en-US" altLang="en-US" sz="2800" dirty="0">
                <a:solidFill>
                  <a:srgbClr val="000000"/>
                </a:solidFill>
                <a:latin typeface="Courier New" panose="02070309020205020404" pitchFamily="49" charset="0"/>
              </a:rPr>
              <a:t>vector</a:t>
            </a:r>
            <a:r>
              <a:rPr lang="en-US" altLang="en-US" sz="2800" dirty="0">
                <a:solidFill>
                  <a:srgbClr val="000000"/>
                </a:solidFill>
              </a:rPr>
              <a:t>:</a:t>
            </a:r>
          </a:p>
          <a:p>
            <a:pPr lvl="1">
              <a:lnSpc>
                <a:spcPct val="85000"/>
              </a:lnSpc>
              <a:buClr>
                <a:srgbClr val="3333CC"/>
              </a:buClr>
              <a:buNone/>
            </a:pPr>
            <a:r>
              <a:rPr lang="en-US" altLang="en-US" sz="2400" dirty="0">
                <a:solidFill>
                  <a:srgbClr val="000000"/>
                </a:solidFill>
                <a:latin typeface="Courier New" panose="02070309020205020404" pitchFamily="49" charset="0"/>
              </a:rPr>
              <a:t>stack&lt; char, vector&lt;char&gt;&gt; cstack;</a:t>
            </a:r>
          </a:p>
          <a:p>
            <a:pPr lvl="0">
              <a:lnSpc>
                <a:spcPct val="85000"/>
              </a:lnSpc>
              <a:buFontTx/>
              <a:buChar char="•"/>
            </a:pPr>
            <a:r>
              <a:rPr lang="en-US" altLang="en-US" sz="2800" dirty="0">
                <a:solidFill>
                  <a:srgbClr val="000000"/>
                </a:solidFill>
              </a:rPr>
              <a:t>implemented using a list:</a:t>
            </a:r>
          </a:p>
          <a:p>
            <a:pPr lvl="1">
              <a:lnSpc>
                <a:spcPct val="85000"/>
              </a:lnSpc>
              <a:buClr>
                <a:srgbClr val="3333CC"/>
              </a:buClr>
              <a:buNone/>
            </a:pPr>
            <a:r>
              <a:rPr lang="en-US" altLang="en-US" sz="2400" dirty="0">
                <a:solidFill>
                  <a:srgbClr val="000000"/>
                </a:solidFill>
                <a:latin typeface="Courier New" panose="02070309020205020404" pitchFamily="49" charset="0"/>
              </a:rPr>
              <a:t>stack&lt; char, list&lt;char&gt;&gt; cstack;</a:t>
            </a:r>
          </a:p>
          <a:p>
            <a:pPr lvl="0">
              <a:lnSpc>
                <a:spcPct val="85000"/>
              </a:lnSpc>
              <a:buFontTx/>
              <a:buChar char="•"/>
            </a:pPr>
            <a:r>
              <a:rPr lang="en-US" altLang="en-US" sz="2800" dirty="0">
                <a:solidFill>
                  <a:srgbClr val="000000"/>
                </a:solidFill>
              </a:rPr>
              <a:t>implemented using a </a:t>
            </a:r>
            <a:r>
              <a:rPr lang="en-US" altLang="en-US" sz="2800" dirty="0">
                <a:solidFill>
                  <a:srgbClr val="000000"/>
                </a:solidFill>
                <a:latin typeface="Courier New" panose="02070309020205020404" pitchFamily="49" charset="0"/>
              </a:rPr>
              <a:t>deque</a:t>
            </a:r>
            <a:r>
              <a:rPr lang="en-US" altLang="en-US" sz="2800" dirty="0">
                <a:solidFill>
                  <a:srgbClr val="000000"/>
                </a:solidFill>
              </a:rPr>
              <a:t>:</a:t>
            </a:r>
          </a:p>
          <a:p>
            <a:pPr lvl="1">
              <a:lnSpc>
                <a:spcPct val="85000"/>
              </a:lnSpc>
              <a:buClr>
                <a:srgbClr val="3333CC"/>
              </a:buClr>
              <a:buNone/>
            </a:pPr>
            <a:r>
              <a:rPr lang="en-US" altLang="en-US" sz="2400" dirty="0">
                <a:solidFill>
                  <a:srgbClr val="000000"/>
                </a:solidFill>
                <a:latin typeface="Courier New" panose="02070309020205020404" pitchFamily="49" charset="0"/>
              </a:rPr>
              <a:t>stack&lt; char &gt; cstack;</a:t>
            </a:r>
          </a:p>
          <a:p>
            <a:pPr lvl="0">
              <a:lnSpc>
                <a:spcPct val="85000"/>
              </a:lnSpc>
              <a:buFontTx/>
              <a:buChar char="•"/>
            </a:pPr>
            <a:r>
              <a:rPr lang="en-US" altLang="en-US" sz="2800" dirty="0">
                <a:solidFill>
                  <a:srgbClr val="000000"/>
                </a:solidFill>
              </a:rPr>
              <a:t>When using a compiler that is older than C++ 11, be sure to put spaces between the angled brackets that appear next to each other.</a:t>
            </a:r>
          </a:p>
          <a:p>
            <a:pPr marL="1090800" lvl="1" indent="0" eaLnBrk="1" hangingPunct="1">
              <a:lnSpc>
                <a:spcPct val="86000"/>
              </a:lnSpc>
              <a:spcBef>
                <a:spcPts val="900"/>
              </a:spcBef>
              <a:buClr>
                <a:srgbClr val="3333CC"/>
              </a:buClr>
              <a:buNone/>
            </a:pPr>
            <a:r>
              <a:rPr lang="en-US" altLang="en-US" sz="2400" kern="1200" dirty="0">
                <a:solidFill>
                  <a:srgbClr val="000000"/>
                </a:solidFill>
                <a:latin typeface="Courier New" panose="02070309020205020404" pitchFamily="49" charset="0"/>
                <a:ea typeface="+mn-ea"/>
                <a:cs typeface="Arial" panose="020B0604020202020204" pitchFamily="34" charset="0"/>
              </a:rPr>
              <a:t>stack&lt; char, vector&lt;char&gt; &gt; cstack</a:t>
            </a:r>
            <a:r>
              <a:rPr lang="en-US" altLang="en-US" sz="2400" kern="1200" dirty="0" smtClean="0">
                <a:solidFill>
                  <a:srgbClr val="000000"/>
                </a:solidFill>
                <a:latin typeface="Courier New" panose="02070309020205020404" pitchFamily="49" charset="0"/>
                <a:ea typeface="+mn-ea"/>
                <a:cs typeface="Arial" panose="020B0604020202020204" pitchFamily="34" charset="0"/>
              </a:rPr>
              <a:t>;</a:t>
            </a:r>
            <a:endParaRPr lang="en-US" altLang="en-US" sz="2400" kern="1200" dirty="0">
              <a:solidFill>
                <a:srgbClr val="000000"/>
              </a:solidFill>
              <a:latin typeface="Courier New" panose="02070309020205020404" pitchFamily="49" charset="0"/>
              <a:ea typeface="+mn-ea"/>
              <a:cs typeface="Arial" panose="020B0604020202020204" pitchFamily="34" charset="0"/>
            </a:endParaRPr>
          </a:p>
        </p:txBody>
      </p:sp>
    </p:spTree>
    <p:extLst>
      <p:ext uri="{BB962C8B-B14F-4D97-AF65-F5344CB8AC3E}">
        <p14:creationId xmlns:p14="http://schemas.microsoft.com/office/powerpoint/2010/main" val="632341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noChangeArrowheads="1"/>
          </p:cNvSpPr>
          <p:nvPr>
            <p:ph type="ctrTitle"/>
          </p:nvPr>
        </p:nvSpPr>
        <p:spPr/>
        <p:txBody>
          <a:bodyPr/>
          <a:lstStyle/>
          <a:p>
            <a:r>
              <a:rPr lang="en-US" altLang="en-US" dirty="0" smtClean="0"/>
              <a:t>19.4</a:t>
            </a:r>
          </a:p>
        </p:txBody>
      </p:sp>
      <p:sp>
        <p:nvSpPr>
          <p:cNvPr id="23555" name="Subtitle 2"/>
          <p:cNvSpPr>
            <a:spLocks noGrp="1" noChangeArrowheads="1"/>
          </p:cNvSpPr>
          <p:nvPr>
            <p:ph type="subTitle" idx="1"/>
          </p:nvPr>
        </p:nvSpPr>
        <p:spPr/>
        <p:txBody>
          <a:bodyPr/>
          <a:lstStyle/>
          <a:p>
            <a:r>
              <a:rPr lang="en-US" altLang="en-US" dirty="0" smtClean="0"/>
              <a:t>Introduction to the Queue ADT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 to the Queue ADT</a:t>
            </a:r>
            <a:endParaRPr lang="en-IN" dirty="0"/>
          </a:p>
        </p:txBody>
      </p:sp>
      <p:sp>
        <p:nvSpPr>
          <p:cNvPr id="3" name="Content Placeholder 2"/>
          <p:cNvSpPr>
            <a:spLocks noGrp="1"/>
          </p:cNvSpPr>
          <p:nvPr>
            <p:ph idx="1"/>
          </p:nvPr>
        </p:nvSpPr>
        <p:spPr>
          <a:xfrm>
            <a:off x="457200" y="1879200"/>
            <a:ext cx="8229600" cy="2971800"/>
          </a:xfrm>
        </p:spPr>
        <p:txBody>
          <a:bodyPr/>
          <a:lstStyle/>
          <a:p>
            <a:pPr lvl="0">
              <a:lnSpc>
                <a:spcPct val="85000"/>
              </a:lnSpc>
              <a:buFontTx/>
              <a:buChar char="•"/>
            </a:pPr>
            <a:r>
              <a:rPr lang="en-US" altLang="en-US" sz="2800" u="sng" dirty="0">
                <a:solidFill>
                  <a:srgbClr val="000000"/>
                </a:solidFill>
              </a:rPr>
              <a:t>Queue</a:t>
            </a:r>
            <a:r>
              <a:rPr lang="en-US" altLang="en-US" sz="2800" dirty="0">
                <a:solidFill>
                  <a:srgbClr val="000000"/>
                </a:solidFill>
              </a:rPr>
              <a:t>: a FIFO (first in, first out) data structure</a:t>
            </a:r>
            <a:r>
              <a:rPr lang="en-US" altLang="en-US" sz="2800" dirty="0" smtClean="0">
                <a:solidFill>
                  <a:srgbClr val="000000"/>
                </a:solidFill>
              </a:rPr>
              <a:t>.</a:t>
            </a:r>
            <a:endParaRPr lang="en-US" altLang="en-US" sz="2800" dirty="0">
              <a:solidFill>
                <a:srgbClr val="000000"/>
              </a:solidFill>
            </a:endParaRPr>
          </a:p>
          <a:p>
            <a:pPr lvl="0">
              <a:lnSpc>
                <a:spcPct val="85000"/>
              </a:lnSpc>
              <a:buFontTx/>
              <a:buChar char="•"/>
            </a:pPr>
            <a:r>
              <a:rPr lang="en-US" altLang="en-US" sz="2800" dirty="0">
                <a:solidFill>
                  <a:srgbClr val="000000"/>
                </a:solidFill>
              </a:rPr>
              <a:t>Examples:</a:t>
            </a:r>
          </a:p>
          <a:p>
            <a:pPr lvl="1">
              <a:lnSpc>
                <a:spcPct val="85000"/>
              </a:lnSpc>
            </a:pPr>
            <a:r>
              <a:rPr lang="en-US" altLang="en-US" sz="2400" dirty="0">
                <a:solidFill>
                  <a:srgbClr val="000000"/>
                </a:solidFill>
              </a:rPr>
              <a:t>people in line at the theatre box office</a:t>
            </a:r>
          </a:p>
          <a:p>
            <a:pPr lvl="1">
              <a:lnSpc>
                <a:spcPct val="85000"/>
              </a:lnSpc>
            </a:pPr>
            <a:r>
              <a:rPr lang="en-US" altLang="en-US" sz="2400" dirty="0">
                <a:solidFill>
                  <a:srgbClr val="000000"/>
                </a:solidFill>
              </a:rPr>
              <a:t>print jobs sent to a printer</a:t>
            </a:r>
          </a:p>
          <a:p>
            <a:pPr lvl="0">
              <a:lnSpc>
                <a:spcPct val="85000"/>
              </a:lnSpc>
              <a:buFontTx/>
              <a:buChar char="•"/>
            </a:pPr>
            <a:r>
              <a:rPr lang="en-US" altLang="en-US" sz="2800" dirty="0">
                <a:solidFill>
                  <a:srgbClr val="000000"/>
                </a:solidFill>
              </a:rPr>
              <a:t>Implementation:</a:t>
            </a:r>
          </a:p>
          <a:p>
            <a:pPr lvl="1">
              <a:lnSpc>
                <a:spcPct val="85000"/>
              </a:lnSpc>
            </a:pPr>
            <a:r>
              <a:rPr lang="en-US" altLang="en-US" sz="2400" dirty="0">
                <a:solidFill>
                  <a:srgbClr val="000000"/>
                </a:solidFill>
              </a:rPr>
              <a:t>static: fixed size, implemented as array</a:t>
            </a:r>
          </a:p>
          <a:p>
            <a:pPr lvl="1">
              <a:lnSpc>
                <a:spcPct val="85000"/>
              </a:lnSpc>
            </a:pPr>
            <a:r>
              <a:rPr lang="en-US" altLang="en-US" sz="2400" dirty="0">
                <a:solidFill>
                  <a:srgbClr val="000000"/>
                </a:solidFill>
              </a:rPr>
              <a:t>dynamic: variable size, implemented as linked </a:t>
            </a:r>
            <a:r>
              <a:rPr lang="en-US" altLang="en-US" sz="2400" dirty="0" smtClean="0">
                <a:solidFill>
                  <a:srgbClr val="000000"/>
                </a:solidFill>
              </a:rPr>
              <a:t>list</a:t>
            </a:r>
            <a:endParaRPr lang="en-US" altLang="en-US" sz="2400" dirty="0">
              <a:solidFill>
                <a:srgbClr val="000000"/>
              </a:solidFill>
            </a:endParaRPr>
          </a:p>
        </p:txBody>
      </p:sp>
    </p:spTree>
    <p:extLst>
      <p:ext uri="{BB962C8B-B14F-4D97-AF65-F5344CB8AC3E}">
        <p14:creationId xmlns:p14="http://schemas.microsoft.com/office/powerpoint/2010/main" val="3523336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Queue Locations and Operations</a:t>
            </a:r>
            <a:endParaRPr lang="en-IN" dirty="0"/>
          </a:p>
        </p:txBody>
      </p:sp>
      <p:sp>
        <p:nvSpPr>
          <p:cNvPr id="3" name="Content Placeholder 2"/>
          <p:cNvSpPr>
            <a:spLocks noGrp="1"/>
          </p:cNvSpPr>
          <p:nvPr>
            <p:ph idx="1"/>
          </p:nvPr>
        </p:nvSpPr>
        <p:spPr>
          <a:xfrm>
            <a:off x="457200" y="1940400"/>
            <a:ext cx="8001000" cy="3535363"/>
          </a:xfrm>
        </p:spPr>
        <p:txBody>
          <a:bodyPr/>
          <a:lstStyle/>
          <a:p>
            <a:pPr lvl="0">
              <a:lnSpc>
                <a:spcPct val="90000"/>
              </a:lnSpc>
              <a:buFontTx/>
              <a:buChar char="•"/>
            </a:pPr>
            <a:r>
              <a:rPr lang="en-US" altLang="en-US" dirty="0">
                <a:solidFill>
                  <a:srgbClr val="000000"/>
                </a:solidFill>
              </a:rPr>
              <a:t>rear: position where elements are added</a:t>
            </a:r>
          </a:p>
          <a:p>
            <a:pPr lvl="0">
              <a:lnSpc>
                <a:spcPct val="90000"/>
              </a:lnSpc>
              <a:buFontTx/>
              <a:buChar char="•"/>
            </a:pPr>
            <a:r>
              <a:rPr lang="en-US" altLang="en-US" dirty="0">
                <a:solidFill>
                  <a:srgbClr val="000000"/>
                </a:solidFill>
              </a:rPr>
              <a:t>front: position from which elements are removed</a:t>
            </a:r>
          </a:p>
          <a:p>
            <a:pPr lvl="0">
              <a:lnSpc>
                <a:spcPct val="90000"/>
              </a:lnSpc>
              <a:buFontTx/>
              <a:buChar char="•"/>
            </a:pPr>
            <a:r>
              <a:rPr lang="en-US" altLang="en-US" dirty="0">
                <a:solidFill>
                  <a:srgbClr val="000000"/>
                </a:solidFill>
              </a:rPr>
              <a:t>enqueue: add an element to the rear of the queue</a:t>
            </a:r>
          </a:p>
          <a:p>
            <a:pPr lvl="0">
              <a:lnSpc>
                <a:spcPct val="90000"/>
              </a:lnSpc>
              <a:buFontTx/>
              <a:buChar char="•"/>
            </a:pPr>
            <a:r>
              <a:rPr lang="en-US" altLang="en-US" dirty="0">
                <a:solidFill>
                  <a:srgbClr val="000000"/>
                </a:solidFill>
              </a:rPr>
              <a:t>dequeue: remove an element from the front of a </a:t>
            </a:r>
            <a:r>
              <a:rPr lang="en-US" altLang="en-US" dirty="0" smtClean="0">
                <a:solidFill>
                  <a:srgbClr val="000000"/>
                </a:solidFill>
              </a:rPr>
              <a:t>queue</a:t>
            </a:r>
            <a:endParaRPr lang="en-US" altLang="en-US" dirty="0">
              <a:solidFill>
                <a:srgbClr val="000000"/>
              </a:solidFill>
            </a:endParaRPr>
          </a:p>
        </p:txBody>
      </p:sp>
    </p:spTree>
    <p:extLst>
      <p:ext uri="{BB962C8B-B14F-4D97-AF65-F5344CB8AC3E}">
        <p14:creationId xmlns:p14="http://schemas.microsoft.com/office/powerpoint/2010/main" val="3736251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2000"/>
            <a:ext cx="8229600" cy="792162"/>
          </a:xfrm>
        </p:spPr>
        <p:txBody>
          <a:bodyPr/>
          <a:lstStyle/>
          <a:p>
            <a:r>
              <a:rPr lang="en-US" altLang="en-US" dirty="0"/>
              <a:t>Queue Operations </a:t>
            </a:r>
            <a:r>
              <a:rPr lang="en-US" altLang="en-US" dirty="0" smtClean="0"/>
              <a:t>- Example </a:t>
            </a:r>
            <a:r>
              <a:rPr lang="en-US" altLang="en-US" sz="1200" dirty="0" smtClean="0"/>
              <a:t>(1 of 2)</a:t>
            </a:r>
            <a:endParaRPr lang="en-IN" dirty="0"/>
          </a:p>
        </p:txBody>
      </p:sp>
      <p:sp>
        <p:nvSpPr>
          <p:cNvPr id="3" name="Content Placeholder 2"/>
          <p:cNvSpPr>
            <a:spLocks noGrp="1"/>
          </p:cNvSpPr>
          <p:nvPr>
            <p:ph idx="1"/>
          </p:nvPr>
        </p:nvSpPr>
        <p:spPr>
          <a:xfrm>
            <a:off x="304800" y="1676401"/>
            <a:ext cx="8229600" cy="457199"/>
          </a:xfrm>
        </p:spPr>
        <p:txBody>
          <a:bodyPr/>
          <a:lstStyle/>
          <a:p>
            <a:r>
              <a:rPr lang="en-US" altLang="en-US" sz="2400" dirty="0">
                <a:solidFill>
                  <a:srgbClr val="000000"/>
                </a:solidFill>
              </a:rPr>
              <a:t>A currently empty queue that can hold </a:t>
            </a:r>
            <a:r>
              <a:rPr lang="en-US" altLang="en-US" sz="2400" dirty="0">
                <a:solidFill>
                  <a:srgbClr val="000000"/>
                </a:solidFill>
                <a:latin typeface="Courier New" panose="02070309020205020404" pitchFamily="49" charset="0"/>
              </a:rPr>
              <a:t>char</a:t>
            </a:r>
            <a:r>
              <a:rPr lang="en-US" altLang="en-US" sz="2400" dirty="0">
                <a:solidFill>
                  <a:srgbClr val="000000"/>
                </a:solidFill>
              </a:rPr>
              <a:t> values:</a:t>
            </a:r>
            <a:endParaRPr lang="en-IN" dirty="0"/>
          </a:p>
        </p:txBody>
      </p:sp>
      <p:pic>
        <p:nvPicPr>
          <p:cNvPr id="5" name="Picture 4" descr="The screenshot shows a currently empty queue that can hold three characters."/>
          <p:cNvPicPr>
            <a:picLocks noChangeAspect="1"/>
          </p:cNvPicPr>
          <p:nvPr/>
        </p:nvPicPr>
        <p:blipFill>
          <a:blip r:embed="rId2"/>
          <a:stretch>
            <a:fillRect/>
          </a:stretch>
        </p:blipFill>
        <p:spPr>
          <a:xfrm>
            <a:off x="1987200" y="2196000"/>
            <a:ext cx="2816596" cy="816935"/>
          </a:xfrm>
          <a:prstGeom prst="rect">
            <a:avLst/>
          </a:prstGeom>
        </p:spPr>
      </p:pic>
      <p:sp>
        <p:nvSpPr>
          <p:cNvPr id="4" name="Content Placeholder 3"/>
          <p:cNvSpPr>
            <a:spLocks noGrp="1"/>
          </p:cNvSpPr>
          <p:nvPr>
            <p:ph sz="quarter" idx="11"/>
          </p:nvPr>
        </p:nvSpPr>
        <p:spPr>
          <a:xfrm>
            <a:off x="304800" y="3366000"/>
            <a:ext cx="8077200" cy="457200"/>
          </a:xfrm>
        </p:spPr>
        <p:txBody>
          <a:bodyPr/>
          <a:lstStyle/>
          <a:p>
            <a:pPr lvl="0"/>
            <a:r>
              <a:rPr lang="en-US" altLang="en-US" sz="2400" dirty="0">
                <a:solidFill>
                  <a:srgbClr val="000000"/>
                </a:solidFill>
                <a:latin typeface="Courier New" panose="02070309020205020404" pitchFamily="49" charset="0"/>
              </a:rPr>
              <a:t>enqueue('E</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pic>
        <p:nvPicPr>
          <p:cNvPr id="6" name="Picture 5" descr="The screenshot shows a queue that can hold three characters. Enqueue('E') places the character 'E' at the front, at the far left of the queue. Here, 'E' is the only character so it is currently at the front, as well as in the rear position."/>
          <p:cNvPicPr>
            <a:picLocks noChangeAspect="1"/>
          </p:cNvPicPr>
          <p:nvPr/>
        </p:nvPicPr>
        <p:blipFill>
          <a:blip r:embed="rId3"/>
          <a:stretch>
            <a:fillRect/>
          </a:stretch>
        </p:blipFill>
        <p:spPr>
          <a:xfrm>
            <a:off x="457200" y="4305600"/>
            <a:ext cx="5273497" cy="1902117"/>
          </a:xfrm>
          <a:prstGeom prst="rect">
            <a:avLst/>
          </a:prstGeom>
        </p:spPr>
      </p:pic>
    </p:spTree>
    <p:extLst>
      <p:ext uri="{BB962C8B-B14F-4D97-AF65-F5344CB8AC3E}">
        <p14:creationId xmlns:p14="http://schemas.microsoft.com/office/powerpoint/2010/main" val="2742701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2000"/>
            <a:ext cx="8229600" cy="792162"/>
          </a:xfrm>
        </p:spPr>
        <p:txBody>
          <a:bodyPr/>
          <a:lstStyle/>
          <a:p>
            <a:r>
              <a:rPr lang="en-US" altLang="en-US" dirty="0"/>
              <a:t>Queue Operations </a:t>
            </a:r>
            <a:r>
              <a:rPr lang="en-US" altLang="en-US" dirty="0" smtClean="0"/>
              <a:t>- Example </a:t>
            </a:r>
            <a:r>
              <a:rPr lang="en-US" altLang="en-US" sz="1200" dirty="0" smtClean="0"/>
              <a:t>(2 of 2)</a:t>
            </a:r>
            <a:endParaRPr lang="en-IN" dirty="0"/>
          </a:p>
        </p:txBody>
      </p:sp>
      <p:sp>
        <p:nvSpPr>
          <p:cNvPr id="3" name="Content Placeholder 2"/>
          <p:cNvSpPr>
            <a:spLocks noGrp="1"/>
          </p:cNvSpPr>
          <p:nvPr>
            <p:ph idx="1"/>
          </p:nvPr>
        </p:nvSpPr>
        <p:spPr>
          <a:xfrm>
            <a:off x="304800" y="1600200"/>
            <a:ext cx="8229600" cy="457199"/>
          </a:xfrm>
        </p:spPr>
        <p:txBody>
          <a:bodyPr/>
          <a:lstStyle/>
          <a:p>
            <a:pPr marL="342000"/>
            <a:r>
              <a:rPr lang="en-US" altLang="en-US" sz="2800" dirty="0">
                <a:latin typeface="Courier New" panose="02070309020205020404" pitchFamily="49" charset="0"/>
              </a:rPr>
              <a:t>enqueue('K');</a:t>
            </a:r>
            <a:endParaRPr lang="en-IN" sz="2800" dirty="0">
              <a:latin typeface="Courier New" panose="02070309020205020404" pitchFamily="49" charset="0"/>
            </a:endParaRPr>
          </a:p>
        </p:txBody>
      </p:sp>
      <p:pic>
        <p:nvPicPr>
          <p:cNvPr id="9" name="Picture 8" descr="The screenshot shows a queue that can hold three characters. Enqueue('K') places the character 'K' to the right of the character 'E'. Here, 'E' is placed at the front and the character 'K' is the rear element."/>
          <p:cNvPicPr>
            <a:picLocks noChangeAspect="1"/>
          </p:cNvPicPr>
          <p:nvPr/>
        </p:nvPicPr>
        <p:blipFill>
          <a:blip r:embed="rId2"/>
          <a:stretch>
            <a:fillRect/>
          </a:stretch>
        </p:blipFill>
        <p:spPr>
          <a:xfrm>
            <a:off x="525600" y="2322000"/>
            <a:ext cx="5486876" cy="1603387"/>
          </a:xfrm>
          <a:prstGeom prst="rect">
            <a:avLst/>
          </a:prstGeom>
        </p:spPr>
      </p:pic>
      <p:sp>
        <p:nvSpPr>
          <p:cNvPr id="4" name="Content Placeholder 3"/>
          <p:cNvSpPr>
            <a:spLocks noGrp="1"/>
          </p:cNvSpPr>
          <p:nvPr>
            <p:ph sz="quarter" idx="11"/>
          </p:nvPr>
        </p:nvSpPr>
        <p:spPr>
          <a:xfrm>
            <a:off x="304800" y="3567600"/>
            <a:ext cx="8077200" cy="457200"/>
          </a:xfrm>
        </p:spPr>
        <p:txBody>
          <a:bodyPr/>
          <a:lstStyle/>
          <a:p>
            <a:r>
              <a:rPr lang="en-US" altLang="en-US" sz="2800" dirty="0">
                <a:latin typeface="Courier New" panose="02070309020205020404" pitchFamily="49" charset="0"/>
              </a:rPr>
              <a:t>enqueue('G');</a:t>
            </a:r>
          </a:p>
        </p:txBody>
      </p:sp>
      <p:pic>
        <p:nvPicPr>
          <p:cNvPr id="8" name="Picture 7" descr="The screenshot shows a queue that can hold three characters. Enqueue('G') places the character 'G' at the far right, next to K. Here, 'E' is placed at the front, and the character 'G' is the rear element."/>
          <p:cNvPicPr>
            <a:picLocks noChangeAspect="1"/>
          </p:cNvPicPr>
          <p:nvPr/>
        </p:nvPicPr>
        <p:blipFill>
          <a:blip r:embed="rId3"/>
          <a:stretch>
            <a:fillRect/>
          </a:stretch>
        </p:blipFill>
        <p:spPr>
          <a:xfrm>
            <a:off x="457200" y="4212000"/>
            <a:ext cx="5273497" cy="1670449"/>
          </a:xfrm>
          <a:prstGeom prst="rect">
            <a:avLst/>
          </a:prstGeom>
        </p:spPr>
      </p:pic>
    </p:spTree>
    <p:extLst>
      <p:ext uri="{BB962C8B-B14F-4D97-AF65-F5344CB8AC3E}">
        <p14:creationId xmlns:p14="http://schemas.microsoft.com/office/powerpoint/2010/main" val="2157863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2000"/>
            <a:ext cx="8229600" cy="792162"/>
          </a:xfrm>
        </p:spPr>
        <p:txBody>
          <a:bodyPr/>
          <a:lstStyle/>
          <a:p>
            <a:r>
              <a:rPr lang="en-US" altLang="en-US" dirty="0"/>
              <a:t>Queue Operations - Example</a:t>
            </a:r>
            <a:endParaRPr lang="en-IN" dirty="0"/>
          </a:p>
        </p:txBody>
      </p:sp>
      <p:sp>
        <p:nvSpPr>
          <p:cNvPr id="3" name="Content Placeholder 2"/>
          <p:cNvSpPr>
            <a:spLocks noGrp="1"/>
          </p:cNvSpPr>
          <p:nvPr>
            <p:ph idx="1"/>
          </p:nvPr>
        </p:nvSpPr>
        <p:spPr>
          <a:xfrm>
            <a:off x="482400" y="1670400"/>
            <a:ext cx="8229600" cy="457199"/>
          </a:xfrm>
        </p:spPr>
        <p:txBody>
          <a:bodyPr/>
          <a:lstStyle/>
          <a:p>
            <a:pPr marL="342000"/>
            <a:r>
              <a:rPr lang="en-US" altLang="en-US" sz="2800" dirty="0">
                <a:latin typeface="Courier New" panose="02070309020205020404" pitchFamily="49" charset="0"/>
              </a:rPr>
              <a:t>dequeue(); // remove E</a:t>
            </a:r>
            <a:endParaRPr lang="en-IN" sz="2800" dirty="0">
              <a:latin typeface="Courier New" panose="02070309020205020404" pitchFamily="49" charset="0"/>
            </a:endParaRPr>
          </a:p>
        </p:txBody>
      </p:sp>
      <p:pic>
        <p:nvPicPr>
          <p:cNvPr id="5" name="Picture 4" descr="The screenshot shows a queue that can hold three characters. The dequeue ( ) removes the elements from the front of the queue. Here, the dequeue ( ) removes the char 'E' at the front. Now the character 'K' is at the front of the queue and the character 'G' to the right of 'K' is the rear element."/>
          <p:cNvPicPr>
            <a:picLocks noChangeAspect="1"/>
          </p:cNvPicPr>
          <p:nvPr/>
        </p:nvPicPr>
        <p:blipFill>
          <a:blip r:embed="rId2"/>
          <a:stretch>
            <a:fillRect/>
          </a:stretch>
        </p:blipFill>
        <p:spPr>
          <a:xfrm>
            <a:off x="228600" y="2332800"/>
            <a:ext cx="5938019" cy="999831"/>
          </a:xfrm>
          <a:prstGeom prst="rect">
            <a:avLst/>
          </a:prstGeom>
        </p:spPr>
      </p:pic>
      <p:sp>
        <p:nvSpPr>
          <p:cNvPr id="4" name="Content Placeholder 3"/>
          <p:cNvSpPr>
            <a:spLocks noGrp="1"/>
          </p:cNvSpPr>
          <p:nvPr>
            <p:ph sz="quarter" idx="11"/>
          </p:nvPr>
        </p:nvSpPr>
        <p:spPr>
          <a:xfrm>
            <a:off x="482400" y="3628800"/>
            <a:ext cx="8077200" cy="457200"/>
          </a:xfrm>
        </p:spPr>
        <p:txBody>
          <a:bodyPr/>
          <a:lstStyle/>
          <a:p>
            <a:r>
              <a:rPr lang="en-US" altLang="en-US" sz="2800" dirty="0" smtClean="0">
                <a:latin typeface="Courier New" panose="02070309020205020404" pitchFamily="49" charset="0"/>
              </a:rPr>
              <a:t>dequeue(); // remove K</a:t>
            </a:r>
          </a:p>
        </p:txBody>
      </p:sp>
      <p:pic>
        <p:nvPicPr>
          <p:cNvPr id="6" name="Picture 5" descr="The screenshot shows a queue that can hold three characters. Here, the dequeue ( ) removes the character 'K' at the front. Now the character 'G' is the element in front. It becomes the front and rear element."/>
          <p:cNvPicPr>
            <a:picLocks noChangeAspect="1"/>
          </p:cNvPicPr>
          <p:nvPr/>
        </p:nvPicPr>
        <p:blipFill>
          <a:blip r:embed="rId3"/>
          <a:stretch>
            <a:fillRect/>
          </a:stretch>
        </p:blipFill>
        <p:spPr>
          <a:xfrm>
            <a:off x="457200" y="4535276"/>
            <a:ext cx="4462659" cy="1713124"/>
          </a:xfrm>
          <a:prstGeom prst="rect">
            <a:avLst/>
          </a:prstGeom>
        </p:spPr>
      </p:pic>
    </p:spTree>
    <p:extLst>
      <p:ext uri="{BB962C8B-B14F-4D97-AF65-F5344CB8AC3E}">
        <p14:creationId xmlns:p14="http://schemas.microsoft.com/office/powerpoint/2010/main" val="1319618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Courier New" panose="02070309020205020404" pitchFamily="49" charset="0"/>
              </a:rPr>
              <a:t>dequeue</a:t>
            </a:r>
            <a:r>
              <a:rPr lang="en-US" altLang="en-US" dirty="0"/>
              <a:t> Issue, Solutions</a:t>
            </a:r>
            <a:endParaRPr lang="en-IN" dirty="0"/>
          </a:p>
        </p:txBody>
      </p:sp>
      <p:sp>
        <p:nvSpPr>
          <p:cNvPr id="3" name="Content Placeholder 2"/>
          <p:cNvSpPr>
            <a:spLocks noGrp="1"/>
          </p:cNvSpPr>
          <p:nvPr>
            <p:ph idx="1"/>
          </p:nvPr>
        </p:nvSpPr>
        <p:spPr>
          <a:xfrm>
            <a:off x="304800" y="1905001"/>
            <a:ext cx="8229600" cy="3581400"/>
          </a:xfrm>
        </p:spPr>
        <p:txBody>
          <a:bodyPr/>
          <a:lstStyle/>
          <a:p>
            <a:pPr lvl="0">
              <a:lnSpc>
                <a:spcPct val="85000"/>
              </a:lnSpc>
              <a:buFontTx/>
              <a:buChar char="•"/>
            </a:pPr>
            <a:r>
              <a:rPr lang="en-US" altLang="en-US" sz="2800" dirty="0">
                <a:solidFill>
                  <a:srgbClr val="000000"/>
                </a:solidFill>
              </a:rPr>
              <a:t>When removing an element from a queue, remaining elements must shift to front</a:t>
            </a:r>
          </a:p>
          <a:p>
            <a:pPr lvl="0">
              <a:lnSpc>
                <a:spcPct val="85000"/>
              </a:lnSpc>
              <a:buFontTx/>
              <a:buChar char="•"/>
            </a:pPr>
            <a:r>
              <a:rPr lang="en-US" altLang="en-US" sz="2800" dirty="0">
                <a:solidFill>
                  <a:srgbClr val="000000"/>
                </a:solidFill>
              </a:rPr>
              <a:t>Solutions:</a:t>
            </a:r>
          </a:p>
          <a:p>
            <a:pPr lvl="1">
              <a:lnSpc>
                <a:spcPct val="85000"/>
              </a:lnSpc>
            </a:pPr>
            <a:r>
              <a:rPr lang="en-US" altLang="en-US" sz="2400" dirty="0">
                <a:solidFill>
                  <a:srgbClr val="000000"/>
                </a:solidFill>
              </a:rPr>
              <a:t>Let front index move as elements are removed (works as long as rear index is not at end of array)</a:t>
            </a:r>
          </a:p>
          <a:p>
            <a:pPr lvl="1">
              <a:lnSpc>
                <a:spcPct val="85000"/>
              </a:lnSpc>
            </a:pPr>
            <a:r>
              <a:rPr lang="en-US" altLang="en-US" sz="2400" dirty="0">
                <a:solidFill>
                  <a:srgbClr val="000000"/>
                </a:solidFill>
              </a:rPr>
              <a:t>Use above solution, and also let rear index "wrap around" to front of array, treating array as circular instead of linear (more complex enqueue, dequeue code</a:t>
            </a:r>
            <a:r>
              <a:rPr lang="en-US" altLang="en-US" sz="2400" dirty="0" smtClean="0">
                <a:solidFill>
                  <a:srgbClr val="000000"/>
                </a:solidFill>
              </a:rPr>
              <a:t>)</a:t>
            </a:r>
            <a:endParaRPr lang="en-US" altLang="en-US" sz="2400" dirty="0">
              <a:solidFill>
                <a:srgbClr val="000000"/>
              </a:solidFill>
            </a:endParaRPr>
          </a:p>
        </p:txBody>
      </p:sp>
    </p:spTree>
    <p:extLst>
      <p:ext uri="{BB962C8B-B14F-4D97-AF65-F5344CB8AC3E}">
        <p14:creationId xmlns:p14="http://schemas.microsoft.com/office/powerpoint/2010/main" val="1792708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IN" dirty="0" smtClean="0"/>
              <a:t>  </a:t>
            </a:r>
            <a:endParaRPr lang="en-IN" dirty="0"/>
          </a:p>
        </p:txBody>
      </p:sp>
      <p:sp>
        <p:nvSpPr>
          <p:cNvPr id="3" name="Content Placeholder 2"/>
          <p:cNvSpPr>
            <a:spLocks noGrp="1"/>
          </p:cNvSpPr>
          <p:nvPr>
            <p:ph idx="1"/>
          </p:nvPr>
        </p:nvSpPr>
        <p:spPr>
          <a:xfrm>
            <a:off x="304800" y="1713600"/>
            <a:ext cx="8458200" cy="3992563"/>
          </a:xfrm>
        </p:spPr>
        <p:txBody>
          <a:bodyPr/>
          <a:lstStyle/>
          <a:p>
            <a:pPr marL="0" lvl="0" indent="0" eaLnBrk="1" hangingPunct="1">
              <a:spcBef>
                <a:spcPct val="50000"/>
              </a:spcBef>
              <a:buNone/>
            </a:pPr>
            <a:r>
              <a:rPr lang="en-US" altLang="en-US" sz="1900" b="1" kern="1200" dirty="0">
                <a:solidFill>
                  <a:srgbClr val="000000"/>
                </a:solidFill>
                <a:latin typeface="Times New Roman" panose="02020603050405020304" pitchFamily="18" charset="0"/>
                <a:cs typeface="Arial" panose="020B0604020202020204" pitchFamily="34" charset="0"/>
              </a:rPr>
              <a:t>Contents of </a:t>
            </a:r>
            <a:r>
              <a:rPr lang="en-US" altLang="en-US" sz="1900" b="1" kern="1200" dirty="0">
                <a:solidFill>
                  <a:srgbClr val="000000"/>
                </a:solidFill>
                <a:latin typeface="Courier New" panose="02070309020205020404" pitchFamily="49" charset="0"/>
                <a:cs typeface="Arial" panose="020B0604020202020204" pitchFamily="34" charset="0"/>
              </a:rPr>
              <a:t>IntQueue.h</a:t>
            </a:r>
            <a:r>
              <a:rPr lang="en-US" altLang="en-US" sz="1900" kern="1200" dirty="0">
                <a:solidFill>
                  <a:srgbClr val="000000"/>
                </a:solidFill>
                <a:latin typeface="Courier New" panose="02070309020205020404" pitchFamily="49" charset="0"/>
                <a:cs typeface="Arial" panose="020B0604020202020204" pitchFamily="34" charset="0"/>
              </a:rPr>
              <a:t> </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1  // Specification file for the IntQueue class</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2  #ifndef INTQUEUE_H</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3  #define INTQUEUE_H</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4 </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5  class IntQueue</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6  {</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7  private:</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8     int *queueArray</a:t>
            </a:r>
            <a:r>
              <a:rPr lang="en-US" altLang="en-US" sz="1900" kern="1200" dirty="0" smtClean="0">
                <a:solidFill>
                  <a:srgbClr val="000000"/>
                </a:solidFill>
                <a:latin typeface="Courier New" panose="02070309020205020404" pitchFamily="49" charset="0"/>
                <a:cs typeface="Arial" panose="020B0604020202020204" pitchFamily="34" charset="0"/>
              </a:rPr>
              <a:t>; // </a:t>
            </a:r>
            <a:r>
              <a:rPr lang="en-US" altLang="en-US" sz="1900" kern="1200" dirty="0">
                <a:solidFill>
                  <a:srgbClr val="000000"/>
                </a:solidFill>
                <a:latin typeface="Courier New" panose="02070309020205020404" pitchFamily="49" charset="0"/>
                <a:cs typeface="Arial" panose="020B0604020202020204" pitchFamily="34" charset="0"/>
              </a:rPr>
              <a:t>Points to the queue array</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 9     int queueSize; </a:t>
            </a:r>
            <a:r>
              <a:rPr lang="en-US" altLang="en-US" sz="1900" kern="1200" dirty="0" smtClean="0">
                <a:solidFill>
                  <a:srgbClr val="000000"/>
                </a:solidFill>
                <a:latin typeface="Courier New" panose="02070309020205020404" pitchFamily="49" charset="0"/>
                <a:cs typeface="Arial" panose="020B0604020202020204" pitchFamily="34" charset="0"/>
              </a:rPr>
              <a:t> // </a:t>
            </a:r>
            <a:r>
              <a:rPr lang="en-US" altLang="en-US" sz="1900" kern="1200" dirty="0">
                <a:solidFill>
                  <a:srgbClr val="000000"/>
                </a:solidFill>
                <a:latin typeface="Courier New" panose="02070309020205020404" pitchFamily="49" charset="0"/>
                <a:cs typeface="Arial" panose="020B0604020202020204" pitchFamily="34" charset="0"/>
              </a:rPr>
              <a:t>The queue size</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10     int front</a:t>
            </a:r>
            <a:r>
              <a:rPr lang="en-US" altLang="en-US" sz="1900" kern="1200" dirty="0" smtClean="0">
                <a:solidFill>
                  <a:srgbClr val="000000"/>
                </a:solidFill>
                <a:latin typeface="Courier New" panose="02070309020205020404" pitchFamily="49" charset="0"/>
                <a:cs typeface="Arial" panose="020B0604020202020204" pitchFamily="34" charset="0"/>
              </a:rPr>
              <a:t>; // </a:t>
            </a:r>
            <a:r>
              <a:rPr lang="en-US" altLang="en-US" sz="1900" kern="1200" dirty="0">
                <a:solidFill>
                  <a:srgbClr val="000000"/>
                </a:solidFill>
                <a:latin typeface="Courier New" panose="02070309020205020404" pitchFamily="49" charset="0"/>
                <a:cs typeface="Arial" panose="020B0604020202020204" pitchFamily="34" charset="0"/>
              </a:rPr>
              <a:t>Subscript of the queue front</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11     int rear</a:t>
            </a:r>
            <a:r>
              <a:rPr lang="en-US" altLang="en-US" sz="1900" kern="1200" dirty="0" smtClean="0">
                <a:solidFill>
                  <a:srgbClr val="000000"/>
                </a:solidFill>
                <a:latin typeface="Courier New" panose="02070309020205020404" pitchFamily="49" charset="0"/>
                <a:cs typeface="Arial" panose="020B0604020202020204" pitchFamily="34" charset="0"/>
              </a:rPr>
              <a:t>; // </a:t>
            </a:r>
            <a:r>
              <a:rPr lang="en-US" altLang="en-US" sz="1900" kern="1200" dirty="0">
                <a:solidFill>
                  <a:srgbClr val="000000"/>
                </a:solidFill>
                <a:latin typeface="Courier New" panose="02070309020205020404" pitchFamily="49" charset="0"/>
                <a:cs typeface="Arial" panose="020B0604020202020204" pitchFamily="34" charset="0"/>
              </a:rPr>
              <a:t>Subscript of the queue rear</a:t>
            </a:r>
            <a:br>
              <a:rPr lang="en-US" altLang="en-US" sz="1900" kern="1200" dirty="0">
                <a:solidFill>
                  <a:srgbClr val="000000"/>
                </a:solidFill>
                <a:latin typeface="Courier New" panose="02070309020205020404" pitchFamily="49" charset="0"/>
                <a:cs typeface="Arial" panose="020B0604020202020204" pitchFamily="34" charset="0"/>
              </a:rPr>
            </a:br>
            <a:r>
              <a:rPr lang="en-US" altLang="en-US" sz="1900" kern="1200" dirty="0">
                <a:solidFill>
                  <a:srgbClr val="000000"/>
                </a:solidFill>
                <a:latin typeface="Courier New" panose="02070309020205020404" pitchFamily="49" charset="0"/>
                <a:cs typeface="Arial" panose="020B0604020202020204" pitchFamily="34" charset="0"/>
              </a:rPr>
              <a:t>12     int numItems</a:t>
            </a:r>
            <a:r>
              <a:rPr lang="en-US" altLang="en-US" sz="1900" kern="1200" dirty="0" smtClean="0">
                <a:solidFill>
                  <a:srgbClr val="000000"/>
                </a:solidFill>
                <a:latin typeface="Courier New" panose="02070309020205020404" pitchFamily="49" charset="0"/>
                <a:cs typeface="Arial" panose="020B0604020202020204" pitchFamily="34" charset="0"/>
              </a:rPr>
              <a:t>; // </a:t>
            </a:r>
            <a:r>
              <a:rPr lang="en-US" altLang="en-US" sz="1900" kern="1200" dirty="0">
                <a:solidFill>
                  <a:srgbClr val="000000"/>
                </a:solidFill>
                <a:latin typeface="Courier New" panose="02070309020205020404" pitchFamily="49" charset="0"/>
                <a:cs typeface="Arial" panose="020B0604020202020204" pitchFamily="34" charset="0"/>
              </a:rPr>
              <a:t>Number of items in the </a:t>
            </a:r>
            <a:r>
              <a:rPr lang="en-US" altLang="en-US" sz="1900" kern="1200" dirty="0" smtClean="0">
                <a:solidFill>
                  <a:srgbClr val="000000"/>
                </a:solidFill>
                <a:latin typeface="Courier New" panose="02070309020205020404" pitchFamily="49" charset="0"/>
                <a:cs typeface="Arial" panose="020B0604020202020204" pitchFamily="34" charset="0"/>
              </a:rPr>
              <a:t>queue</a:t>
            </a:r>
            <a:endParaRPr lang="en-US" altLang="en-US" sz="1900" kern="1200" dirty="0">
              <a:solidFill>
                <a:srgbClr val="000000"/>
              </a:solidFill>
              <a:latin typeface="Courier New" panose="02070309020205020404" pitchFamily="49" charset="0"/>
              <a:cs typeface="Arial" panose="020B0604020202020204" pitchFamily="34" charset="0"/>
            </a:endParaRPr>
          </a:p>
        </p:txBody>
      </p:sp>
    </p:spTree>
    <p:extLst>
      <p:ext uri="{BB962C8B-B14F-4D97-AF65-F5344CB8AC3E}">
        <p14:creationId xmlns:p14="http://schemas.microsoft.com/office/powerpoint/2010/main" val="2730840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600" y="122400"/>
            <a:ext cx="8229600" cy="609600"/>
          </a:xfrm>
        </p:spPr>
        <p:txBody>
          <a:bodyPr/>
          <a:lstStyle/>
          <a:p>
            <a:pPr lvl="0" eaLnBrk="1" hangingPunct="1"/>
            <a:r>
              <a:rPr kumimoji="0" lang="en-US" altLang="en-US" sz="3600" b="0" i="0" u="none" strike="noStrike" kern="1200" cap="none" spc="0" normalizeH="0" baseline="0" noProof="0" dirty="0" smtClean="0">
                <a:ln>
                  <a:noFill/>
                </a:ln>
                <a:effectLst/>
                <a:uLnTx/>
                <a:uFillTx/>
                <a:latin typeface="Arial" panose="020B0604020202020204" pitchFamily="34" charset="0"/>
                <a:ea typeface="+mn-ea"/>
                <a:cs typeface="Arial" panose="020B0604020202020204" pitchFamily="34" charset="0"/>
              </a:rPr>
              <a:t>Contents of </a:t>
            </a:r>
            <a:r>
              <a:rPr kumimoji="0" lang="en-US" altLang="en-US" sz="3600" b="0" i="0" u="none" strike="noStrike" kern="1200" cap="none" spc="0" normalizeH="0" baseline="0" noProof="0" dirty="0" smtClean="0">
                <a:ln>
                  <a:noFill/>
                </a:ln>
                <a:effectLst/>
                <a:uLnTx/>
                <a:uFillTx/>
                <a:latin typeface="Courier New" panose="02070309020205020404" pitchFamily="49" charset="0"/>
                <a:ea typeface="+mn-ea"/>
                <a:cs typeface="Arial" panose="020B0604020202020204" pitchFamily="34" charset="0"/>
              </a:rPr>
              <a:t>IntQueue.h </a:t>
            </a:r>
            <a:endParaRPr lang="en-IN" dirty="0"/>
          </a:p>
        </p:txBody>
      </p:sp>
      <p:pic>
        <p:nvPicPr>
          <p:cNvPr id="4" name="Picture 3" descr="A program displays the contents of IntQueue.h. The public constructor defines the parameter of IntQueue. The program uses copy constructor function and copies the parameter (const IntQueue ampersand). The destructor uses tilde IntQueue with an empty parameter list. The program uses the queue operations enqueue, dequeue, isEmpty, isFull, and clear."/>
          <p:cNvPicPr>
            <a:picLocks noChangeAspect="1"/>
          </p:cNvPicPr>
          <p:nvPr/>
        </p:nvPicPr>
        <p:blipFill>
          <a:blip r:embed="rId2"/>
          <a:stretch>
            <a:fillRect/>
          </a:stretch>
        </p:blipFill>
        <p:spPr>
          <a:xfrm>
            <a:off x="889200" y="1339200"/>
            <a:ext cx="7882811" cy="4578493"/>
          </a:xfrm>
          <a:prstGeom prst="rect">
            <a:avLst/>
          </a:prstGeom>
        </p:spPr>
      </p:pic>
    </p:spTree>
    <p:extLst>
      <p:ext uri="{BB962C8B-B14F-4D97-AF65-F5344CB8AC3E}">
        <p14:creationId xmlns:p14="http://schemas.microsoft.com/office/powerpoint/2010/main" val="844801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noChangeArrowheads="1"/>
          </p:cNvSpPr>
          <p:nvPr>
            <p:ph type="ctrTitle"/>
          </p:nvPr>
        </p:nvSpPr>
        <p:spPr/>
        <p:txBody>
          <a:bodyPr/>
          <a:lstStyle/>
          <a:p>
            <a:r>
              <a:rPr lang="en-US" altLang="en-US" dirty="0" smtClean="0"/>
              <a:t>19.5</a:t>
            </a:r>
          </a:p>
        </p:txBody>
      </p:sp>
      <p:sp>
        <p:nvSpPr>
          <p:cNvPr id="33795" name="Subtitle 2"/>
          <p:cNvSpPr>
            <a:spLocks noGrp="1" noChangeArrowheads="1"/>
          </p:cNvSpPr>
          <p:nvPr>
            <p:ph type="subTitle" idx="1"/>
          </p:nvPr>
        </p:nvSpPr>
        <p:spPr/>
        <p:txBody>
          <a:bodyPr/>
          <a:lstStyle/>
          <a:p>
            <a:r>
              <a:rPr lang="en-US" altLang="en-US" dirty="0" smtClean="0"/>
              <a:t>Dynamic Queues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Dynamic Queues</a:t>
            </a:r>
            <a:endParaRPr lang="en-IN" dirty="0"/>
          </a:p>
        </p:txBody>
      </p:sp>
      <p:sp>
        <p:nvSpPr>
          <p:cNvPr id="3" name="Content Placeholder 2"/>
          <p:cNvSpPr>
            <a:spLocks noGrp="1"/>
          </p:cNvSpPr>
          <p:nvPr>
            <p:ph idx="1"/>
          </p:nvPr>
        </p:nvSpPr>
        <p:spPr>
          <a:xfrm>
            <a:off x="457200" y="1600201"/>
            <a:ext cx="8229600" cy="2209800"/>
          </a:xfrm>
        </p:spPr>
        <p:txBody>
          <a:bodyPr/>
          <a:lstStyle/>
          <a:p>
            <a:pPr lvl="0">
              <a:buFontTx/>
              <a:buChar char="•"/>
            </a:pPr>
            <a:r>
              <a:rPr lang="en-US" altLang="en-US" dirty="0">
                <a:solidFill>
                  <a:srgbClr val="000000"/>
                </a:solidFill>
              </a:rPr>
              <a:t>Like a stack, a queue can be implemented using a linked list</a:t>
            </a:r>
          </a:p>
          <a:p>
            <a:pPr lvl="0">
              <a:buFontTx/>
              <a:buChar char="•"/>
            </a:pPr>
            <a:r>
              <a:rPr lang="en-US" altLang="en-US" dirty="0">
                <a:solidFill>
                  <a:srgbClr val="000000"/>
                </a:solidFill>
              </a:rPr>
              <a:t>Allows dynamic sizing, avoids issue of shifting elements or wrapping </a:t>
            </a:r>
            <a:r>
              <a:rPr lang="en-US" altLang="en-US" dirty="0" smtClean="0">
                <a:solidFill>
                  <a:srgbClr val="000000"/>
                </a:solidFill>
              </a:rPr>
              <a:t>indices</a:t>
            </a:r>
            <a:endParaRPr lang="en-US" altLang="en-US" dirty="0">
              <a:solidFill>
                <a:srgbClr val="000000"/>
              </a:solidFill>
            </a:endParaRPr>
          </a:p>
        </p:txBody>
      </p:sp>
      <p:pic>
        <p:nvPicPr>
          <p:cNvPr id="4" name="Picture 3" descr="The screenshot shows three connected nodes. Each node can contain the data and the address. The node on the far left is the front element, and the node on the far right with a null address is the rear element. The node in the center is connected to the nodes on the left and right."/>
          <p:cNvPicPr>
            <a:picLocks noChangeAspect="1"/>
          </p:cNvPicPr>
          <p:nvPr/>
        </p:nvPicPr>
        <p:blipFill>
          <a:blip r:embed="rId2"/>
          <a:stretch>
            <a:fillRect/>
          </a:stretch>
        </p:blipFill>
        <p:spPr>
          <a:xfrm>
            <a:off x="1447800" y="4178662"/>
            <a:ext cx="6194073" cy="1688738"/>
          </a:xfrm>
          <a:prstGeom prst="rect">
            <a:avLst/>
          </a:prstGeom>
        </p:spPr>
      </p:pic>
    </p:spTree>
    <p:extLst>
      <p:ext uri="{BB962C8B-B14F-4D97-AF65-F5344CB8AC3E}">
        <p14:creationId xmlns:p14="http://schemas.microsoft.com/office/powerpoint/2010/main" val="3424019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Implementing a Queue</a:t>
            </a:r>
            <a:endParaRPr lang="en-IN" dirty="0"/>
          </a:p>
        </p:txBody>
      </p:sp>
      <p:sp>
        <p:nvSpPr>
          <p:cNvPr id="3" name="Content Placeholder 2"/>
          <p:cNvSpPr>
            <a:spLocks noGrp="1"/>
          </p:cNvSpPr>
          <p:nvPr>
            <p:ph idx="1"/>
          </p:nvPr>
        </p:nvSpPr>
        <p:spPr/>
        <p:txBody>
          <a:bodyPr/>
          <a:lstStyle/>
          <a:p>
            <a:pPr lvl="0">
              <a:spcBef>
                <a:spcPct val="50000"/>
              </a:spcBef>
              <a:buFontTx/>
              <a:buChar char="•"/>
            </a:pPr>
            <a:r>
              <a:rPr lang="en-US" altLang="en-US" dirty="0">
                <a:solidFill>
                  <a:srgbClr val="000000"/>
                </a:solidFill>
              </a:rPr>
              <a:t>Programmers can program their own routines to implement queue operations</a:t>
            </a:r>
          </a:p>
          <a:p>
            <a:pPr lvl="0">
              <a:spcBef>
                <a:spcPct val="50000"/>
              </a:spcBef>
              <a:buFontTx/>
              <a:buChar char="•"/>
            </a:pPr>
            <a:r>
              <a:rPr lang="en-US" altLang="en-US" dirty="0">
                <a:solidFill>
                  <a:srgbClr val="000000"/>
                </a:solidFill>
              </a:rPr>
              <a:t>See the </a:t>
            </a:r>
            <a:r>
              <a:rPr lang="en-US" altLang="en-US" dirty="0">
                <a:solidFill>
                  <a:srgbClr val="000000"/>
                </a:solidFill>
                <a:latin typeface="Courier New" panose="02070309020205020404" pitchFamily="49" charset="0"/>
              </a:rPr>
              <a:t>DynIntQue</a:t>
            </a:r>
            <a:r>
              <a:rPr lang="en-US" altLang="en-US" dirty="0">
                <a:solidFill>
                  <a:srgbClr val="000000"/>
                </a:solidFill>
              </a:rPr>
              <a:t> class in the book for an example of a dynamic queue</a:t>
            </a:r>
          </a:p>
          <a:p>
            <a:pPr lvl="0">
              <a:spcBef>
                <a:spcPct val="50000"/>
              </a:spcBef>
              <a:buFontTx/>
              <a:buChar char="•"/>
            </a:pPr>
            <a:r>
              <a:rPr lang="en-US" altLang="en-US" dirty="0">
                <a:solidFill>
                  <a:srgbClr val="000000"/>
                </a:solidFill>
              </a:rPr>
              <a:t>Can also use the implementation of queue and dequeue available in the </a:t>
            </a:r>
            <a:r>
              <a:rPr lang="en-US" altLang="en-US" dirty="0" smtClean="0">
                <a:solidFill>
                  <a:srgbClr val="000000"/>
                </a:solidFill>
              </a:rPr>
              <a:t>STL</a:t>
            </a:r>
            <a:endParaRPr lang="en-US" altLang="en-US" dirty="0">
              <a:solidFill>
                <a:srgbClr val="000000"/>
              </a:solidFill>
            </a:endParaRPr>
          </a:p>
        </p:txBody>
      </p:sp>
    </p:spTree>
    <p:extLst>
      <p:ext uri="{BB962C8B-B14F-4D97-AF65-F5344CB8AC3E}">
        <p14:creationId xmlns:p14="http://schemas.microsoft.com/office/powerpoint/2010/main" val="2619135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noChangeArrowheads="1"/>
          </p:cNvSpPr>
          <p:nvPr>
            <p:ph type="ctrTitle"/>
          </p:nvPr>
        </p:nvSpPr>
        <p:spPr/>
        <p:txBody>
          <a:bodyPr/>
          <a:lstStyle/>
          <a:p>
            <a:r>
              <a:rPr lang="en-US" altLang="en-US" dirty="0" smtClean="0"/>
              <a:t>19.6</a:t>
            </a:r>
          </a:p>
        </p:txBody>
      </p:sp>
      <p:sp>
        <p:nvSpPr>
          <p:cNvPr id="37891" name="Subtitle 2"/>
          <p:cNvSpPr>
            <a:spLocks noGrp="1" noChangeArrowheads="1"/>
          </p:cNvSpPr>
          <p:nvPr>
            <p:ph type="subTitle" idx="1"/>
          </p:nvPr>
        </p:nvSpPr>
        <p:spPr/>
        <p:txBody>
          <a:bodyPr/>
          <a:lstStyle/>
          <a:p>
            <a:r>
              <a:rPr lang="en-US" altLang="en-US" dirty="0" smtClean="0"/>
              <a:t>The STL </a:t>
            </a:r>
            <a:r>
              <a:rPr lang="en-US" altLang="en-US" dirty="0" smtClean="0">
                <a:latin typeface="Courier New" panose="02070309020205020404" pitchFamily="49" charset="0"/>
                <a:cs typeface="Courier New" panose="02070309020205020404" pitchFamily="49" charset="0"/>
              </a:rPr>
              <a:t>deque</a:t>
            </a:r>
            <a:r>
              <a:rPr lang="en-US" altLang="en-US" dirty="0" smtClean="0"/>
              <a:t> and </a:t>
            </a:r>
            <a:r>
              <a:rPr lang="en-US" altLang="en-US" dirty="0" smtClean="0">
                <a:latin typeface="Courier New" panose="02070309020205020404" pitchFamily="49" charset="0"/>
                <a:cs typeface="Courier New" panose="02070309020205020404" pitchFamily="49" charset="0"/>
              </a:rPr>
              <a:t>queue</a:t>
            </a:r>
            <a:r>
              <a:rPr lang="en-US" altLang="en-US" dirty="0" smtClean="0"/>
              <a:t> Containers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STL </a:t>
            </a:r>
            <a:r>
              <a:rPr lang="en-US" altLang="en-US" dirty="0">
                <a:latin typeface="Courier New" panose="02070309020205020404" pitchFamily="49" charset="0"/>
              </a:rPr>
              <a:t>deque</a:t>
            </a:r>
            <a:r>
              <a:rPr lang="en-US" altLang="en-US" dirty="0"/>
              <a:t> </a:t>
            </a:r>
            <a:r>
              <a:rPr lang="en-US" altLang="en-US" dirty="0" smtClean="0"/>
              <a:t/>
            </a:r>
            <a:br>
              <a:rPr lang="en-US" altLang="en-US" dirty="0" smtClean="0"/>
            </a:br>
            <a:r>
              <a:rPr lang="en-US" altLang="en-US" dirty="0" smtClean="0"/>
              <a:t>and </a:t>
            </a:r>
            <a:r>
              <a:rPr lang="en-US" altLang="en-US" dirty="0">
                <a:latin typeface="Courier New" panose="02070309020205020404" pitchFamily="49" charset="0"/>
              </a:rPr>
              <a:t>queue</a:t>
            </a:r>
            <a:r>
              <a:rPr lang="en-US" altLang="en-US" dirty="0"/>
              <a:t> Containers</a:t>
            </a:r>
            <a:endParaRPr lang="en-IN" dirty="0"/>
          </a:p>
        </p:txBody>
      </p:sp>
      <p:sp>
        <p:nvSpPr>
          <p:cNvPr id="3" name="Content Placeholder 2"/>
          <p:cNvSpPr>
            <a:spLocks noGrp="1"/>
          </p:cNvSpPr>
          <p:nvPr>
            <p:ph idx="1"/>
          </p:nvPr>
        </p:nvSpPr>
        <p:spPr>
          <a:xfrm>
            <a:off x="304800" y="1828800"/>
            <a:ext cx="8382000" cy="4525963"/>
          </a:xfrm>
        </p:spPr>
        <p:txBody>
          <a:bodyPr/>
          <a:lstStyle/>
          <a:p>
            <a:pPr lvl="0">
              <a:buFontTx/>
              <a:buChar char="•"/>
            </a:pPr>
            <a:r>
              <a:rPr lang="en-US" altLang="en-US" dirty="0">
                <a:solidFill>
                  <a:srgbClr val="000000"/>
                </a:solidFill>
                <a:latin typeface="Courier New" panose="02070309020205020404" pitchFamily="49" charset="0"/>
              </a:rPr>
              <a:t>deque</a:t>
            </a:r>
            <a:r>
              <a:rPr lang="en-US" altLang="en-US" dirty="0">
                <a:solidFill>
                  <a:srgbClr val="000000"/>
                </a:solidFill>
              </a:rPr>
              <a:t>: a double-ended queue</a:t>
            </a:r>
            <a:r>
              <a:rPr lang="en-US" altLang="en-US" dirty="0" smtClean="0">
                <a:solidFill>
                  <a:srgbClr val="000000"/>
                </a:solidFill>
              </a:rPr>
              <a:t>. Has </a:t>
            </a:r>
            <a:r>
              <a:rPr lang="en-US" altLang="en-US" dirty="0">
                <a:solidFill>
                  <a:srgbClr val="000000"/>
                </a:solidFill>
              </a:rPr>
              <a:t>member functions to enqueue (</a:t>
            </a:r>
            <a:r>
              <a:rPr lang="en-US" altLang="en-US" dirty="0">
                <a:solidFill>
                  <a:srgbClr val="000000"/>
                </a:solidFill>
                <a:latin typeface="Courier New" panose="02070309020205020404" pitchFamily="49" charset="0"/>
              </a:rPr>
              <a:t>push_back</a:t>
            </a:r>
            <a:r>
              <a:rPr lang="en-US" altLang="en-US" dirty="0">
                <a:solidFill>
                  <a:srgbClr val="000000"/>
                </a:solidFill>
              </a:rPr>
              <a:t>) and dequeue (</a:t>
            </a:r>
            <a:r>
              <a:rPr lang="en-US" altLang="en-US" dirty="0">
                <a:solidFill>
                  <a:srgbClr val="000000"/>
                </a:solidFill>
                <a:latin typeface="Courier New" panose="02070309020205020404" pitchFamily="49" charset="0"/>
              </a:rPr>
              <a:t>pop_front</a:t>
            </a:r>
            <a:r>
              <a:rPr lang="en-US" altLang="en-US" dirty="0">
                <a:solidFill>
                  <a:srgbClr val="000000"/>
                </a:solidFill>
              </a:rPr>
              <a:t>)</a:t>
            </a:r>
          </a:p>
          <a:p>
            <a:pPr lvl="0">
              <a:buFontTx/>
              <a:buChar char="•"/>
            </a:pPr>
            <a:r>
              <a:rPr lang="en-US" altLang="en-US" dirty="0">
                <a:solidFill>
                  <a:srgbClr val="000000"/>
                </a:solidFill>
                <a:latin typeface="Courier New" panose="02070309020205020404" pitchFamily="49" charset="0"/>
              </a:rPr>
              <a:t>queue</a:t>
            </a:r>
            <a:r>
              <a:rPr lang="en-US" altLang="en-US" dirty="0">
                <a:solidFill>
                  <a:srgbClr val="000000"/>
                </a:solidFill>
              </a:rPr>
              <a:t>: container ADT that can be used to provide queue as a </a:t>
            </a:r>
            <a:r>
              <a:rPr lang="en-US" altLang="en-US" dirty="0">
                <a:solidFill>
                  <a:srgbClr val="000000"/>
                </a:solidFill>
                <a:latin typeface="Courier New" panose="02070309020205020404" pitchFamily="49" charset="0"/>
              </a:rPr>
              <a:t>vector</a:t>
            </a:r>
            <a:r>
              <a:rPr lang="en-US" altLang="en-US" dirty="0">
                <a:solidFill>
                  <a:srgbClr val="000000"/>
                </a:solidFill>
              </a:rPr>
              <a:t>, list, or </a:t>
            </a:r>
            <a:r>
              <a:rPr lang="en-US" altLang="en-US" dirty="0">
                <a:solidFill>
                  <a:srgbClr val="000000"/>
                </a:solidFill>
                <a:latin typeface="Courier New" panose="02070309020205020404" pitchFamily="49" charset="0"/>
              </a:rPr>
              <a:t>deque</a:t>
            </a:r>
            <a:r>
              <a:rPr lang="en-US" altLang="en-US" dirty="0">
                <a:solidFill>
                  <a:srgbClr val="000000"/>
                </a:solidFill>
              </a:rPr>
              <a:t>.  Has member functions to enque (</a:t>
            </a:r>
            <a:r>
              <a:rPr lang="en-US" altLang="en-US" dirty="0">
                <a:solidFill>
                  <a:srgbClr val="000000"/>
                </a:solidFill>
                <a:latin typeface="Courier New" panose="02070309020205020404" pitchFamily="49" charset="0"/>
              </a:rPr>
              <a:t>push</a:t>
            </a:r>
            <a:r>
              <a:rPr lang="en-US" altLang="en-US" dirty="0">
                <a:solidFill>
                  <a:srgbClr val="000000"/>
                </a:solidFill>
              </a:rPr>
              <a:t>) and dequeue (</a:t>
            </a:r>
            <a:r>
              <a:rPr lang="en-US" altLang="en-US" dirty="0">
                <a:solidFill>
                  <a:srgbClr val="000000"/>
                </a:solidFill>
                <a:latin typeface="Courier New" panose="02070309020205020404" pitchFamily="49" charset="0"/>
              </a:rPr>
              <a:t>pop</a:t>
            </a:r>
            <a:r>
              <a:rPr lang="en-US" altLang="en-US" dirty="0" smtClean="0">
                <a:solidFill>
                  <a:srgbClr val="000000"/>
                </a:solidFill>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499999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Defining a </a:t>
            </a:r>
            <a:r>
              <a:rPr lang="en-US" altLang="en-US" dirty="0">
                <a:latin typeface="Courier New" panose="02070309020205020404" pitchFamily="49" charset="0"/>
              </a:rPr>
              <a:t>queue</a:t>
            </a:r>
            <a:endParaRPr lang="en-IN" dirty="0"/>
          </a:p>
        </p:txBody>
      </p:sp>
      <p:sp>
        <p:nvSpPr>
          <p:cNvPr id="3" name="Content Placeholder 2"/>
          <p:cNvSpPr>
            <a:spLocks noGrp="1"/>
          </p:cNvSpPr>
          <p:nvPr>
            <p:ph idx="1"/>
          </p:nvPr>
        </p:nvSpPr>
        <p:spPr>
          <a:xfrm>
            <a:off x="304800" y="1752600"/>
            <a:ext cx="8229600" cy="4525963"/>
          </a:xfrm>
        </p:spPr>
        <p:txBody>
          <a:bodyPr/>
          <a:lstStyle/>
          <a:p>
            <a:pPr lvl="0">
              <a:lnSpc>
                <a:spcPct val="85000"/>
              </a:lnSpc>
              <a:buFontTx/>
              <a:buChar char="•"/>
            </a:pPr>
            <a:r>
              <a:rPr lang="en-US" altLang="en-US" dirty="0">
                <a:solidFill>
                  <a:srgbClr val="000000"/>
                </a:solidFill>
              </a:rPr>
              <a:t>Defining a queue of </a:t>
            </a:r>
            <a:r>
              <a:rPr lang="en-US" altLang="en-US" dirty="0">
                <a:solidFill>
                  <a:srgbClr val="000000"/>
                </a:solidFill>
                <a:latin typeface="Courier New" panose="02070309020205020404" pitchFamily="49" charset="0"/>
              </a:rPr>
              <a:t>char</a:t>
            </a:r>
            <a:r>
              <a:rPr lang="en-US" altLang="en-US" dirty="0">
                <a:solidFill>
                  <a:srgbClr val="000000"/>
                </a:solidFill>
              </a:rPr>
              <a:t>s, named cQueue, implemented using a deque:</a:t>
            </a:r>
          </a:p>
          <a:p>
            <a:pPr lvl="1">
              <a:lnSpc>
                <a:spcPct val="85000"/>
              </a:lnSpc>
              <a:buClr>
                <a:srgbClr val="3333CC"/>
              </a:buClr>
              <a:buNone/>
            </a:pPr>
            <a:r>
              <a:rPr lang="en-US" altLang="en-US" dirty="0">
                <a:solidFill>
                  <a:srgbClr val="000000"/>
                </a:solidFill>
                <a:latin typeface="Courier New" panose="02070309020205020404" pitchFamily="49" charset="0"/>
              </a:rPr>
              <a:t>deque&lt;char&gt; cQueue;</a:t>
            </a:r>
          </a:p>
          <a:p>
            <a:pPr lvl="0">
              <a:lnSpc>
                <a:spcPct val="85000"/>
              </a:lnSpc>
              <a:buFontTx/>
              <a:buChar char="•"/>
            </a:pPr>
            <a:r>
              <a:rPr lang="en-US" altLang="en-US" dirty="0">
                <a:solidFill>
                  <a:srgbClr val="000000"/>
                </a:solidFill>
              </a:rPr>
              <a:t>implemented using a queue:</a:t>
            </a:r>
          </a:p>
          <a:p>
            <a:pPr lvl="1">
              <a:lnSpc>
                <a:spcPct val="85000"/>
              </a:lnSpc>
              <a:buClr>
                <a:srgbClr val="3333CC"/>
              </a:buClr>
              <a:buNone/>
            </a:pPr>
            <a:r>
              <a:rPr lang="en-US" altLang="en-US" dirty="0">
                <a:solidFill>
                  <a:srgbClr val="000000"/>
                </a:solidFill>
                <a:latin typeface="Courier New" panose="02070309020205020404" pitchFamily="49" charset="0"/>
              </a:rPr>
              <a:t>queue&lt;char&gt; cQueue;</a:t>
            </a:r>
          </a:p>
          <a:p>
            <a:pPr lvl="0">
              <a:lnSpc>
                <a:spcPct val="85000"/>
              </a:lnSpc>
              <a:buFontTx/>
              <a:buChar char="•"/>
            </a:pPr>
            <a:r>
              <a:rPr lang="en-US" altLang="en-US" dirty="0">
                <a:solidFill>
                  <a:srgbClr val="000000"/>
                </a:solidFill>
              </a:rPr>
              <a:t>implemented using a </a:t>
            </a:r>
            <a:r>
              <a:rPr lang="en-US" altLang="en-US" dirty="0">
                <a:solidFill>
                  <a:srgbClr val="000000"/>
                </a:solidFill>
                <a:latin typeface="Courier New" panose="02070309020205020404" pitchFamily="49" charset="0"/>
              </a:rPr>
              <a:t>list</a:t>
            </a:r>
            <a:r>
              <a:rPr lang="en-US" altLang="en-US" dirty="0">
                <a:solidFill>
                  <a:srgbClr val="000000"/>
                </a:solidFill>
              </a:rPr>
              <a:t>:</a:t>
            </a:r>
          </a:p>
          <a:p>
            <a:pPr lvl="1">
              <a:lnSpc>
                <a:spcPct val="85000"/>
              </a:lnSpc>
              <a:buClr>
                <a:srgbClr val="3333CC"/>
              </a:buClr>
              <a:buNone/>
            </a:pPr>
            <a:r>
              <a:rPr lang="en-US" altLang="en-US" dirty="0">
                <a:solidFill>
                  <a:srgbClr val="000000"/>
                </a:solidFill>
                <a:latin typeface="Courier New" panose="02070309020205020404" pitchFamily="49" charset="0"/>
              </a:rPr>
              <a:t>queue&lt;char, list&lt;char&gt;&gt; cQueue</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03949454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9097E12-E134-446B-84F0-B1B9778856AE}"/>
</file>

<file path=customXml/itemProps2.xml><?xml version="1.0" encoding="utf-8"?>
<ds:datastoreItem xmlns:ds="http://schemas.openxmlformats.org/officeDocument/2006/customXml" ds:itemID="{9CAC62AA-775A-4D10-ACB1-50EB542EFBB4}"/>
</file>

<file path=customXml/itemProps3.xml><?xml version="1.0" encoding="utf-8"?>
<ds:datastoreItem xmlns:ds="http://schemas.openxmlformats.org/officeDocument/2006/customXml" ds:itemID="{66F4D039-6B41-46EA-9C86-ECBB0A07E99F}"/>
</file>

<file path=docProps/app.xml><?xml version="1.0" encoding="utf-8"?>
<Properties xmlns="http://schemas.openxmlformats.org/officeDocument/2006/extended-properties" xmlns:vt="http://schemas.openxmlformats.org/officeDocument/2006/docPropsVTypes">
  <Template/>
  <TotalTime>1147</TotalTime>
  <Words>767</Words>
  <Application>Microsoft Office PowerPoint</Application>
  <PresentationFormat>On-screen Show (4:3)</PresentationFormat>
  <Paragraphs>104</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Courier New</vt:lpstr>
      <vt:lpstr>Times New Roman</vt:lpstr>
      <vt:lpstr>Default Design</vt:lpstr>
      <vt:lpstr>Chapter 19: Stacks and Queues</vt:lpstr>
      <vt:lpstr>19.1</vt:lpstr>
      <vt:lpstr>Introduction to the Stack ADT</vt:lpstr>
      <vt:lpstr>A LIFO Structure</vt:lpstr>
      <vt:lpstr>Stack Operations and Functions</vt:lpstr>
      <vt:lpstr>Stack Operations - Example (1 of 2)</vt:lpstr>
      <vt:lpstr>Stack Operations - Example (2 of 2)</vt:lpstr>
      <vt:lpstr> </vt:lpstr>
      <vt:lpstr>19.2</vt:lpstr>
      <vt:lpstr>Dynamic Stacks</vt:lpstr>
      <vt:lpstr>Implementing a Stack</vt:lpstr>
      <vt:lpstr>19.3</vt:lpstr>
      <vt:lpstr>The STL stack container</vt:lpstr>
      <vt:lpstr>Defining a stack</vt:lpstr>
      <vt:lpstr>19.4</vt:lpstr>
      <vt:lpstr>Introduction to the Queue ADT</vt:lpstr>
      <vt:lpstr>Queue Locations and Operations</vt:lpstr>
      <vt:lpstr>Queue Operations - Example (1 of 2)</vt:lpstr>
      <vt:lpstr>Queue Operations - Example (2 of 2)</vt:lpstr>
      <vt:lpstr>Queue Operations - Example</vt:lpstr>
      <vt:lpstr>dequeue Issue, Solutions</vt:lpstr>
      <vt:lpstr>  </vt:lpstr>
      <vt:lpstr>Contents of IntQueue.h </vt:lpstr>
      <vt:lpstr>19.5</vt:lpstr>
      <vt:lpstr>Dynamic Queues</vt:lpstr>
      <vt:lpstr>Implementing a Queue</vt:lpstr>
      <vt:lpstr>19.6</vt:lpstr>
      <vt:lpstr>The STL deque  and queue Containers</vt:lpstr>
      <vt:lpstr>Defining a queue</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Introduction to C++</dc:subject>
  <dc:creator>Tony Gaddis</dc:creator>
  <cp:lastModifiedBy>codemantra</cp:lastModifiedBy>
  <cp:revision>130</cp:revision>
  <dcterms:created xsi:type="dcterms:W3CDTF">2011-02-16T20:47:20Z</dcterms:created>
  <dcterms:modified xsi:type="dcterms:W3CDTF">2021-08-19T12:54:01Z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