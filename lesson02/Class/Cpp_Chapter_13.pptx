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45.xml" ContentType="application/vnd.openxmlformats-officedocument.presentationml.slide+xml"/>
  <Override PartName="/ppt/slides/slide78.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69.xml" ContentType="application/vnd.openxmlformats-officedocument.presentationml.slide+xml"/>
  <Override PartName="/ppt/slides/slide68.xml" ContentType="application/vnd.openxmlformats-officedocument.presentationml.slide+xml"/>
  <Override PartName="/ppt/slides/slide67.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44.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16.xml" ContentType="application/vnd.openxmlformats-officedocument.presentationml.slide+xml"/>
  <Override PartName="/ppt/slides/slide11.xml" ContentType="application/vnd.openxmlformats-officedocument.presentationml.slide+xml"/>
  <Override PartName="/ppt/slides/slide18.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7.xml" ContentType="application/vnd.openxmlformats-officedocument.presentationml.slide+xml"/>
  <Override PartName="/ppt/slides/slide33.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3.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
  </p:notesMasterIdLst>
  <p:handoutMasterIdLst>
    <p:handoutMasterId r:id="rId86"/>
  </p:handoutMasterIdLst>
  <p:sldIdLst>
    <p:sldId id="402" r:id="rId2"/>
    <p:sldId id="345" r:id="rId3"/>
    <p:sldId id="346" r:id="rId4"/>
    <p:sldId id="347" r:id="rId5"/>
    <p:sldId id="348" r:id="rId6"/>
    <p:sldId id="349" r:id="rId7"/>
    <p:sldId id="350" r:id="rId8"/>
    <p:sldId id="351" r:id="rId9"/>
    <p:sldId id="269" r:id="rId10"/>
    <p:sldId id="352" r:id="rId11"/>
    <p:sldId id="353" r:id="rId12"/>
    <p:sldId id="354" r:id="rId13"/>
    <p:sldId id="355" r:id="rId14"/>
    <p:sldId id="356" r:id="rId15"/>
    <p:sldId id="357" r:id="rId16"/>
    <p:sldId id="358" r:id="rId17"/>
    <p:sldId id="359" r:id="rId18"/>
    <p:sldId id="278" r:id="rId19"/>
    <p:sldId id="360" r:id="rId20"/>
    <p:sldId id="280" r:id="rId21"/>
    <p:sldId id="281" r:id="rId22"/>
    <p:sldId id="282" r:id="rId23"/>
    <p:sldId id="283" r:id="rId24"/>
    <p:sldId id="361" r:id="rId25"/>
    <p:sldId id="362" r:id="rId26"/>
    <p:sldId id="363" r:id="rId27"/>
    <p:sldId id="287" r:id="rId28"/>
    <p:sldId id="364" r:id="rId29"/>
    <p:sldId id="365" r:id="rId30"/>
    <p:sldId id="290" r:id="rId31"/>
    <p:sldId id="366" r:id="rId32"/>
    <p:sldId id="292" r:id="rId33"/>
    <p:sldId id="367" r:id="rId34"/>
    <p:sldId id="368" r:id="rId35"/>
    <p:sldId id="369" r:id="rId36"/>
    <p:sldId id="296" r:id="rId37"/>
    <p:sldId id="370" r:id="rId38"/>
    <p:sldId id="298" r:id="rId39"/>
    <p:sldId id="299" r:id="rId40"/>
    <p:sldId id="371" r:id="rId41"/>
    <p:sldId id="301" r:id="rId42"/>
    <p:sldId id="372" r:id="rId43"/>
    <p:sldId id="373" r:id="rId44"/>
    <p:sldId id="303" r:id="rId45"/>
    <p:sldId id="374" r:id="rId46"/>
    <p:sldId id="375" r:id="rId47"/>
    <p:sldId id="376" r:id="rId48"/>
    <p:sldId id="377" r:id="rId49"/>
    <p:sldId id="308" r:id="rId50"/>
    <p:sldId id="378" r:id="rId51"/>
    <p:sldId id="310" r:id="rId52"/>
    <p:sldId id="379" r:id="rId53"/>
    <p:sldId id="312" r:id="rId54"/>
    <p:sldId id="380" r:id="rId55"/>
    <p:sldId id="315" r:id="rId56"/>
    <p:sldId id="381" r:id="rId57"/>
    <p:sldId id="317" r:id="rId58"/>
    <p:sldId id="318" r:id="rId59"/>
    <p:sldId id="383" r:id="rId60"/>
    <p:sldId id="382" r:id="rId61"/>
    <p:sldId id="384" r:id="rId62"/>
    <p:sldId id="385" r:id="rId63"/>
    <p:sldId id="386" r:id="rId64"/>
    <p:sldId id="321" r:id="rId65"/>
    <p:sldId id="387" r:id="rId66"/>
    <p:sldId id="323" r:id="rId67"/>
    <p:sldId id="388" r:id="rId68"/>
    <p:sldId id="389" r:id="rId69"/>
    <p:sldId id="390" r:id="rId70"/>
    <p:sldId id="391" r:id="rId71"/>
    <p:sldId id="392" r:id="rId72"/>
    <p:sldId id="329" r:id="rId73"/>
    <p:sldId id="330" r:id="rId74"/>
    <p:sldId id="331" r:id="rId75"/>
    <p:sldId id="393" r:id="rId76"/>
    <p:sldId id="394" r:id="rId77"/>
    <p:sldId id="395" r:id="rId78"/>
    <p:sldId id="396" r:id="rId79"/>
    <p:sldId id="397" r:id="rId80"/>
    <p:sldId id="398" r:id="rId81"/>
    <p:sldId id="399" r:id="rId82"/>
    <p:sldId id="400" r:id="rId83"/>
    <p:sldId id="401" r:id="rId8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384" userDrawn="1">
          <p15:clr>
            <a:srgbClr val="A4A3A4"/>
          </p15:clr>
        </p15:guide>
        <p15:guide id="2" pos="384"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65" autoAdjust="0"/>
    <p:restoredTop sz="94707" autoAdjust="0"/>
  </p:normalViewPr>
  <p:slideViewPr>
    <p:cSldViewPr>
      <p:cViewPr varScale="1">
        <p:scale>
          <a:sx n="116" d="100"/>
          <a:sy n="116" d="100"/>
        </p:scale>
        <p:origin x="672" y="108"/>
      </p:cViewPr>
      <p:guideLst>
        <p:guide orient="horz" pos="384"/>
        <p:guide pos="384"/>
      </p:guideLst>
    </p:cSldViewPr>
  </p:slideViewPr>
  <p:outlineViewPr>
    <p:cViewPr>
      <p:scale>
        <a:sx n="33" d="100"/>
        <a:sy n="33" d="100"/>
      </p:scale>
      <p:origin x="0" y="-36006"/>
    </p:cViewPr>
  </p:outlineViewPr>
  <p:notesTextViewPr>
    <p:cViewPr>
      <p:scale>
        <a:sx n="100" d="100"/>
        <a:sy n="100" d="100"/>
      </p:scale>
      <p:origin x="0" y="0"/>
    </p:cViewPr>
  </p:notesTextViewPr>
  <p:sorterViewPr>
    <p:cViewPr varScale="1">
      <p:scale>
        <a:sx n="100" d="100"/>
        <a:sy n="100" d="100"/>
      </p:scale>
      <p:origin x="0" y="-2796"/>
    </p:cViewPr>
  </p:sorterViewPr>
  <p:notesViewPr>
    <p:cSldViewPr>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93"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9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customXml" Target="../customXml/item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B6EA3682-FB8C-4EE0-8102-2E6DA3B01D53}" type="datetimeFigureOut">
              <a:rPr lang="en-US"/>
              <a:pPr>
                <a:defRPr/>
              </a:pPr>
              <a:t>8/19/2021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71D06132-E09C-4EE6-B1D8-A9BF80B2BD86}" type="slidenum">
              <a:rPr lang="en-US" altLang="en-US"/>
              <a:pPr/>
              <a:t>‹#›</a:t>
            </a:fld>
            <a:endParaRPr lang="en-US" altLang="en-US" dirty="0"/>
          </a:p>
        </p:txBody>
      </p:sp>
    </p:spTree>
    <p:extLst>
      <p:ext uri="{BB962C8B-B14F-4D97-AF65-F5344CB8AC3E}">
        <p14:creationId xmlns:p14="http://schemas.microsoft.com/office/powerpoint/2010/main" val="38320700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0ACF570E-64EC-49AB-ADDA-E11EB98FB1D0}" type="datetimeFigureOut">
              <a:rPr lang="en-US"/>
              <a:pPr>
                <a:defRPr/>
              </a:pPr>
              <a:t>8/19/2021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A0F35066-5865-4C04-A282-185AF70912FB}" type="slidenum">
              <a:rPr lang="en-US" altLang="en-US"/>
              <a:pPr/>
              <a:t>‹#›</a:t>
            </a:fld>
            <a:endParaRPr lang="en-US" altLang="en-US" dirty="0"/>
          </a:p>
        </p:txBody>
      </p:sp>
    </p:spTree>
    <p:extLst>
      <p:ext uri="{BB962C8B-B14F-4D97-AF65-F5344CB8AC3E}">
        <p14:creationId xmlns:p14="http://schemas.microsoft.com/office/powerpoint/2010/main" val="109736232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0F35066-5865-4C04-A282-185AF70912FB}" type="slidenum">
              <a:rPr lang="en-US" altLang="en-US" smtClean="0"/>
              <a:pPr/>
              <a:t>60</a:t>
            </a:fld>
            <a:endParaRPr lang="en-US" altLang="en-US" dirty="0"/>
          </a:p>
        </p:txBody>
      </p:sp>
    </p:spTree>
    <p:extLst>
      <p:ext uri="{BB962C8B-B14F-4D97-AF65-F5344CB8AC3E}">
        <p14:creationId xmlns:p14="http://schemas.microsoft.com/office/powerpoint/2010/main" val="5032690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37797"/>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6185D683-BE26-4276-9571-FD24A37EFF34}" type="slidenum">
              <a:rPr lang="en-US" altLang="en-US"/>
              <a:pPr/>
              <a:t>‹#›</a:t>
            </a:fld>
            <a:endParaRPr lang="en-US" altLang="en-US" dirty="0"/>
          </a:p>
        </p:txBody>
      </p:sp>
    </p:spTree>
    <p:extLst>
      <p:ext uri="{BB962C8B-B14F-4D97-AF65-F5344CB8AC3E}">
        <p14:creationId xmlns:p14="http://schemas.microsoft.com/office/powerpoint/2010/main" val="330721279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37797"/>
                </a:solidFill>
              </a:defRPr>
            </a:lvl1p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DFA742BB-3319-43C1-A6B2-A50ABE71EE07}" type="slidenum">
              <a:rPr lang="en-US" altLang="en-US"/>
              <a:pPr/>
              <a:t>‹#›</a:t>
            </a:fld>
            <a:endParaRPr lang="en-US" altLang="en-US" dirty="0"/>
          </a:p>
        </p:txBody>
      </p:sp>
    </p:spTree>
    <p:extLst>
      <p:ext uri="{BB962C8B-B14F-4D97-AF65-F5344CB8AC3E}">
        <p14:creationId xmlns:p14="http://schemas.microsoft.com/office/powerpoint/2010/main" val="340721163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37797"/>
                </a:solidFill>
              </a:defRPr>
            </a:lvl1pPr>
          </a:lstStyle>
          <a:p>
            <a:r>
              <a:rPr lang="en-US" dirty="0"/>
              <a:t>Click to edit Master title style</a:t>
            </a:r>
          </a:p>
        </p:txBody>
      </p:sp>
      <p:sp>
        <p:nvSpPr>
          <p:cNvPr id="3" name="Content Placeholder 2"/>
          <p:cNvSpPr>
            <a:spLocks noGrp="1"/>
          </p:cNvSpPr>
          <p:nvPr>
            <p:ph idx="1"/>
          </p:nvPr>
        </p:nvSpPr>
        <p:spPr>
          <a:xfrm>
            <a:off x="457200" y="1600201"/>
            <a:ext cx="8229600" cy="1752600"/>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DFA742BB-3319-43C1-A6B2-A50ABE71EE07}" type="slidenum">
              <a:rPr lang="en-US" altLang="en-US"/>
              <a:pPr/>
              <a:t>‹#›</a:t>
            </a:fld>
            <a:endParaRPr lang="en-US" altLang="en-US" dirty="0"/>
          </a:p>
        </p:txBody>
      </p:sp>
      <p:sp>
        <p:nvSpPr>
          <p:cNvPr id="6" name="Content Placeholder 5"/>
          <p:cNvSpPr>
            <a:spLocks noGrp="1"/>
          </p:cNvSpPr>
          <p:nvPr>
            <p:ph sz="quarter" idx="11"/>
          </p:nvPr>
        </p:nvSpPr>
        <p:spPr>
          <a:xfrm>
            <a:off x="457200" y="3810000"/>
            <a:ext cx="8229600" cy="1676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Tree>
    <p:extLst>
      <p:ext uri="{BB962C8B-B14F-4D97-AF65-F5344CB8AC3E}">
        <p14:creationId xmlns:p14="http://schemas.microsoft.com/office/powerpoint/2010/main" val="325158214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5D3600BE-806B-4A45-9789-B18CB6E785CF}" type="slidenum">
              <a:rPr lang="en-US" altLang="en-US"/>
              <a:pPr/>
              <a:t>‹#›</a:t>
            </a:fld>
            <a:endParaRPr lang="en-US" altLang="en-US" dirty="0"/>
          </a:p>
        </p:txBody>
      </p:sp>
    </p:spTree>
    <p:extLst>
      <p:ext uri="{BB962C8B-B14F-4D97-AF65-F5344CB8AC3E}">
        <p14:creationId xmlns:p14="http://schemas.microsoft.com/office/powerpoint/2010/main" val="1336526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54D46FF2-CF4A-48DD-B7A7-5C20ADE74A7A}" type="slidenum">
              <a:rPr lang="en-US" altLang="en-US"/>
              <a:pPr/>
              <a:t>‹#›</a:t>
            </a:fld>
            <a:endParaRPr lang="en-US" altLang="en-US" dirty="0"/>
          </a:p>
        </p:txBody>
      </p:sp>
    </p:spTree>
    <p:extLst>
      <p:ext uri="{BB962C8B-B14F-4D97-AF65-F5344CB8AC3E}">
        <p14:creationId xmlns:p14="http://schemas.microsoft.com/office/powerpoint/2010/main" val="240730985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763796ED-28B8-4DB0-B04B-086C66C38F00}" type="slidenum">
              <a:rPr lang="en-US" altLang="en-US"/>
              <a:pPr/>
              <a:t>‹#›</a:t>
            </a:fld>
            <a:endParaRPr lang="en-US" altLang="en-US" dirty="0"/>
          </a:p>
        </p:txBody>
      </p:sp>
    </p:spTree>
    <p:extLst>
      <p:ext uri="{BB962C8B-B14F-4D97-AF65-F5344CB8AC3E}">
        <p14:creationId xmlns:p14="http://schemas.microsoft.com/office/powerpoint/2010/main" val="1300813037"/>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2BE8B929-FF55-460A-A545-C85136955544}" type="slidenum">
              <a:rPr lang="en-US" altLang="en-US"/>
              <a:pPr/>
              <a:t>‹#›</a:t>
            </a:fld>
            <a:endParaRPr lang="en-US" altLang="en-US" dirty="0"/>
          </a:p>
        </p:txBody>
      </p:sp>
    </p:spTree>
    <p:extLst>
      <p:ext uri="{BB962C8B-B14F-4D97-AF65-F5344CB8AC3E}">
        <p14:creationId xmlns:p14="http://schemas.microsoft.com/office/powerpoint/2010/main" val="128411671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BECF79C3-399C-4627-BAEE-3728CFB47C26}" type="slidenum">
              <a:rPr lang="en-US" altLang="en-US"/>
              <a:pPr/>
              <a:t>‹#›</a:t>
            </a:fld>
            <a:endParaRPr lang="en-US" altLang="en-US" dirty="0"/>
          </a:p>
        </p:txBody>
      </p:sp>
    </p:spTree>
    <p:extLst>
      <p:ext uri="{BB962C8B-B14F-4D97-AF65-F5344CB8AC3E}">
        <p14:creationId xmlns:p14="http://schemas.microsoft.com/office/powerpoint/2010/main" val="3897413640"/>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8E638AE-3A3F-450B-BBFD-4E61552C59AC}" type="slidenum">
              <a:rPr lang="en-US" altLang="en-US"/>
              <a:pPr/>
              <a:t>‹#›</a:t>
            </a:fld>
            <a:endParaRPr lang="en-US" altLang="en-US" dirty="0"/>
          </a:p>
        </p:txBody>
      </p:sp>
    </p:spTree>
    <p:extLst>
      <p:ext uri="{BB962C8B-B14F-4D97-AF65-F5344CB8AC3E}">
        <p14:creationId xmlns:p14="http://schemas.microsoft.com/office/powerpoint/2010/main" val="2214968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D90077C2-60AA-4A50-AC6B-C6AA5DF8C839}" type="slidenum">
              <a:rPr lang="en-US" altLang="en-US"/>
              <a:pPr/>
              <a:t>‹#›</a:t>
            </a:fld>
            <a:endParaRPr lang="en-US" altLang="en-US" dirty="0"/>
          </a:p>
        </p:txBody>
      </p:sp>
    </p:spTree>
    <p:extLst>
      <p:ext uri="{BB962C8B-B14F-4D97-AF65-F5344CB8AC3E}">
        <p14:creationId xmlns:p14="http://schemas.microsoft.com/office/powerpoint/2010/main" val="3682892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4DB03D2F-30DF-4F0D-9DB5-C4DB66301D9D}" type="slidenum">
              <a:rPr lang="en-US" altLang="en-US"/>
              <a:pPr/>
              <a:t>‹#›</a:t>
            </a:fld>
            <a:endParaRPr lang="en-US" altLang="en-US" dirty="0"/>
          </a:p>
        </p:txBody>
      </p:sp>
    </p:spTree>
    <p:extLst>
      <p:ext uri="{BB962C8B-B14F-4D97-AF65-F5344CB8AC3E}">
        <p14:creationId xmlns:p14="http://schemas.microsoft.com/office/powerpoint/2010/main" val="3474281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0687B1DF-00F5-43DE-A636-3EE6D534047A}" type="slidenum">
              <a:rPr lang="en-US" altLang="en-US"/>
              <a:pPr/>
              <a:t>‹#›</a:t>
            </a:fld>
            <a:endParaRPr lang="en-US" altLang="en-US" dirty="0"/>
          </a:p>
        </p:txBody>
      </p:sp>
    </p:spTree>
    <p:extLst>
      <p:ext uri="{BB962C8B-B14F-4D97-AF65-F5344CB8AC3E}">
        <p14:creationId xmlns:p14="http://schemas.microsoft.com/office/powerpoint/2010/main" val="3619119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FA485F0F-9050-47CF-AFC3-7E50B4EDCE8A}" type="slidenum">
              <a:rPr lang="en-US" altLang="en-US"/>
              <a:pPr/>
              <a:t>‹#›</a:t>
            </a:fld>
            <a:endParaRPr lang="en-US" altLang="en-US" dirty="0"/>
          </a:p>
        </p:txBody>
      </p:sp>
      <p:sp>
        <p:nvSpPr>
          <p:cNvPr id="1029" name="Text Box 14"/>
          <p:cNvSpPr txBox="1">
            <a:spLocks noChangeArrowheads="1"/>
          </p:cNvSpPr>
          <p:nvPr userDrawn="1"/>
        </p:nvSpPr>
        <p:spPr bwMode="auto">
          <a:xfrm>
            <a:off x="1158875" y="6399213"/>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2021, 2018, 2015, 2012, 2009 Pearson Education, Inc. All rights reserved.</a:t>
            </a:r>
          </a:p>
        </p:txBody>
      </p:sp>
      <p:pic>
        <p:nvPicPr>
          <p:cNvPr id="2"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51" r:id="rId1"/>
    <p:sldLayoutId id="2147483841" r:id="rId2"/>
    <p:sldLayoutId id="2147483852"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37797"/>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447800"/>
            <a:ext cx="7772400" cy="1470025"/>
          </a:xfrm>
        </p:spPr>
        <p:txBody>
          <a:bodyPr/>
          <a:lstStyle/>
          <a:p>
            <a:pPr lvl="0" eaLnBrk="1" hangingPunct="1">
              <a:lnSpc>
                <a:spcPct val="140000"/>
              </a:lnSpc>
              <a:spcBef>
                <a:spcPct val="50000"/>
              </a:spcBef>
            </a:pPr>
            <a:r>
              <a:rPr lang="en-US" altLang="en-US" sz="4400" b="1" kern="1200" dirty="0">
                <a:latin typeface="Arial" panose="020B0604020202020204" pitchFamily="34" charset="0"/>
                <a:ea typeface="+mn-ea"/>
                <a:cs typeface="Arial" panose="020B0604020202020204" pitchFamily="34" charset="0"/>
              </a:rPr>
              <a:t>Chapter 13:</a:t>
            </a:r>
            <a:r>
              <a:rPr lang="en-US" altLang="en-US" sz="2800" b="1" kern="1200" dirty="0">
                <a:solidFill>
                  <a:srgbClr val="000000"/>
                </a:solidFill>
                <a:latin typeface="Arial" panose="020B0604020202020204" pitchFamily="34" charset="0"/>
                <a:ea typeface="+mn-ea"/>
                <a:cs typeface="Arial" panose="020B0604020202020204" pitchFamily="34" charset="0"/>
              </a:rPr>
              <a:t/>
            </a:r>
            <a:br>
              <a:rPr lang="en-US" altLang="en-US" sz="2800" b="1" kern="1200" dirty="0">
                <a:solidFill>
                  <a:srgbClr val="000000"/>
                </a:solidFill>
                <a:latin typeface="Arial" panose="020B0604020202020204" pitchFamily="34" charset="0"/>
                <a:ea typeface="+mn-ea"/>
                <a:cs typeface="Arial" panose="020B0604020202020204" pitchFamily="34" charset="0"/>
              </a:rPr>
            </a:br>
            <a:r>
              <a:rPr lang="en-US" altLang="en-US" sz="2800" b="1" kern="1200" dirty="0">
                <a:solidFill>
                  <a:srgbClr val="000000"/>
                </a:solidFill>
                <a:latin typeface="Arial" panose="020B0604020202020204" pitchFamily="34" charset="0"/>
                <a:ea typeface="+mn-ea"/>
                <a:cs typeface="Arial" panose="020B0604020202020204" pitchFamily="34" charset="0"/>
              </a:rPr>
              <a:t>Introduction to </a:t>
            </a:r>
            <a:r>
              <a:rPr lang="en-US" altLang="en-US" sz="2800" b="1" kern="1200" dirty="0" smtClean="0">
                <a:solidFill>
                  <a:srgbClr val="000000"/>
                </a:solidFill>
                <a:latin typeface="Arial" panose="020B0604020202020204" pitchFamily="34" charset="0"/>
                <a:ea typeface="+mn-ea"/>
                <a:cs typeface="Arial" panose="020B0604020202020204" pitchFamily="34" charset="0"/>
              </a:rPr>
              <a:t>Classes</a:t>
            </a:r>
            <a:endParaRPr lang="en-IN" dirty="0"/>
          </a:p>
        </p:txBody>
      </p:sp>
    </p:spTree>
    <p:extLst>
      <p:ext uri="{BB962C8B-B14F-4D97-AF65-F5344CB8AC3E}">
        <p14:creationId xmlns:p14="http://schemas.microsoft.com/office/powerpoint/2010/main" val="15860628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13.1</a:t>
            </a:r>
            <a:endParaRPr lang="en-IN" dirty="0"/>
          </a:p>
        </p:txBody>
      </p:sp>
      <p:sp>
        <p:nvSpPr>
          <p:cNvPr id="3" name="Subtitle 2"/>
          <p:cNvSpPr>
            <a:spLocks noGrp="1"/>
          </p:cNvSpPr>
          <p:nvPr>
            <p:ph type="subTitle" idx="1"/>
          </p:nvPr>
        </p:nvSpPr>
        <p:spPr/>
        <p:txBody>
          <a:bodyPr/>
          <a:lstStyle/>
          <a:p>
            <a:pPr lvl="0"/>
            <a:r>
              <a:rPr lang="en-US" altLang="en-US" dirty="0">
                <a:solidFill>
                  <a:srgbClr val="000000"/>
                </a:solidFill>
              </a:rPr>
              <a:t>Procedural </a:t>
            </a:r>
            <a:r>
              <a:rPr lang="en-US" altLang="en-US" dirty="0" smtClean="0">
                <a:solidFill>
                  <a:srgbClr val="000000"/>
                </a:solidFill>
              </a:rPr>
              <a:t>and Object-Oriented </a:t>
            </a:r>
            <a:r>
              <a:rPr lang="en-US" altLang="en-US" dirty="0" smtClean="0">
                <a:solidFill>
                  <a:srgbClr val="000000"/>
                </a:solidFill>
              </a:rPr>
              <a:t>Programming</a:t>
            </a:r>
            <a:endParaRPr lang="en-US" altLang="en-US" dirty="0">
              <a:solidFill>
                <a:srgbClr val="000000"/>
              </a:solidFill>
            </a:endParaRPr>
          </a:p>
        </p:txBody>
      </p:sp>
    </p:spTree>
    <p:extLst>
      <p:ext uri="{BB962C8B-B14F-4D97-AF65-F5344CB8AC3E}">
        <p14:creationId xmlns:p14="http://schemas.microsoft.com/office/powerpoint/2010/main" val="35997775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0000"/>
            <a:ext cx="8229600" cy="1325562"/>
          </a:xfrm>
        </p:spPr>
        <p:txBody>
          <a:bodyPr/>
          <a:lstStyle/>
          <a:p>
            <a:r>
              <a:rPr lang="en-US" altLang="en-US" dirty="0"/>
              <a:t>Procedural and Object-Oriented Programming</a:t>
            </a:r>
            <a:endParaRPr lang="en-IN" dirty="0"/>
          </a:p>
        </p:txBody>
      </p:sp>
      <p:sp>
        <p:nvSpPr>
          <p:cNvPr id="3" name="Content Placeholder 2"/>
          <p:cNvSpPr>
            <a:spLocks noGrp="1"/>
          </p:cNvSpPr>
          <p:nvPr>
            <p:ph idx="1"/>
          </p:nvPr>
        </p:nvSpPr>
        <p:spPr/>
        <p:txBody>
          <a:bodyPr/>
          <a:lstStyle/>
          <a:p>
            <a:pPr lvl="0">
              <a:spcBef>
                <a:spcPct val="60000"/>
              </a:spcBef>
              <a:buFontTx/>
              <a:buChar char="•"/>
            </a:pPr>
            <a:r>
              <a:rPr lang="en-US" altLang="en-US" u="sng" dirty="0">
                <a:solidFill>
                  <a:srgbClr val="000000"/>
                </a:solidFill>
              </a:rPr>
              <a:t>Procedural programming</a:t>
            </a:r>
            <a:r>
              <a:rPr lang="en-US" altLang="en-US" dirty="0">
                <a:solidFill>
                  <a:srgbClr val="000000"/>
                </a:solidFill>
              </a:rPr>
              <a:t> focuses on the process/actions that occur in a </a:t>
            </a:r>
            <a:r>
              <a:rPr lang="en-US" altLang="en-US" dirty="0" smtClean="0">
                <a:solidFill>
                  <a:srgbClr val="000000"/>
                </a:solidFill>
              </a:rPr>
              <a:t>program</a:t>
            </a:r>
            <a:endParaRPr lang="en-US" altLang="en-US" dirty="0">
              <a:solidFill>
                <a:srgbClr val="000000"/>
              </a:solidFill>
            </a:endParaRPr>
          </a:p>
          <a:p>
            <a:pPr lvl="0">
              <a:spcBef>
                <a:spcPts val="6100"/>
              </a:spcBef>
              <a:buFontTx/>
              <a:buChar char="•"/>
            </a:pPr>
            <a:r>
              <a:rPr lang="en-US" altLang="en-US" u="sng" dirty="0">
                <a:solidFill>
                  <a:srgbClr val="000000"/>
                </a:solidFill>
              </a:rPr>
              <a:t>Object-Oriented programming</a:t>
            </a:r>
            <a:r>
              <a:rPr lang="en-US" altLang="en-US" dirty="0">
                <a:solidFill>
                  <a:srgbClr val="000000"/>
                </a:solidFill>
              </a:rPr>
              <a:t> is based on the data and the functions that operate on it</a:t>
            </a:r>
            <a:r>
              <a:rPr lang="en-US" altLang="en-US" dirty="0" smtClean="0">
                <a:solidFill>
                  <a:srgbClr val="000000"/>
                </a:solidFill>
              </a:rPr>
              <a:t>. Objects </a:t>
            </a:r>
            <a:r>
              <a:rPr lang="en-US" altLang="en-US" dirty="0">
                <a:solidFill>
                  <a:srgbClr val="000000"/>
                </a:solidFill>
              </a:rPr>
              <a:t>are instances of ADTs that represent the data and its </a:t>
            </a:r>
            <a:r>
              <a:rPr lang="en-US" altLang="en-US" dirty="0" smtClean="0">
                <a:solidFill>
                  <a:srgbClr val="000000"/>
                </a:solidFill>
              </a:rPr>
              <a:t>functions</a:t>
            </a:r>
            <a:endParaRPr lang="en-US" altLang="en-US" u="sng" dirty="0">
              <a:solidFill>
                <a:srgbClr val="000000"/>
              </a:solidFill>
            </a:endParaRPr>
          </a:p>
        </p:txBody>
      </p:sp>
    </p:spTree>
    <p:extLst>
      <p:ext uri="{BB962C8B-B14F-4D97-AF65-F5344CB8AC3E}">
        <p14:creationId xmlns:p14="http://schemas.microsoft.com/office/powerpoint/2010/main" val="27870758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Limitations of Procedural Programming</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If the data structures change, many functions must also be </a:t>
            </a:r>
            <a:r>
              <a:rPr lang="en-US" altLang="en-US" dirty="0" smtClean="0">
                <a:solidFill>
                  <a:srgbClr val="000000"/>
                </a:solidFill>
              </a:rPr>
              <a:t>changed</a:t>
            </a:r>
            <a:endParaRPr lang="en-US" altLang="en-US" dirty="0">
              <a:solidFill>
                <a:srgbClr val="000000"/>
              </a:solidFill>
            </a:endParaRPr>
          </a:p>
          <a:p>
            <a:pPr lvl="0">
              <a:lnSpc>
                <a:spcPct val="90000"/>
              </a:lnSpc>
              <a:spcBef>
                <a:spcPts val="4200"/>
              </a:spcBef>
              <a:buFontTx/>
              <a:buChar char="•"/>
            </a:pPr>
            <a:r>
              <a:rPr lang="en-US" altLang="en-US" dirty="0">
                <a:solidFill>
                  <a:srgbClr val="000000"/>
                </a:solidFill>
              </a:rPr>
              <a:t>Programs that are based on complex function hierarchies are:</a:t>
            </a:r>
          </a:p>
          <a:p>
            <a:pPr lvl="1">
              <a:lnSpc>
                <a:spcPct val="90000"/>
              </a:lnSpc>
            </a:pPr>
            <a:r>
              <a:rPr lang="en-US" altLang="en-US" dirty="0">
                <a:solidFill>
                  <a:srgbClr val="000000"/>
                </a:solidFill>
              </a:rPr>
              <a:t>difficult to understand and maintain</a:t>
            </a:r>
          </a:p>
          <a:p>
            <a:pPr lvl="1">
              <a:lnSpc>
                <a:spcPct val="90000"/>
              </a:lnSpc>
            </a:pPr>
            <a:r>
              <a:rPr lang="en-US" altLang="en-US" dirty="0">
                <a:solidFill>
                  <a:srgbClr val="000000"/>
                </a:solidFill>
              </a:rPr>
              <a:t>difficult to modify and extend</a:t>
            </a:r>
          </a:p>
          <a:p>
            <a:pPr lvl="1">
              <a:lnSpc>
                <a:spcPct val="90000"/>
              </a:lnSpc>
            </a:pPr>
            <a:r>
              <a:rPr lang="en-US" altLang="en-US" dirty="0">
                <a:solidFill>
                  <a:srgbClr val="000000"/>
                </a:solidFill>
              </a:rPr>
              <a:t>easy to </a:t>
            </a:r>
            <a:r>
              <a:rPr lang="en-US" altLang="en-US" dirty="0" smtClean="0">
                <a:solidFill>
                  <a:srgbClr val="000000"/>
                </a:solidFill>
              </a:rPr>
              <a:t>break</a:t>
            </a:r>
            <a:endParaRPr lang="en-US" altLang="en-US" dirty="0">
              <a:solidFill>
                <a:srgbClr val="000000"/>
              </a:solidFill>
            </a:endParaRPr>
          </a:p>
        </p:txBody>
      </p:sp>
    </p:spTree>
    <p:extLst>
      <p:ext uri="{BB962C8B-B14F-4D97-AF65-F5344CB8AC3E}">
        <p14:creationId xmlns:p14="http://schemas.microsoft.com/office/powerpoint/2010/main" val="167897173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Object-Oriented </a:t>
            </a:r>
            <a:r>
              <a:rPr lang="en-US" altLang="en-US" dirty="0" smtClean="0"/>
              <a:t>Programming Terminology </a:t>
            </a:r>
            <a:r>
              <a:rPr lang="en-US" altLang="en-US" sz="1200" dirty="0" smtClean="0"/>
              <a:t>(1 of 2)</a:t>
            </a:r>
            <a:endParaRPr lang="en-IN" dirty="0"/>
          </a:p>
        </p:txBody>
      </p:sp>
      <p:sp>
        <p:nvSpPr>
          <p:cNvPr id="3" name="Content Placeholder 2"/>
          <p:cNvSpPr>
            <a:spLocks noGrp="1"/>
          </p:cNvSpPr>
          <p:nvPr>
            <p:ph idx="1"/>
          </p:nvPr>
        </p:nvSpPr>
        <p:spPr/>
        <p:txBody>
          <a:bodyPr/>
          <a:lstStyle/>
          <a:p>
            <a:pPr lvl="0">
              <a:spcBef>
                <a:spcPct val="60000"/>
              </a:spcBef>
              <a:buFontTx/>
              <a:buChar char="•"/>
            </a:pPr>
            <a:r>
              <a:rPr lang="en-US" altLang="en-US" u="sng" dirty="0">
                <a:solidFill>
                  <a:srgbClr val="000000"/>
                </a:solidFill>
              </a:rPr>
              <a:t>class</a:t>
            </a:r>
            <a:r>
              <a:rPr lang="en-US" altLang="en-US" dirty="0">
                <a:solidFill>
                  <a:srgbClr val="000000"/>
                </a:solidFill>
              </a:rPr>
              <a:t>: like a </a:t>
            </a:r>
            <a:r>
              <a:rPr lang="en-US" altLang="en-US" dirty="0">
                <a:solidFill>
                  <a:srgbClr val="000000"/>
                </a:solidFill>
                <a:latin typeface="Courier New" panose="02070309020205020404" pitchFamily="49" charset="0"/>
              </a:rPr>
              <a:t>struct</a:t>
            </a:r>
            <a:r>
              <a:rPr lang="en-US" altLang="en-US" dirty="0">
                <a:solidFill>
                  <a:srgbClr val="000000"/>
                </a:solidFill>
              </a:rPr>
              <a:t> (allows bundling of related variables</a:t>
            </a:r>
            <a:r>
              <a:rPr lang="en-US" altLang="en-US" dirty="0" smtClean="0">
                <a:solidFill>
                  <a:srgbClr val="000000"/>
                </a:solidFill>
              </a:rPr>
              <a:t>), but </a:t>
            </a:r>
            <a:r>
              <a:rPr lang="en-US" altLang="en-US" dirty="0">
                <a:solidFill>
                  <a:srgbClr val="000000"/>
                </a:solidFill>
              </a:rPr>
              <a:t>variables and functions in the class can have different properties than in a </a:t>
            </a:r>
            <a:r>
              <a:rPr lang="en-US" altLang="en-US" dirty="0">
                <a:solidFill>
                  <a:srgbClr val="000000"/>
                </a:solidFill>
                <a:latin typeface="Courier New" panose="02070309020205020404" pitchFamily="49" charset="0"/>
              </a:rPr>
              <a:t>struct</a:t>
            </a:r>
            <a:endParaRPr lang="en-US" altLang="en-US" dirty="0">
              <a:solidFill>
                <a:srgbClr val="000000"/>
              </a:solidFill>
            </a:endParaRPr>
          </a:p>
          <a:p>
            <a:pPr lvl="0">
              <a:spcBef>
                <a:spcPct val="60000"/>
              </a:spcBef>
              <a:buFontTx/>
              <a:buChar char="•"/>
            </a:pPr>
            <a:r>
              <a:rPr lang="en-US" altLang="en-US" u="sng" dirty="0">
                <a:solidFill>
                  <a:srgbClr val="000000"/>
                </a:solidFill>
              </a:rPr>
              <a:t>object</a:t>
            </a:r>
            <a:r>
              <a:rPr lang="en-US" altLang="en-US" dirty="0">
                <a:solidFill>
                  <a:srgbClr val="000000"/>
                </a:solidFill>
              </a:rPr>
              <a:t>: an instance of a </a:t>
            </a:r>
            <a:r>
              <a:rPr lang="en-US" altLang="en-US" dirty="0">
                <a:solidFill>
                  <a:srgbClr val="000000"/>
                </a:solidFill>
                <a:latin typeface="Courier New" panose="02070309020205020404" pitchFamily="49" charset="0"/>
              </a:rPr>
              <a:t>class</a:t>
            </a:r>
            <a:r>
              <a:rPr lang="en-US" altLang="en-US" dirty="0">
                <a:solidFill>
                  <a:srgbClr val="000000"/>
                </a:solidFill>
              </a:rPr>
              <a:t>, in the same way that a variable can be an instance of a </a:t>
            </a:r>
            <a:r>
              <a:rPr lang="en-US" altLang="en-US" dirty="0" smtClean="0">
                <a:solidFill>
                  <a:srgbClr val="000000"/>
                </a:solidFill>
                <a:latin typeface="Courier New" panose="02070309020205020404" pitchFamily="49" charset="0"/>
              </a:rPr>
              <a:t>struct</a:t>
            </a:r>
            <a:endParaRPr lang="en-US" altLang="en-US" dirty="0">
              <a:solidFill>
                <a:srgbClr val="000000"/>
              </a:solidFill>
            </a:endParaRPr>
          </a:p>
        </p:txBody>
      </p:sp>
    </p:spTree>
    <p:extLst>
      <p:ext uri="{BB962C8B-B14F-4D97-AF65-F5344CB8AC3E}">
        <p14:creationId xmlns:p14="http://schemas.microsoft.com/office/powerpoint/2010/main" val="6380566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8000"/>
            <a:ext cx="8229600" cy="868362"/>
          </a:xfrm>
        </p:spPr>
        <p:txBody>
          <a:bodyPr/>
          <a:lstStyle/>
          <a:p>
            <a:r>
              <a:rPr lang="en-US" altLang="en-US" dirty="0"/>
              <a:t>Classes and Objects</a:t>
            </a:r>
            <a:endParaRPr lang="en-IN" dirty="0"/>
          </a:p>
        </p:txBody>
      </p:sp>
      <p:sp>
        <p:nvSpPr>
          <p:cNvPr id="3" name="Content Placeholder 2"/>
          <p:cNvSpPr>
            <a:spLocks noGrp="1"/>
          </p:cNvSpPr>
          <p:nvPr>
            <p:ph idx="1"/>
          </p:nvPr>
        </p:nvSpPr>
        <p:spPr>
          <a:xfrm>
            <a:off x="304800" y="1422000"/>
            <a:ext cx="8229600" cy="1092600"/>
          </a:xfrm>
        </p:spPr>
        <p:txBody>
          <a:bodyPr/>
          <a:lstStyle/>
          <a:p>
            <a:pPr lvl="0">
              <a:buFontTx/>
              <a:buChar char="•"/>
            </a:pPr>
            <a:r>
              <a:rPr lang="en-US" altLang="en-US" dirty="0">
                <a:solidFill>
                  <a:srgbClr val="000000"/>
                </a:solidFill>
              </a:rPr>
              <a:t>A Class is like a blueprint and objects are like houses built from the </a:t>
            </a:r>
            <a:r>
              <a:rPr lang="en-US" altLang="en-US" dirty="0" smtClean="0">
                <a:solidFill>
                  <a:srgbClr val="000000"/>
                </a:solidFill>
              </a:rPr>
              <a:t>blueprint</a:t>
            </a:r>
            <a:endParaRPr lang="en-US" altLang="en-US" dirty="0">
              <a:solidFill>
                <a:srgbClr val="000000"/>
              </a:solidFill>
            </a:endParaRPr>
          </a:p>
        </p:txBody>
      </p:sp>
      <p:pic>
        <p:nvPicPr>
          <p:cNvPr id="4" name="Picture 2" descr="The figure shows a blueprint that describes a house. The house plan depicts the living room and the bedroom. Three instances of the house described by the blueprint are displayed bel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609850"/>
            <a:ext cx="4343400" cy="3421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365847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Object-Oriented </a:t>
            </a:r>
            <a:r>
              <a:rPr lang="en-US" altLang="en-US" dirty="0" smtClean="0"/>
              <a:t>Programming Terminology </a:t>
            </a:r>
            <a:r>
              <a:rPr lang="en-US" altLang="en-US" sz="1200" dirty="0" smtClean="0"/>
              <a:t>(2 of 2)</a:t>
            </a:r>
            <a:endParaRPr lang="en-IN" dirty="0"/>
          </a:p>
        </p:txBody>
      </p:sp>
      <p:sp>
        <p:nvSpPr>
          <p:cNvPr id="3" name="Content Placeholder 2"/>
          <p:cNvSpPr>
            <a:spLocks noGrp="1"/>
          </p:cNvSpPr>
          <p:nvPr>
            <p:ph idx="1"/>
          </p:nvPr>
        </p:nvSpPr>
        <p:spPr/>
        <p:txBody>
          <a:bodyPr/>
          <a:lstStyle/>
          <a:p>
            <a:pPr lvl="0">
              <a:buFontTx/>
              <a:buChar char="•"/>
            </a:pPr>
            <a:r>
              <a:rPr lang="en-US" altLang="en-US" u="sng" dirty="0">
                <a:solidFill>
                  <a:srgbClr val="000000"/>
                </a:solidFill>
              </a:rPr>
              <a:t>attributes</a:t>
            </a:r>
            <a:r>
              <a:rPr lang="en-US" altLang="en-US" dirty="0">
                <a:solidFill>
                  <a:srgbClr val="000000"/>
                </a:solidFill>
              </a:rPr>
              <a:t>: members of a class </a:t>
            </a:r>
          </a:p>
          <a:p>
            <a:pPr lvl="0">
              <a:spcBef>
                <a:spcPts val="5400"/>
              </a:spcBef>
              <a:buFontTx/>
              <a:buChar char="•"/>
            </a:pPr>
            <a:r>
              <a:rPr lang="en-US" altLang="en-US" u="sng" dirty="0">
                <a:solidFill>
                  <a:srgbClr val="000000"/>
                </a:solidFill>
              </a:rPr>
              <a:t>methods</a:t>
            </a:r>
            <a:r>
              <a:rPr lang="en-US" altLang="en-US" dirty="0">
                <a:solidFill>
                  <a:srgbClr val="000000"/>
                </a:solidFill>
              </a:rPr>
              <a:t> or </a:t>
            </a:r>
            <a:r>
              <a:rPr lang="en-US" altLang="en-US" u="sng" dirty="0">
                <a:solidFill>
                  <a:srgbClr val="000000"/>
                </a:solidFill>
              </a:rPr>
              <a:t>behaviors</a:t>
            </a:r>
            <a:r>
              <a:rPr lang="en-US" altLang="en-US" dirty="0">
                <a:solidFill>
                  <a:srgbClr val="000000"/>
                </a:solidFill>
              </a:rPr>
              <a:t>: member functions of a </a:t>
            </a:r>
            <a:r>
              <a:rPr lang="en-US" altLang="en-US" dirty="0" smtClean="0">
                <a:solidFill>
                  <a:srgbClr val="000000"/>
                </a:solidFill>
              </a:rPr>
              <a:t>class</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9404275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More on Objects</a:t>
            </a:r>
            <a:endParaRPr lang="en-IN" dirty="0"/>
          </a:p>
        </p:txBody>
      </p:sp>
      <p:sp>
        <p:nvSpPr>
          <p:cNvPr id="3" name="Content Placeholder 2"/>
          <p:cNvSpPr>
            <a:spLocks noGrp="1"/>
          </p:cNvSpPr>
          <p:nvPr>
            <p:ph idx="1"/>
          </p:nvPr>
        </p:nvSpPr>
        <p:spPr/>
        <p:txBody>
          <a:bodyPr/>
          <a:lstStyle/>
          <a:p>
            <a:pPr lvl="0">
              <a:lnSpc>
                <a:spcPct val="85000"/>
              </a:lnSpc>
              <a:buFontTx/>
              <a:buChar char="•"/>
            </a:pPr>
            <a:r>
              <a:rPr lang="en-US" altLang="en-US" sz="2800" u="sng" dirty="0">
                <a:solidFill>
                  <a:srgbClr val="000000"/>
                </a:solidFill>
              </a:rPr>
              <a:t>data hiding</a:t>
            </a:r>
            <a:r>
              <a:rPr lang="en-US" altLang="en-US" sz="2800" dirty="0">
                <a:solidFill>
                  <a:srgbClr val="000000"/>
                </a:solidFill>
              </a:rPr>
              <a:t>: restricting access to certain members of an </a:t>
            </a:r>
            <a:r>
              <a:rPr lang="en-US" altLang="en-US" sz="2800" dirty="0" smtClean="0">
                <a:solidFill>
                  <a:srgbClr val="000000"/>
                </a:solidFill>
              </a:rPr>
              <a:t>object</a:t>
            </a:r>
            <a:endParaRPr lang="en-US" altLang="en-US" sz="2800" dirty="0">
              <a:solidFill>
                <a:srgbClr val="000000"/>
              </a:solidFill>
            </a:endParaRPr>
          </a:p>
          <a:p>
            <a:pPr lvl="0">
              <a:lnSpc>
                <a:spcPct val="84000"/>
              </a:lnSpc>
              <a:spcBef>
                <a:spcPts val="3600"/>
              </a:spcBef>
              <a:buFontTx/>
              <a:buChar char="•"/>
            </a:pPr>
            <a:r>
              <a:rPr lang="en-US" altLang="en-US" sz="2800" u="sng" dirty="0">
                <a:solidFill>
                  <a:srgbClr val="000000"/>
                </a:solidFill>
              </a:rPr>
              <a:t>public interface</a:t>
            </a:r>
            <a:r>
              <a:rPr lang="en-US" altLang="en-US" sz="2800" dirty="0">
                <a:solidFill>
                  <a:srgbClr val="000000"/>
                </a:solidFill>
              </a:rPr>
              <a:t>: members of an object that are available outside of the object</a:t>
            </a:r>
            <a:r>
              <a:rPr lang="en-US" altLang="en-US" sz="2800" dirty="0" smtClean="0">
                <a:solidFill>
                  <a:srgbClr val="000000"/>
                </a:solidFill>
              </a:rPr>
              <a:t>. This </a:t>
            </a:r>
            <a:r>
              <a:rPr lang="en-US" altLang="en-US" sz="2800" dirty="0">
                <a:solidFill>
                  <a:srgbClr val="000000"/>
                </a:solidFill>
              </a:rPr>
              <a:t>allows the object to provide access to some data and functions without sharing its internal details and design, and provides some protection from data </a:t>
            </a:r>
            <a:r>
              <a:rPr lang="en-US" altLang="en-US" sz="2800" dirty="0" smtClean="0">
                <a:solidFill>
                  <a:srgbClr val="000000"/>
                </a:solidFill>
              </a:rPr>
              <a:t>corruption</a:t>
            </a:r>
            <a:endParaRPr lang="en-US" altLang="en-US" sz="2800" dirty="0">
              <a:solidFill>
                <a:srgbClr val="000000"/>
              </a:solidFill>
            </a:endParaRPr>
          </a:p>
        </p:txBody>
      </p:sp>
    </p:spTree>
    <p:extLst>
      <p:ext uri="{BB962C8B-B14F-4D97-AF65-F5344CB8AC3E}">
        <p14:creationId xmlns:p14="http://schemas.microsoft.com/office/powerpoint/2010/main" val="29578053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noChangeArrowheads="1"/>
          </p:cNvSpPr>
          <p:nvPr>
            <p:ph type="ctrTitle"/>
          </p:nvPr>
        </p:nvSpPr>
        <p:spPr/>
        <p:txBody>
          <a:bodyPr/>
          <a:lstStyle/>
          <a:p>
            <a:r>
              <a:rPr lang="en-US" altLang="en-US" dirty="0" smtClean="0"/>
              <a:t>13.2</a:t>
            </a:r>
          </a:p>
        </p:txBody>
      </p:sp>
      <p:sp>
        <p:nvSpPr>
          <p:cNvPr id="18435" name="Subtitle 2"/>
          <p:cNvSpPr>
            <a:spLocks noGrp="1" noChangeArrowheads="1"/>
          </p:cNvSpPr>
          <p:nvPr>
            <p:ph type="subTitle" idx="1"/>
          </p:nvPr>
        </p:nvSpPr>
        <p:spPr/>
        <p:txBody>
          <a:bodyPr/>
          <a:lstStyle/>
          <a:p>
            <a:r>
              <a:rPr lang="en-US" altLang="en-US" dirty="0" smtClean="0"/>
              <a:t>Introduction to Classes</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 to Classes</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Objects are created from a </a:t>
            </a:r>
            <a:r>
              <a:rPr lang="en-US" altLang="en-US" dirty="0">
                <a:solidFill>
                  <a:srgbClr val="000000"/>
                </a:solidFill>
                <a:latin typeface="Courier New" panose="02070309020205020404" pitchFamily="49" charset="0"/>
              </a:rPr>
              <a:t>class</a:t>
            </a:r>
            <a:endParaRPr lang="en-US" altLang="en-US" dirty="0">
              <a:solidFill>
                <a:srgbClr val="000000"/>
              </a:solidFill>
            </a:endParaRPr>
          </a:p>
          <a:p>
            <a:pPr lvl="0">
              <a:buFontTx/>
              <a:buChar char="•"/>
            </a:pPr>
            <a:r>
              <a:rPr lang="en-US" altLang="en-US" dirty="0" smtClean="0">
                <a:solidFill>
                  <a:srgbClr val="000000"/>
                </a:solidFill>
              </a:rPr>
              <a:t>Format:</a:t>
            </a:r>
          </a:p>
          <a:p>
            <a:pPr marL="1026000" lvl="1">
              <a:buNone/>
            </a:pPr>
            <a:r>
              <a:rPr lang="en-US" altLang="en-US" dirty="0" smtClean="0">
                <a:solidFill>
                  <a:srgbClr val="000000"/>
                </a:solidFill>
                <a:latin typeface="Courier New" panose="02070309020205020404" pitchFamily="49" charset="0"/>
              </a:rPr>
              <a:t>class </a:t>
            </a:r>
            <a:r>
              <a:rPr lang="en-US" altLang="en-US" i="1" dirty="0" smtClean="0">
                <a:solidFill>
                  <a:srgbClr val="000000"/>
                </a:solidFill>
                <a:latin typeface="Courier New" panose="02070309020205020404" pitchFamily="49" charset="0"/>
              </a:rPr>
              <a:t>ClassName</a:t>
            </a:r>
            <a:endParaRPr lang="en-US" altLang="en-US" dirty="0" smtClean="0">
              <a:solidFill>
                <a:srgbClr val="000000"/>
              </a:solidFill>
              <a:latin typeface="Courier New" panose="02070309020205020404" pitchFamily="49" charset="0"/>
            </a:endParaRPr>
          </a:p>
          <a:p>
            <a:pPr marL="1026000" lvl="1">
              <a:buNone/>
            </a:pPr>
            <a:r>
              <a:rPr lang="en-US" altLang="en-US" dirty="0" smtClean="0">
                <a:solidFill>
                  <a:srgbClr val="000000"/>
                </a:solidFill>
                <a:latin typeface="Courier New" panose="02070309020205020404" pitchFamily="49" charset="0"/>
              </a:rPr>
              <a:t>{</a:t>
            </a:r>
          </a:p>
          <a:p>
            <a:pPr marL="2113200" lvl="1">
              <a:buNone/>
            </a:pPr>
            <a:r>
              <a:rPr lang="en-US" altLang="en-US" i="1" dirty="0" smtClean="0">
                <a:solidFill>
                  <a:srgbClr val="000000"/>
                </a:solidFill>
                <a:latin typeface="Courier New" panose="02070309020205020404" pitchFamily="49" charset="0"/>
              </a:rPr>
              <a:t>declaration</a:t>
            </a:r>
            <a:r>
              <a:rPr lang="en-US" altLang="en-US" i="1" dirty="0">
                <a:solidFill>
                  <a:srgbClr val="000000"/>
                </a:solidFill>
                <a:latin typeface="Courier New" panose="02070309020205020404" pitchFamily="49" charset="0"/>
              </a:rPr>
              <a:t>;</a:t>
            </a:r>
          </a:p>
          <a:p>
            <a:pPr marL="2113200" lvl="1">
              <a:buNone/>
            </a:pPr>
            <a:r>
              <a:rPr lang="en-US" altLang="en-US" i="1" dirty="0" smtClean="0">
                <a:solidFill>
                  <a:srgbClr val="000000"/>
                </a:solidFill>
                <a:latin typeface="Courier New" panose="02070309020205020404" pitchFamily="49" charset="0"/>
              </a:rPr>
              <a:t>declaration</a:t>
            </a:r>
            <a:r>
              <a:rPr lang="en-US" altLang="en-US" dirty="0">
                <a:solidFill>
                  <a:srgbClr val="000000"/>
                </a:solidFill>
                <a:latin typeface="Courier New" panose="02070309020205020404" pitchFamily="49" charset="0"/>
              </a:rPr>
              <a:t>;</a:t>
            </a:r>
          </a:p>
          <a:p>
            <a:pPr marL="1026000" lvl="1">
              <a:buNone/>
            </a:pPr>
            <a:r>
              <a:rPr lang="en-US" altLang="en-US" dirty="0" smtClean="0">
                <a:solidFill>
                  <a:srgbClr val="000000"/>
                </a:solidFill>
                <a:latin typeface="Courier New" panose="02070309020205020404" pitchFamily="49" charset="0"/>
              </a:rPr>
              <a:t>};</a:t>
            </a:r>
            <a:endParaRPr lang="en-US" altLang="en-US" dirty="0">
              <a:solidFill>
                <a:srgbClr val="000000"/>
              </a:solidFill>
            </a:endParaRPr>
          </a:p>
        </p:txBody>
      </p:sp>
    </p:spTree>
    <p:extLst>
      <p:ext uri="{BB962C8B-B14F-4D97-AF65-F5344CB8AC3E}">
        <p14:creationId xmlns:p14="http://schemas.microsoft.com/office/powerpoint/2010/main" val="17511536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2000"/>
            <a:ext cx="8229600" cy="762000"/>
          </a:xfrm>
        </p:spPr>
        <p:txBody>
          <a:bodyPr/>
          <a:lstStyle/>
          <a:p>
            <a:r>
              <a:rPr lang="en-US" altLang="en-US" dirty="0"/>
              <a:t>Class </a:t>
            </a:r>
            <a:r>
              <a:rPr lang="en-US" altLang="en-US" dirty="0" smtClean="0"/>
              <a:t>Example </a:t>
            </a:r>
            <a:r>
              <a:rPr lang="en-US" altLang="en-US" sz="1200" dirty="0" smtClean="0"/>
              <a:t>(1 of 2)</a:t>
            </a:r>
            <a:endParaRPr lang="en-IN" dirty="0"/>
          </a:p>
        </p:txBody>
      </p:sp>
      <p:pic>
        <p:nvPicPr>
          <p:cNvPr id="4" name="Picture 3" descr="The screenshot shows a class example. The program declares the class name as rectangle, class Rectangle. The declaration of the private objects include the width and length. The declaration for the public members includes the functions setWidth(double), setLength(double), getWidth() const, getLength() const, and getArea() con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752600"/>
            <a:ext cx="5334000" cy="394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238210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Access Specifiers</a:t>
            </a:r>
            <a:endParaRPr lang="en-IN" dirty="0"/>
          </a:p>
        </p:txBody>
      </p:sp>
      <p:sp>
        <p:nvSpPr>
          <p:cNvPr id="3" name="Content Placeholder 2"/>
          <p:cNvSpPr>
            <a:spLocks noGrp="1"/>
          </p:cNvSpPr>
          <p:nvPr>
            <p:ph idx="1"/>
          </p:nvPr>
        </p:nvSpPr>
        <p:spPr>
          <a:xfrm>
            <a:off x="457200" y="1600200"/>
            <a:ext cx="8077200" cy="4525963"/>
          </a:xfrm>
        </p:spPr>
        <p:txBody>
          <a:bodyPr/>
          <a:lstStyle/>
          <a:p>
            <a:pPr lvl="0">
              <a:lnSpc>
                <a:spcPct val="90000"/>
              </a:lnSpc>
              <a:buFontTx/>
              <a:buChar char="•"/>
            </a:pPr>
            <a:r>
              <a:rPr lang="en-US" altLang="en-US" sz="2800" dirty="0">
                <a:solidFill>
                  <a:srgbClr val="000000"/>
                </a:solidFill>
              </a:rPr>
              <a:t>Used to control access to members of the </a:t>
            </a:r>
            <a:r>
              <a:rPr lang="en-US" altLang="en-US" sz="2800" dirty="0" smtClean="0">
                <a:solidFill>
                  <a:srgbClr val="000000"/>
                </a:solidFill>
              </a:rPr>
              <a:t>class</a:t>
            </a:r>
            <a:endParaRPr lang="en-US" altLang="en-US" sz="2800" dirty="0">
              <a:solidFill>
                <a:srgbClr val="000000"/>
              </a:solidFill>
            </a:endParaRPr>
          </a:p>
          <a:p>
            <a:pPr lvl="0">
              <a:lnSpc>
                <a:spcPct val="90000"/>
              </a:lnSpc>
              <a:spcBef>
                <a:spcPts val="3700"/>
              </a:spcBef>
              <a:buFontTx/>
              <a:buChar char="•"/>
            </a:pPr>
            <a:r>
              <a:rPr lang="en-US" altLang="en-US" sz="2800" dirty="0">
                <a:solidFill>
                  <a:srgbClr val="000000"/>
                </a:solidFill>
                <a:latin typeface="Courier New" panose="02070309020205020404" pitchFamily="49" charset="0"/>
              </a:rPr>
              <a:t>public</a:t>
            </a:r>
            <a:r>
              <a:rPr lang="en-US" altLang="en-US" sz="2800" dirty="0" smtClean="0">
                <a:solidFill>
                  <a:srgbClr val="000000"/>
                </a:solidFill>
                <a:latin typeface="Courier New" panose="02070309020205020404" pitchFamily="49" charset="0"/>
              </a:rPr>
              <a:t>:</a:t>
            </a:r>
            <a:r>
              <a:rPr lang="en-US" altLang="en-US" sz="2800" dirty="0" smtClean="0">
                <a:solidFill>
                  <a:srgbClr val="000000"/>
                </a:solidFill>
              </a:rPr>
              <a:t> can </a:t>
            </a:r>
            <a:r>
              <a:rPr lang="en-US" altLang="en-US" sz="2800" dirty="0">
                <a:solidFill>
                  <a:srgbClr val="000000"/>
                </a:solidFill>
              </a:rPr>
              <a:t>be accessed by functions outside of the </a:t>
            </a:r>
            <a:r>
              <a:rPr lang="en-US" altLang="en-US" sz="2800" dirty="0" smtClean="0">
                <a:solidFill>
                  <a:srgbClr val="000000"/>
                </a:solidFill>
              </a:rPr>
              <a:t>class</a:t>
            </a:r>
            <a:endParaRPr lang="en-US" altLang="en-US" sz="2800" dirty="0">
              <a:solidFill>
                <a:srgbClr val="000000"/>
              </a:solidFill>
            </a:endParaRPr>
          </a:p>
          <a:p>
            <a:pPr lvl="0">
              <a:lnSpc>
                <a:spcPct val="90000"/>
              </a:lnSpc>
              <a:spcBef>
                <a:spcPts val="3700"/>
              </a:spcBef>
              <a:buFontTx/>
              <a:buChar char="•"/>
            </a:pPr>
            <a:r>
              <a:rPr lang="en-US" altLang="en-US" sz="2800" dirty="0">
                <a:solidFill>
                  <a:srgbClr val="000000"/>
                </a:solidFill>
                <a:latin typeface="Courier New" panose="02070309020205020404" pitchFamily="49" charset="0"/>
              </a:rPr>
              <a:t>private</a:t>
            </a:r>
            <a:r>
              <a:rPr lang="en-US" altLang="en-US" sz="2800" dirty="0" smtClean="0">
                <a:solidFill>
                  <a:srgbClr val="000000"/>
                </a:solidFill>
                <a:latin typeface="Courier New" panose="02070309020205020404" pitchFamily="49" charset="0"/>
              </a:rPr>
              <a:t>:</a:t>
            </a:r>
            <a:r>
              <a:rPr lang="en-US" altLang="en-US" sz="2800" dirty="0" smtClean="0">
                <a:solidFill>
                  <a:srgbClr val="000000"/>
                </a:solidFill>
              </a:rPr>
              <a:t> can </a:t>
            </a:r>
            <a:r>
              <a:rPr lang="en-US" altLang="en-US" sz="2800" dirty="0">
                <a:solidFill>
                  <a:srgbClr val="000000"/>
                </a:solidFill>
              </a:rPr>
              <a:t>only be called by or accessed by functions that are members of the </a:t>
            </a:r>
            <a:r>
              <a:rPr lang="en-US" altLang="en-US" sz="2800" dirty="0" smtClean="0">
                <a:solidFill>
                  <a:srgbClr val="000000"/>
                </a:solidFill>
              </a:rPr>
              <a:t>class</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7331087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42000"/>
            <a:ext cx="8229600" cy="762000"/>
          </a:xfrm>
        </p:spPr>
        <p:txBody>
          <a:bodyPr/>
          <a:lstStyle/>
          <a:p>
            <a:r>
              <a:rPr lang="en-US" altLang="en-US" dirty="0"/>
              <a:t>Class </a:t>
            </a:r>
            <a:r>
              <a:rPr lang="en-US" altLang="en-US" dirty="0" smtClean="0"/>
              <a:t>Example </a:t>
            </a:r>
            <a:r>
              <a:rPr lang="en-US" altLang="en-US" sz="1200" dirty="0" smtClean="0"/>
              <a:t>(2 of 2)</a:t>
            </a:r>
            <a:endParaRPr lang="en-IN" dirty="0"/>
          </a:p>
        </p:txBody>
      </p:sp>
      <p:pic>
        <p:nvPicPr>
          <p:cNvPr id="3" name="Picture 2" descr="The screenshot shows a class example. The program declares the class name as rectangle, class Rectangle. The declaration of the private objects include the width and length. The declaration for the public members includes the functions setWidth(double), setLength(double), getWidth() const, getLength() const, and getArea() const."/>
          <p:cNvPicPr>
            <a:picLocks noChangeAspect="1"/>
          </p:cNvPicPr>
          <p:nvPr/>
        </p:nvPicPr>
        <p:blipFill rotWithShape="1">
          <a:blip r:embed="rId2"/>
          <a:srcRect r="12766"/>
          <a:stretch/>
        </p:blipFill>
        <p:spPr>
          <a:xfrm>
            <a:off x="1191600" y="1874214"/>
            <a:ext cx="7168978" cy="3535986"/>
          </a:xfrm>
          <a:prstGeom prst="rect">
            <a:avLst/>
          </a:prstGeom>
        </p:spPr>
      </p:pic>
    </p:spTree>
    <p:extLst>
      <p:ext uri="{BB962C8B-B14F-4D97-AF65-F5344CB8AC3E}">
        <p14:creationId xmlns:p14="http://schemas.microsoft.com/office/powerpoint/2010/main" val="32598591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More on Access Specifiers</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Can be listed in any order in a </a:t>
            </a:r>
            <a:r>
              <a:rPr lang="en-US" altLang="en-US" dirty="0" smtClean="0">
                <a:solidFill>
                  <a:srgbClr val="000000"/>
                </a:solidFill>
              </a:rPr>
              <a:t>class</a:t>
            </a:r>
            <a:endParaRPr lang="en-US" altLang="en-US" dirty="0">
              <a:solidFill>
                <a:srgbClr val="000000"/>
              </a:solidFill>
            </a:endParaRPr>
          </a:p>
          <a:p>
            <a:pPr lvl="0">
              <a:spcBef>
                <a:spcPts val="4600"/>
              </a:spcBef>
              <a:buFontTx/>
              <a:buChar char="•"/>
            </a:pPr>
            <a:r>
              <a:rPr lang="en-US" altLang="en-US" dirty="0">
                <a:solidFill>
                  <a:srgbClr val="000000"/>
                </a:solidFill>
              </a:rPr>
              <a:t>Can appear multiple times in a </a:t>
            </a:r>
            <a:r>
              <a:rPr lang="en-US" altLang="en-US" dirty="0" smtClean="0">
                <a:solidFill>
                  <a:srgbClr val="000000"/>
                </a:solidFill>
              </a:rPr>
              <a:t>class</a:t>
            </a:r>
            <a:endParaRPr lang="en-US" altLang="en-US" dirty="0">
              <a:solidFill>
                <a:srgbClr val="000000"/>
              </a:solidFill>
            </a:endParaRPr>
          </a:p>
          <a:p>
            <a:pPr lvl="0">
              <a:spcBef>
                <a:spcPts val="4600"/>
              </a:spcBef>
              <a:buFontTx/>
              <a:buChar char="•"/>
            </a:pPr>
            <a:r>
              <a:rPr lang="en-US" altLang="en-US" dirty="0">
                <a:solidFill>
                  <a:srgbClr val="000000"/>
                </a:solidFill>
              </a:rPr>
              <a:t>If not specified, the default is </a:t>
            </a:r>
            <a:r>
              <a:rPr lang="en-US" altLang="en-US" dirty="0" smtClean="0">
                <a:solidFill>
                  <a:srgbClr val="000000"/>
                </a:solidFill>
                <a:latin typeface="Courier New" panose="02070309020205020404" pitchFamily="49" charset="0"/>
              </a:rPr>
              <a:t>private</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2205993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dirty="0"/>
              <a:t>Using </a:t>
            </a:r>
            <a:r>
              <a:rPr lang="en-US" altLang="en-US" sz="3200" dirty="0">
                <a:latin typeface="Courier New" panose="02070309020205020404" pitchFamily="49" charset="0"/>
              </a:rPr>
              <a:t>const</a:t>
            </a:r>
            <a:r>
              <a:rPr lang="en-US" altLang="en-US" sz="3200" dirty="0"/>
              <a:t> With Member Functions</a:t>
            </a:r>
            <a:endParaRPr lang="en-IN" dirty="0"/>
          </a:p>
        </p:txBody>
      </p:sp>
      <p:sp>
        <p:nvSpPr>
          <p:cNvPr id="3" name="Content Placeholder 2"/>
          <p:cNvSpPr>
            <a:spLocks noGrp="1"/>
          </p:cNvSpPr>
          <p:nvPr>
            <p:ph idx="1"/>
          </p:nvPr>
        </p:nvSpPr>
        <p:spPr>
          <a:xfrm>
            <a:off x="457200" y="1600201"/>
            <a:ext cx="8229600" cy="2057400"/>
          </a:xfrm>
        </p:spPr>
        <p:txBody>
          <a:bodyPr/>
          <a:lstStyle/>
          <a:p>
            <a:r>
              <a:rPr lang="en-US" altLang="en-US" dirty="0">
                <a:solidFill>
                  <a:srgbClr val="000000"/>
                </a:solidFill>
                <a:latin typeface="Courier New" panose="02070309020205020404" pitchFamily="49" charset="0"/>
              </a:rPr>
              <a:t>const</a:t>
            </a:r>
            <a:r>
              <a:rPr lang="en-US" altLang="en-US" dirty="0">
                <a:solidFill>
                  <a:srgbClr val="000000"/>
                </a:solidFill>
              </a:rPr>
              <a:t> appearing after the parentheses in a member function declaration specifies that the function will not change any data in the calling object.</a:t>
            </a:r>
            <a:endParaRPr lang="en-IN" dirty="0"/>
          </a:p>
        </p:txBody>
      </p:sp>
      <p:pic>
        <p:nvPicPr>
          <p:cNvPr id="4" name="Picture 4" descr="The screenshot displays the program that uses const with member functions: double getWidth ( ) const, double getLength ( ) const, and double getArea ( ) cons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114800"/>
            <a:ext cx="4724400" cy="120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92313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Defining a Member Function</a:t>
            </a:r>
            <a:endParaRPr lang="en-IN" dirty="0"/>
          </a:p>
        </p:txBody>
      </p:sp>
      <p:sp>
        <p:nvSpPr>
          <p:cNvPr id="3" name="Content Placeholder 2"/>
          <p:cNvSpPr>
            <a:spLocks noGrp="1"/>
          </p:cNvSpPr>
          <p:nvPr>
            <p:ph idx="1"/>
          </p:nvPr>
        </p:nvSpPr>
        <p:spPr/>
        <p:txBody>
          <a:bodyPr/>
          <a:lstStyle/>
          <a:p>
            <a:pPr lvl="0">
              <a:lnSpc>
                <a:spcPct val="95000"/>
              </a:lnSpc>
              <a:buFontTx/>
              <a:buChar char="•"/>
            </a:pPr>
            <a:r>
              <a:rPr lang="en-US" altLang="en-US" dirty="0">
                <a:solidFill>
                  <a:srgbClr val="000000"/>
                </a:solidFill>
              </a:rPr>
              <a:t>When defining a member function:</a:t>
            </a:r>
          </a:p>
          <a:p>
            <a:pPr lvl="1">
              <a:lnSpc>
                <a:spcPct val="95000"/>
              </a:lnSpc>
            </a:pPr>
            <a:r>
              <a:rPr lang="en-US" altLang="en-US" dirty="0">
                <a:solidFill>
                  <a:srgbClr val="000000"/>
                </a:solidFill>
              </a:rPr>
              <a:t>Put prototype in class declaration</a:t>
            </a:r>
          </a:p>
          <a:p>
            <a:pPr lvl="1">
              <a:lnSpc>
                <a:spcPct val="95000"/>
              </a:lnSpc>
            </a:pPr>
            <a:r>
              <a:rPr lang="en-US" altLang="en-US" dirty="0">
                <a:solidFill>
                  <a:srgbClr val="000000"/>
                </a:solidFill>
              </a:rPr>
              <a:t>Define function using class name and scope resolution operator </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marL="1368000" lvl="2">
              <a:lnSpc>
                <a:spcPct val="90000"/>
              </a:lnSpc>
              <a:spcBef>
                <a:spcPts val="3800"/>
              </a:spcBef>
              <a:buNone/>
            </a:pPr>
            <a:r>
              <a:rPr lang="en-US" altLang="en-US" dirty="0" smtClean="0">
                <a:solidFill>
                  <a:srgbClr val="000000"/>
                </a:solidFill>
                <a:latin typeface="Courier New" panose="02070309020205020404" pitchFamily="49" charset="0"/>
              </a:rPr>
              <a:t>int </a:t>
            </a:r>
            <a:r>
              <a:rPr lang="en-US" altLang="en-US" dirty="0">
                <a:solidFill>
                  <a:srgbClr val="000000"/>
                </a:solidFill>
                <a:latin typeface="Courier New" panose="02070309020205020404" pitchFamily="49" charset="0"/>
              </a:rPr>
              <a:t>Rectangle::setWidth(double w)</a:t>
            </a:r>
          </a:p>
          <a:p>
            <a:pPr marL="1368000" lvl="2">
              <a:lnSpc>
                <a:spcPct val="90000"/>
              </a:lnSpc>
              <a:buNone/>
            </a:pP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marL="2052000" lvl="2">
              <a:lnSpc>
                <a:spcPct val="90000"/>
              </a:lnSpc>
              <a:buNone/>
            </a:pPr>
            <a:r>
              <a:rPr lang="en-US" altLang="en-US" dirty="0" smtClean="0">
                <a:solidFill>
                  <a:srgbClr val="000000"/>
                </a:solidFill>
                <a:latin typeface="Courier New" panose="02070309020205020404" pitchFamily="49" charset="0"/>
              </a:rPr>
              <a:t>width </a:t>
            </a:r>
            <a:r>
              <a:rPr lang="en-US" altLang="en-US" dirty="0">
                <a:solidFill>
                  <a:srgbClr val="000000"/>
                </a:solidFill>
                <a:latin typeface="Courier New" panose="02070309020205020404" pitchFamily="49" charset="0"/>
              </a:rPr>
              <a:t>= w;</a:t>
            </a:r>
          </a:p>
          <a:p>
            <a:pPr marL="1368000" lvl="2">
              <a:lnSpc>
                <a:spcPct val="90000"/>
              </a:lnSpc>
              <a:buNone/>
            </a:pPr>
            <a:r>
              <a:rPr lang="en-US" altLang="en-US" dirty="0">
                <a:solidFill>
                  <a:srgbClr val="000000"/>
                </a:solidFill>
                <a:latin typeface="Courier New" panose="02070309020205020404" pitchFamily="49" charset="0"/>
              </a:rPr>
              <a:t>}</a:t>
            </a:r>
          </a:p>
        </p:txBody>
      </p:sp>
    </p:spTree>
    <p:extLst>
      <p:ext uri="{BB962C8B-B14F-4D97-AF65-F5344CB8AC3E}">
        <p14:creationId xmlns:p14="http://schemas.microsoft.com/office/powerpoint/2010/main" val="30006952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Accessors and Mutators</a:t>
            </a:r>
            <a:endParaRPr lang="en-IN" dirty="0"/>
          </a:p>
        </p:txBody>
      </p:sp>
      <p:sp>
        <p:nvSpPr>
          <p:cNvPr id="3" name="Content Placeholder 2"/>
          <p:cNvSpPr>
            <a:spLocks noGrp="1"/>
          </p:cNvSpPr>
          <p:nvPr>
            <p:ph idx="1"/>
          </p:nvPr>
        </p:nvSpPr>
        <p:spPr/>
        <p:txBody>
          <a:bodyPr/>
          <a:lstStyle/>
          <a:p>
            <a:pPr lvl="0">
              <a:spcAft>
                <a:spcPts val="0"/>
              </a:spcAft>
              <a:buFontTx/>
              <a:buChar char="•"/>
            </a:pPr>
            <a:r>
              <a:rPr lang="en-US" altLang="en-US" dirty="0">
                <a:solidFill>
                  <a:srgbClr val="000000"/>
                </a:solidFill>
              </a:rPr>
              <a:t>Mutator: a member function that stores a value in a private member variable, or changes its value in some </a:t>
            </a:r>
            <a:r>
              <a:rPr lang="en-US" altLang="en-US" dirty="0" smtClean="0">
                <a:solidFill>
                  <a:srgbClr val="000000"/>
                </a:solidFill>
              </a:rPr>
              <a:t>way</a:t>
            </a:r>
            <a:endParaRPr lang="en-US" altLang="en-US" dirty="0">
              <a:solidFill>
                <a:srgbClr val="000000"/>
              </a:solidFill>
            </a:endParaRPr>
          </a:p>
          <a:p>
            <a:pPr lvl="0">
              <a:spcBef>
                <a:spcPts val="4600"/>
              </a:spcBef>
              <a:buFontTx/>
              <a:buChar char="•"/>
            </a:pPr>
            <a:r>
              <a:rPr lang="en-US" altLang="en-US" dirty="0">
                <a:solidFill>
                  <a:srgbClr val="000000"/>
                </a:solidFill>
              </a:rPr>
              <a:t>Accessor: function that retrieves a value from a private member variable. Accessors do not change an object's data, so they should be marked </a:t>
            </a:r>
            <a:r>
              <a:rPr lang="en-US" altLang="en-US" dirty="0">
                <a:solidFill>
                  <a:srgbClr val="000000"/>
                </a:solidFill>
                <a:latin typeface="Courier New" panose="02070309020205020404" pitchFamily="49" charset="0"/>
              </a:rPr>
              <a:t>const</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784908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noChangeArrowheads="1"/>
          </p:cNvSpPr>
          <p:nvPr>
            <p:ph type="ctrTitle"/>
          </p:nvPr>
        </p:nvSpPr>
        <p:spPr/>
        <p:txBody>
          <a:bodyPr/>
          <a:lstStyle/>
          <a:p>
            <a:r>
              <a:rPr lang="en-US" altLang="en-US" dirty="0" smtClean="0"/>
              <a:t>13.3</a:t>
            </a:r>
          </a:p>
        </p:txBody>
      </p:sp>
      <p:sp>
        <p:nvSpPr>
          <p:cNvPr id="34819" name="Subtitle 2"/>
          <p:cNvSpPr>
            <a:spLocks noGrp="1" noChangeArrowheads="1"/>
          </p:cNvSpPr>
          <p:nvPr>
            <p:ph type="subTitle" idx="1"/>
          </p:nvPr>
        </p:nvSpPr>
        <p:spPr/>
        <p:txBody>
          <a:bodyPr/>
          <a:lstStyle/>
          <a:p>
            <a:r>
              <a:rPr lang="en-US" altLang="en-US" dirty="0" smtClean="0"/>
              <a:t>Defining an Instance of a Class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52400"/>
            <a:ext cx="7543800" cy="1143000"/>
          </a:xfrm>
        </p:spPr>
        <p:txBody>
          <a:bodyPr/>
          <a:lstStyle/>
          <a:p>
            <a:r>
              <a:rPr lang="en-US" altLang="en-US" dirty="0"/>
              <a:t>Defining an Instance of a Class</a:t>
            </a:r>
            <a:endParaRPr lang="en-IN" dirty="0"/>
          </a:p>
        </p:txBody>
      </p:sp>
      <p:sp>
        <p:nvSpPr>
          <p:cNvPr id="3" name="Content Placeholder 2"/>
          <p:cNvSpPr>
            <a:spLocks noGrp="1"/>
          </p:cNvSpPr>
          <p:nvPr>
            <p:ph idx="1"/>
          </p:nvPr>
        </p:nvSpPr>
        <p:spPr>
          <a:xfrm>
            <a:off x="0" y="1722437"/>
            <a:ext cx="8229600" cy="4525963"/>
          </a:xfrm>
        </p:spPr>
        <p:txBody>
          <a:bodyPr/>
          <a:lstStyle/>
          <a:p>
            <a:pPr lvl="0">
              <a:lnSpc>
                <a:spcPct val="90000"/>
              </a:lnSpc>
              <a:buFontTx/>
              <a:buChar char="•"/>
            </a:pPr>
            <a:r>
              <a:rPr lang="en-US" altLang="en-US" dirty="0">
                <a:solidFill>
                  <a:srgbClr val="000000"/>
                </a:solidFill>
              </a:rPr>
              <a:t>An object is an instance of a class</a:t>
            </a:r>
          </a:p>
          <a:p>
            <a:pPr lvl="0">
              <a:lnSpc>
                <a:spcPct val="90000"/>
              </a:lnSpc>
              <a:buFontTx/>
              <a:buChar char="•"/>
            </a:pPr>
            <a:r>
              <a:rPr lang="en-US" altLang="en-US" dirty="0">
                <a:solidFill>
                  <a:srgbClr val="000000"/>
                </a:solidFill>
              </a:rPr>
              <a:t>Defined like structure </a:t>
            </a:r>
            <a:r>
              <a:rPr lang="en-US" altLang="en-US" dirty="0" smtClean="0">
                <a:solidFill>
                  <a:srgbClr val="000000"/>
                </a:solidFill>
              </a:rPr>
              <a:t>variables:</a:t>
            </a:r>
          </a:p>
          <a:p>
            <a:pPr marL="1026000" lvl="1">
              <a:lnSpc>
                <a:spcPct val="90000"/>
              </a:lnSpc>
              <a:buClr>
                <a:srgbClr val="3333CC"/>
              </a:buClr>
              <a:buNone/>
            </a:pPr>
            <a:r>
              <a:rPr lang="en-US" altLang="en-US" dirty="0" smtClean="0">
                <a:solidFill>
                  <a:srgbClr val="000000"/>
                </a:solidFill>
                <a:latin typeface="Courier New" panose="02070309020205020404" pitchFamily="49" charset="0"/>
              </a:rPr>
              <a:t>Rectangle r;</a:t>
            </a:r>
          </a:p>
          <a:p>
            <a:pPr lvl="0">
              <a:lnSpc>
                <a:spcPct val="90000"/>
              </a:lnSpc>
              <a:buFontTx/>
              <a:buChar char="•"/>
            </a:pPr>
            <a:r>
              <a:rPr lang="en-US" altLang="en-US" dirty="0" smtClean="0">
                <a:solidFill>
                  <a:srgbClr val="000000"/>
                </a:solidFill>
              </a:rPr>
              <a:t>Access </a:t>
            </a:r>
            <a:r>
              <a:rPr lang="en-US" altLang="en-US" dirty="0">
                <a:solidFill>
                  <a:srgbClr val="000000"/>
                </a:solidFill>
              </a:rPr>
              <a:t>members using dot operator:</a:t>
            </a:r>
          </a:p>
          <a:p>
            <a:pPr marL="1026000" lvl="1">
              <a:lnSpc>
                <a:spcPct val="90000"/>
              </a:lnSpc>
              <a:buClr>
                <a:srgbClr val="3333CC"/>
              </a:buClr>
              <a:buNone/>
            </a:pPr>
            <a:r>
              <a:rPr lang="en-US" altLang="en-US" dirty="0">
                <a:solidFill>
                  <a:srgbClr val="000000"/>
                </a:solidFill>
                <a:latin typeface="Courier New" panose="02070309020205020404" pitchFamily="49" charset="0"/>
              </a:rPr>
              <a:t>r.setWidth(5.2);</a:t>
            </a:r>
          </a:p>
          <a:p>
            <a:pPr marL="1026000" lvl="1">
              <a:lnSpc>
                <a:spcPct val="90000"/>
              </a:lnSpc>
              <a:buClr>
                <a:srgbClr val="3333CC"/>
              </a:buClr>
              <a:buNone/>
            </a:pPr>
            <a:r>
              <a:rPr lang="en-US" altLang="en-US" dirty="0">
                <a:solidFill>
                  <a:srgbClr val="000000"/>
                </a:solidFill>
                <a:latin typeface="Courier New" panose="02070309020205020404" pitchFamily="49" charset="0"/>
              </a:rPr>
              <a:t>cout &lt;&lt; r.getWidth();</a:t>
            </a:r>
          </a:p>
          <a:p>
            <a:pPr lvl="0">
              <a:lnSpc>
                <a:spcPct val="90000"/>
              </a:lnSpc>
              <a:buFontTx/>
              <a:buChar char="•"/>
            </a:pPr>
            <a:r>
              <a:rPr lang="en-US" altLang="en-US" dirty="0">
                <a:solidFill>
                  <a:srgbClr val="000000"/>
                </a:solidFill>
              </a:rPr>
              <a:t>Compiler error if attempt to access </a:t>
            </a:r>
            <a:r>
              <a:rPr lang="en-US" altLang="en-US" dirty="0">
                <a:solidFill>
                  <a:srgbClr val="000000"/>
                </a:solidFill>
                <a:latin typeface="Courier New" panose="02070309020205020404" pitchFamily="49" charset="0"/>
              </a:rPr>
              <a:t>private</a:t>
            </a:r>
            <a:r>
              <a:rPr lang="en-US" altLang="en-US" dirty="0">
                <a:solidFill>
                  <a:srgbClr val="000000"/>
                </a:solidFill>
              </a:rPr>
              <a:t> member using dot </a:t>
            </a:r>
            <a:r>
              <a:rPr lang="en-US" altLang="en-US" dirty="0" smtClean="0">
                <a:solidFill>
                  <a:srgbClr val="000000"/>
                </a:solidFill>
              </a:rPr>
              <a:t>operator</a:t>
            </a:r>
            <a:endParaRPr lang="en-US" altLang="en-US" dirty="0">
              <a:solidFill>
                <a:srgbClr val="000000"/>
              </a:solidFill>
            </a:endParaRPr>
          </a:p>
        </p:txBody>
      </p:sp>
    </p:spTree>
    <p:extLst>
      <p:ext uri="{BB962C8B-B14F-4D97-AF65-F5344CB8AC3E}">
        <p14:creationId xmlns:p14="http://schemas.microsoft.com/office/powerpoint/2010/main" val="149459104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64800"/>
            <a:ext cx="3733800" cy="304800"/>
          </a:xfrm>
        </p:spPr>
        <p:txBody>
          <a:bodyPr/>
          <a:lstStyle/>
          <a:p>
            <a:r>
              <a:rPr lang="en-US" sz="1800" dirty="0" smtClean="0">
                <a:solidFill>
                  <a:srgbClr val="037797"/>
                </a:solidFill>
                <a:effectLst/>
              </a:rPr>
              <a:t>Program 13-1 </a:t>
            </a:r>
            <a:r>
              <a:rPr lang="en-US" sz="1200" dirty="0" smtClean="0">
                <a:solidFill>
                  <a:srgbClr val="037797"/>
                </a:solidFill>
                <a:effectLst/>
              </a:rPr>
              <a:t>(1 of 4)</a:t>
            </a:r>
            <a:endParaRPr lang="en-IN" sz="1800" dirty="0"/>
          </a:p>
        </p:txBody>
      </p:sp>
      <p:pic>
        <p:nvPicPr>
          <p:cNvPr id="37890" name="Picture 1" descr="The screenshot shows the program that demonstrates a simple class. The program declares the class name as rectangle, class Rectangle. The declaration of the private objects include the width and length. The declaration for the public members includes the functions setWidth(double), setLength(double), getWidth() const, getLength() const, and getArea() const. The setWidth assigns a value w to the width me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0463" y="444500"/>
            <a:ext cx="6002337" cy="603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6038"/>
            <a:ext cx="8229600" cy="334962"/>
          </a:xfrm>
        </p:spPr>
        <p:txBody>
          <a:bodyPr/>
          <a:lstStyle/>
          <a:p>
            <a:r>
              <a:rPr lang="en-US" sz="1800" dirty="0"/>
              <a:t>Program </a:t>
            </a:r>
            <a:r>
              <a:rPr lang="en-US" sz="1800" dirty="0" smtClean="0"/>
              <a:t>13-1 </a:t>
            </a:r>
            <a:r>
              <a:rPr lang="en-US" sz="1200" dirty="0" smtClean="0"/>
              <a:t>(2 </a:t>
            </a:r>
            <a:r>
              <a:rPr lang="en-US" sz="1200" dirty="0"/>
              <a:t>of 4)</a:t>
            </a:r>
            <a:endParaRPr lang="en-IN" sz="1800" dirty="0"/>
          </a:p>
        </p:txBody>
      </p:sp>
      <p:pic>
        <p:nvPicPr>
          <p:cNvPr id="38915" name="Picture 1" descr="The screenshot shows the program that demonstrates a simple class. The program declares the class name as rectangle, class Rectangle. The declaration of the private objects include the width and length. The declaration for the public members includes the functions setWidth(double), setLength(double), getWidth() const, getLength() const, and getArea() const. The setWidth function assigns a value w to the width member. The setLength assigns a value len to the length member. The getWidth function returns the value in the width member. The getLength returns the value in the length me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990600"/>
            <a:ext cx="5627688" cy="529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800" y="46038"/>
            <a:ext cx="8229600" cy="334962"/>
          </a:xfrm>
        </p:spPr>
        <p:txBody>
          <a:bodyPr/>
          <a:lstStyle/>
          <a:p>
            <a:r>
              <a:rPr lang="en-US" sz="1800" dirty="0"/>
              <a:t>Program 13-1 </a:t>
            </a:r>
            <a:r>
              <a:rPr lang="en-US" sz="1200" dirty="0" smtClean="0"/>
              <a:t>(3 </a:t>
            </a:r>
            <a:r>
              <a:rPr lang="en-US" sz="1200" dirty="0"/>
              <a:t>of 4)</a:t>
            </a:r>
            <a:endParaRPr lang="en-IN" sz="1800" dirty="0"/>
          </a:p>
        </p:txBody>
      </p:sp>
      <p:pic>
        <p:nvPicPr>
          <p:cNvPr id="39939" name="Picture 1" descr="The screenshot shows the program that demonstrates a simple class. The program declares the class name as rectangle, class Rectangle. The declaration of the private objects include the width and length. The declaration for the public members includes the functions setWidth(double), setLength(double), getWidth() const, getLength() const, and getArea() const. The setWidth function assigns a value w to the width member. The setLength assigns a value len to the length member. The getWidth function returns the value in the width member. The getLength returns the value in the length member. The getArea returns the product of the width times length. The main function declares an instance of the rectangle class, the local variable for width, and the local variable for length. The program asks the user to enter the rectangle's width and length to calculate the are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275" y="1198563"/>
            <a:ext cx="7324725" cy="446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800" y="64800"/>
            <a:ext cx="8229600" cy="305400"/>
          </a:xfrm>
        </p:spPr>
        <p:txBody>
          <a:bodyPr/>
          <a:lstStyle/>
          <a:p>
            <a:r>
              <a:rPr lang="en-US" sz="1800" dirty="0"/>
              <a:t>Program 13-1 </a:t>
            </a:r>
            <a:r>
              <a:rPr lang="en-US" sz="1200" dirty="0" smtClean="0"/>
              <a:t>(4 </a:t>
            </a:r>
            <a:r>
              <a:rPr lang="en-US" sz="1200" dirty="0"/>
              <a:t>of 4)</a:t>
            </a:r>
            <a:endParaRPr lang="en-IN" sz="1800" dirty="0"/>
          </a:p>
        </p:txBody>
      </p:sp>
      <p:pic>
        <p:nvPicPr>
          <p:cNvPr id="40963" name="Picture 1" descr="The screenshot shows the program that demonstrates a simple class. The program declares the class name as rectangle, class Rectangle. The declaration of the private objects include the width and length. The declaration for the public members includes the functions setWidth(double), setLength(double), getWidth() const, getLength() const, and getArea() const. The setWidth function assigns a value w to the width member. The setLength assigns a value len to the length member. The getWidth function returns the value in the width member. The getLength returns the value in the length member. The getArea returns the product of the width times length. The main function declares an instance of the rectangle class, the local variable for width, and the local variable for length. The program asks the user to enter the rectangle's width and length to calculate the area. The program stores the length and width in the box object and displays the rectangle's data. The program output displays the width, length, and area of the rectan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8738" y="990600"/>
            <a:ext cx="564832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Avoiding Stale Data</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sz="2400" dirty="0">
                <a:solidFill>
                  <a:srgbClr val="000000"/>
                </a:solidFill>
              </a:rPr>
              <a:t>Some data is the result of a calculation.</a:t>
            </a:r>
          </a:p>
          <a:p>
            <a:pPr lvl="0">
              <a:lnSpc>
                <a:spcPct val="90000"/>
              </a:lnSpc>
              <a:buFontTx/>
              <a:buChar char="•"/>
            </a:pPr>
            <a:r>
              <a:rPr lang="en-US" altLang="en-US" sz="2400" dirty="0">
                <a:solidFill>
                  <a:srgbClr val="000000"/>
                </a:solidFill>
              </a:rPr>
              <a:t>In the </a:t>
            </a:r>
            <a:r>
              <a:rPr lang="en-US" altLang="en-US" sz="2400" dirty="0">
                <a:solidFill>
                  <a:srgbClr val="000000"/>
                </a:solidFill>
                <a:latin typeface="Courier New" panose="02070309020205020404" pitchFamily="49" charset="0"/>
              </a:rPr>
              <a:t>Rectangle</a:t>
            </a:r>
            <a:r>
              <a:rPr lang="en-US" altLang="en-US" sz="2400" dirty="0">
                <a:solidFill>
                  <a:srgbClr val="000000"/>
                </a:solidFill>
              </a:rPr>
              <a:t> class the area of a rectangle is calculated.</a:t>
            </a:r>
          </a:p>
          <a:p>
            <a:pPr lvl="1">
              <a:lnSpc>
                <a:spcPct val="90000"/>
              </a:lnSpc>
            </a:pPr>
            <a:r>
              <a:rPr lang="en-US" altLang="en-US" sz="2000" dirty="0">
                <a:solidFill>
                  <a:srgbClr val="000000"/>
                </a:solidFill>
              </a:rPr>
              <a:t>length x width</a:t>
            </a:r>
          </a:p>
          <a:p>
            <a:pPr lvl="0">
              <a:lnSpc>
                <a:spcPct val="90000"/>
              </a:lnSpc>
              <a:buFontTx/>
              <a:buChar char="•"/>
            </a:pPr>
            <a:r>
              <a:rPr lang="en-US" altLang="en-US" sz="2400" dirty="0">
                <a:solidFill>
                  <a:srgbClr val="000000"/>
                </a:solidFill>
              </a:rPr>
              <a:t>If we were to use an </a:t>
            </a:r>
            <a:r>
              <a:rPr lang="en-US" altLang="en-US" sz="2400" dirty="0">
                <a:solidFill>
                  <a:srgbClr val="000000"/>
                </a:solidFill>
                <a:latin typeface="Courier New" panose="02070309020205020404" pitchFamily="49" charset="0"/>
              </a:rPr>
              <a:t>area</a:t>
            </a:r>
            <a:r>
              <a:rPr lang="en-US" altLang="en-US" sz="2400" dirty="0">
                <a:solidFill>
                  <a:srgbClr val="000000"/>
                </a:solidFill>
              </a:rPr>
              <a:t> variable here in the </a:t>
            </a:r>
            <a:r>
              <a:rPr lang="en-US" altLang="en-US" sz="2400" dirty="0">
                <a:solidFill>
                  <a:srgbClr val="000000"/>
                </a:solidFill>
                <a:latin typeface="Courier New" panose="02070309020205020404" pitchFamily="49" charset="0"/>
              </a:rPr>
              <a:t>Rectangle</a:t>
            </a:r>
            <a:r>
              <a:rPr lang="en-US" altLang="en-US" sz="2400" dirty="0">
                <a:solidFill>
                  <a:srgbClr val="000000"/>
                </a:solidFill>
              </a:rPr>
              <a:t> class, its value would be dependent on the length and the width.</a:t>
            </a:r>
          </a:p>
          <a:p>
            <a:pPr lvl="0">
              <a:lnSpc>
                <a:spcPct val="90000"/>
              </a:lnSpc>
              <a:buFontTx/>
              <a:buChar char="•"/>
            </a:pPr>
            <a:r>
              <a:rPr lang="en-US" altLang="en-US" sz="2400" dirty="0">
                <a:solidFill>
                  <a:srgbClr val="000000"/>
                </a:solidFill>
              </a:rPr>
              <a:t>If we change </a:t>
            </a:r>
            <a:r>
              <a:rPr lang="en-US" altLang="en-US" sz="2400" dirty="0">
                <a:solidFill>
                  <a:srgbClr val="000000"/>
                </a:solidFill>
                <a:latin typeface="Courier New" panose="02070309020205020404" pitchFamily="49" charset="0"/>
              </a:rPr>
              <a:t>length</a:t>
            </a:r>
            <a:r>
              <a:rPr lang="en-US" altLang="en-US" sz="2400" dirty="0">
                <a:solidFill>
                  <a:srgbClr val="000000"/>
                </a:solidFill>
              </a:rPr>
              <a:t> or </a:t>
            </a:r>
            <a:r>
              <a:rPr lang="en-US" altLang="en-US" sz="2400" dirty="0">
                <a:solidFill>
                  <a:srgbClr val="000000"/>
                </a:solidFill>
                <a:latin typeface="Courier New" panose="02070309020205020404" pitchFamily="49" charset="0"/>
              </a:rPr>
              <a:t>width</a:t>
            </a:r>
            <a:r>
              <a:rPr lang="en-US" altLang="en-US" sz="2400" dirty="0">
                <a:solidFill>
                  <a:srgbClr val="000000"/>
                </a:solidFill>
              </a:rPr>
              <a:t> without updating </a:t>
            </a:r>
            <a:r>
              <a:rPr lang="en-US" altLang="en-US" sz="2400" dirty="0">
                <a:solidFill>
                  <a:srgbClr val="000000"/>
                </a:solidFill>
                <a:latin typeface="Courier New" panose="02070309020205020404" pitchFamily="49" charset="0"/>
              </a:rPr>
              <a:t>area</a:t>
            </a:r>
            <a:r>
              <a:rPr lang="en-US" altLang="en-US" sz="2400" dirty="0">
                <a:solidFill>
                  <a:srgbClr val="000000"/>
                </a:solidFill>
              </a:rPr>
              <a:t>, then </a:t>
            </a:r>
            <a:r>
              <a:rPr lang="en-US" altLang="en-US" sz="2400" dirty="0">
                <a:solidFill>
                  <a:srgbClr val="000000"/>
                </a:solidFill>
                <a:latin typeface="Courier New" panose="02070309020205020404" pitchFamily="49" charset="0"/>
              </a:rPr>
              <a:t>area</a:t>
            </a:r>
            <a:r>
              <a:rPr lang="en-US" altLang="en-US" sz="2400" dirty="0">
                <a:solidFill>
                  <a:srgbClr val="000000"/>
                </a:solidFill>
              </a:rPr>
              <a:t> would become </a:t>
            </a:r>
            <a:r>
              <a:rPr lang="en-US" altLang="en-US" sz="2400" i="1" dirty="0">
                <a:solidFill>
                  <a:srgbClr val="000000"/>
                </a:solidFill>
              </a:rPr>
              <a:t>stale</a:t>
            </a:r>
            <a:r>
              <a:rPr lang="en-US" altLang="en-US" sz="2400" dirty="0">
                <a:solidFill>
                  <a:srgbClr val="000000"/>
                </a:solidFill>
              </a:rPr>
              <a:t>.</a:t>
            </a:r>
          </a:p>
          <a:p>
            <a:pPr lvl="0">
              <a:lnSpc>
                <a:spcPct val="90000"/>
              </a:lnSpc>
              <a:buFontTx/>
              <a:buChar char="•"/>
            </a:pPr>
            <a:r>
              <a:rPr lang="en-US" altLang="en-US" sz="2400" dirty="0">
                <a:solidFill>
                  <a:srgbClr val="000000"/>
                </a:solidFill>
              </a:rPr>
              <a:t>To avoid stale data, it is best to calculate the value of that data within a member function rather than store it in a variable</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305409041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Pointer to an Object</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Can define a pointer to an object:</a:t>
            </a:r>
          </a:p>
          <a:p>
            <a:pPr lvl="1">
              <a:buClr>
                <a:srgbClr val="000000"/>
              </a:buClr>
              <a:buNone/>
            </a:pPr>
            <a:r>
              <a:rPr lang="en-US" altLang="en-US" dirty="0">
                <a:solidFill>
                  <a:srgbClr val="000000"/>
                </a:solidFill>
                <a:latin typeface="Courier New" panose="02070309020205020404" pitchFamily="49" charset="0"/>
              </a:rPr>
              <a:t>Rectangle *rPtr = nullptr</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lvl="0">
              <a:spcBef>
                <a:spcPts val="4100"/>
              </a:spcBef>
              <a:buFontTx/>
              <a:buChar char="•"/>
            </a:pPr>
            <a:r>
              <a:rPr lang="en-US" altLang="en-US" dirty="0">
                <a:solidFill>
                  <a:srgbClr val="000000"/>
                </a:solidFill>
              </a:rPr>
              <a:t>Can access public members via pointer:</a:t>
            </a:r>
          </a:p>
          <a:p>
            <a:pPr lvl="1">
              <a:buClr>
                <a:srgbClr val="000000"/>
              </a:buClr>
              <a:buNone/>
            </a:pPr>
            <a:r>
              <a:rPr lang="en-US" altLang="en-US" dirty="0">
                <a:solidFill>
                  <a:srgbClr val="000000"/>
                </a:solidFill>
                <a:latin typeface="Courier New" panose="02070309020205020404" pitchFamily="49" charset="0"/>
              </a:rPr>
              <a:t>rPtr = &amp;otherRectangle;</a:t>
            </a:r>
          </a:p>
          <a:p>
            <a:pPr lvl="1">
              <a:buClr>
                <a:srgbClr val="000000"/>
              </a:buClr>
              <a:buNone/>
            </a:pPr>
            <a:r>
              <a:rPr lang="en-US" altLang="en-US" dirty="0">
                <a:solidFill>
                  <a:srgbClr val="000000"/>
                </a:solidFill>
                <a:latin typeface="Courier New" panose="02070309020205020404" pitchFamily="49" charset="0"/>
              </a:rPr>
              <a:t>rPtr-&gt;setLength(12.5);</a:t>
            </a:r>
          </a:p>
          <a:p>
            <a:pPr lvl="1">
              <a:buClr>
                <a:srgbClr val="000000"/>
              </a:buClr>
              <a:buNone/>
            </a:pPr>
            <a:r>
              <a:rPr lang="en-US" altLang="en-US" dirty="0">
                <a:solidFill>
                  <a:srgbClr val="000000"/>
                </a:solidFill>
                <a:latin typeface="Courier New" panose="02070309020205020404" pitchFamily="49" charset="0"/>
              </a:rPr>
              <a:t>cout &lt;&lt; rPtr-&gt;getLength</a:t>
            </a:r>
            <a:r>
              <a:rPr lang="en-US" altLang="en-US" dirty="0" smtClean="0">
                <a:solidFill>
                  <a:srgbClr val="000000"/>
                </a:solidFill>
                <a:latin typeface="Courier New" panose="02070309020205020404" pitchFamily="49" charset="0"/>
              </a:rPr>
              <a:t>() &lt;&lt; </a:t>
            </a:r>
            <a:r>
              <a:rPr lang="en-US" altLang="en-US" dirty="0">
                <a:solidFill>
                  <a:srgbClr val="000000"/>
                </a:solidFill>
                <a:latin typeface="Courier New" panose="02070309020205020404" pitchFamily="49" charset="0"/>
              </a:rPr>
              <a:t>endl</a:t>
            </a:r>
            <a:r>
              <a:rPr lang="en-US" altLang="en-US" dirty="0" smtClean="0">
                <a:solidFill>
                  <a:srgbClr val="000000"/>
                </a:solidFill>
                <a:latin typeface="Courier New" panose="02070309020205020404" pitchFamily="49" charset="0"/>
              </a:rPr>
              <a:t>;</a:t>
            </a:r>
            <a:endParaRPr lang="en-US" altLang="en-US" dirty="0">
              <a:solidFill>
                <a:srgbClr val="000000"/>
              </a:solidFill>
            </a:endParaRPr>
          </a:p>
        </p:txBody>
      </p:sp>
    </p:spTree>
    <p:extLst>
      <p:ext uri="{BB962C8B-B14F-4D97-AF65-F5344CB8AC3E}">
        <p14:creationId xmlns:p14="http://schemas.microsoft.com/office/powerpoint/2010/main" val="226287401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Dynamically Allocating an Object</a:t>
            </a:r>
            <a:endParaRPr lang="en-IN" dirty="0"/>
          </a:p>
        </p:txBody>
      </p:sp>
      <p:sp>
        <p:nvSpPr>
          <p:cNvPr id="3" name="Content Placeholder 2"/>
          <p:cNvSpPr>
            <a:spLocks noGrp="1"/>
          </p:cNvSpPr>
          <p:nvPr>
            <p:ph idx="1"/>
          </p:nvPr>
        </p:nvSpPr>
        <p:spPr>
          <a:xfrm>
            <a:off x="457200" y="1600201"/>
            <a:ext cx="8229600" cy="990600"/>
          </a:xfrm>
        </p:spPr>
        <p:txBody>
          <a:bodyPr/>
          <a:lstStyle/>
          <a:p>
            <a:pPr lvl="0">
              <a:buFontTx/>
              <a:buChar char="•"/>
            </a:pPr>
            <a:r>
              <a:rPr lang="en-US" altLang="en-US" dirty="0">
                <a:solidFill>
                  <a:srgbClr val="000000"/>
                </a:solidFill>
              </a:rPr>
              <a:t>We can also use a pointer to dynamically allocate an object</a:t>
            </a:r>
            <a:r>
              <a:rPr lang="en-US" altLang="en-US" dirty="0" smtClean="0">
                <a:solidFill>
                  <a:srgbClr val="000000"/>
                </a:solidFill>
              </a:rPr>
              <a:t>.</a:t>
            </a:r>
            <a:endParaRPr lang="en-US" altLang="en-US" dirty="0">
              <a:solidFill>
                <a:srgbClr val="000000"/>
              </a:solidFill>
            </a:endParaRPr>
          </a:p>
        </p:txBody>
      </p:sp>
      <p:pic>
        <p:nvPicPr>
          <p:cNvPr id="4" name="Picture 4" descr="A screenshot shows a program to define a rectangle pointer. The rectangle pointer is set to the null pointer. rectangle asterisk rectPtr equals nullptr. The program dynamically allocates a rectangle object, stores the values in the object's width and length, and deletes the object from mem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628900"/>
            <a:ext cx="7372350"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617758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noChangeArrowheads="1"/>
          </p:cNvSpPr>
          <p:nvPr>
            <p:ph type="ctrTitle"/>
          </p:nvPr>
        </p:nvSpPr>
        <p:spPr/>
        <p:txBody>
          <a:bodyPr/>
          <a:lstStyle/>
          <a:p>
            <a:r>
              <a:rPr lang="en-US" altLang="en-US" dirty="0" smtClean="0"/>
              <a:t>13.4</a:t>
            </a:r>
          </a:p>
        </p:txBody>
      </p:sp>
      <p:sp>
        <p:nvSpPr>
          <p:cNvPr id="46083" name="Subtitle 2"/>
          <p:cNvSpPr>
            <a:spLocks noGrp="1" noChangeArrowheads="1"/>
          </p:cNvSpPr>
          <p:nvPr>
            <p:ph type="subTitle" idx="1"/>
          </p:nvPr>
        </p:nvSpPr>
        <p:spPr/>
        <p:txBody>
          <a:bodyPr/>
          <a:lstStyle/>
          <a:p>
            <a:r>
              <a:rPr lang="en-US" altLang="en-US" dirty="0" smtClean="0"/>
              <a:t>Why Have Private Members?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Why Have Private Members?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dirty="0">
                <a:solidFill>
                  <a:srgbClr val="000000"/>
                </a:solidFill>
              </a:rPr>
              <a:t>Making data members </a:t>
            </a:r>
            <a:r>
              <a:rPr lang="en-US" altLang="en-US" dirty="0">
                <a:solidFill>
                  <a:srgbClr val="000000"/>
                </a:solidFill>
                <a:latin typeface="Courier New" panose="02070309020205020404" pitchFamily="49" charset="0"/>
              </a:rPr>
              <a:t>private</a:t>
            </a:r>
            <a:r>
              <a:rPr lang="en-US" altLang="en-US" dirty="0">
                <a:solidFill>
                  <a:srgbClr val="000000"/>
                </a:solidFill>
              </a:rPr>
              <a:t> provides data </a:t>
            </a:r>
            <a:r>
              <a:rPr lang="en-US" altLang="en-US" dirty="0" smtClean="0">
                <a:solidFill>
                  <a:srgbClr val="000000"/>
                </a:solidFill>
              </a:rPr>
              <a:t>protection</a:t>
            </a:r>
            <a:endParaRPr lang="en-US" altLang="en-US" dirty="0">
              <a:solidFill>
                <a:srgbClr val="000000"/>
              </a:solidFill>
            </a:endParaRPr>
          </a:p>
          <a:p>
            <a:pPr lvl="0">
              <a:lnSpc>
                <a:spcPct val="90000"/>
              </a:lnSpc>
              <a:spcBef>
                <a:spcPts val="4200"/>
              </a:spcBef>
              <a:buFontTx/>
              <a:buChar char="•"/>
            </a:pPr>
            <a:r>
              <a:rPr lang="en-US" altLang="en-US" dirty="0">
                <a:solidFill>
                  <a:srgbClr val="000000"/>
                </a:solidFill>
              </a:rPr>
              <a:t>Data can be accessed only through </a:t>
            </a:r>
            <a:r>
              <a:rPr lang="en-US" altLang="en-US" dirty="0">
                <a:solidFill>
                  <a:srgbClr val="000000"/>
                </a:solidFill>
                <a:latin typeface="Courier New" panose="02070309020205020404" pitchFamily="49" charset="0"/>
              </a:rPr>
              <a:t>public</a:t>
            </a:r>
            <a:r>
              <a:rPr lang="en-US" altLang="en-US" dirty="0">
                <a:solidFill>
                  <a:srgbClr val="000000"/>
                </a:solidFill>
              </a:rPr>
              <a:t> </a:t>
            </a:r>
            <a:r>
              <a:rPr lang="en-US" altLang="en-US" dirty="0" smtClean="0">
                <a:solidFill>
                  <a:srgbClr val="000000"/>
                </a:solidFill>
              </a:rPr>
              <a:t>functions</a:t>
            </a:r>
            <a:endParaRPr lang="en-US" altLang="en-US" dirty="0">
              <a:solidFill>
                <a:srgbClr val="000000"/>
              </a:solidFill>
            </a:endParaRPr>
          </a:p>
          <a:p>
            <a:pPr lvl="0">
              <a:lnSpc>
                <a:spcPct val="90000"/>
              </a:lnSpc>
              <a:spcBef>
                <a:spcPts val="4200"/>
              </a:spcBef>
              <a:buFontTx/>
              <a:buChar char="•"/>
            </a:pPr>
            <a:r>
              <a:rPr lang="en-US" altLang="en-US" dirty="0">
                <a:solidFill>
                  <a:srgbClr val="000000"/>
                </a:solidFill>
              </a:rPr>
              <a:t>Public functions define the class’s public </a:t>
            </a:r>
            <a:r>
              <a:rPr lang="en-US" altLang="en-US" dirty="0" smtClean="0">
                <a:solidFill>
                  <a:srgbClr val="000000"/>
                </a:solidFill>
              </a:rPr>
              <a:t>interface</a:t>
            </a:r>
            <a:endParaRPr lang="en-US" altLang="en-US" dirty="0">
              <a:solidFill>
                <a:srgbClr val="000000"/>
              </a:solidFill>
            </a:endParaRPr>
          </a:p>
        </p:txBody>
      </p:sp>
    </p:spTree>
    <p:extLst>
      <p:ext uri="{BB962C8B-B14F-4D97-AF65-F5344CB8AC3E}">
        <p14:creationId xmlns:p14="http://schemas.microsoft.com/office/powerpoint/2010/main" val="83784125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IN" baseline="0" dirty="0" smtClean="0"/>
              <a:t> </a:t>
            </a:r>
            <a:endParaRPr lang="en-IN" dirty="0"/>
          </a:p>
        </p:txBody>
      </p:sp>
      <p:sp>
        <p:nvSpPr>
          <p:cNvPr id="3" name="Content Placeholder 2"/>
          <p:cNvSpPr>
            <a:spLocks noGrp="1"/>
          </p:cNvSpPr>
          <p:nvPr>
            <p:ph idx="1"/>
          </p:nvPr>
        </p:nvSpPr>
        <p:spPr>
          <a:xfrm>
            <a:off x="990600" y="1143000"/>
            <a:ext cx="7086600" cy="1371600"/>
          </a:xfrm>
        </p:spPr>
        <p:txBody>
          <a:bodyPr/>
          <a:lstStyle/>
          <a:p>
            <a:pPr marL="0" lvl="0" indent="0" eaLnBrk="1" hangingPunct="1">
              <a:spcBef>
                <a:spcPct val="50000"/>
              </a:spcBef>
              <a:buNone/>
            </a:pPr>
            <a:r>
              <a:rPr lang="en-US" altLang="en-US" sz="2800" kern="1200" dirty="0">
                <a:solidFill>
                  <a:srgbClr val="037797"/>
                </a:solidFill>
                <a:latin typeface="Arial" panose="020B0604020202020204" pitchFamily="34" charset="0"/>
                <a:cs typeface="Arial" panose="020B0604020202020204" pitchFamily="34" charset="0"/>
              </a:rPr>
              <a:t>Code outside the class must use the class's public member functions to interact with the object</a:t>
            </a:r>
            <a:r>
              <a:rPr lang="en-US" altLang="en-US" sz="2800" kern="1200" dirty="0" smtClean="0">
                <a:solidFill>
                  <a:srgbClr val="037797"/>
                </a:solidFill>
                <a:latin typeface="Arial" panose="020B0604020202020204" pitchFamily="34" charset="0"/>
                <a:cs typeface="Arial" panose="020B0604020202020204" pitchFamily="34" charset="0"/>
              </a:rPr>
              <a:t>.</a:t>
            </a:r>
            <a:endParaRPr lang="en-US" altLang="en-US" sz="2800" kern="1200" dirty="0">
              <a:solidFill>
                <a:srgbClr val="037797"/>
              </a:solidFill>
              <a:latin typeface="Arial" panose="020B0604020202020204" pitchFamily="34" charset="0"/>
              <a:cs typeface="Arial" panose="020B0604020202020204" pitchFamily="34" charset="0"/>
            </a:endParaRPr>
          </a:p>
        </p:txBody>
      </p:sp>
      <p:pic>
        <p:nvPicPr>
          <p:cNvPr id="4" name="Picture 2" descr="The figure illustrates the code outside the class that must use the class's public member functions to interact with the object. The class rectangle has two public member functions: setWidth and setLength. The code outside the class uses the function setWidth to set the width, and uses getWidth to get the width. It uses the function setLength to set the length and uses getLength to get the l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743200"/>
            <a:ext cx="4495800" cy="296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393340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noChangeArrowheads="1"/>
          </p:cNvSpPr>
          <p:nvPr>
            <p:ph type="ctrTitle"/>
          </p:nvPr>
        </p:nvSpPr>
        <p:spPr/>
        <p:txBody>
          <a:bodyPr/>
          <a:lstStyle/>
          <a:p>
            <a:r>
              <a:rPr lang="en-US" altLang="en-US" dirty="0" smtClean="0"/>
              <a:t>13.5</a:t>
            </a:r>
          </a:p>
        </p:txBody>
      </p:sp>
      <p:sp>
        <p:nvSpPr>
          <p:cNvPr id="50179" name="Subtitle 2"/>
          <p:cNvSpPr>
            <a:spLocks noGrp="1" noChangeArrowheads="1"/>
          </p:cNvSpPr>
          <p:nvPr>
            <p:ph type="subTitle" idx="1"/>
          </p:nvPr>
        </p:nvSpPr>
        <p:spPr/>
        <p:txBody>
          <a:bodyPr/>
          <a:lstStyle/>
          <a:p>
            <a:r>
              <a:rPr lang="en-US" altLang="en-US" dirty="0" smtClean="0"/>
              <a:t>Separating Specification from Implementation</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Separating Specification from Implementation</a:t>
            </a:r>
            <a:endParaRPr lang="en-IN" dirty="0"/>
          </a:p>
        </p:txBody>
      </p:sp>
      <p:sp>
        <p:nvSpPr>
          <p:cNvPr id="3" name="Content Placeholder 2"/>
          <p:cNvSpPr>
            <a:spLocks noGrp="1"/>
          </p:cNvSpPr>
          <p:nvPr>
            <p:ph idx="1"/>
          </p:nvPr>
        </p:nvSpPr>
        <p:spPr>
          <a:xfrm>
            <a:off x="152400" y="1676400"/>
            <a:ext cx="8458200" cy="4525963"/>
          </a:xfrm>
        </p:spPr>
        <p:txBody>
          <a:bodyPr/>
          <a:lstStyle/>
          <a:p>
            <a:pPr lvl="1">
              <a:lnSpc>
                <a:spcPct val="90000"/>
              </a:lnSpc>
            </a:pPr>
            <a:r>
              <a:rPr lang="en-US" altLang="en-US" dirty="0">
                <a:solidFill>
                  <a:srgbClr val="000000"/>
                </a:solidFill>
              </a:rPr>
              <a:t>Place class declaration in a header file that serves as the </a:t>
            </a:r>
            <a:r>
              <a:rPr lang="en-US" altLang="en-US" u="sng" dirty="0">
                <a:solidFill>
                  <a:srgbClr val="000000"/>
                </a:solidFill>
              </a:rPr>
              <a:t>class specification file</a:t>
            </a:r>
            <a:r>
              <a:rPr lang="en-US" altLang="en-US" dirty="0" smtClean="0">
                <a:solidFill>
                  <a:srgbClr val="000000"/>
                </a:solidFill>
              </a:rPr>
              <a:t>. Name </a:t>
            </a:r>
            <a:r>
              <a:rPr lang="en-US" altLang="en-US" dirty="0">
                <a:solidFill>
                  <a:srgbClr val="000000"/>
                </a:solidFill>
              </a:rPr>
              <a:t>the file </a:t>
            </a:r>
            <a:r>
              <a:rPr lang="en-US" altLang="en-US" i="1" dirty="0">
                <a:solidFill>
                  <a:srgbClr val="000000"/>
                </a:solidFill>
                <a:latin typeface="Courier New" panose="02070309020205020404" pitchFamily="49" charset="0"/>
              </a:rPr>
              <a:t>ClassName</a:t>
            </a:r>
            <a:r>
              <a:rPr lang="en-US" altLang="en-US" dirty="0">
                <a:solidFill>
                  <a:srgbClr val="000000"/>
                </a:solidFill>
                <a:latin typeface="Courier New" panose="02070309020205020404" pitchFamily="49" charset="0"/>
              </a:rPr>
              <a:t>.h</a:t>
            </a:r>
            <a:r>
              <a:rPr lang="en-US" altLang="en-US" dirty="0">
                <a:solidFill>
                  <a:srgbClr val="000000"/>
                </a:solidFill>
              </a:rPr>
              <a:t>, for example, </a:t>
            </a:r>
            <a:r>
              <a:rPr lang="en-US" altLang="en-US" dirty="0">
                <a:solidFill>
                  <a:srgbClr val="000000"/>
                </a:solidFill>
                <a:latin typeface="Courier New" panose="02070309020205020404" pitchFamily="49" charset="0"/>
              </a:rPr>
              <a:t>Rectangle.h</a:t>
            </a:r>
            <a:endParaRPr lang="en-US" altLang="en-US" dirty="0">
              <a:solidFill>
                <a:srgbClr val="000000"/>
              </a:solidFill>
            </a:endParaRPr>
          </a:p>
          <a:p>
            <a:pPr lvl="1">
              <a:lnSpc>
                <a:spcPct val="90000"/>
              </a:lnSpc>
            </a:pPr>
            <a:r>
              <a:rPr lang="en-US" altLang="en-US" dirty="0">
                <a:solidFill>
                  <a:srgbClr val="000000"/>
                </a:solidFill>
              </a:rPr>
              <a:t>Place member function definitions in </a:t>
            </a:r>
            <a:r>
              <a:rPr lang="en-US" altLang="en-US" i="1" dirty="0">
                <a:solidFill>
                  <a:srgbClr val="000000"/>
                </a:solidFill>
                <a:latin typeface="Courier New" panose="02070309020205020404" pitchFamily="49" charset="0"/>
              </a:rPr>
              <a:t>ClassName</a:t>
            </a:r>
            <a:r>
              <a:rPr lang="en-US" altLang="en-US" dirty="0">
                <a:solidFill>
                  <a:srgbClr val="000000"/>
                </a:solidFill>
                <a:latin typeface="Courier New" panose="02070309020205020404" pitchFamily="49" charset="0"/>
              </a:rPr>
              <a:t>.cpp</a:t>
            </a:r>
            <a:r>
              <a:rPr lang="en-US" altLang="en-US" dirty="0">
                <a:solidFill>
                  <a:srgbClr val="000000"/>
                </a:solidFill>
              </a:rPr>
              <a:t>, for example, </a:t>
            </a:r>
            <a:r>
              <a:rPr lang="en-US" altLang="en-US" dirty="0" smtClean="0">
                <a:solidFill>
                  <a:srgbClr val="000000"/>
                </a:solidFill>
                <a:latin typeface="Courier New" panose="02070309020205020404" pitchFamily="49" charset="0"/>
              </a:rPr>
              <a:t>Rectangle.cpp</a:t>
            </a:r>
            <a:r>
              <a:rPr lang="en-US" altLang="en-US" dirty="0" smtClean="0">
                <a:solidFill>
                  <a:srgbClr val="000000"/>
                </a:solidFill>
              </a:rPr>
              <a:t> File </a:t>
            </a:r>
            <a:r>
              <a:rPr lang="en-US" altLang="en-US" dirty="0">
                <a:solidFill>
                  <a:srgbClr val="000000"/>
                </a:solidFill>
              </a:rPr>
              <a:t>should </a:t>
            </a:r>
            <a:r>
              <a:rPr lang="en-US" altLang="en-US" dirty="0">
                <a:solidFill>
                  <a:srgbClr val="000000"/>
                </a:solidFill>
                <a:latin typeface="Courier New" panose="02070309020205020404" pitchFamily="49" charset="0"/>
              </a:rPr>
              <a:t>#include</a:t>
            </a:r>
            <a:r>
              <a:rPr lang="en-US" altLang="en-US" dirty="0">
                <a:solidFill>
                  <a:srgbClr val="000000"/>
                </a:solidFill>
              </a:rPr>
              <a:t> the class specification file</a:t>
            </a:r>
          </a:p>
          <a:p>
            <a:pPr lvl="1">
              <a:lnSpc>
                <a:spcPct val="90000"/>
              </a:lnSpc>
            </a:pPr>
            <a:r>
              <a:rPr lang="en-US" altLang="en-US" dirty="0">
                <a:solidFill>
                  <a:srgbClr val="000000"/>
                </a:solidFill>
              </a:rPr>
              <a:t>Programs that use the class must </a:t>
            </a:r>
            <a:r>
              <a:rPr lang="en-US" altLang="en-US" dirty="0">
                <a:solidFill>
                  <a:srgbClr val="000000"/>
                </a:solidFill>
                <a:latin typeface="Courier New" panose="02070309020205020404" pitchFamily="49" charset="0"/>
              </a:rPr>
              <a:t>#include</a:t>
            </a:r>
            <a:r>
              <a:rPr lang="en-US" altLang="en-US" dirty="0">
                <a:solidFill>
                  <a:srgbClr val="000000"/>
                </a:solidFill>
              </a:rPr>
              <a:t> the class specification file, and be compiled and linked with the member function </a:t>
            </a:r>
            <a:r>
              <a:rPr lang="en-US" altLang="en-US" dirty="0" smtClean="0">
                <a:solidFill>
                  <a:srgbClr val="000000"/>
                </a:solidFill>
              </a:rPr>
              <a:t>definitions</a:t>
            </a:r>
            <a:endParaRPr lang="en-US" altLang="en-US" dirty="0">
              <a:solidFill>
                <a:srgbClr val="000000"/>
              </a:solidFill>
            </a:endParaRPr>
          </a:p>
        </p:txBody>
      </p:sp>
    </p:spTree>
    <p:extLst>
      <p:ext uri="{BB962C8B-B14F-4D97-AF65-F5344CB8AC3E}">
        <p14:creationId xmlns:p14="http://schemas.microsoft.com/office/powerpoint/2010/main" val="27819976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noChangeArrowheads="1"/>
          </p:cNvSpPr>
          <p:nvPr>
            <p:ph type="ctrTitle"/>
          </p:nvPr>
        </p:nvSpPr>
        <p:spPr/>
        <p:txBody>
          <a:bodyPr/>
          <a:lstStyle/>
          <a:p>
            <a:r>
              <a:rPr lang="en-US" altLang="en-US" dirty="0" smtClean="0"/>
              <a:t>13.6</a:t>
            </a:r>
          </a:p>
        </p:txBody>
      </p:sp>
      <p:sp>
        <p:nvSpPr>
          <p:cNvPr id="53251" name="Subtitle 2"/>
          <p:cNvSpPr>
            <a:spLocks noGrp="1" noChangeArrowheads="1"/>
          </p:cNvSpPr>
          <p:nvPr>
            <p:ph type="subTitle" idx="1"/>
          </p:nvPr>
        </p:nvSpPr>
        <p:spPr/>
        <p:txBody>
          <a:bodyPr/>
          <a:lstStyle/>
          <a:p>
            <a:r>
              <a:rPr lang="en-US" altLang="en-US" dirty="0" smtClean="0"/>
              <a:t>Inline Member Functions</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Inline Member Functions</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Member functions can be defined</a:t>
            </a:r>
          </a:p>
          <a:p>
            <a:pPr lvl="1"/>
            <a:r>
              <a:rPr lang="en-US" altLang="en-US" dirty="0">
                <a:solidFill>
                  <a:srgbClr val="000000"/>
                </a:solidFill>
              </a:rPr>
              <a:t>inline: in class declaration</a:t>
            </a:r>
          </a:p>
          <a:p>
            <a:pPr lvl="1"/>
            <a:r>
              <a:rPr lang="en-US" altLang="en-US" dirty="0">
                <a:solidFill>
                  <a:srgbClr val="000000"/>
                </a:solidFill>
              </a:rPr>
              <a:t>after the class </a:t>
            </a:r>
            <a:r>
              <a:rPr lang="en-US" altLang="en-US" dirty="0" smtClean="0">
                <a:solidFill>
                  <a:srgbClr val="000000"/>
                </a:solidFill>
              </a:rPr>
              <a:t>declaration</a:t>
            </a:r>
            <a:endParaRPr lang="en-US" altLang="en-US" dirty="0">
              <a:solidFill>
                <a:srgbClr val="000000"/>
              </a:solidFill>
            </a:endParaRPr>
          </a:p>
          <a:p>
            <a:pPr lvl="0">
              <a:spcBef>
                <a:spcPts val="4100"/>
              </a:spcBef>
              <a:buFontTx/>
              <a:buChar char="•"/>
            </a:pPr>
            <a:r>
              <a:rPr lang="en-US" altLang="en-US" dirty="0">
                <a:solidFill>
                  <a:srgbClr val="000000"/>
                </a:solidFill>
              </a:rPr>
              <a:t>Inline appropriate for short function bodies:</a:t>
            </a:r>
          </a:p>
          <a:p>
            <a:pPr marL="1026000" lvl="1">
              <a:buNone/>
            </a:pPr>
            <a:r>
              <a:rPr lang="en-US" altLang="en-US" dirty="0" smtClean="0">
                <a:solidFill>
                  <a:srgbClr val="000000"/>
                </a:solidFill>
                <a:latin typeface="Courier New" panose="02070309020205020404" pitchFamily="49" charset="0"/>
              </a:rPr>
              <a:t>int </a:t>
            </a:r>
            <a:r>
              <a:rPr lang="en-US" altLang="en-US" dirty="0">
                <a:solidFill>
                  <a:srgbClr val="000000"/>
                </a:solidFill>
                <a:latin typeface="Courier New" panose="02070309020205020404" pitchFamily="49" charset="0"/>
              </a:rPr>
              <a:t>getWidth() </a:t>
            </a:r>
            <a:r>
              <a:rPr lang="en-US" altLang="en-US" dirty="0" smtClean="0">
                <a:solidFill>
                  <a:srgbClr val="000000"/>
                </a:solidFill>
                <a:latin typeface="Courier New" panose="02070309020205020404" pitchFamily="49" charset="0"/>
              </a:rPr>
              <a:t>const</a:t>
            </a:r>
            <a:endParaRPr lang="en-US" altLang="en-US" dirty="0">
              <a:solidFill>
                <a:srgbClr val="000000"/>
              </a:solidFill>
              <a:latin typeface="Courier New" panose="02070309020205020404" pitchFamily="49" charset="0"/>
            </a:endParaRPr>
          </a:p>
          <a:p>
            <a:pPr marL="1663200" lvl="1">
              <a:spcBef>
                <a:spcPts val="0"/>
              </a:spcBef>
              <a:buNone/>
            </a:pPr>
            <a:r>
              <a:rPr lang="en-US" altLang="en-US" dirty="0" smtClean="0">
                <a:solidFill>
                  <a:srgbClr val="000000"/>
                </a:solidFill>
                <a:latin typeface="Courier New" panose="02070309020205020404" pitchFamily="49" charset="0"/>
              </a:rPr>
              <a:t>{ return </a:t>
            </a:r>
            <a:r>
              <a:rPr lang="en-US" altLang="en-US" dirty="0">
                <a:solidFill>
                  <a:srgbClr val="000000"/>
                </a:solidFill>
                <a:latin typeface="Courier New" panose="02070309020205020404" pitchFamily="49" charset="0"/>
              </a:rPr>
              <a:t>width; </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04165628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26000"/>
            <a:ext cx="8229600" cy="1143000"/>
          </a:xfrm>
        </p:spPr>
        <p:txBody>
          <a:bodyPr/>
          <a:lstStyle/>
          <a:p>
            <a:r>
              <a:rPr lang="en-US" altLang="en-US" dirty="0"/>
              <a:t>Rectangle Class with Inline Member Functions</a:t>
            </a:r>
            <a:endParaRPr lang="en-IN" dirty="0"/>
          </a:p>
        </p:txBody>
      </p:sp>
      <p:sp>
        <p:nvSpPr>
          <p:cNvPr id="3" name="Content Placeholder 2"/>
          <p:cNvSpPr>
            <a:spLocks noGrp="1"/>
          </p:cNvSpPr>
          <p:nvPr>
            <p:ph idx="1"/>
          </p:nvPr>
        </p:nvSpPr>
        <p:spPr>
          <a:xfrm>
            <a:off x="1143000" y="1676400"/>
            <a:ext cx="5257800" cy="4525963"/>
          </a:xfrm>
        </p:spPr>
        <p:txBody>
          <a:bodyPr/>
          <a:lstStyle/>
          <a:p>
            <a:pPr marL="0" indent="0">
              <a:buNone/>
            </a:pPr>
            <a:r>
              <a:rPr lang="en-US" altLang="en-US" sz="1200" kern="1200" dirty="0" smtClean="0">
                <a:solidFill>
                  <a:srgbClr val="000000"/>
                </a:solidFill>
                <a:latin typeface="Courier New" panose="02070309020205020404" pitchFamily="49" charset="0"/>
                <a:cs typeface="Times New Roman" panose="02020603050405020304" pitchFamily="18" charset="0"/>
              </a:rPr>
              <a:t>1  </a:t>
            </a:r>
            <a:r>
              <a:rPr lang="en-US" altLang="en-US" sz="1200" kern="1200" dirty="0">
                <a:solidFill>
                  <a:srgbClr val="000000"/>
                </a:solidFill>
                <a:latin typeface="Courier New" panose="02070309020205020404" pitchFamily="49" charset="0"/>
                <a:cs typeface="Times New Roman" panose="02020603050405020304" pitchFamily="18" charset="0"/>
              </a:rPr>
              <a:t>// Specification file for the Rectangle class</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2  </a:t>
            </a:r>
            <a:r>
              <a:rPr lang="en-US" altLang="en-US" sz="1200" kern="1200" dirty="0">
                <a:solidFill>
                  <a:srgbClr val="000000"/>
                </a:solidFill>
                <a:latin typeface="Courier New" panose="02070309020205020404" pitchFamily="49" charset="0"/>
                <a:cs typeface="Times New Roman" panose="02020603050405020304" pitchFamily="18" charset="0"/>
              </a:rPr>
              <a:t>// This version uses some inline member functions.</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3  </a:t>
            </a:r>
            <a:r>
              <a:rPr lang="en-US" altLang="en-US" sz="1200" kern="1200" dirty="0">
                <a:solidFill>
                  <a:srgbClr val="000000"/>
                </a:solidFill>
                <a:latin typeface="Courier New" panose="02070309020205020404" pitchFamily="49" charset="0"/>
                <a:cs typeface="Times New Roman" panose="02020603050405020304" pitchFamily="18" charset="0"/>
              </a:rPr>
              <a:t>#ifndef RECTANGLE_H</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4  </a:t>
            </a:r>
            <a:r>
              <a:rPr lang="en-US" altLang="en-US" sz="1200" kern="1200" dirty="0">
                <a:solidFill>
                  <a:srgbClr val="000000"/>
                </a:solidFill>
                <a:latin typeface="Courier New" panose="02070309020205020404" pitchFamily="49" charset="0"/>
                <a:cs typeface="Times New Roman" panose="02020603050405020304" pitchFamily="18" charset="0"/>
              </a:rPr>
              <a:t>#define RECTANGLE_H</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5 </a:t>
            </a:r>
            <a:r>
              <a:rPr lang="en-US" altLang="en-US" sz="1200" kern="1200" dirty="0">
                <a:solidFill>
                  <a:srgbClr val="000000"/>
                </a:solidFill>
                <a:latin typeface="Courier New" panose="02070309020205020404" pitchFamily="49" charset="0"/>
                <a:cs typeface="Times New Roman" panose="02020603050405020304" pitchFamily="18" charset="0"/>
              </a:rPr>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6  </a:t>
            </a:r>
            <a:r>
              <a:rPr lang="en-US" altLang="en-US" sz="1200" kern="1200" dirty="0">
                <a:solidFill>
                  <a:srgbClr val="000000"/>
                </a:solidFill>
                <a:latin typeface="Courier New" panose="02070309020205020404" pitchFamily="49" charset="0"/>
                <a:cs typeface="Times New Roman" panose="02020603050405020304" pitchFamily="18" charset="0"/>
              </a:rPr>
              <a:t>class Rectangle</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7  </a:t>
            </a:r>
            <a:r>
              <a:rPr lang="en-US" altLang="en-US" sz="1200" kern="1200" dirty="0">
                <a:solidFill>
                  <a:srgbClr val="000000"/>
                </a:solidFill>
                <a:latin typeface="Courier New" panose="02070309020205020404" pitchFamily="49" charset="0"/>
                <a:cs typeface="Times New Roman" panose="02020603050405020304" pitchFamily="18" charset="0"/>
              </a:rPr>
              <a:t>{</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8     </a:t>
            </a:r>
            <a:r>
              <a:rPr lang="en-US" altLang="en-US" sz="1200" kern="1200" dirty="0">
                <a:solidFill>
                  <a:srgbClr val="000000"/>
                </a:solidFill>
                <a:latin typeface="Courier New" panose="02070309020205020404" pitchFamily="49" charset="0"/>
                <a:cs typeface="Times New Roman" panose="02020603050405020304" pitchFamily="18" charset="0"/>
              </a:rPr>
              <a:t>private:</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smtClean="0">
                <a:solidFill>
                  <a:srgbClr val="000000"/>
                </a:solidFill>
                <a:latin typeface="Courier New" panose="02070309020205020404" pitchFamily="49" charset="0"/>
                <a:cs typeface="Times New Roman" panose="02020603050405020304" pitchFamily="18" charset="0"/>
              </a:rPr>
              <a:t>9        </a:t>
            </a:r>
            <a:r>
              <a:rPr lang="en-US" altLang="en-US" sz="1200" kern="1200" dirty="0">
                <a:solidFill>
                  <a:srgbClr val="000000"/>
                </a:solidFill>
                <a:latin typeface="Courier New" panose="02070309020205020404" pitchFamily="49" charset="0"/>
                <a:cs typeface="Times New Roman" panose="02020603050405020304" pitchFamily="18" charset="0"/>
              </a:rPr>
              <a:t>double width;</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10        double length;</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11     public:</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12        void setWidth(double);</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13        void setLength(double);</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14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15        double getWidth() const</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16           { return width;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17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18        double getLength() const</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19           { return length;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20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21        double getArea() const</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22           { return width * length;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23  };</a:t>
            </a:r>
            <a:br>
              <a:rPr lang="en-US" altLang="en-US" sz="1200" kern="1200" dirty="0">
                <a:solidFill>
                  <a:srgbClr val="000000"/>
                </a:solidFill>
                <a:latin typeface="Courier New" panose="02070309020205020404" pitchFamily="49" charset="0"/>
                <a:cs typeface="Times New Roman" panose="02020603050405020304" pitchFamily="18" charset="0"/>
              </a:rPr>
            </a:br>
            <a:r>
              <a:rPr lang="en-US" altLang="en-US" sz="1200" kern="1200" dirty="0">
                <a:solidFill>
                  <a:srgbClr val="000000"/>
                </a:solidFill>
                <a:latin typeface="Courier New" panose="02070309020205020404" pitchFamily="49" charset="0"/>
                <a:cs typeface="Times New Roman" panose="02020603050405020304" pitchFamily="18" charset="0"/>
              </a:rPr>
              <a:t>24  #endif</a:t>
            </a:r>
            <a:endParaRPr lang="en-IN" dirty="0"/>
          </a:p>
        </p:txBody>
      </p:sp>
    </p:spTree>
    <p:extLst>
      <p:ext uri="{BB962C8B-B14F-4D97-AF65-F5344CB8AC3E}">
        <p14:creationId xmlns:p14="http://schemas.microsoft.com/office/powerpoint/2010/main" val="34301954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Tradeoffs – Inline vs. Regular Member Functions</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Regular functions – when called, compiler stores return address of call, allocates memory for local variables, etc</a:t>
            </a:r>
            <a:r>
              <a:rPr lang="en-US" altLang="en-US" dirty="0" smtClean="0">
                <a:solidFill>
                  <a:srgbClr val="000000"/>
                </a:solidFill>
              </a:rPr>
              <a:t>.</a:t>
            </a:r>
            <a:endParaRPr lang="en-US" altLang="en-US" dirty="0">
              <a:solidFill>
                <a:srgbClr val="000000"/>
              </a:solidFill>
            </a:endParaRPr>
          </a:p>
          <a:p>
            <a:pPr lvl="0">
              <a:spcBef>
                <a:spcPts val="4600"/>
              </a:spcBef>
              <a:buFontTx/>
              <a:buChar char="•"/>
            </a:pPr>
            <a:r>
              <a:rPr lang="en-US" altLang="en-US" dirty="0">
                <a:solidFill>
                  <a:srgbClr val="000000"/>
                </a:solidFill>
              </a:rPr>
              <a:t>Code for an inline function is copied into program in place of call – larger executable program, but no function call overhead, hence faster </a:t>
            </a:r>
            <a:r>
              <a:rPr lang="en-US" altLang="en-US" dirty="0" smtClean="0">
                <a:solidFill>
                  <a:srgbClr val="000000"/>
                </a:solidFill>
              </a:rPr>
              <a:t>execution</a:t>
            </a:r>
            <a:endParaRPr lang="en-US" altLang="en-US" dirty="0">
              <a:solidFill>
                <a:srgbClr val="000000"/>
              </a:solidFill>
            </a:endParaRPr>
          </a:p>
        </p:txBody>
      </p:sp>
    </p:spTree>
    <p:extLst>
      <p:ext uri="{BB962C8B-B14F-4D97-AF65-F5344CB8AC3E}">
        <p14:creationId xmlns:p14="http://schemas.microsoft.com/office/powerpoint/2010/main" val="34277142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noChangeArrowheads="1"/>
          </p:cNvSpPr>
          <p:nvPr>
            <p:ph type="ctrTitle"/>
          </p:nvPr>
        </p:nvSpPr>
        <p:spPr/>
        <p:txBody>
          <a:bodyPr/>
          <a:lstStyle/>
          <a:p>
            <a:r>
              <a:rPr lang="en-US" altLang="en-US" dirty="0" smtClean="0"/>
              <a:t>13.7</a:t>
            </a:r>
          </a:p>
        </p:txBody>
      </p:sp>
      <p:sp>
        <p:nvSpPr>
          <p:cNvPr id="59395" name="Subtitle 2"/>
          <p:cNvSpPr>
            <a:spLocks noGrp="1" noChangeArrowheads="1"/>
          </p:cNvSpPr>
          <p:nvPr>
            <p:ph type="subTitle" idx="1"/>
          </p:nvPr>
        </p:nvSpPr>
        <p:spPr/>
        <p:txBody>
          <a:bodyPr/>
          <a:lstStyle/>
          <a:p>
            <a:r>
              <a:rPr lang="en-US" altLang="en-US" dirty="0" smtClean="0"/>
              <a:t>Constructors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Constructors</a:t>
            </a:r>
            <a:endParaRPr lang="en-IN" dirty="0"/>
          </a:p>
        </p:txBody>
      </p:sp>
      <p:sp>
        <p:nvSpPr>
          <p:cNvPr id="3" name="Content Placeholder 2"/>
          <p:cNvSpPr>
            <a:spLocks noGrp="1"/>
          </p:cNvSpPr>
          <p:nvPr>
            <p:ph idx="1"/>
          </p:nvPr>
        </p:nvSpPr>
        <p:spPr>
          <a:xfrm>
            <a:off x="457200" y="1951037"/>
            <a:ext cx="8229600" cy="3611563"/>
          </a:xfrm>
        </p:spPr>
        <p:txBody>
          <a:bodyPr/>
          <a:lstStyle/>
          <a:p>
            <a:pPr lvl="0">
              <a:lnSpc>
                <a:spcPct val="90000"/>
              </a:lnSpc>
              <a:buFontTx/>
              <a:buChar char="•"/>
            </a:pPr>
            <a:r>
              <a:rPr lang="en-US" altLang="en-US" sz="2800" dirty="0">
                <a:solidFill>
                  <a:srgbClr val="000000"/>
                </a:solidFill>
              </a:rPr>
              <a:t>Member function that is automatically called when an object is </a:t>
            </a:r>
            <a:r>
              <a:rPr lang="en-US" altLang="en-US" sz="2800" dirty="0" smtClean="0">
                <a:solidFill>
                  <a:srgbClr val="000000"/>
                </a:solidFill>
              </a:rPr>
              <a:t>created</a:t>
            </a:r>
            <a:endParaRPr lang="en-US" altLang="en-US" sz="2800" dirty="0">
              <a:solidFill>
                <a:srgbClr val="000000"/>
              </a:solidFill>
            </a:endParaRPr>
          </a:p>
          <a:p>
            <a:pPr lvl="0">
              <a:lnSpc>
                <a:spcPct val="90000"/>
              </a:lnSpc>
              <a:spcBef>
                <a:spcPts val="3700"/>
              </a:spcBef>
              <a:buFontTx/>
              <a:buChar char="•"/>
            </a:pPr>
            <a:r>
              <a:rPr lang="en-US" altLang="en-US" sz="2800" dirty="0">
                <a:solidFill>
                  <a:srgbClr val="000000"/>
                </a:solidFill>
              </a:rPr>
              <a:t>Purpose is to construct an </a:t>
            </a:r>
            <a:r>
              <a:rPr lang="en-US" altLang="en-US" sz="2800" dirty="0" smtClean="0">
                <a:solidFill>
                  <a:srgbClr val="000000"/>
                </a:solidFill>
              </a:rPr>
              <a:t>object</a:t>
            </a:r>
            <a:endParaRPr lang="en-US" altLang="en-US" sz="2800" dirty="0">
              <a:solidFill>
                <a:srgbClr val="000000"/>
              </a:solidFill>
            </a:endParaRPr>
          </a:p>
          <a:p>
            <a:pPr>
              <a:lnSpc>
                <a:spcPct val="90000"/>
              </a:lnSpc>
              <a:spcBef>
                <a:spcPts val="3700"/>
              </a:spcBef>
              <a:buFontTx/>
              <a:buChar char="•"/>
            </a:pPr>
            <a:r>
              <a:rPr lang="en-US" altLang="en-US" sz="2800" dirty="0">
                <a:solidFill>
                  <a:srgbClr val="000000"/>
                </a:solidFill>
              </a:rPr>
              <a:t>Constructor function name is class name</a:t>
            </a:r>
          </a:p>
          <a:p>
            <a:pPr>
              <a:lnSpc>
                <a:spcPct val="90000"/>
              </a:lnSpc>
              <a:spcBef>
                <a:spcPts val="3700"/>
              </a:spcBef>
              <a:buFontTx/>
              <a:buChar char="•"/>
            </a:pPr>
            <a:r>
              <a:rPr lang="en-US" altLang="en-US" sz="2800" dirty="0">
                <a:solidFill>
                  <a:srgbClr val="000000"/>
                </a:solidFill>
              </a:rPr>
              <a:t>Has no return type</a:t>
            </a:r>
          </a:p>
        </p:txBody>
      </p:sp>
    </p:spTree>
    <p:extLst>
      <p:ext uri="{BB962C8B-B14F-4D97-AF65-F5344CB8AC3E}">
        <p14:creationId xmlns:p14="http://schemas.microsoft.com/office/powerpoint/2010/main" val="22850406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IN" dirty="0" smtClean="0"/>
              <a:t> </a:t>
            </a:r>
            <a:r>
              <a:rPr lang="en-IN" baseline="0" dirty="0" smtClean="0"/>
              <a:t> </a:t>
            </a:r>
            <a:endParaRPr lang="en-IN" dirty="0"/>
          </a:p>
        </p:txBody>
      </p:sp>
      <p:pic>
        <p:nvPicPr>
          <p:cNvPr id="62466" name="Picture 2" descr="The screenshot shows the contents of the file Rectangle.h (version 3). It shows the implementation file for the rectangle class with a constructor. The class rectangle declares the private and public members: the private members are the width and length. The public members are setWidth and setLength. The public member constant has a constructor. The accessor const after member function getWidth, getLength, and getArea returns the width, length, and area of the rectan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609600"/>
            <a:ext cx="5419725"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229600" cy="487362"/>
          </a:xfrm>
        </p:spPr>
        <p:txBody>
          <a:bodyPr/>
          <a:lstStyle/>
          <a:p>
            <a:pPr eaLnBrk="1" hangingPunct="1"/>
            <a:r>
              <a:rPr lang="en-US" altLang="en-US" sz="3200" dirty="0"/>
              <a:t>Contents of </a:t>
            </a:r>
            <a:r>
              <a:rPr lang="en-US" altLang="en-US" sz="3200" dirty="0" smtClean="0">
                <a:latin typeface="Courier New" panose="02070309020205020404" pitchFamily="49" charset="0"/>
              </a:rPr>
              <a:t>Rectangle.ccp </a:t>
            </a:r>
            <a:r>
              <a:rPr lang="en-US" altLang="en-US" sz="3200" dirty="0" smtClean="0"/>
              <a:t>Version 3 </a:t>
            </a:r>
            <a:r>
              <a:rPr lang="en-US" altLang="en-US" sz="1200" dirty="0" smtClean="0"/>
              <a:t>(1 of 2)</a:t>
            </a:r>
            <a:endParaRPr lang="en-IN" sz="3200" dirty="0"/>
          </a:p>
        </p:txBody>
      </p:sp>
      <p:pic>
        <p:nvPicPr>
          <p:cNvPr id="63490" name="Picture 2" descr="The screenshot shows the contents of the file Rectangle.cpp (version 3). It shows the implementation file for the rectangle class with a constructor. The header file hashtag include &quot;Rectangle.h&quot; is needed for the rectangle class, hashtag include open bracket iostream close bracket is needed for cout, and hashtag include open bracket cstdlib close bracket are needed for the exit function. The constructor initializes the width and length to 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43000"/>
            <a:ext cx="7986713" cy="423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609600"/>
            <a:ext cx="8229600" cy="487362"/>
          </a:xfrm>
        </p:spPr>
        <p:txBody>
          <a:bodyPr/>
          <a:lstStyle/>
          <a:p>
            <a:pPr eaLnBrk="1" hangingPunct="1"/>
            <a:r>
              <a:rPr lang="en-US" altLang="en-US" sz="3200" dirty="0"/>
              <a:t>Contents of </a:t>
            </a:r>
            <a:r>
              <a:rPr lang="en-US" altLang="en-US" sz="3200" dirty="0">
                <a:latin typeface="Courier New" panose="02070309020205020404" pitchFamily="49" charset="0"/>
              </a:rPr>
              <a:t>Rectangle.ccp </a:t>
            </a:r>
            <a:r>
              <a:rPr lang="en-US" altLang="en-US" sz="3200" dirty="0">
                <a:latin typeface="Arial" panose="020B0604020202020204" pitchFamily="34" charset="0"/>
                <a:cs typeface="Arial" panose="020B0604020202020204" pitchFamily="34" charset="0"/>
              </a:rPr>
              <a:t>Version</a:t>
            </a:r>
            <a:r>
              <a:rPr lang="en-US" altLang="en-US" sz="3200" dirty="0"/>
              <a:t> </a:t>
            </a:r>
            <a:r>
              <a:rPr lang="en-US" altLang="en-US" sz="3200" dirty="0" smtClean="0"/>
              <a:t>3 </a:t>
            </a:r>
            <a:r>
              <a:rPr lang="en-US" altLang="en-US" sz="1200" dirty="0" smtClean="0"/>
              <a:t>(2 of 2)</a:t>
            </a:r>
            <a:endParaRPr lang="en-IN" sz="3200" dirty="0"/>
          </a:p>
        </p:txBody>
      </p:sp>
      <p:pic>
        <p:nvPicPr>
          <p:cNvPr id="4" name="Picture 2" descr="The screenshot shows the contents of the file Rectangle.cpp (version 3). It shows the implementation file for the rectangle class with a constructor. The header file hashtag include &quot;Rectangle.h&quot; is needed for the rectangle class, hashtag include open bracket iostream close bracket is needed for cout, and hashtag include open bracket cstdlib close bracket are needed for the exit function. The constructor initializes the width and length to 0.0. The member function setWidth sets the value of the member variable width. The member function setLength sets the value of the member variable lengt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9600" y="1162050"/>
            <a:ext cx="539591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760133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lstStyle/>
          <a:p>
            <a:r>
              <a:rPr lang="en-IN" dirty="0" smtClean="0"/>
              <a:t>  </a:t>
            </a:r>
            <a:r>
              <a:rPr lang="en-IN" baseline="0" dirty="0" smtClean="0"/>
              <a:t> </a:t>
            </a:r>
            <a:endParaRPr lang="en-IN" dirty="0"/>
          </a:p>
        </p:txBody>
      </p:sp>
      <p:pic>
        <p:nvPicPr>
          <p:cNvPr id="65538" name="Picture 1" descr="The screenshot shows the program that uses the rectangle's class constructor. The header file, &quot;Rectangle.h&quot; is needed for the rectangle class. The main function declares the rectangle box that defines an instance of the rectangle class. The program displays the rectangle's data. The program output displays the width, length, and area as 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381000"/>
            <a:ext cx="8077200" cy="584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In-Place Initialization</a:t>
            </a:r>
            <a:endParaRPr lang="en-IN" dirty="0"/>
          </a:p>
        </p:txBody>
      </p:sp>
      <p:sp>
        <p:nvSpPr>
          <p:cNvPr id="3" name="Content Placeholder 2"/>
          <p:cNvSpPr>
            <a:spLocks noGrp="1"/>
          </p:cNvSpPr>
          <p:nvPr>
            <p:ph idx="1"/>
          </p:nvPr>
        </p:nvSpPr>
        <p:spPr>
          <a:xfrm>
            <a:off x="457200" y="1600201"/>
            <a:ext cx="8229600" cy="1905000"/>
          </a:xfrm>
        </p:spPr>
        <p:txBody>
          <a:bodyPr/>
          <a:lstStyle/>
          <a:p>
            <a:pPr lvl="0">
              <a:buFontTx/>
              <a:buChar char="•"/>
            </a:pPr>
            <a:r>
              <a:rPr lang="en-US" altLang="en-US" sz="2400" dirty="0">
                <a:solidFill>
                  <a:srgbClr val="000000"/>
                </a:solidFill>
              </a:rPr>
              <a:t>If you are using C++11 or later, you can initialize a member variable in its declaration statement, just as you can with a regular variable.</a:t>
            </a:r>
          </a:p>
          <a:p>
            <a:pPr lvl="0">
              <a:buFontTx/>
              <a:buChar char="•"/>
            </a:pPr>
            <a:r>
              <a:rPr lang="en-US" altLang="en-US" sz="2400" dirty="0">
                <a:solidFill>
                  <a:srgbClr val="000000"/>
                </a:solidFill>
              </a:rPr>
              <a:t>This is known as in-place initialization. Here is an example</a:t>
            </a:r>
            <a:r>
              <a:rPr lang="en-US" altLang="en-US" sz="2400" dirty="0" smtClean="0">
                <a:solidFill>
                  <a:srgbClr val="000000"/>
                </a:solidFill>
              </a:rPr>
              <a:t>:</a:t>
            </a:r>
            <a:endParaRPr lang="en-US" altLang="en-US" sz="2400" dirty="0">
              <a:solidFill>
                <a:srgbClr val="000000"/>
              </a:solidFill>
            </a:endParaRPr>
          </a:p>
        </p:txBody>
      </p:sp>
      <p:sp>
        <p:nvSpPr>
          <p:cNvPr id="4" name="Content Placeholder 3"/>
          <p:cNvSpPr>
            <a:spLocks noGrp="1"/>
          </p:cNvSpPr>
          <p:nvPr>
            <p:ph sz="quarter" idx="11"/>
          </p:nvPr>
        </p:nvSpPr>
        <p:spPr>
          <a:xfrm>
            <a:off x="2438400" y="3581400"/>
            <a:ext cx="5257800" cy="2286000"/>
          </a:xfrm>
        </p:spPr>
        <p:txBody>
          <a:bodyPr/>
          <a:lstStyle/>
          <a:p>
            <a:pPr marL="0" lvl="0" indent="0">
              <a:spcBef>
                <a:spcPct val="0"/>
              </a:spcBef>
              <a:buNone/>
            </a:pPr>
            <a:r>
              <a:rPr lang="en-US" altLang="en-US" sz="1800" kern="1200" dirty="0">
                <a:solidFill>
                  <a:srgbClr val="000000"/>
                </a:solidFill>
                <a:latin typeface="Consolas" panose="020B0609020204030204" pitchFamily="49" charset="0"/>
                <a:cs typeface="Arial" panose="020B0604020202020204" pitchFamily="34" charset="0"/>
              </a:rPr>
              <a:t>class Rectangle</a:t>
            </a:r>
          </a:p>
          <a:p>
            <a:pPr marL="0" lvl="0" indent="0">
              <a:spcBef>
                <a:spcPct val="0"/>
              </a:spcBef>
              <a:buNone/>
            </a:pPr>
            <a:r>
              <a:rPr lang="en-US" altLang="en-US" sz="1800" kern="1200" dirty="0">
                <a:solidFill>
                  <a:srgbClr val="000000"/>
                </a:solidFill>
                <a:latin typeface="Consolas" panose="020B0609020204030204" pitchFamily="49" charset="0"/>
                <a:cs typeface="Arial" panose="020B0604020202020204" pitchFamily="34" charset="0"/>
              </a:rPr>
              <a:t>{</a:t>
            </a:r>
          </a:p>
          <a:p>
            <a:pPr marL="0" lvl="0" indent="0">
              <a:spcBef>
                <a:spcPct val="0"/>
              </a:spcBef>
              <a:buNone/>
            </a:pPr>
            <a:r>
              <a:rPr lang="en-US" altLang="en-US" sz="1800" kern="1200" dirty="0">
                <a:solidFill>
                  <a:srgbClr val="000000"/>
                </a:solidFill>
                <a:latin typeface="Consolas" panose="020B0609020204030204" pitchFamily="49" charset="0"/>
                <a:cs typeface="Arial" panose="020B0604020202020204" pitchFamily="34" charset="0"/>
              </a:rPr>
              <a:t>private:</a:t>
            </a:r>
          </a:p>
          <a:p>
            <a:pPr marL="378000" lvl="0" indent="0">
              <a:spcBef>
                <a:spcPct val="0"/>
              </a:spcBef>
              <a:buNone/>
            </a:pPr>
            <a:r>
              <a:rPr lang="en-US" altLang="en-US" sz="1800" kern="1200" dirty="0" smtClean="0">
                <a:solidFill>
                  <a:srgbClr val="000000"/>
                </a:solidFill>
                <a:latin typeface="Consolas" panose="020B0609020204030204" pitchFamily="49" charset="0"/>
                <a:cs typeface="Arial" panose="020B0604020202020204" pitchFamily="34" charset="0"/>
              </a:rPr>
              <a:t>double </a:t>
            </a:r>
            <a:r>
              <a:rPr lang="en-US" altLang="en-US" sz="1800" kern="1200" dirty="0">
                <a:solidFill>
                  <a:srgbClr val="000000"/>
                </a:solidFill>
                <a:latin typeface="Consolas" panose="020B0609020204030204" pitchFamily="49" charset="0"/>
                <a:cs typeface="Arial" panose="020B0604020202020204" pitchFamily="34" charset="0"/>
              </a:rPr>
              <a:t>width = 0.0;</a:t>
            </a:r>
          </a:p>
          <a:p>
            <a:pPr marL="378000" lvl="0" indent="0">
              <a:spcBef>
                <a:spcPct val="0"/>
              </a:spcBef>
              <a:buNone/>
            </a:pPr>
            <a:r>
              <a:rPr lang="en-US" altLang="en-US" sz="1800" kern="1200" dirty="0" smtClean="0">
                <a:solidFill>
                  <a:srgbClr val="000000"/>
                </a:solidFill>
                <a:latin typeface="Consolas" panose="020B0609020204030204" pitchFamily="49" charset="0"/>
                <a:cs typeface="Arial" panose="020B0604020202020204" pitchFamily="34" charset="0"/>
              </a:rPr>
              <a:t>double </a:t>
            </a:r>
            <a:r>
              <a:rPr lang="en-US" altLang="en-US" sz="1800" kern="1200" dirty="0">
                <a:solidFill>
                  <a:srgbClr val="000000"/>
                </a:solidFill>
                <a:latin typeface="Consolas" panose="020B0609020204030204" pitchFamily="49" charset="0"/>
                <a:cs typeface="Arial" panose="020B0604020202020204" pitchFamily="34" charset="0"/>
              </a:rPr>
              <a:t>length = 0.0;</a:t>
            </a:r>
          </a:p>
          <a:p>
            <a:pPr marL="0" lvl="0" indent="0">
              <a:spcBef>
                <a:spcPct val="0"/>
              </a:spcBef>
              <a:buNone/>
            </a:pPr>
            <a:r>
              <a:rPr lang="en-US" altLang="en-US" sz="1800" kern="1200" dirty="0">
                <a:solidFill>
                  <a:srgbClr val="000000"/>
                </a:solidFill>
                <a:latin typeface="Consolas" panose="020B0609020204030204" pitchFamily="49" charset="0"/>
                <a:cs typeface="Arial" panose="020B0604020202020204" pitchFamily="34" charset="0"/>
              </a:rPr>
              <a:t>public:</a:t>
            </a:r>
          </a:p>
          <a:p>
            <a:pPr marL="190800" lvl="0" indent="0">
              <a:spcBef>
                <a:spcPct val="0"/>
              </a:spcBef>
              <a:buNone/>
            </a:pPr>
            <a:r>
              <a:rPr lang="en-US" altLang="en-US" sz="1800" b="1" i="1" kern="1200" dirty="0" smtClean="0">
                <a:solidFill>
                  <a:srgbClr val="000000"/>
                </a:solidFill>
                <a:latin typeface="Arial" panose="020B0604020202020204" pitchFamily="34" charset="0"/>
                <a:cs typeface="Arial" panose="020B0604020202020204" pitchFamily="34" charset="0"/>
              </a:rPr>
              <a:t>Public </a:t>
            </a:r>
            <a:r>
              <a:rPr lang="en-US" altLang="en-US" sz="1800" b="1" i="1" kern="1200" dirty="0">
                <a:solidFill>
                  <a:srgbClr val="000000"/>
                </a:solidFill>
                <a:latin typeface="Arial" panose="020B0604020202020204" pitchFamily="34" charset="0"/>
                <a:cs typeface="Arial" panose="020B0604020202020204" pitchFamily="34" charset="0"/>
              </a:rPr>
              <a:t>member functions appear here…</a:t>
            </a:r>
            <a:endParaRPr lang="en-US" altLang="en-US" sz="1800" b="1" kern="1200" dirty="0">
              <a:solidFill>
                <a:srgbClr val="000000"/>
              </a:solidFill>
              <a:latin typeface="Arial" panose="020B0604020202020204" pitchFamily="34" charset="0"/>
              <a:cs typeface="Arial" panose="020B0604020202020204" pitchFamily="34" charset="0"/>
            </a:endParaRPr>
          </a:p>
          <a:p>
            <a:pPr marL="0" lvl="0" indent="0">
              <a:spcBef>
                <a:spcPct val="0"/>
              </a:spcBef>
              <a:buNone/>
            </a:pPr>
            <a:r>
              <a:rPr lang="en-US" altLang="en-US" sz="1800" kern="1200" dirty="0" smtClean="0">
                <a:solidFill>
                  <a:srgbClr val="000000"/>
                </a:solidFill>
                <a:latin typeface="Consolas" panose="020B0609020204030204" pitchFamily="49" charset="0"/>
                <a:cs typeface="Arial" panose="020B0604020202020204" pitchFamily="34" charset="0"/>
              </a:rPr>
              <a:t>};</a:t>
            </a:r>
            <a:endParaRPr lang="en-US" altLang="en-US" sz="1800" kern="1200" dirty="0">
              <a:solidFill>
                <a:srgbClr val="000000"/>
              </a:solidFill>
              <a:latin typeface="Consolas" panose="020B0609020204030204" pitchFamily="49" charset="0"/>
              <a:cs typeface="Arial" panose="020B0604020202020204" pitchFamily="34" charset="0"/>
            </a:endParaRPr>
          </a:p>
        </p:txBody>
      </p:sp>
    </p:spTree>
    <p:extLst>
      <p:ext uri="{BB962C8B-B14F-4D97-AF65-F5344CB8AC3E}">
        <p14:creationId xmlns:p14="http://schemas.microsoft.com/office/powerpoint/2010/main" val="335445151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Default Constructors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sz="2400" dirty="0">
                <a:solidFill>
                  <a:srgbClr val="000000"/>
                </a:solidFill>
              </a:rPr>
              <a:t>A default constructor is a constructor that takes no arguments</a:t>
            </a:r>
            <a:r>
              <a:rPr lang="en-US" altLang="en-US" sz="2400" dirty="0" smtClean="0">
                <a:solidFill>
                  <a:srgbClr val="000000"/>
                </a:solidFill>
              </a:rPr>
              <a:t>.</a:t>
            </a:r>
            <a:endParaRPr lang="en-US" altLang="en-US" sz="2400" dirty="0">
              <a:solidFill>
                <a:srgbClr val="000000"/>
              </a:solidFill>
            </a:endParaRPr>
          </a:p>
          <a:p>
            <a:pPr lvl="0">
              <a:lnSpc>
                <a:spcPct val="91000"/>
              </a:lnSpc>
              <a:spcBef>
                <a:spcPts val="3100"/>
              </a:spcBef>
              <a:buFontTx/>
              <a:buChar char="•"/>
            </a:pPr>
            <a:r>
              <a:rPr lang="en-US" altLang="en-US" sz="2400" dirty="0">
                <a:solidFill>
                  <a:srgbClr val="000000"/>
                </a:solidFill>
              </a:rPr>
              <a:t>If you write a class with no constructor at all, C++ will write a default constructor for you, one that does nothing</a:t>
            </a:r>
            <a:r>
              <a:rPr lang="en-US" altLang="en-US" sz="2400" dirty="0" smtClean="0">
                <a:solidFill>
                  <a:srgbClr val="000000"/>
                </a:solidFill>
              </a:rPr>
              <a:t>.</a:t>
            </a:r>
            <a:endParaRPr lang="en-US" altLang="en-US" sz="2400" dirty="0">
              <a:solidFill>
                <a:srgbClr val="000000"/>
              </a:solidFill>
            </a:endParaRPr>
          </a:p>
          <a:p>
            <a:pPr lvl="0">
              <a:lnSpc>
                <a:spcPct val="91000"/>
              </a:lnSpc>
              <a:spcBef>
                <a:spcPts val="3700"/>
              </a:spcBef>
              <a:buFontTx/>
              <a:buChar char="•"/>
            </a:pPr>
            <a:r>
              <a:rPr lang="en-US" altLang="en-US" sz="2400" dirty="0">
                <a:solidFill>
                  <a:srgbClr val="000000"/>
                </a:solidFill>
              </a:rPr>
              <a:t>A simple instantiation of a class (with no arguments) calls the default constructor:</a:t>
            </a:r>
          </a:p>
          <a:p>
            <a:pPr lvl="1">
              <a:lnSpc>
                <a:spcPct val="90000"/>
              </a:lnSpc>
              <a:spcBef>
                <a:spcPct val="40000"/>
              </a:spcBef>
              <a:buNone/>
            </a:pPr>
            <a:r>
              <a:rPr lang="en-US" altLang="en-US" sz="2000" dirty="0">
                <a:solidFill>
                  <a:srgbClr val="000000"/>
                </a:solidFill>
              </a:rPr>
              <a:t>	</a:t>
            </a:r>
            <a:r>
              <a:rPr lang="en-US" altLang="en-US" sz="2000" dirty="0">
                <a:solidFill>
                  <a:srgbClr val="000000"/>
                </a:solidFill>
                <a:latin typeface="Courier New" panose="02070309020205020404" pitchFamily="49" charset="0"/>
              </a:rPr>
              <a:t>Rectangle r</a:t>
            </a:r>
            <a:r>
              <a:rPr lang="en-US" altLang="en-US" sz="2000" dirty="0" smtClean="0">
                <a:solidFill>
                  <a:srgbClr val="000000"/>
                </a:solidFill>
                <a:latin typeface="Courier New" panose="02070309020205020404" pitchFamily="49" charset="0"/>
              </a:rPr>
              <a:t>;</a:t>
            </a:r>
            <a:endParaRPr lang="en-US" altLang="en-US" sz="20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49160069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ctrTitle"/>
          </p:nvPr>
        </p:nvSpPr>
        <p:spPr/>
        <p:txBody>
          <a:bodyPr/>
          <a:lstStyle/>
          <a:p>
            <a:r>
              <a:rPr lang="en-US" altLang="en-US" dirty="0" smtClean="0"/>
              <a:t>13.8</a:t>
            </a:r>
          </a:p>
        </p:txBody>
      </p:sp>
      <p:sp>
        <p:nvSpPr>
          <p:cNvPr id="68611" name="Subtitle 2"/>
          <p:cNvSpPr>
            <a:spLocks noGrp="1" noChangeArrowheads="1"/>
          </p:cNvSpPr>
          <p:nvPr>
            <p:ph type="subTitle" idx="1"/>
          </p:nvPr>
        </p:nvSpPr>
        <p:spPr/>
        <p:txBody>
          <a:bodyPr/>
          <a:lstStyle/>
          <a:p>
            <a:r>
              <a:rPr lang="en-US" altLang="en-US" dirty="0" smtClean="0"/>
              <a:t>Passing Arguments to Constructors</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Passing Arguments to </a:t>
            </a:r>
            <a:r>
              <a:rPr lang="en-US" altLang="en-US" dirty="0" smtClean="0"/>
              <a:t>Constructors </a:t>
            </a:r>
            <a:r>
              <a:rPr lang="en-US" altLang="en-US" sz="1200" dirty="0" smtClean="0"/>
              <a:t>(1 of 2)</a:t>
            </a:r>
            <a:endParaRPr lang="en-IN" dirty="0"/>
          </a:p>
        </p:txBody>
      </p:sp>
      <p:sp>
        <p:nvSpPr>
          <p:cNvPr id="3" name="Content Placeholder 2"/>
          <p:cNvSpPr>
            <a:spLocks noGrp="1"/>
          </p:cNvSpPr>
          <p:nvPr>
            <p:ph idx="1"/>
          </p:nvPr>
        </p:nvSpPr>
        <p:spPr>
          <a:xfrm>
            <a:off x="457200" y="1735200"/>
            <a:ext cx="8229600" cy="4665600"/>
          </a:xfrm>
        </p:spPr>
        <p:txBody>
          <a:bodyPr/>
          <a:lstStyle/>
          <a:p>
            <a:pPr lvl="0">
              <a:lnSpc>
                <a:spcPct val="90000"/>
              </a:lnSpc>
              <a:spcBef>
                <a:spcPct val="40000"/>
              </a:spcBef>
              <a:buFontTx/>
              <a:buChar char="•"/>
            </a:pPr>
            <a:r>
              <a:rPr lang="en-US" altLang="en-US" sz="2800" dirty="0">
                <a:solidFill>
                  <a:srgbClr val="000000"/>
                </a:solidFill>
              </a:rPr>
              <a:t>To create a constructor that takes arguments:</a:t>
            </a:r>
          </a:p>
          <a:p>
            <a:pPr lvl="1">
              <a:lnSpc>
                <a:spcPct val="90000"/>
              </a:lnSpc>
              <a:spcBef>
                <a:spcPct val="40000"/>
              </a:spcBef>
            </a:pPr>
            <a:r>
              <a:rPr lang="en-US" altLang="en-US" sz="2400" dirty="0">
                <a:solidFill>
                  <a:srgbClr val="000000"/>
                </a:solidFill>
              </a:rPr>
              <a:t>indicate parameters in </a:t>
            </a:r>
            <a:r>
              <a:rPr lang="en-US" altLang="en-US" sz="2400" dirty="0" smtClean="0">
                <a:solidFill>
                  <a:srgbClr val="000000"/>
                </a:solidFill>
              </a:rPr>
              <a:t>prototype:</a:t>
            </a:r>
          </a:p>
          <a:p>
            <a:pPr marL="741600" lvl="1" indent="0">
              <a:lnSpc>
                <a:spcPct val="94000"/>
              </a:lnSpc>
              <a:spcBef>
                <a:spcPts val="2500"/>
              </a:spcBef>
              <a:buNone/>
            </a:pPr>
            <a:r>
              <a:rPr lang="en-US" altLang="en-US" sz="2400" dirty="0" smtClean="0">
                <a:solidFill>
                  <a:srgbClr val="000000"/>
                </a:solidFill>
                <a:latin typeface="Courier New" panose="02070309020205020404" pitchFamily="49" charset="0"/>
              </a:rPr>
              <a:t>Rectangle(double</a:t>
            </a:r>
            <a:r>
              <a:rPr lang="en-US" altLang="en-US" sz="2400" dirty="0">
                <a:solidFill>
                  <a:srgbClr val="000000"/>
                </a:solidFill>
                <a:latin typeface="Courier New" panose="02070309020205020404" pitchFamily="49" charset="0"/>
              </a:rPr>
              <a:t>, double</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lvl="1">
              <a:lnSpc>
                <a:spcPct val="89000"/>
              </a:lnSpc>
              <a:spcBef>
                <a:spcPts val="3800"/>
              </a:spcBef>
            </a:pPr>
            <a:r>
              <a:rPr lang="en-US" altLang="en-US" sz="2400" dirty="0">
                <a:solidFill>
                  <a:srgbClr val="000000"/>
                </a:solidFill>
              </a:rPr>
              <a:t>Use parameters in the </a:t>
            </a:r>
            <a:r>
              <a:rPr lang="en-US" altLang="en-US" sz="2400" dirty="0" smtClean="0">
                <a:solidFill>
                  <a:srgbClr val="000000"/>
                </a:solidFill>
              </a:rPr>
              <a:t>definition:</a:t>
            </a:r>
          </a:p>
          <a:p>
            <a:pPr marL="738000" lvl="1" indent="0">
              <a:lnSpc>
                <a:spcPct val="88000"/>
              </a:lnSpc>
              <a:spcBef>
                <a:spcPts val="2600"/>
              </a:spcBef>
              <a:buNone/>
            </a:pPr>
            <a:r>
              <a:rPr lang="en-US" altLang="en-US" sz="2400" dirty="0" smtClean="0">
                <a:solidFill>
                  <a:srgbClr val="000000"/>
                </a:solidFill>
                <a:latin typeface="Courier New" panose="02070309020205020404" pitchFamily="49" charset="0"/>
              </a:rPr>
              <a:t>Rectangle</a:t>
            </a:r>
            <a:r>
              <a:rPr lang="en-US" altLang="en-US" sz="2400" dirty="0">
                <a:solidFill>
                  <a:srgbClr val="000000"/>
                </a:solidFill>
                <a:latin typeface="Courier New" panose="02070309020205020404" pitchFamily="49" charset="0"/>
              </a:rPr>
              <a:t>::Rectangle(double w, double len)</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   width = w;</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   length = len;</a:t>
            </a:r>
            <a:br>
              <a:rPr lang="en-US" altLang="en-US" sz="2400" dirty="0">
                <a:solidFill>
                  <a:srgbClr val="000000"/>
                </a:solidFill>
                <a:latin typeface="Courier New" panose="02070309020205020404" pitchFamily="49" charset="0"/>
              </a:rPr>
            </a:b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5464115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Passing Arguments to </a:t>
            </a:r>
            <a:r>
              <a:rPr lang="en-US" altLang="en-US" dirty="0" smtClean="0"/>
              <a:t>Constructors </a:t>
            </a:r>
            <a:r>
              <a:rPr lang="en-US" altLang="en-US" sz="1200" dirty="0" smtClean="0"/>
              <a:t>(2 of 2)</a:t>
            </a:r>
            <a:endParaRPr lang="en-IN" dirty="0"/>
          </a:p>
        </p:txBody>
      </p:sp>
      <p:sp>
        <p:nvSpPr>
          <p:cNvPr id="3" name="Content Placeholder 2"/>
          <p:cNvSpPr>
            <a:spLocks noGrp="1"/>
          </p:cNvSpPr>
          <p:nvPr>
            <p:ph idx="1"/>
          </p:nvPr>
        </p:nvSpPr>
        <p:spPr>
          <a:xfrm>
            <a:off x="457200" y="1767600"/>
            <a:ext cx="8229600" cy="2590800"/>
          </a:xfrm>
        </p:spPr>
        <p:txBody>
          <a:bodyPr/>
          <a:lstStyle/>
          <a:p>
            <a:pPr lvl="0">
              <a:lnSpc>
                <a:spcPct val="90000"/>
              </a:lnSpc>
              <a:spcBef>
                <a:spcPct val="40000"/>
              </a:spcBef>
              <a:buFontTx/>
              <a:buChar char="•"/>
            </a:pPr>
            <a:r>
              <a:rPr lang="en-US" altLang="en-US" sz="2800" dirty="0">
                <a:solidFill>
                  <a:srgbClr val="000000"/>
                </a:solidFill>
              </a:rPr>
              <a:t>You can pass arguments to the constructor when you create an </a:t>
            </a:r>
            <a:r>
              <a:rPr lang="en-US" altLang="en-US" sz="2800" dirty="0" smtClean="0">
                <a:solidFill>
                  <a:srgbClr val="000000"/>
                </a:solidFill>
              </a:rPr>
              <a:t>object:</a:t>
            </a:r>
          </a:p>
          <a:p>
            <a:pPr marL="1026000" lvl="1">
              <a:lnSpc>
                <a:spcPct val="89000"/>
              </a:lnSpc>
              <a:spcBef>
                <a:spcPts val="4300"/>
              </a:spcBef>
              <a:buNone/>
            </a:pPr>
            <a:r>
              <a:rPr lang="en-US" altLang="en-US" sz="2400" dirty="0" smtClean="0">
                <a:solidFill>
                  <a:srgbClr val="000000"/>
                </a:solidFill>
                <a:latin typeface="Courier New" panose="02070309020205020404" pitchFamily="49" charset="0"/>
              </a:rPr>
              <a:t>Rectangle r(10, 5);</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82739666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More About Default Constructors</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sz="2800" dirty="0">
                <a:solidFill>
                  <a:srgbClr val="000000"/>
                </a:solidFill>
              </a:rPr>
              <a:t>If all of a constructor's parameters have default arguments, then it is a default constructor. For example</a:t>
            </a:r>
            <a:r>
              <a:rPr lang="en-US" altLang="en-US" sz="2800" dirty="0" smtClean="0">
                <a:solidFill>
                  <a:srgbClr val="000000"/>
                </a:solidFill>
              </a:rPr>
              <a:t>:</a:t>
            </a:r>
            <a:endParaRPr lang="en-US" altLang="en-US" sz="2800" dirty="0">
              <a:solidFill>
                <a:srgbClr val="000000"/>
              </a:solidFill>
            </a:endParaRPr>
          </a:p>
          <a:p>
            <a:pPr lvl="1">
              <a:lnSpc>
                <a:spcPct val="90000"/>
              </a:lnSpc>
              <a:spcBef>
                <a:spcPts val="4200"/>
              </a:spcBef>
              <a:buNone/>
            </a:pPr>
            <a:r>
              <a:rPr lang="en-US" altLang="en-US" sz="2400" dirty="0">
                <a:solidFill>
                  <a:srgbClr val="000000"/>
                </a:solidFill>
                <a:latin typeface="Courier New" panose="02070309020205020404" pitchFamily="49" charset="0"/>
              </a:rPr>
              <a:t>Rectangle(double = 0, double = 0</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a:p>
            <a:pPr lvl="0">
              <a:lnSpc>
                <a:spcPct val="90000"/>
              </a:lnSpc>
              <a:spcBef>
                <a:spcPts val="3200"/>
              </a:spcBef>
              <a:buFontTx/>
              <a:buChar char="•"/>
            </a:pPr>
            <a:r>
              <a:rPr lang="en-US" altLang="en-US" sz="2800" dirty="0">
                <a:solidFill>
                  <a:srgbClr val="000000"/>
                </a:solidFill>
              </a:rPr>
              <a:t>Creating an object and passing no arguments will cause this constructor to </a:t>
            </a:r>
            <a:r>
              <a:rPr lang="en-US" altLang="en-US" sz="2800" dirty="0" smtClean="0">
                <a:solidFill>
                  <a:srgbClr val="000000"/>
                </a:solidFill>
              </a:rPr>
              <a:t>execute:</a:t>
            </a:r>
          </a:p>
          <a:p>
            <a:pPr marL="342000" lvl="0" indent="0">
              <a:lnSpc>
                <a:spcPct val="90000"/>
              </a:lnSpc>
              <a:spcBef>
                <a:spcPts val="3100"/>
              </a:spcBef>
              <a:buNone/>
            </a:pPr>
            <a:r>
              <a:rPr lang="en-US" altLang="en-US" sz="2800" dirty="0" smtClean="0">
                <a:solidFill>
                  <a:srgbClr val="000000"/>
                </a:solidFill>
                <a:latin typeface="Courier New" panose="02070309020205020404" pitchFamily="49" charset="0"/>
              </a:rPr>
              <a:t>Rectangle </a:t>
            </a:r>
            <a:r>
              <a:rPr lang="en-US" altLang="en-US" sz="2800" dirty="0">
                <a:solidFill>
                  <a:srgbClr val="000000"/>
                </a:solidFill>
                <a:latin typeface="Courier New" panose="02070309020205020404" pitchFamily="49" charset="0"/>
              </a:rPr>
              <a:t>r</a:t>
            </a:r>
            <a:r>
              <a:rPr lang="en-US" altLang="en-US" sz="2800" dirty="0" smtClean="0">
                <a:solidFill>
                  <a:srgbClr val="000000"/>
                </a:solidFill>
                <a:latin typeface="Courier New" panose="02070309020205020404" pitchFamily="49" charset="0"/>
              </a:rPr>
              <a:t>;</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72888606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Classes with No Default Constructor</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When all of a class's constructors require arguments, then the class has NO default constructor</a:t>
            </a:r>
            <a:r>
              <a:rPr lang="en-US" altLang="en-US" dirty="0" smtClean="0">
                <a:solidFill>
                  <a:srgbClr val="000000"/>
                </a:solidFill>
              </a:rPr>
              <a:t>.</a:t>
            </a:r>
            <a:endParaRPr lang="en-US" altLang="en-US" dirty="0">
              <a:solidFill>
                <a:srgbClr val="000000"/>
              </a:solidFill>
            </a:endParaRPr>
          </a:p>
          <a:p>
            <a:pPr lvl="0">
              <a:spcBef>
                <a:spcPts val="4600"/>
              </a:spcBef>
              <a:buFontTx/>
              <a:buChar char="•"/>
            </a:pPr>
            <a:r>
              <a:rPr lang="en-US" altLang="en-US" dirty="0">
                <a:solidFill>
                  <a:srgbClr val="000000"/>
                </a:solidFill>
              </a:rPr>
              <a:t>When this is the case, you must pass the required arguments to the constructor when creating an object</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5130829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ctrTitle"/>
          </p:nvPr>
        </p:nvSpPr>
        <p:spPr/>
        <p:txBody>
          <a:bodyPr/>
          <a:lstStyle/>
          <a:p>
            <a:r>
              <a:rPr lang="en-US" altLang="en-US" dirty="0" smtClean="0"/>
              <a:t>13.9</a:t>
            </a:r>
          </a:p>
        </p:txBody>
      </p:sp>
      <p:sp>
        <p:nvSpPr>
          <p:cNvPr id="75779" name="Subtitle 2"/>
          <p:cNvSpPr>
            <a:spLocks noGrp="1" noChangeArrowheads="1"/>
          </p:cNvSpPr>
          <p:nvPr>
            <p:ph type="subTitle" idx="1"/>
          </p:nvPr>
        </p:nvSpPr>
        <p:spPr/>
        <p:txBody>
          <a:bodyPr/>
          <a:lstStyle/>
          <a:p>
            <a:r>
              <a:rPr lang="en-US" altLang="en-US" dirty="0" smtClean="0"/>
              <a:t>Destructors</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Destructors</a:t>
            </a:r>
            <a:endParaRPr lang="en-IN" dirty="0"/>
          </a:p>
        </p:txBody>
      </p:sp>
      <p:sp>
        <p:nvSpPr>
          <p:cNvPr id="3" name="Content Placeholder 2"/>
          <p:cNvSpPr>
            <a:spLocks noGrp="1"/>
          </p:cNvSpPr>
          <p:nvPr>
            <p:ph idx="1"/>
          </p:nvPr>
        </p:nvSpPr>
        <p:spPr/>
        <p:txBody>
          <a:bodyPr/>
          <a:lstStyle/>
          <a:p>
            <a:pPr lvl="0">
              <a:lnSpc>
                <a:spcPct val="85000"/>
              </a:lnSpc>
              <a:buFontTx/>
              <a:buChar char="•"/>
            </a:pPr>
            <a:r>
              <a:rPr lang="en-US" altLang="en-US" sz="2800" dirty="0">
                <a:solidFill>
                  <a:srgbClr val="000000"/>
                </a:solidFill>
              </a:rPr>
              <a:t>Member function automatically called when an object is destroyed</a:t>
            </a:r>
          </a:p>
          <a:p>
            <a:pPr lvl="0">
              <a:lnSpc>
                <a:spcPct val="85000"/>
              </a:lnSpc>
              <a:buFontTx/>
              <a:buChar char="•"/>
            </a:pPr>
            <a:r>
              <a:rPr lang="en-US" altLang="en-US" sz="2800" dirty="0">
                <a:solidFill>
                  <a:srgbClr val="000000"/>
                </a:solidFill>
              </a:rPr>
              <a:t>Destructor name is </a:t>
            </a:r>
            <a:r>
              <a:rPr lang="en-US" altLang="en-US" sz="2800" dirty="0">
                <a:solidFill>
                  <a:srgbClr val="000000"/>
                </a:solidFill>
                <a:latin typeface="Courier New" panose="02070309020205020404" pitchFamily="49" charset="0"/>
              </a:rPr>
              <a:t>~</a:t>
            </a:r>
            <a:r>
              <a:rPr lang="en-US" altLang="en-US" sz="2800" dirty="0">
                <a:solidFill>
                  <a:srgbClr val="000000"/>
                </a:solidFill>
              </a:rPr>
              <a:t>classname, </a:t>
            </a:r>
            <a:r>
              <a:rPr lang="en-US" altLang="en-US" sz="2800" i="1" dirty="0">
                <a:solidFill>
                  <a:srgbClr val="000000"/>
                </a:solidFill>
              </a:rPr>
              <a:t>e.g.</a:t>
            </a:r>
            <a:r>
              <a:rPr lang="en-US" altLang="en-US" sz="2800" dirty="0">
                <a:solidFill>
                  <a:srgbClr val="000000"/>
                </a:solidFill>
              </a:rPr>
              <a:t>, </a:t>
            </a:r>
            <a:r>
              <a:rPr lang="en-US" altLang="en-US" sz="2800" dirty="0">
                <a:solidFill>
                  <a:srgbClr val="000000"/>
                </a:solidFill>
                <a:latin typeface="Courier New" panose="02070309020205020404" pitchFamily="49" charset="0"/>
              </a:rPr>
              <a:t>~Rectangle</a:t>
            </a:r>
            <a:endParaRPr lang="en-US" altLang="en-US" sz="2800" dirty="0">
              <a:solidFill>
                <a:srgbClr val="000000"/>
              </a:solidFill>
            </a:endParaRPr>
          </a:p>
          <a:p>
            <a:pPr lvl="0">
              <a:lnSpc>
                <a:spcPct val="85000"/>
              </a:lnSpc>
              <a:buFontTx/>
              <a:buChar char="•"/>
            </a:pPr>
            <a:r>
              <a:rPr lang="en-US" altLang="en-US" sz="2800" dirty="0">
                <a:solidFill>
                  <a:srgbClr val="000000"/>
                </a:solidFill>
              </a:rPr>
              <a:t>Has no return type; takes no arguments</a:t>
            </a:r>
          </a:p>
          <a:p>
            <a:pPr lvl="0">
              <a:lnSpc>
                <a:spcPct val="85000"/>
              </a:lnSpc>
              <a:buFontTx/>
              <a:buChar char="•"/>
            </a:pPr>
            <a:r>
              <a:rPr lang="en-US" altLang="en-US" sz="2800" dirty="0">
                <a:solidFill>
                  <a:srgbClr val="000000"/>
                </a:solidFill>
              </a:rPr>
              <a:t>Only one destructor per class, </a:t>
            </a:r>
            <a:r>
              <a:rPr lang="en-US" altLang="en-US" sz="2800" i="1" dirty="0">
                <a:solidFill>
                  <a:srgbClr val="000000"/>
                </a:solidFill>
              </a:rPr>
              <a:t>i.e.</a:t>
            </a:r>
            <a:r>
              <a:rPr lang="en-US" altLang="en-US" sz="2800" dirty="0">
                <a:solidFill>
                  <a:srgbClr val="000000"/>
                </a:solidFill>
              </a:rPr>
              <a:t>, it cannot be overloaded</a:t>
            </a:r>
          </a:p>
          <a:p>
            <a:pPr lvl="0">
              <a:lnSpc>
                <a:spcPct val="85000"/>
              </a:lnSpc>
              <a:buFontTx/>
              <a:buChar char="•"/>
            </a:pPr>
            <a:r>
              <a:rPr lang="en-US" altLang="en-US" sz="2800" dirty="0">
                <a:solidFill>
                  <a:srgbClr val="000000"/>
                </a:solidFill>
              </a:rPr>
              <a:t>If constructor allocates dynamic memory, destructor should release </a:t>
            </a:r>
            <a:r>
              <a:rPr lang="en-US" altLang="en-US" sz="2800" dirty="0" smtClean="0">
                <a:solidFill>
                  <a:srgbClr val="000000"/>
                </a:solidFill>
              </a:rPr>
              <a:t>it</a:t>
            </a:r>
            <a:endParaRPr lang="en-US" altLang="en-US" sz="2800" dirty="0">
              <a:solidFill>
                <a:srgbClr val="000000"/>
              </a:solidFill>
            </a:endParaRPr>
          </a:p>
        </p:txBody>
      </p:sp>
    </p:spTree>
    <p:extLst>
      <p:ext uri="{BB962C8B-B14F-4D97-AF65-F5344CB8AC3E}">
        <p14:creationId xmlns:p14="http://schemas.microsoft.com/office/powerpoint/2010/main" val="111741650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68800"/>
            <a:ext cx="8382000" cy="563562"/>
          </a:xfrm>
        </p:spPr>
        <p:txBody>
          <a:bodyPr/>
          <a:lstStyle/>
          <a:p>
            <a:pPr eaLnBrk="1" hangingPunct="1"/>
            <a:r>
              <a:rPr lang="en-US" altLang="en-US" sz="3200" dirty="0"/>
              <a:t>Contents of </a:t>
            </a:r>
            <a:r>
              <a:rPr lang="en-US" altLang="en-US" sz="3200" dirty="0">
                <a:latin typeface="Courier New" panose="02070309020205020404" pitchFamily="49" charset="0"/>
              </a:rPr>
              <a:t>InventoryItem.h</a:t>
            </a:r>
            <a:r>
              <a:rPr lang="en-US" altLang="en-US" sz="3200" dirty="0"/>
              <a:t> </a:t>
            </a:r>
            <a:r>
              <a:rPr lang="en-US" altLang="en-US" sz="3200" dirty="0" smtClean="0"/>
              <a:t>Version1 </a:t>
            </a:r>
            <a:r>
              <a:rPr lang="en-US" altLang="en-US" sz="1200" dirty="0" smtClean="0"/>
              <a:t>(1 of 2)</a:t>
            </a:r>
            <a:endParaRPr lang="en-US" altLang="en-US" sz="3200" dirty="0"/>
          </a:p>
        </p:txBody>
      </p:sp>
      <p:pic>
        <p:nvPicPr>
          <p:cNvPr id="78850" name="Picture 2" descr="The program displays the contents of InventoryItem.h (version 1). The specification file for the InventoryItem class are displayed. The header file hashtag include open bracket cstring close bracket are needed for strlen and strcpy. The class InventoryItem is declared. The private member function includes the item description, item cost, and the number of units on ha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038" y="1295400"/>
            <a:ext cx="7980362"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93200"/>
            <a:ext cx="8382000" cy="715962"/>
          </a:xfrm>
        </p:spPr>
        <p:txBody>
          <a:bodyPr/>
          <a:lstStyle/>
          <a:p>
            <a:pPr eaLnBrk="1" hangingPunct="1"/>
            <a:r>
              <a:rPr lang="en-US" altLang="en-US" sz="3200" dirty="0"/>
              <a:t>Contents of </a:t>
            </a:r>
            <a:r>
              <a:rPr lang="en-US" altLang="en-US" sz="3200" dirty="0">
                <a:latin typeface="Courier New" panose="02070309020205020404" pitchFamily="49" charset="0"/>
              </a:rPr>
              <a:t>InventoryItem.h</a:t>
            </a:r>
            <a:r>
              <a:rPr lang="en-US" altLang="en-US" sz="3200" dirty="0"/>
              <a:t> </a:t>
            </a:r>
            <a:r>
              <a:rPr lang="en-US" altLang="en-US" sz="3200" dirty="0" smtClean="0"/>
              <a:t>Version1 </a:t>
            </a:r>
            <a:r>
              <a:rPr lang="en-US" altLang="en-US" sz="1200" dirty="0" smtClean="0"/>
              <a:t>(2 of 2)</a:t>
            </a:r>
            <a:endParaRPr lang="en-US" altLang="en-US" sz="3200" dirty="0"/>
          </a:p>
        </p:txBody>
      </p:sp>
      <p:pic>
        <p:nvPicPr>
          <p:cNvPr id="4" name="Picture 2" descr="The source code displays the contents of the InventoryItem.h (version 1). The constructor, InventoryItem is displayed. The program allocates just enough memory for the description. The line, strcpy (description, desc) copies the description to the allocated memory. The destructor tilde InventoryItem ( ) deletes the description. The line const char  asterisk getDescription ( ) const returns the description. The line, double getCost ( ) const returns the cost, and the line, int getUnits ( ) const returns the units. The class is closed with a semicol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600200"/>
            <a:ext cx="5334000" cy="461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734181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IN" baseline="0" dirty="0" smtClean="0"/>
              <a:t>   </a:t>
            </a:r>
            <a:r>
              <a:rPr lang="en-IN" baseline="0" dirty="0" smtClean="0"/>
              <a:t> </a:t>
            </a:r>
            <a:endParaRPr lang="en-IN" dirty="0"/>
          </a:p>
        </p:txBody>
      </p:sp>
      <p:pic>
        <p:nvPicPr>
          <p:cNvPr id="80898" name="Picture 1" descr="The program demonstrates a class with a destructor. The header file hashtag include &quot;ContactInfo.h&quot; is displayed. The main function defines the object ContactInfo with a name and phone number and displays the object's data. The program output displays the name and phone numb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685800"/>
            <a:ext cx="7431088" cy="514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Constructors, Destructors, and Dynamically Allocated Objects</a:t>
            </a:r>
            <a:endParaRPr lang="en-IN" dirty="0"/>
          </a:p>
        </p:txBody>
      </p:sp>
      <p:sp>
        <p:nvSpPr>
          <p:cNvPr id="3" name="Content Placeholder 2"/>
          <p:cNvSpPr>
            <a:spLocks noGrp="1"/>
          </p:cNvSpPr>
          <p:nvPr>
            <p:ph idx="1"/>
          </p:nvPr>
        </p:nvSpPr>
        <p:spPr>
          <a:xfrm>
            <a:off x="457200" y="1676400"/>
            <a:ext cx="8229600" cy="4525963"/>
          </a:xfrm>
        </p:spPr>
        <p:txBody>
          <a:bodyPr/>
          <a:lstStyle/>
          <a:p>
            <a:pPr lvl="0">
              <a:lnSpc>
                <a:spcPct val="90000"/>
              </a:lnSpc>
              <a:spcBef>
                <a:spcPts val="3000"/>
              </a:spcBef>
              <a:buFontTx/>
              <a:buChar char="•"/>
            </a:pPr>
            <a:r>
              <a:rPr lang="en-US" altLang="en-US" sz="2800" dirty="0">
                <a:solidFill>
                  <a:srgbClr val="000000"/>
                </a:solidFill>
              </a:rPr>
              <a:t>When an object is dynamically allocated with the new operator, its constructor </a:t>
            </a:r>
            <a:r>
              <a:rPr lang="en-US" altLang="en-US" sz="2800" dirty="0" smtClean="0">
                <a:solidFill>
                  <a:srgbClr val="000000"/>
                </a:solidFill>
              </a:rPr>
              <a:t>executes:</a:t>
            </a:r>
          </a:p>
          <a:p>
            <a:pPr marL="342000" lvl="0" indent="0">
              <a:lnSpc>
                <a:spcPct val="91000"/>
              </a:lnSpc>
              <a:spcBef>
                <a:spcPts val="3000"/>
              </a:spcBef>
              <a:buNone/>
            </a:pPr>
            <a:r>
              <a:rPr lang="en-US" altLang="en-US" sz="2400" dirty="0" smtClean="0">
                <a:solidFill>
                  <a:srgbClr val="000000"/>
                </a:solidFill>
                <a:latin typeface="Courier New" panose="02070309020205020404" pitchFamily="49" charset="0"/>
              </a:rPr>
              <a:t>Rectangle </a:t>
            </a:r>
            <a:r>
              <a:rPr lang="en-US" altLang="en-US" sz="2400" dirty="0">
                <a:solidFill>
                  <a:srgbClr val="000000"/>
                </a:solidFill>
                <a:latin typeface="Courier New" panose="02070309020205020404" pitchFamily="49" charset="0"/>
              </a:rPr>
              <a:t>*r = new Rectangle(10, 20</a:t>
            </a:r>
            <a:r>
              <a:rPr lang="en-US" altLang="en-US" sz="2400" dirty="0" smtClean="0">
                <a:solidFill>
                  <a:srgbClr val="000000"/>
                </a:solidFill>
                <a:latin typeface="Courier New" panose="02070309020205020404" pitchFamily="49" charset="0"/>
              </a:rPr>
              <a:t>);</a:t>
            </a:r>
            <a:endParaRPr lang="en-US" altLang="en-US" sz="2400" dirty="0">
              <a:solidFill>
                <a:srgbClr val="000000"/>
              </a:solidFill>
            </a:endParaRPr>
          </a:p>
          <a:p>
            <a:pPr lvl="0">
              <a:lnSpc>
                <a:spcPct val="92000"/>
              </a:lnSpc>
              <a:spcBef>
                <a:spcPts val="3200"/>
              </a:spcBef>
              <a:buFontTx/>
              <a:buChar char="•"/>
            </a:pPr>
            <a:r>
              <a:rPr lang="en-US" altLang="en-US" sz="2800" dirty="0">
                <a:solidFill>
                  <a:srgbClr val="000000"/>
                </a:solidFill>
              </a:rPr>
              <a:t>When the object is destroyed, its destructor </a:t>
            </a:r>
            <a:r>
              <a:rPr lang="en-US" altLang="en-US" sz="2800" dirty="0" smtClean="0">
                <a:solidFill>
                  <a:srgbClr val="000000"/>
                </a:solidFill>
              </a:rPr>
              <a:t>executes:</a:t>
            </a:r>
          </a:p>
          <a:p>
            <a:pPr marL="342000" lvl="0" indent="0">
              <a:lnSpc>
                <a:spcPct val="92000"/>
              </a:lnSpc>
              <a:spcBef>
                <a:spcPts val="2900"/>
              </a:spcBef>
              <a:buNone/>
            </a:pPr>
            <a:r>
              <a:rPr lang="en-US" altLang="en-US" sz="2400" dirty="0" smtClean="0">
                <a:solidFill>
                  <a:srgbClr val="000000"/>
                </a:solidFill>
                <a:latin typeface="Courier New" panose="02070309020205020404" pitchFamily="49" charset="0"/>
              </a:rPr>
              <a:t>delete </a:t>
            </a:r>
            <a:r>
              <a:rPr lang="en-US" altLang="en-US" sz="2400" dirty="0">
                <a:solidFill>
                  <a:srgbClr val="000000"/>
                </a:solidFill>
                <a:latin typeface="Courier New" panose="02070309020205020404" pitchFamily="49" charset="0"/>
              </a:rPr>
              <a:t>r</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519720766"/>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noChangeArrowheads="1"/>
          </p:cNvSpPr>
          <p:nvPr>
            <p:ph type="ctrTitle"/>
          </p:nvPr>
        </p:nvSpPr>
        <p:spPr/>
        <p:txBody>
          <a:bodyPr/>
          <a:lstStyle/>
          <a:p>
            <a:r>
              <a:rPr lang="en-US" altLang="en-US" dirty="0" smtClean="0"/>
              <a:t>13.10</a:t>
            </a:r>
          </a:p>
        </p:txBody>
      </p:sp>
      <p:sp>
        <p:nvSpPr>
          <p:cNvPr id="82947" name="Subtitle 2"/>
          <p:cNvSpPr>
            <a:spLocks noGrp="1" noChangeArrowheads="1"/>
          </p:cNvSpPr>
          <p:nvPr>
            <p:ph type="subTitle" idx="1"/>
          </p:nvPr>
        </p:nvSpPr>
        <p:spPr/>
        <p:txBody>
          <a:bodyPr/>
          <a:lstStyle/>
          <a:p>
            <a:r>
              <a:rPr lang="en-US" altLang="en-US" dirty="0" smtClean="0"/>
              <a:t>Overloading Constructors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Overloading Constructors</a:t>
            </a:r>
            <a:endParaRPr lang="en-IN" dirty="0"/>
          </a:p>
        </p:txBody>
      </p:sp>
      <p:sp>
        <p:nvSpPr>
          <p:cNvPr id="3" name="Content Placeholder 2"/>
          <p:cNvSpPr>
            <a:spLocks noGrp="1"/>
          </p:cNvSpPr>
          <p:nvPr>
            <p:ph idx="1"/>
          </p:nvPr>
        </p:nvSpPr>
        <p:spPr/>
        <p:txBody>
          <a:bodyPr/>
          <a:lstStyle/>
          <a:p>
            <a:pPr lvl="0">
              <a:lnSpc>
                <a:spcPct val="105000"/>
              </a:lnSpc>
              <a:buFontTx/>
              <a:buChar char="•"/>
            </a:pPr>
            <a:r>
              <a:rPr lang="en-US" altLang="en-US" sz="2800" dirty="0">
                <a:solidFill>
                  <a:srgbClr val="000000"/>
                </a:solidFill>
              </a:rPr>
              <a:t>A class can have more than one </a:t>
            </a:r>
            <a:r>
              <a:rPr lang="en-US" altLang="en-US" sz="2800" dirty="0" smtClean="0">
                <a:solidFill>
                  <a:srgbClr val="000000"/>
                </a:solidFill>
              </a:rPr>
              <a:t>constructor</a:t>
            </a:r>
            <a:endParaRPr lang="en-US" altLang="en-US" sz="2800" dirty="0">
              <a:solidFill>
                <a:srgbClr val="000000"/>
              </a:solidFill>
            </a:endParaRPr>
          </a:p>
          <a:p>
            <a:pPr lvl="0">
              <a:lnSpc>
                <a:spcPct val="105000"/>
              </a:lnSpc>
              <a:spcBef>
                <a:spcPts val="4200"/>
              </a:spcBef>
              <a:buFontTx/>
              <a:buChar char="•"/>
            </a:pPr>
            <a:r>
              <a:rPr lang="en-US" altLang="en-US" sz="2800" dirty="0">
                <a:solidFill>
                  <a:srgbClr val="000000"/>
                </a:solidFill>
              </a:rPr>
              <a:t>Overloaded constructors in a class must have different parameter </a:t>
            </a:r>
            <a:r>
              <a:rPr lang="en-US" altLang="en-US" sz="2800" dirty="0" smtClean="0">
                <a:solidFill>
                  <a:srgbClr val="000000"/>
                </a:solidFill>
              </a:rPr>
              <a:t>lists:</a:t>
            </a:r>
          </a:p>
          <a:p>
            <a:pPr marL="741600" lvl="0" indent="0">
              <a:lnSpc>
                <a:spcPct val="105000"/>
              </a:lnSpc>
              <a:spcBef>
                <a:spcPts val="576"/>
              </a:spcBef>
              <a:buNone/>
            </a:pPr>
            <a:r>
              <a:rPr lang="en-US" altLang="en-US" sz="2400" dirty="0" smtClean="0">
                <a:solidFill>
                  <a:srgbClr val="000000"/>
                </a:solidFill>
                <a:latin typeface="Courier New" panose="02070309020205020404" pitchFamily="49" charset="0"/>
              </a:rPr>
              <a:t>Rectangle</a:t>
            </a:r>
            <a:r>
              <a:rPr lang="en-US" altLang="en-US" sz="2400" dirty="0">
                <a:solidFill>
                  <a:srgbClr val="000000"/>
                </a:solidFill>
                <a:latin typeface="Courier New" panose="02070309020205020404" pitchFamily="49" charset="0"/>
              </a:rPr>
              <a:t>();</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Rectangle(double</a:t>
            </a:r>
            <a:r>
              <a:rPr lang="en-US" altLang="en-US" sz="2400" dirty="0" smtClean="0">
                <a:solidFill>
                  <a:srgbClr val="000000"/>
                </a:solidFill>
                <a:latin typeface="Courier New" panose="02070309020205020404" pitchFamily="49" charset="0"/>
              </a:rPr>
              <a:t>);</a:t>
            </a:r>
          </a:p>
          <a:p>
            <a:pPr marL="741600" lvl="0" indent="0">
              <a:lnSpc>
                <a:spcPct val="105000"/>
              </a:lnSpc>
              <a:spcBef>
                <a:spcPts val="576"/>
              </a:spcBef>
              <a:buNone/>
            </a:pPr>
            <a:r>
              <a:rPr lang="en-US" altLang="en-US" sz="2400" dirty="0">
                <a:solidFill>
                  <a:srgbClr val="000000"/>
                </a:solidFill>
                <a:latin typeface="Courier New" panose="02070309020205020404" pitchFamily="49" charset="0"/>
              </a:rPr>
              <a:t>Rectangle(double, double);</a:t>
            </a:r>
          </a:p>
        </p:txBody>
      </p:sp>
    </p:spTree>
    <p:extLst>
      <p:ext uri="{BB962C8B-B14F-4D97-AF65-F5344CB8AC3E}">
        <p14:creationId xmlns:p14="http://schemas.microsoft.com/office/powerpoint/2010/main" val="11675380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182562"/>
          </a:xfrm>
        </p:spPr>
        <p:txBody>
          <a:bodyPr/>
          <a:lstStyle/>
          <a:p>
            <a:r>
              <a:rPr lang="en-IN" dirty="0" smtClean="0"/>
              <a:t>    </a:t>
            </a:r>
            <a:r>
              <a:rPr lang="en-IN" baseline="0" dirty="0" smtClean="0"/>
              <a:t> </a:t>
            </a:r>
            <a:endParaRPr lang="en-IN" dirty="0"/>
          </a:p>
        </p:txBody>
      </p:sp>
      <p:pic>
        <p:nvPicPr>
          <p:cNvPr id="86018" name="Picture 5" descr="The program defines overloaded constructors. The class InventoryItem is declared. The private member functions are the item description, item cost, and the number of units on hand. The public member functions are the first contractor. The first constructor InventoryItem ( ) initializes the description, cost, and units. The second constructor InventoryItem (string desc) assigns the value to the description. It initializes the cost and unit to 0.0 and 0 respectively.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5413" y="476250"/>
            <a:ext cx="6353175"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82562"/>
          </a:xfrm>
        </p:spPr>
        <p:txBody>
          <a:bodyPr/>
          <a:lstStyle/>
          <a:p>
            <a:r>
              <a:rPr lang="en-IN" dirty="0" smtClean="0"/>
              <a:t>     </a:t>
            </a:r>
            <a:r>
              <a:rPr lang="en-IN" baseline="0" dirty="0" smtClean="0"/>
              <a:t> </a:t>
            </a:r>
            <a:endParaRPr lang="en-IN" dirty="0"/>
          </a:p>
        </p:txBody>
      </p:sp>
      <p:pic>
        <p:nvPicPr>
          <p:cNvPr id="87042" name="Picture 5" descr="The program defines overloaded constructors. The class InventoryItem is declared. The private member functions are the item description, item cost, and the number of units on hand. The public member functions are the first contractor. The first constructor InventoryItem ( ) initializes the description, cost, and units. The second constructor InventoryItem (string desc) assigns the value to the description. It initializes the cost and unit to 0.0 and 0 respectively. The third constructor InventoryItem (string desc, double c, int u) assigns the values to the description, cost, and units. The mutator functions setDescription (string d), setCost (double c), and setUnits(int u) assigns the value to the description, cost, and units respectively. The accessor functions getDescription const returns the description, getCost () const returns the cost, and getUnits () const function returns the units. The class then ends with a semicol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0175" y="381000"/>
            <a:ext cx="634365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Constructor </a:t>
            </a:r>
            <a:r>
              <a:rPr lang="en-US" altLang="en-US" dirty="0" smtClean="0"/>
              <a:t>Delegation </a:t>
            </a:r>
            <a:r>
              <a:rPr lang="en-US" altLang="en-US" sz="1200" dirty="0" smtClean="0"/>
              <a:t>(1 of 3)</a:t>
            </a:r>
            <a:endParaRPr lang="en-IN" dirty="0"/>
          </a:p>
        </p:txBody>
      </p:sp>
      <p:sp>
        <p:nvSpPr>
          <p:cNvPr id="3" name="Content Placeholder 2"/>
          <p:cNvSpPr>
            <a:spLocks noGrp="1"/>
          </p:cNvSpPr>
          <p:nvPr>
            <p:ph idx="1"/>
          </p:nvPr>
        </p:nvSpPr>
        <p:spPr>
          <a:xfrm>
            <a:off x="457200" y="1600201"/>
            <a:ext cx="4038600" cy="2438400"/>
          </a:xfrm>
        </p:spPr>
        <p:txBody>
          <a:bodyPr/>
          <a:lstStyle/>
          <a:p>
            <a:pPr lvl="0">
              <a:buFontTx/>
              <a:buChar char="•"/>
            </a:pPr>
            <a:r>
              <a:rPr lang="en-US" altLang="en-US" sz="2400" dirty="0">
                <a:solidFill>
                  <a:srgbClr val="000000"/>
                </a:solidFill>
              </a:rPr>
              <a:t>Sometimes a class will have multiple constructors that perform a similar set of steps. For example, look at the following </a:t>
            </a:r>
            <a:r>
              <a:rPr lang="en-US" altLang="en-US" sz="2400" dirty="0">
                <a:solidFill>
                  <a:srgbClr val="000000"/>
                </a:solidFill>
                <a:latin typeface="Consolas" panose="020B0609020204030204" pitchFamily="49" charset="0"/>
              </a:rPr>
              <a:t>Contact</a:t>
            </a:r>
            <a:r>
              <a:rPr lang="en-US" altLang="en-US" sz="2400" dirty="0">
                <a:solidFill>
                  <a:srgbClr val="000000"/>
                </a:solidFill>
              </a:rPr>
              <a:t> class</a:t>
            </a:r>
            <a:r>
              <a:rPr lang="en-US" altLang="en-US" sz="2400" dirty="0" smtClean="0">
                <a:solidFill>
                  <a:srgbClr val="000000"/>
                </a:solidFill>
              </a:rPr>
              <a:t>:</a:t>
            </a:r>
            <a:endParaRPr lang="en-US" altLang="en-US" sz="2400" dirty="0">
              <a:solidFill>
                <a:srgbClr val="000000"/>
              </a:solidFill>
            </a:endParaRPr>
          </a:p>
        </p:txBody>
      </p:sp>
      <p:pic>
        <p:nvPicPr>
          <p:cNvPr id="4" name="Picture 3" descr="The class Contact shows multiple constructors that performs a similar set of steps. The class Contact declares the public and private member functions. The private member functions declares the data members as the name, email, and phone. The first constructor assigns the default values for name, email, and phone. The second constructor assigns the values n, e, p to the name, email, and phone respectively. The class ends with a semicolon;"/>
          <p:cNvPicPr>
            <a:picLocks noChangeAspect="1"/>
          </p:cNvPicPr>
          <p:nvPr/>
        </p:nvPicPr>
        <p:blipFill>
          <a:blip r:embed="rId2"/>
          <a:stretch>
            <a:fillRect/>
          </a:stretch>
        </p:blipFill>
        <p:spPr>
          <a:xfrm>
            <a:off x="4698000" y="1591200"/>
            <a:ext cx="3962743" cy="4548010"/>
          </a:xfrm>
          <a:prstGeom prst="rect">
            <a:avLst/>
          </a:prstGeom>
        </p:spPr>
      </p:pic>
    </p:spTree>
    <p:extLst>
      <p:ext uri="{BB962C8B-B14F-4D97-AF65-F5344CB8AC3E}">
        <p14:creationId xmlns:p14="http://schemas.microsoft.com/office/powerpoint/2010/main" val="226445386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Constructor </a:t>
            </a:r>
            <a:r>
              <a:rPr lang="en-US" altLang="en-US" dirty="0" smtClean="0"/>
              <a:t>Delegation </a:t>
            </a:r>
            <a:r>
              <a:rPr lang="en-US" altLang="en-US" sz="1200" dirty="0" smtClean="0"/>
              <a:t>(2 of 3)</a:t>
            </a:r>
            <a:endParaRPr lang="en-IN" dirty="0"/>
          </a:p>
        </p:txBody>
      </p:sp>
      <p:sp>
        <p:nvSpPr>
          <p:cNvPr id="5" name="Content Placeholder 4"/>
          <p:cNvSpPr>
            <a:spLocks noGrp="1"/>
          </p:cNvSpPr>
          <p:nvPr>
            <p:ph idx="1"/>
          </p:nvPr>
        </p:nvSpPr>
        <p:spPr>
          <a:xfrm>
            <a:off x="457200" y="1600200"/>
            <a:ext cx="4038600" cy="4343400"/>
          </a:xfrm>
        </p:spPr>
        <p:txBody>
          <a:bodyPr/>
          <a:lstStyle/>
          <a:p>
            <a:pPr lvl="0">
              <a:lnSpc>
                <a:spcPct val="90000"/>
              </a:lnSpc>
              <a:buFontTx/>
              <a:buChar char="•"/>
              <a:defRPr/>
            </a:pPr>
            <a:r>
              <a:rPr lang="en-US" sz="2400" dirty="0">
                <a:solidFill>
                  <a:srgbClr val="000000"/>
                </a:solidFill>
              </a:rPr>
              <a:t>Both constructors perform a similar operation: They assign values to the name, email, and phone member variables. </a:t>
            </a:r>
          </a:p>
          <a:p>
            <a:pPr lvl="0">
              <a:lnSpc>
                <a:spcPct val="90000"/>
              </a:lnSpc>
              <a:buFontTx/>
              <a:buChar char="•"/>
              <a:defRPr/>
            </a:pPr>
            <a:r>
              <a:rPr lang="en-US" sz="2400" dirty="0">
                <a:solidFill>
                  <a:srgbClr val="000000"/>
                </a:solidFill>
              </a:rPr>
              <a:t>The default constructor assigns empty strings to the members, and the parameterized constructor assigns specified values to the members</a:t>
            </a:r>
            <a:r>
              <a:rPr lang="en-US" sz="2400" dirty="0" smtClean="0">
                <a:solidFill>
                  <a:srgbClr val="000000"/>
                </a:solidFill>
              </a:rPr>
              <a:t>.</a:t>
            </a:r>
            <a:endParaRPr lang="en-US" sz="2000" dirty="0">
              <a:solidFill>
                <a:srgbClr val="000000"/>
              </a:solidFill>
            </a:endParaRPr>
          </a:p>
        </p:txBody>
      </p:sp>
      <p:pic>
        <p:nvPicPr>
          <p:cNvPr id="10" name="Picture 9" descr="The class Contact shows multiple constructors that performs a similar set of steps. The class Contact declares the public and private member functions. The private member functions declares the data members as the name, email, and phone. The first constructor assigns the default values for name, email, and phone. The second constructor assigns the values n, e, p to the name, email, and phone respectively. The class ends with a semicolon;"/>
          <p:cNvPicPr>
            <a:picLocks noChangeAspect="1"/>
          </p:cNvPicPr>
          <p:nvPr/>
        </p:nvPicPr>
        <p:blipFill>
          <a:blip r:embed="rId3"/>
          <a:stretch>
            <a:fillRect/>
          </a:stretch>
        </p:blipFill>
        <p:spPr>
          <a:xfrm>
            <a:off x="4698000" y="1591200"/>
            <a:ext cx="3962743" cy="4548010"/>
          </a:xfrm>
          <a:prstGeom prst="rect">
            <a:avLst/>
          </a:prstGeom>
        </p:spPr>
      </p:pic>
    </p:spTree>
    <p:extLst>
      <p:ext uri="{BB962C8B-B14F-4D97-AF65-F5344CB8AC3E}">
        <p14:creationId xmlns:p14="http://schemas.microsoft.com/office/powerpoint/2010/main" val="79493286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Constructor </a:t>
            </a:r>
            <a:r>
              <a:rPr lang="en-US" altLang="en-US" dirty="0" smtClean="0"/>
              <a:t>Delegation </a:t>
            </a:r>
            <a:r>
              <a:rPr lang="en-US" altLang="en-US" sz="1200" dirty="0" smtClean="0"/>
              <a:t>(3 of 3)</a:t>
            </a:r>
            <a:endParaRPr lang="en-IN" dirty="0"/>
          </a:p>
        </p:txBody>
      </p:sp>
      <p:sp>
        <p:nvSpPr>
          <p:cNvPr id="3" name="Content Placeholder 2"/>
          <p:cNvSpPr>
            <a:spLocks noGrp="1"/>
          </p:cNvSpPr>
          <p:nvPr>
            <p:ph idx="1"/>
          </p:nvPr>
        </p:nvSpPr>
        <p:spPr>
          <a:xfrm>
            <a:off x="457200" y="1600200"/>
            <a:ext cx="4114800" cy="4525963"/>
          </a:xfrm>
        </p:spPr>
        <p:txBody>
          <a:bodyPr/>
          <a:lstStyle/>
          <a:p>
            <a:pPr lvl="0">
              <a:buFontTx/>
              <a:buChar char="•"/>
            </a:pPr>
            <a:r>
              <a:rPr lang="en-US" altLang="en-US" sz="2800" dirty="0">
                <a:solidFill>
                  <a:srgbClr val="000000"/>
                </a:solidFill>
              </a:rPr>
              <a:t>In C++ 11, it is possible for one constructor to call another constructor in the same class.</a:t>
            </a:r>
          </a:p>
          <a:p>
            <a:pPr lvl="0">
              <a:buFontTx/>
              <a:buChar char="•"/>
            </a:pPr>
            <a:r>
              <a:rPr lang="en-US" altLang="en-US" sz="2800" dirty="0">
                <a:solidFill>
                  <a:srgbClr val="000000"/>
                </a:solidFill>
              </a:rPr>
              <a:t>This is known as </a:t>
            </a:r>
            <a:r>
              <a:rPr lang="en-US" altLang="en-US" sz="2800" i="1" dirty="0">
                <a:solidFill>
                  <a:srgbClr val="000000"/>
                </a:solidFill>
              </a:rPr>
              <a:t>constructor delegation</a:t>
            </a:r>
            <a:r>
              <a:rPr lang="en-US" altLang="en-US" sz="2800" dirty="0" smtClean="0">
                <a:solidFill>
                  <a:srgbClr val="000000"/>
                </a:solidFill>
              </a:rPr>
              <a:t>.</a:t>
            </a:r>
            <a:endParaRPr lang="en-US" altLang="en-US" sz="2000" dirty="0">
              <a:solidFill>
                <a:srgbClr val="000000"/>
              </a:solidFill>
            </a:endParaRPr>
          </a:p>
        </p:txBody>
      </p:sp>
      <p:pic>
        <p:nvPicPr>
          <p:cNvPr id="5" name="Picture 4" descr="The class Contact shows multiple constructors that performs a similar set of steps. The class Contact declares the public and private member functions. The private member functions declares the data members as the name, email, and phone. The first constructor assigns the default values for name, email, and phone. The second constructor assigns the values n, e, p to the name, email, and phone respectively. The class ends with a semicolon;"/>
          <p:cNvPicPr>
            <a:picLocks noChangeAspect="1"/>
          </p:cNvPicPr>
          <p:nvPr/>
        </p:nvPicPr>
        <p:blipFill>
          <a:blip r:embed="rId2"/>
          <a:stretch>
            <a:fillRect/>
          </a:stretch>
        </p:blipFill>
        <p:spPr>
          <a:xfrm>
            <a:off x="4644000" y="1828800"/>
            <a:ext cx="4060288" cy="4072481"/>
          </a:xfrm>
          <a:prstGeom prst="rect">
            <a:avLst/>
          </a:prstGeom>
        </p:spPr>
      </p:pic>
    </p:spTree>
    <p:extLst>
      <p:ext uri="{BB962C8B-B14F-4D97-AF65-F5344CB8AC3E}">
        <p14:creationId xmlns:p14="http://schemas.microsoft.com/office/powerpoint/2010/main" val="116843286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lstStyle/>
          <a:p>
            <a:r>
              <a:rPr lang="en-US" altLang="en-US" dirty="0"/>
              <a:t>Only One Default </a:t>
            </a:r>
            <a:r>
              <a:rPr lang="en-US" altLang="en-US" dirty="0" smtClean="0"/>
              <a:t>Constructor and </a:t>
            </a:r>
            <a:r>
              <a:rPr lang="en-US" altLang="en-US" dirty="0"/>
              <a:t>One Destructor</a:t>
            </a:r>
            <a:endParaRPr lang="en-IN" dirty="0"/>
          </a:p>
        </p:txBody>
      </p:sp>
      <p:sp>
        <p:nvSpPr>
          <p:cNvPr id="3" name="Content Placeholder 2"/>
          <p:cNvSpPr>
            <a:spLocks noGrp="1"/>
          </p:cNvSpPr>
          <p:nvPr>
            <p:ph idx="1"/>
          </p:nvPr>
        </p:nvSpPr>
        <p:spPr>
          <a:xfrm>
            <a:off x="304800" y="1676400"/>
            <a:ext cx="8229600" cy="4525963"/>
          </a:xfrm>
        </p:spPr>
        <p:txBody>
          <a:bodyPr/>
          <a:lstStyle/>
          <a:p>
            <a:pPr lvl="0">
              <a:spcBef>
                <a:spcPct val="30000"/>
              </a:spcBef>
              <a:buFontTx/>
              <a:buChar char="•"/>
            </a:pPr>
            <a:r>
              <a:rPr lang="en-US" altLang="en-US" sz="2800" dirty="0">
                <a:solidFill>
                  <a:srgbClr val="000000"/>
                </a:solidFill>
              </a:rPr>
              <a:t>Do not provide more than one default constructor for a class: one that takes no arguments and one that has default arguments for all parameters</a:t>
            </a:r>
          </a:p>
          <a:p>
            <a:pPr marL="1026000" lvl="1">
              <a:spcBef>
                <a:spcPct val="30000"/>
              </a:spcBef>
              <a:buClr>
                <a:srgbClr val="3333CC"/>
              </a:buClr>
              <a:buNone/>
            </a:pPr>
            <a:r>
              <a:rPr lang="en-US" altLang="en-US" sz="2400" dirty="0" smtClean="0">
                <a:solidFill>
                  <a:srgbClr val="000000"/>
                </a:solidFill>
                <a:latin typeface="Courier New" panose="02070309020205020404" pitchFamily="49" charset="0"/>
              </a:rPr>
              <a:t>Square</a:t>
            </a:r>
            <a:r>
              <a:rPr lang="en-US" altLang="en-US" sz="2400" dirty="0">
                <a:solidFill>
                  <a:srgbClr val="000000"/>
                </a:solidFill>
                <a:latin typeface="Courier New" panose="02070309020205020404" pitchFamily="49" charset="0"/>
              </a:rPr>
              <a:t>();</a:t>
            </a:r>
          </a:p>
          <a:p>
            <a:pPr marL="1026000" lvl="1">
              <a:spcBef>
                <a:spcPct val="30000"/>
              </a:spcBef>
              <a:buClr>
                <a:srgbClr val="3333CC"/>
              </a:buClr>
              <a:buNone/>
            </a:pPr>
            <a:r>
              <a:rPr lang="en-US" altLang="en-US" sz="2400" dirty="0" smtClean="0">
                <a:solidFill>
                  <a:srgbClr val="000000"/>
                </a:solidFill>
                <a:latin typeface="Courier New" panose="02070309020205020404" pitchFamily="49" charset="0"/>
              </a:rPr>
              <a:t>Square(int </a:t>
            </a:r>
            <a:r>
              <a:rPr lang="en-US" altLang="en-US" sz="2400" dirty="0">
                <a:solidFill>
                  <a:srgbClr val="000000"/>
                </a:solidFill>
                <a:latin typeface="Courier New" panose="02070309020205020404" pitchFamily="49" charset="0"/>
              </a:rPr>
              <a:t>= 0</a:t>
            </a:r>
            <a:r>
              <a:rPr lang="en-US" altLang="en-US" sz="2400" dirty="0" smtClean="0">
                <a:solidFill>
                  <a:srgbClr val="000000"/>
                </a:solidFill>
                <a:latin typeface="Courier New" panose="02070309020205020404" pitchFamily="49" charset="0"/>
              </a:rPr>
              <a:t>); // </a:t>
            </a:r>
            <a:r>
              <a:rPr lang="en-US" altLang="en-US" sz="2400" dirty="0">
                <a:solidFill>
                  <a:srgbClr val="000000"/>
                </a:solidFill>
                <a:latin typeface="Courier New" panose="02070309020205020404" pitchFamily="49" charset="0"/>
              </a:rPr>
              <a:t>will not </a:t>
            </a:r>
            <a:r>
              <a:rPr lang="en-US" altLang="en-US" sz="2400" dirty="0" smtClean="0">
                <a:solidFill>
                  <a:srgbClr val="000000"/>
                </a:solidFill>
                <a:latin typeface="Courier New" panose="02070309020205020404" pitchFamily="49" charset="0"/>
              </a:rPr>
              <a:t>compile</a:t>
            </a:r>
            <a:endParaRPr lang="en-US" altLang="en-US" sz="2400" dirty="0">
              <a:solidFill>
                <a:srgbClr val="000000"/>
              </a:solidFill>
              <a:latin typeface="Courier New" panose="02070309020205020404" pitchFamily="49" charset="0"/>
            </a:endParaRPr>
          </a:p>
          <a:p>
            <a:pPr lvl="0">
              <a:spcBef>
                <a:spcPts val="3900"/>
              </a:spcBef>
              <a:buFontTx/>
              <a:buChar char="•"/>
            </a:pPr>
            <a:r>
              <a:rPr lang="en-US" altLang="en-US" sz="2800" dirty="0">
                <a:solidFill>
                  <a:srgbClr val="000000"/>
                </a:solidFill>
              </a:rPr>
              <a:t>Since a destructor takes no arguments, there can only be one destructor for a </a:t>
            </a:r>
            <a:r>
              <a:rPr lang="en-US" altLang="en-US" sz="2800" dirty="0" smtClean="0">
                <a:solidFill>
                  <a:srgbClr val="000000"/>
                </a:solidFill>
              </a:rPr>
              <a:t>class</a:t>
            </a:r>
            <a:endParaRPr lang="en-US" altLang="en-US" sz="2800" dirty="0">
              <a:solidFill>
                <a:srgbClr val="000000"/>
              </a:solidFill>
            </a:endParaRPr>
          </a:p>
        </p:txBody>
      </p:sp>
    </p:spTree>
    <p:extLst>
      <p:ext uri="{BB962C8B-B14F-4D97-AF65-F5344CB8AC3E}">
        <p14:creationId xmlns:p14="http://schemas.microsoft.com/office/powerpoint/2010/main" val="129180164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Member Function Overloading</a:t>
            </a:r>
            <a:endParaRPr lang="en-IN" dirty="0"/>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Non-constructor member functions can also be overloaded:</a:t>
            </a:r>
          </a:p>
          <a:p>
            <a:pPr marL="1026000" lvl="1">
              <a:buClr>
                <a:srgbClr val="3333CC"/>
              </a:buClr>
              <a:buNone/>
            </a:pPr>
            <a:r>
              <a:rPr lang="en-US" altLang="en-US" dirty="0" smtClean="0">
                <a:solidFill>
                  <a:srgbClr val="000000"/>
                </a:solidFill>
                <a:latin typeface="Courier New" panose="02070309020205020404" pitchFamily="49" charset="0"/>
              </a:rPr>
              <a:t>void </a:t>
            </a:r>
            <a:r>
              <a:rPr lang="en-US" altLang="en-US" dirty="0">
                <a:solidFill>
                  <a:srgbClr val="000000"/>
                </a:solidFill>
                <a:latin typeface="Courier New" panose="02070309020205020404" pitchFamily="49" charset="0"/>
              </a:rPr>
              <a:t>setCost(double);</a:t>
            </a:r>
          </a:p>
          <a:p>
            <a:pPr marL="1026000" lvl="1">
              <a:buClr>
                <a:srgbClr val="3333CC"/>
              </a:buClr>
              <a:buNone/>
            </a:pPr>
            <a:r>
              <a:rPr lang="en-US" altLang="en-US" dirty="0" smtClean="0">
                <a:solidFill>
                  <a:srgbClr val="000000"/>
                </a:solidFill>
                <a:latin typeface="Courier New" panose="02070309020205020404" pitchFamily="49" charset="0"/>
              </a:rPr>
              <a:t>void </a:t>
            </a:r>
            <a:r>
              <a:rPr lang="en-US" altLang="en-US" dirty="0">
                <a:solidFill>
                  <a:srgbClr val="000000"/>
                </a:solidFill>
                <a:latin typeface="Courier New" panose="02070309020205020404" pitchFamily="49" charset="0"/>
              </a:rPr>
              <a:t>setCost(char </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a:p>
            <a:pPr lvl="0">
              <a:spcBef>
                <a:spcPts val="4100"/>
              </a:spcBef>
              <a:buFontTx/>
              <a:buChar char="•"/>
            </a:pPr>
            <a:r>
              <a:rPr lang="en-US" altLang="en-US" dirty="0">
                <a:solidFill>
                  <a:srgbClr val="000000"/>
                </a:solidFill>
              </a:rPr>
              <a:t>Must have unique parameter lists as for </a:t>
            </a:r>
            <a:r>
              <a:rPr lang="en-US" altLang="en-US" dirty="0" smtClean="0">
                <a:solidFill>
                  <a:srgbClr val="000000"/>
                </a:solidFill>
              </a:rPr>
              <a:t>constructors</a:t>
            </a:r>
            <a:endParaRPr lang="en-US" altLang="en-US" dirty="0">
              <a:solidFill>
                <a:srgbClr val="000000"/>
              </a:solidFill>
            </a:endParaRPr>
          </a:p>
        </p:txBody>
      </p:sp>
    </p:spTree>
    <p:extLst>
      <p:ext uri="{BB962C8B-B14F-4D97-AF65-F5344CB8AC3E}">
        <p14:creationId xmlns:p14="http://schemas.microsoft.com/office/powerpoint/2010/main" val="205294616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p:cNvSpPr>
            <a:spLocks noGrp="1" noChangeArrowheads="1"/>
          </p:cNvSpPr>
          <p:nvPr>
            <p:ph type="ctrTitle"/>
          </p:nvPr>
        </p:nvSpPr>
        <p:spPr/>
        <p:txBody>
          <a:bodyPr/>
          <a:lstStyle/>
          <a:p>
            <a:r>
              <a:rPr lang="en-US" altLang="en-US" dirty="0" smtClean="0"/>
              <a:t>3.11</a:t>
            </a:r>
          </a:p>
        </p:txBody>
      </p:sp>
      <p:sp>
        <p:nvSpPr>
          <p:cNvPr id="95235" name="Subtitle 2"/>
          <p:cNvSpPr>
            <a:spLocks noGrp="1" noChangeArrowheads="1"/>
          </p:cNvSpPr>
          <p:nvPr>
            <p:ph type="subTitle" idx="1"/>
          </p:nvPr>
        </p:nvSpPr>
        <p:spPr/>
        <p:txBody>
          <a:bodyPr/>
          <a:lstStyle/>
          <a:p>
            <a:r>
              <a:rPr lang="en-US" altLang="en-US" dirty="0" smtClean="0"/>
              <a:t>Using Private Member Functions</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Using Private Member Functions</a:t>
            </a:r>
            <a:endParaRPr lang="en-IN" dirty="0"/>
          </a:p>
        </p:txBody>
      </p:sp>
      <p:sp>
        <p:nvSpPr>
          <p:cNvPr id="3" name="Content Placeholder 2"/>
          <p:cNvSpPr>
            <a:spLocks noGrp="1"/>
          </p:cNvSpPr>
          <p:nvPr>
            <p:ph idx="1"/>
          </p:nvPr>
        </p:nvSpPr>
        <p:spPr/>
        <p:txBody>
          <a:bodyPr/>
          <a:lstStyle/>
          <a:p>
            <a:pPr lvl="0">
              <a:lnSpc>
                <a:spcPct val="90000"/>
              </a:lnSpc>
              <a:spcBef>
                <a:spcPct val="60000"/>
              </a:spcBef>
              <a:buFontTx/>
              <a:buChar char="•"/>
            </a:pPr>
            <a:r>
              <a:rPr lang="en-US" altLang="en-US" sz="2800" dirty="0">
                <a:solidFill>
                  <a:srgbClr val="000000"/>
                </a:solidFill>
              </a:rPr>
              <a:t>A </a:t>
            </a:r>
            <a:r>
              <a:rPr lang="en-US" altLang="en-US" sz="2800" dirty="0">
                <a:solidFill>
                  <a:srgbClr val="000000"/>
                </a:solidFill>
                <a:latin typeface="Courier New" panose="02070309020205020404" pitchFamily="49" charset="0"/>
              </a:rPr>
              <a:t>private</a:t>
            </a:r>
            <a:r>
              <a:rPr lang="en-US" altLang="en-US" sz="2800" dirty="0">
                <a:solidFill>
                  <a:srgbClr val="000000"/>
                </a:solidFill>
              </a:rPr>
              <a:t> member function can only be called by another member </a:t>
            </a:r>
            <a:r>
              <a:rPr lang="en-US" altLang="en-US" sz="2800" dirty="0" smtClean="0">
                <a:solidFill>
                  <a:srgbClr val="000000"/>
                </a:solidFill>
              </a:rPr>
              <a:t>function</a:t>
            </a:r>
            <a:endParaRPr lang="en-US" altLang="en-US" sz="2800" dirty="0">
              <a:solidFill>
                <a:srgbClr val="000000"/>
              </a:solidFill>
            </a:endParaRPr>
          </a:p>
          <a:p>
            <a:pPr lvl="0">
              <a:lnSpc>
                <a:spcPct val="91000"/>
              </a:lnSpc>
              <a:spcBef>
                <a:spcPts val="5000"/>
              </a:spcBef>
              <a:buFontTx/>
              <a:buChar char="•"/>
            </a:pPr>
            <a:r>
              <a:rPr lang="en-US" altLang="en-US" sz="2800" dirty="0">
                <a:solidFill>
                  <a:srgbClr val="000000"/>
                </a:solidFill>
              </a:rPr>
              <a:t>It is used for internal processing by the class, not for use outside of the </a:t>
            </a:r>
            <a:r>
              <a:rPr lang="en-US" altLang="en-US" sz="2800" dirty="0" smtClean="0">
                <a:solidFill>
                  <a:srgbClr val="000000"/>
                </a:solidFill>
              </a:rPr>
              <a:t>class</a:t>
            </a:r>
            <a:endParaRPr lang="en-US" altLang="en-US" sz="2800" dirty="0">
              <a:solidFill>
                <a:srgbClr val="000000"/>
              </a:solidFill>
            </a:endParaRPr>
          </a:p>
          <a:p>
            <a:pPr lvl="0">
              <a:lnSpc>
                <a:spcPct val="90000"/>
              </a:lnSpc>
              <a:spcBef>
                <a:spcPts val="5000"/>
              </a:spcBef>
              <a:buFontTx/>
              <a:buChar char="•"/>
            </a:pPr>
            <a:r>
              <a:rPr lang="en-US" altLang="en-US" sz="2800" dirty="0">
                <a:solidFill>
                  <a:srgbClr val="000000"/>
                </a:solidFill>
              </a:rPr>
              <a:t>See the </a:t>
            </a:r>
            <a:r>
              <a:rPr lang="en-US" altLang="en-US" sz="2800" dirty="0">
                <a:solidFill>
                  <a:srgbClr val="000000"/>
                </a:solidFill>
                <a:latin typeface="Courier New" panose="02070309020205020404" pitchFamily="49" charset="0"/>
              </a:rPr>
              <a:t>createDescription</a:t>
            </a:r>
            <a:r>
              <a:rPr lang="en-US" altLang="en-US" sz="2800" dirty="0">
                <a:solidFill>
                  <a:srgbClr val="000000"/>
                </a:solidFill>
              </a:rPr>
              <a:t> function in </a:t>
            </a:r>
            <a:r>
              <a:rPr lang="en-US" altLang="en-US" sz="2800" b="1" dirty="0">
                <a:solidFill>
                  <a:srgbClr val="000000"/>
                </a:solidFill>
                <a:latin typeface="Courier New" panose="02070309020205020404" pitchFamily="49" charset="0"/>
              </a:rPr>
              <a:t>ContactInfo.h</a:t>
            </a:r>
            <a:r>
              <a:rPr lang="en-US" altLang="en-US" sz="2800" dirty="0">
                <a:solidFill>
                  <a:srgbClr val="000000"/>
                </a:solidFill>
              </a:rPr>
              <a:t> (Version 2</a:t>
            </a:r>
            <a:r>
              <a:rPr lang="en-US" altLang="en-US" sz="2800" dirty="0" smtClean="0">
                <a:solidFill>
                  <a:srgbClr val="000000"/>
                </a:solidFill>
              </a:rPr>
              <a:t>)</a:t>
            </a:r>
            <a:endParaRPr lang="en-US" altLang="en-US" sz="2800" dirty="0">
              <a:solidFill>
                <a:srgbClr val="000000"/>
              </a:solidFill>
            </a:endParaRPr>
          </a:p>
        </p:txBody>
      </p:sp>
    </p:spTree>
    <p:extLst>
      <p:ext uri="{BB962C8B-B14F-4D97-AF65-F5344CB8AC3E}">
        <p14:creationId xmlns:p14="http://schemas.microsoft.com/office/powerpoint/2010/main" val="236206490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p:cNvSpPr>
            <a:spLocks noGrp="1" noChangeArrowheads="1"/>
          </p:cNvSpPr>
          <p:nvPr>
            <p:ph type="ctrTitle"/>
          </p:nvPr>
        </p:nvSpPr>
        <p:spPr/>
        <p:txBody>
          <a:bodyPr/>
          <a:lstStyle/>
          <a:p>
            <a:r>
              <a:rPr lang="en-US" altLang="en-US" dirty="0" smtClean="0"/>
              <a:t>13.12</a:t>
            </a:r>
          </a:p>
        </p:txBody>
      </p:sp>
      <p:sp>
        <p:nvSpPr>
          <p:cNvPr id="98307" name="Subtitle 2"/>
          <p:cNvSpPr>
            <a:spLocks noGrp="1" noChangeArrowheads="1"/>
          </p:cNvSpPr>
          <p:nvPr>
            <p:ph type="subTitle" idx="1"/>
          </p:nvPr>
        </p:nvSpPr>
        <p:spPr/>
        <p:txBody>
          <a:bodyPr/>
          <a:lstStyle/>
          <a:p>
            <a:r>
              <a:rPr lang="en-US" altLang="en-US" dirty="0" smtClean="0"/>
              <a:t>Arrays of Objects</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Arrays of </a:t>
            </a:r>
            <a:r>
              <a:rPr lang="en-US" altLang="en-US" dirty="0" smtClean="0"/>
              <a:t>Objects </a:t>
            </a:r>
            <a:r>
              <a:rPr lang="en-US" altLang="en-US" sz="1200" dirty="0" smtClean="0"/>
              <a:t>(1 of 4)</a:t>
            </a:r>
            <a:endParaRPr lang="en-IN" dirty="0"/>
          </a:p>
        </p:txBody>
      </p:sp>
      <p:sp>
        <p:nvSpPr>
          <p:cNvPr id="3" name="Content Placeholder 2"/>
          <p:cNvSpPr>
            <a:spLocks noGrp="1"/>
          </p:cNvSpPr>
          <p:nvPr>
            <p:ph idx="1"/>
          </p:nvPr>
        </p:nvSpPr>
        <p:spPr>
          <a:xfrm>
            <a:off x="457200" y="1947600"/>
            <a:ext cx="8001000" cy="3310200"/>
          </a:xfrm>
        </p:spPr>
        <p:txBody>
          <a:bodyPr/>
          <a:lstStyle/>
          <a:p>
            <a:pPr lvl="0">
              <a:lnSpc>
                <a:spcPct val="90000"/>
              </a:lnSpc>
              <a:spcBef>
                <a:spcPct val="15000"/>
              </a:spcBef>
              <a:buFontTx/>
              <a:buChar char="•"/>
            </a:pPr>
            <a:r>
              <a:rPr lang="en-US" altLang="en-US" dirty="0">
                <a:solidFill>
                  <a:srgbClr val="000000"/>
                </a:solidFill>
              </a:rPr>
              <a:t>Objects can be the elements of an array</a:t>
            </a:r>
            <a:r>
              <a:rPr lang="en-US" altLang="en-US" dirty="0" smtClean="0">
                <a:solidFill>
                  <a:srgbClr val="000000"/>
                </a:solidFill>
              </a:rPr>
              <a:t>:</a:t>
            </a:r>
            <a:endParaRPr lang="en-US" altLang="en-US" dirty="0">
              <a:solidFill>
                <a:srgbClr val="000000"/>
              </a:solidFill>
            </a:endParaRPr>
          </a:p>
          <a:p>
            <a:pPr lvl="1">
              <a:lnSpc>
                <a:spcPct val="91000"/>
              </a:lnSpc>
              <a:spcBef>
                <a:spcPts val="3900"/>
              </a:spcBef>
              <a:buClr>
                <a:srgbClr val="000000"/>
              </a:buClr>
              <a:buNone/>
            </a:pPr>
            <a:r>
              <a:rPr lang="en-US" altLang="en-US" dirty="0">
                <a:solidFill>
                  <a:srgbClr val="000000"/>
                </a:solidFill>
                <a:latin typeface="Courier New" panose="02070309020205020404" pitchFamily="49" charset="0"/>
              </a:rPr>
              <a:t>InventoryItem inventory[40</a:t>
            </a:r>
            <a:r>
              <a:rPr lang="en-US" altLang="en-US" dirty="0" smtClean="0">
                <a:solidFill>
                  <a:srgbClr val="000000"/>
                </a:solidFill>
                <a:latin typeface="Courier New" panose="02070309020205020404" pitchFamily="49" charset="0"/>
              </a:rPr>
              <a:t>];</a:t>
            </a:r>
            <a:endParaRPr lang="en-US" altLang="en-US" dirty="0">
              <a:solidFill>
                <a:srgbClr val="000000"/>
              </a:solidFill>
            </a:endParaRPr>
          </a:p>
          <a:p>
            <a:pPr lvl="0">
              <a:lnSpc>
                <a:spcPct val="90000"/>
              </a:lnSpc>
              <a:spcBef>
                <a:spcPts val="3600"/>
              </a:spcBef>
              <a:buFontTx/>
              <a:buChar char="•"/>
            </a:pPr>
            <a:r>
              <a:rPr lang="en-US" altLang="en-US" dirty="0">
                <a:solidFill>
                  <a:srgbClr val="000000"/>
                </a:solidFill>
              </a:rPr>
              <a:t>Default constructor for object is used when array is </a:t>
            </a:r>
            <a:r>
              <a:rPr lang="en-US" altLang="en-US" dirty="0" smtClean="0">
                <a:solidFill>
                  <a:srgbClr val="000000"/>
                </a:solidFill>
              </a:rPr>
              <a:t>defined</a:t>
            </a:r>
            <a:endParaRPr lang="en-US" altLang="en-US" dirty="0">
              <a:solidFill>
                <a:srgbClr val="000000"/>
              </a:solidFill>
            </a:endParaRPr>
          </a:p>
        </p:txBody>
      </p:sp>
    </p:spTree>
    <p:extLst>
      <p:ext uri="{BB962C8B-B14F-4D97-AF65-F5344CB8AC3E}">
        <p14:creationId xmlns:p14="http://schemas.microsoft.com/office/powerpoint/2010/main" val="80805168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Arrays of </a:t>
            </a:r>
            <a:r>
              <a:rPr lang="en-US" altLang="en-US" dirty="0" smtClean="0"/>
              <a:t>Objects </a:t>
            </a:r>
            <a:r>
              <a:rPr lang="en-US" altLang="en-US" sz="1200" dirty="0" smtClean="0"/>
              <a:t>(2 of 4)</a:t>
            </a:r>
            <a:endParaRPr lang="en-IN" dirty="0"/>
          </a:p>
        </p:txBody>
      </p:sp>
      <p:sp>
        <p:nvSpPr>
          <p:cNvPr id="3" name="Content Placeholder 2"/>
          <p:cNvSpPr>
            <a:spLocks noGrp="1"/>
          </p:cNvSpPr>
          <p:nvPr>
            <p:ph idx="1"/>
          </p:nvPr>
        </p:nvSpPr>
        <p:spPr>
          <a:xfrm>
            <a:off x="457200" y="1951200"/>
            <a:ext cx="8229600" cy="3200400"/>
          </a:xfrm>
        </p:spPr>
        <p:txBody>
          <a:bodyPr/>
          <a:lstStyle/>
          <a:p>
            <a:pPr lvl="0">
              <a:lnSpc>
                <a:spcPct val="90000"/>
              </a:lnSpc>
              <a:spcBef>
                <a:spcPct val="15000"/>
              </a:spcBef>
              <a:buFontTx/>
              <a:buChar char="•"/>
            </a:pPr>
            <a:r>
              <a:rPr lang="en-US" altLang="en-US" dirty="0">
                <a:solidFill>
                  <a:srgbClr val="000000"/>
                </a:solidFill>
              </a:rPr>
              <a:t>Must use initializer list to invoke constructor that takes arguments</a:t>
            </a:r>
            <a:r>
              <a:rPr lang="en-US" altLang="en-US" dirty="0" smtClean="0">
                <a:solidFill>
                  <a:srgbClr val="000000"/>
                </a:solidFill>
              </a:rPr>
              <a:t>:</a:t>
            </a:r>
            <a:endParaRPr lang="en-US" altLang="en-US" dirty="0">
              <a:solidFill>
                <a:srgbClr val="000000"/>
              </a:solidFill>
            </a:endParaRPr>
          </a:p>
          <a:p>
            <a:pPr lvl="1">
              <a:lnSpc>
                <a:spcPct val="90000"/>
              </a:lnSpc>
              <a:spcBef>
                <a:spcPts val="3900"/>
              </a:spcBef>
              <a:buClr>
                <a:srgbClr val="000000"/>
              </a:buClr>
              <a:buNone/>
            </a:pPr>
            <a:r>
              <a:rPr lang="en-US" altLang="en-US" sz="2400" dirty="0">
                <a:solidFill>
                  <a:srgbClr val="000000"/>
                </a:solidFill>
                <a:latin typeface="Courier New" panose="02070309020205020404" pitchFamily="49" charset="0"/>
              </a:rPr>
              <a:t>InventoryItem inventory[3] =</a:t>
            </a:r>
            <a:br>
              <a:rPr lang="en-US" altLang="en-US" sz="2400" dirty="0">
                <a:solidFill>
                  <a:srgbClr val="000000"/>
                </a:solidFill>
                <a:latin typeface="Courier New" panose="02070309020205020404" pitchFamily="49" charset="0"/>
              </a:rPr>
            </a:br>
            <a:r>
              <a:rPr lang="en-US" altLang="en-US" sz="2400" dirty="0">
                <a:solidFill>
                  <a:srgbClr val="000000"/>
                </a:solidFill>
                <a:latin typeface="Courier New" panose="02070309020205020404" pitchFamily="49" charset="0"/>
              </a:rPr>
              <a:t>{ "Hammer", "Wrench", "Pliers" </a:t>
            </a:r>
            <a:r>
              <a:rPr lang="en-US" altLang="en-US" sz="2400"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403446707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Arrays of </a:t>
            </a:r>
            <a:r>
              <a:rPr lang="en-US" altLang="en-US" dirty="0" smtClean="0"/>
              <a:t>Objects </a:t>
            </a:r>
            <a:r>
              <a:rPr lang="en-US" altLang="en-US" sz="1200" dirty="0" smtClean="0"/>
              <a:t>(3 of 4)</a:t>
            </a:r>
            <a:endParaRPr lang="en-IN" dirty="0"/>
          </a:p>
        </p:txBody>
      </p:sp>
      <p:sp>
        <p:nvSpPr>
          <p:cNvPr id="3" name="Content Placeholder 2"/>
          <p:cNvSpPr>
            <a:spLocks noGrp="1"/>
          </p:cNvSpPr>
          <p:nvPr>
            <p:ph idx="1"/>
          </p:nvPr>
        </p:nvSpPr>
        <p:spPr>
          <a:xfrm>
            <a:off x="457200" y="1666800"/>
            <a:ext cx="8077200" cy="1600200"/>
          </a:xfrm>
        </p:spPr>
        <p:txBody>
          <a:bodyPr/>
          <a:lstStyle/>
          <a:p>
            <a:pPr lvl="0">
              <a:spcBef>
                <a:spcPct val="15000"/>
              </a:spcBef>
              <a:buFontTx/>
              <a:buChar char="•"/>
            </a:pPr>
            <a:r>
              <a:rPr lang="en-US" altLang="en-US" dirty="0">
                <a:solidFill>
                  <a:srgbClr val="000000"/>
                </a:solidFill>
              </a:rPr>
              <a:t>If the constructor requires more than one argument, the initializer must take the form of a function call</a:t>
            </a:r>
            <a:r>
              <a:rPr lang="en-US" altLang="en-US" dirty="0" smtClean="0">
                <a:solidFill>
                  <a:srgbClr val="000000"/>
                </a:solidFill>
              </a:rPr>
              <a:t>:</a:t>
            </a:r>
            <a:endParaRPr lang="en-US" altLang="en-US" dirty="0">
              <a:solidFill>
                <a:srgbClr val="000000"/>
              </a:solidFill>
            </a:endParaRPr>
          </a:p>
        </p:txBody>
      </p:sp>
      <p:pic>
        <p:nvPicPr>
          <p:cNvPr id="4" name="Picture 4" descr="The screenshot shows the array of objects. The constructor InventoryItem inventory [3] displays three arguments for the objects hammer, wrench, and pliers in an array. The program calls the same constructor InventoryItem for all three objects in the array. example: InventoryItem inventory [3] equals open brace InventoryItem open parentheses 'Hammer&quot;, 6.95, 12 close parentheses, InventoryItem open parentheses &quot;wrench&quot;, 8.75, 20 close parentheses, InventoryItem open parentheses &quot;Pliers&quot;, 3.75, 10 close parentheses close parentheses close brace semicol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821113"/>
            <a:ext cx="7907338" cy="86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32941450"/>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Arrays of Objects</a:t>
            </a:r>
            <a:endParaRPr lang="en-IN" dirty="0"/>
          </a:p>
        </p:txBody>
      </p:sp>
      <p:sp>
        <p:nvSpPr>
          <p:cNvPr id="3" name="Content Placeholder 2"/>
          <p:cNvSpPr>
            <a:spLocks noGrp="1"/>
          </p:cNvSpPr>
          <p:nvPr>
            <p:ph idx="1"/>
          </p:nvPr>
        </p:nvSpPr>
        <p:spPr>
          <a:xfrm>
            <a:off x="304800" y="1828800"/>
            <a:ext cx="8229600" cy="1066800"/>
          </a:xfrm>
        </p:spPr>
        <p:txBody>
          <a:bodyPr/>
          <a:lstStyle/>
          <a:p>
            <a:pPr lvl="0">
              <a:buFontTx/>
              <a:buChar char="•"/>
            </a:pPr>
            <a:r>
              <a:rPr lang="en-US" altLang="en-US" dirty="0">
                <a:solidFill>
                  <a:srgbClr val="000000"/>
                </a:solidFill>
              </a:rPr>
              <a:t>It isn't necessary to call the same constructor for each object in an array</a:t>
            </a:r>
            <a:r>
              <a:rPr lang="en-US" altLang="en-US" dirty="0" smtClean="0">
                <a:solidFill>
                  <a:srgbClr val="000000"/>
                </a:solidFill>
              </a:rPr>
              <a:t>:</a:t>
            </a:r>
            <a:endParaRPr lang="en-US" altLang="en-US" dirty="0">
              <a:solidFill>
                <a:srgbClr val="000000"/>
              </a:solidFill>
            </a:endParaRPr>
          </a:p>
        </p:txBody>
      </p:sp>
      <p:pic>
        <p:nvPicPr>
          <p:cNvPr id="4" name="Picture 4" descr="The screenshot shows the array of objects. The constructor InventoryItem inventory [3] displays one argument for the object 'Wrench' in the array. The program does not call the same constructor InventoryItem for all three objects in the array. Example: InventoryItem inventory [3] equals open brace &quot;Hammer&quot; InventoryItem open parentheses 'Wrench&quot;, 8.75, 20 close parentheses, &quot;Pliers&quot; close brace semicol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513138"/>
            <a:ext cx="769620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7333129"/>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Accessing Objects in an Array</a:t>
            </a:r>
            <a:endParaRPr lang="en-IN" dirty="0"/>
          </a:p>
        </p:txBody>
      </p:sp>
      <p:sp>
        <p:nvSpPr>
          <p:cNvPr id="3" name="Content Placeholder 2"/>
          <p:cNvSpPr>
            <a:spLocks noGrp="1"/>
          </p:cNvSpPr>
          <p:nvPr>
            <p:ph idx="1"/>
          </p:nvPr>
        </p:nvSpPr>
        <p:spPr>
          <a:xfrm>
            <a:off x="457200" y="1807200"/>
            <a:ext cx="8229600" cy="3352800"/>
          </a:xfrm>
        </p:spPr>
        <p:txBody>
          <a:bodyPr/>
          <a:lstStyle/>
          <a:p>
            <a:pPr lvl="0">
              <a:lnSpc>
                <a:spcPct val="90000"/>
              </a:lnSpc>
              <a:spcBef>
                <a:spcPct val="25000"/>
              </a:spcBef>
              <a:buFontTx/>
              <a:buChar char="•"/>
            </a:pPr>
            <a:r>
              <a:rPr lang="en-US" altLang="en-US" sz="2800" dirty="0">
                <a:solidFill>
                  <a:srgbClr val="000000"/>
                </a:solidFill>
              </a:rPr>
              <a:t>Objects in an array are referenced using </a:t>
            </a:r>
            <a:r>
              <a:rPr lang="en-US" altLang="en-US" sz="2800" dirty="0" smtClean="0">
                <a:solidFill>
                  <a:srgbClr val="000000"/>
                </a:solidFill>
              </a:rPr>
              <a:t>subscripts</a:t>
            </a:r>
            <a:endParaRPr lang="en-US" altLang="en-US" sz="2800" dirty="0">
              <a:solidFill>
                <a:srgbClr val="000000"/>
              </a:solidFill>
            </a:endParaRPr>
          </a:p>
          <a:p>
            <a:pPr lvl="0">
              <a:lnSpc>
                <a:spcPct val="90000"/>
              </a:lnSpc>
              <a:spcBef>
                <a:spcPts val="3900"/>
              </a:spcBef>
              <a:buFontTx/>
              <a:buChar char="•"/>
            </a:pPr>
            <a:r>
              <a:rPr lang="en-US" altLang="en-US" sz="2800" dirty="0" smtClean="0">
                <a:solidFill>
                  <a:srgbClr val="000000"/>
                </a:solidFill>
              </a:rPr>
              <a:t>Member </a:t>
            </a:r>
            <a:r>
              <a:rPr lang="en-US" altLang="en-US" sz="2800" dirty="0">
                <a:solidFill>
                  <a:srgbClr val="000000"/>
                </a:solidFill>
              </a:rPr>
              <a:t>functions are referenced using dot notation</a:t>
            </a:r>
            <a:r>
              <a:rPr lang="en-US" altLang="en-US" sz="2800" dirty="0" smtClean="0">
                <a:solidFill>
                  <a:srgbClr val="000000"/>
                </a:solidFill>
              </a:rPr>
              <a:t>:</a:t>
            </a:r>
            <a:endParaRPr lang="en-US" altLang="en-US" sz="2800" dirty="0">
              <a:solidFill>
                <a:srgbClr val="000000"/>
              </a:solidFill>
            </a:endParaRPr>
          </a:p>
          <a:p>
            <a:pPr lvl="1">
              <a:lnSpc>
                <a:spcPct val="90000"/>
              </a:lnSpc>
              <a:spcBef>
                <a:spcPts val="3700"/>
              </a:spcBef>
              <a:buClr>
                <a:srgbClr val="000000"/>
              </a:buClr>
              <a:buNone/>
            </a:pPr>
            <a:r>
              <a:rPr lang="en-US" altLang="en-US" sz="2400" dirty="0">
                <a:solidFill>
                  <a:srgbClr val="000000"/>
                </a:solidFill>
                <a:latin typeface="Courier New" panose="02070309020205020404" pitchFamily="49" charset="0"/>
              </a:rPr>
              <a:t>inventory[2].setUnits(30);</a:t>
            </a:r>
          </a:p>
          <a:p>
            <a:pPr lvl="1">
              <a:lnSpc>
                <a:spcPct val="90000"/>
              </a:lnSpc>
              <a:spcBef>
                <a:spcPct val="25000"/>
              </a:spcBef>
              <a:buClr>
                <a:srgbClr val="000000"/>
              </a:buClr>
              <a:buNone/>
            </a:pPr>
            <a:r>
              <a:rPr lang="en-US" altLang="en-US" sz="2400" dirty="0">
                <a:solidFill>
                  <a:srgbClr val="000000"/>
                </a:solidFill>
                <a:latin typeface="Courier New" panose="02070309020205020404" pitchFamily="49" charset="0"/>
              </a:rPr>
              <a:t>cout &lt;&lt; inventory[2].getUnits</a:t>
            </a: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52600810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487362"/>
          </a:xfrm>
        </p:spPr>
        <p:txBody>
          <a:bodyPr/>
          <a:lstStyle/>
          <a:p>
            <a:r>
              <a:rPr lang="en-US" altLang="en-US" sz="1800" dirty="0"/>
              <a:t>Program </a:t>
            </a:r>
            <a:r>
              <a:rPr lang="en-US" altLang="en-US" sz="1800" dirty="0" smtClean="0"/>
              <a:t>13-14 </a:t>
            </a:r>
            <a:r>
              <a:rPr lang="en-US" altLang="en-US" sz="1200" dirty="0" smtClean="0"/>
              <a:t>(1 of 2)</a:t>
            </a:r>
            <a:endParaRPr lang="en-IN" sz="1800" dirty="0"/>
          </a:p>
        </p:txBody>
      </p:sp>
      <p:pic>
        <p:nvPicPr>
          <p:cNvPr id="108546" name="Picture 1" descr="The screenshot shows the program that demonstrates an array of class objects. The main function declares the number of items in the inventory as 5. The class objects in the array - hammer, wrench, pliers, ratchet, and screwdriver, are initialized in the main function.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 y="909638"/>
            <a:ext cx="8572500" cy="503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3200"/>
            <a:ext cx="8229600" cy="411162"/>
          </a:xfrm>
        </p:spPr>
        <p:txBody>
          <a:bodyPr/>
          <a:lstStyle/>
          <a:p>
            <a:r>
              <a:rPr lang="en-US" altLang="en-US" sz="1800" dirty="0"/>
              <a:t>Program </a:t>
            </a:r>
            <a:r>
              <a:rPr lang="en-US" altLang="en-US" sz="1800" dirty="0" smtClean="0"/>
              <a:t>13-14 </a:t>
            </a:r>
            <a:r>
              <a:rPr lang="en-US" altLang="en-US" sz="1200" dirty="0" smtClean="0"/>
              <a:t>(2 of 2)</a:t>
            </a:r>
            <a:endParaRPr lang="en-IN" sz="1800" dirty="0"/>
          </a:p>
        </p:txBody>
      </p:sp>
      <p:pic>
        <p:nvPicPr>
          <p:cNvPr id="109571" name="Picture 1" descr="The screenshot shows the program that demonstrates an array of class objects. The main function declares the number of items in the inventory as 5. The class objects in the array - hammer, wrench, pliers, ratchet, and screwdriver, are initialized in the main function. The setw(14) gets the description of the inventory item, setw(8) gets the cost of the item, and the setw(7) gets the number of units. The program output displays the inventory item, cost, and units on ha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025525"/>
            <a:ext cx="6573838" cy="514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noChangeArrowheads="1"/>
          </p:cNvSpPr>
          <p:nvPr>
            <p:ph type="ctrTitle"/>
          </p:nvPr>
        </p:nvSpPr>
        <p:spPr/>
        <p:txBody>
          <a:bodyPr/>
          <a:lstStyle/>
          <a:p>
            <a:r>
              <a:rPr lang="en-US" altLang="en-US" dirty="0" smtClean="0"/>
              <a:t>13.16</a:t>
            </a:r>
          </a:p>
        </p:txBody>
      </p:sp>
      <p:sp>
        <p:nvSpPr>
          <p:cNvPr id="110595" name="Subtitle 2"/>
          <p:cNvSpPr>
            <a:spLocks noGrp="1" noChangeArrowheads="1"/>
          </p:cNvSpPr>
          <p:nvPr>
            <p:ph type="subTitle" idx="1"/>
          </p:nvPr>
        </p:nvSpPr>
        <p:spPr/>
        <p:txBody>
          <a:bodyPr/>
          <a:lstStyle/>
          <a:p>
            <a:r>
              <a:rPr lang="en-US" altLang="en-US" dirty="0" smtClean="0"/>
              <a:t>The Unified Modeling Language</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Unified Modeling Language</a:t>
            </a:r>
            <a:endParaRPr lang="en-IN" dirty="0"/>
          </a:p>
        </p:txBody>
      </p:sp>
      <p:sp>
        <p:nvSpPr>
          <p:cNvPr id="3" name="Content Placeholder 2"/>
          <p:cNvSpPr>
            <a:spLocks noGrp="1"/>
          </p:cNvSpPr>
          <p:nvPr>
            <p:ph idx="1"/>
          </p:nvPr>
        </p:nvSpPr>
        <p:spPr>
          <a:xfrm>
            <a:off x="304800" y="1828801"/>
            <a:ext cx="8229600" cy="3200400"/>
          </a:xfrm>
        </p:spPr>
        <p:txBody>
          <a:bodyPr/>
          <a:lstStyle/>
          <a:p>
            <a:pPr lvl="0">
              <a:buFontTx/>
              <a:buChar char="•"/>
            </a:pPr>
            <a:r>
              <a:rPr lang="en-US" altLang="en-US" i="1" dirty="0">
                <a:solidFill>
                  <a:srgbClr val="000000"/>
                </a:solidFill>
              </a:rPr>
              <a:t>UML</a:t>
            </a:r>
            <a:r>
              <a:rPr lang="en-US" altLang="en-US" dirty="0">
                <a:solidFill>
                  <a:srgbClr val="000000"/>
                </a:solidFill>
              </a:rPr>
              <a:t> stands for </a:t>
            </a:r>
            <a:r>
              <a:rPr lang="en-US" altLang="en-US" i="1" dirty="0">
                <a:solidFill>
                  <a:srgbClr val="000000"/>
                </a:solidFill>
              </a:rPr>
              <a:t>Unified Modeling Language</a:t>
            </a:r>
            <a:r>
              <a:rPr lang="en-US" altLang="en-US" dirty="0">
                <a:solidFill>
                  <a:srgbClr val="000000"/>
                </a:solidFill>
              </a:rPr>
              <a:t>. </a:t>
            </a:r>
          </a:p>
          <a:p>
            <a:pPr lvl="0">
              <a:spcBef>
                <a:spcPts val="4600"/>
              </a:spcBef>
              <a:buFontTx/>
              <a:buChar char="•"/>
            </a:pPr>
            <a:r>
              <a:rPr lang="en-US" altLang="en-US" dirty="0">
                <a:solidFill>
                  <a:srgbClr val="000000"/>
                </a:solidFill>
              </a:rPr>
              <a:t>The UML provides a set of standard diagrams for graphically depicting object-oriented </a:t>
            </a:r>
            <a:r>
              <a:rPr lang="en-US" altLang="en-US" dirty="0" smtClean="0">
                <a:solidFill>
                  <a:srgbClr val="000000"/>
                </a:solidFill>
              </a:rPr>
              <a:t>systems</a:t>
            </a:r>
            <a:endParaRPr lang="en-US" altLang="en-US" dirty="0">
              <a:solidFill>
                <a:srgbClr val="000000"/>
              </a:solidFill>
            </a:endParaRPr>
          </a:p>
        </p:txBody>
      </p:sp>
    </p:spTree>
    <p:extLst>
      <p:ext uri="{BB962C8B-B14F-4D97-AF65-F5344CB8AC3E}">
        <p14:creationId xmlns:p14="http://schemas.microsoft.com/office/powerpoint/2010/main" val="770122832"/>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lstStyle/>
          <a:p>
            <a:r>
              <a:rPr lang="en-US" altLang="en-US" dirty="0"/>
              <a:t>UML Class Diagram</a:t>
            </a:r>
            <a:endParaRPr lang="en-IN" dirty="0"/>
          </a:p>
        </p:txBody>
      </p:sp>
      <p:sp>
        <p:nvSpPr>
          <p:cNvPr id="3" name="Content Placeholder 2"/>
          <p:cNvSpPr>
            <a:spLocks noGrp="1"/>
          </p:cNvSpPr>
          <p:nvPr>
            <p:ph idx="1"/>
          </p:nvPr>
        </p:nvSpPr>
        <p:spPr>
          <a:xfrm>
            <a:off x="304800" y="1681200"/>
            <a:ext cx="8229600" cy="985800"/>
          </a:xfrm>
        </p:spPr>
        <p:txBody>
          <a:bodyPr/>
          <a:lstStyle/>
          <a:p>
            <a:pPr lvl="0">
              <a:buFontTx/>
              <a:buChar char="•"/>
            </a:pPr>
            <a:r>
              <a:rPr lang="en-US" altLang="en-US" dirty="0">
                <a:solidFill>
                  <a:srgbClr val="000000"/>
                </a:solidFill>
              </a:rPr>
              <a:t>A UML diagram for a class has three main sections</a:t>
            </a:r>
            <a:r>
              <a:rPr lang="en-US" altLang="en-US" dirty="0" smtClean="0">
                <a:solidFill>
                  <a:srgbClr val="000000"/>
                </a:solidFill>
              </a:rPr>
              <a:t>.</a:t>
            </a:r>
            <a:endParaRPr lang="en-US" altLang="en-US" dirty="0">
              <a:solidFill>
                <a:srgbClr val="000000"/>
              </a:solidFill>
            </a:endParaRPr>
          </a:p>
        </p:txBody>
      </p:sp>
      <p:pic>
        <p:nvPicPr>
          <p:cNvPr id="4" name="Picture 4" descr="The screenshot shows the structure of a UML class diagram. The UML diagram for a class has three main sections: The class name goes to the top layer, the member variables are listed in the second layer, and the member functions are listed in the bottom l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895600"/>
            <a:ext cx="761365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509348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8000"/>
            <a:ext cx="8229600" cy="868362"/>
          </a:xfrm>
        </p:spPr>
        <p:txBody>
          <a:bodyPr/>
          <a:lstStyle/>
          <a:p>
            <a:r>
              <a:rPr lang="en-US" altLang="en-US" dirty="0"/>
              <a:t>Example: A Rectangle Class</a:t>
            </a:r>
            <a:endParaRPr lang="en-IN" dirty="0"/>
          </a:p>
        </p:txBody>
      </p:sp>
      <p:pic>
        <p:nvPicPr>
          <p:cNvPr id="4" name="Picture 4" descr="The screenshot shows an example of a UML class diagram. The class name 'Rectangle' goes in the top layer, the member variables width, length are listed in the second layer, and the member functions such as setWidth(), setLength(), getWidth(), getLength(), and getArea() are listed in the bottom lay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2505075"/>
            <a:ext cx="2371725"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048000" y="1699200"/>
            <a:ext cx="4495800" cy="3352800"/>
          </a:xfrm>
        </p:spPr>
        <p:txBody>
          <a:bodyPr/>
          <a:lstStyle/>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class Rectangle</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private:</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double width;</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double length;</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public:</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a:t>
            </a:r>
            <a:r>
              <a:rPr lang="en-US" altLang="en-US" sz="1800" kern="1200" dirty="0" smtClean="0">
                <a:solidFill>
                  <a:srgbClr val="000000"/>
                </a:solidFill>
                <a:latin typeface="Courier New" panose="02070309020205020404" pitchFamily="49" charset="0"/>
                <a:cs typeface="Arial" panose="020B0604020202020204" pitchFamily="34" charset="0"/>
              </a:rPr>
              <a:t>bool setWidth(double</a:t>
            </a:r>
            <a:r>
              <a:rPr lang="en-US" altLang="en-US" sz="1800" kern="1200" dirty="0">
                <a:solidFill>
                  <a:srgbClr val="000000"/>
                </a:solidFill>
                <a:latin typeface="Courier New" panose="02070309020205020404" pitchFamily="49" charset="0"/>
                <a:cs typeface="Arial" panose="020B0604020202020204" pitchFamily="34" charset="0"/>
              </a:rPr>
              <a:t>);</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bool setLength(double);</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double getWidth</a:t>
            </a:r>
            <a:r>
              <a:rPr lang="en-US" altLang="en-US" sz="1800" kern="1200" dirty="0" smtClean="0">
                <a:solidFill>
                  <a:srgbClr val="000000"/>
                </a:solidFill>
                <a:latin typeface="Courier New" panose="02070309020205020404" pitchFamily="49" charset="0"/>
                <a:cs typeface="Arial" panose="020B0604020202020204" pitchFamily="34" charset="0"/>
              </a:rPr>
              <a:t>() const</a:t>
            </a:r>
            <a:r>
              <a:rPr lang="en-US" altLang="en-US" sz="1800" kern="1200" dirty="0">
                <a:solidFill>
                  <a:srgbClr val="000000"/>
                </a:solidFill>
                <a:latin typeface="Courier New" panose="02070309020205020404" pitchFamily="49" charset="0"/>
                <a:cs typeface="Arial" panose="020B0604020202020204" pitchFamily="34" charset="0"/>
              </a:rPr>
              <a:t>;</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double getLength() const;</a:t>
            </a:r>
          </a:p>
          <a:p>
            <a:pPr marL="0" lvl="0" indent="0" eaLnBrk="1" hangingPunct="1">
              <a:spcBef>
                <a:spcPct val="0"/>
              </a:spcBef>
              <a:buNone/>
            </a:pPr>
            <a:r>
              <a:rPr lang="en-US" altLang="en-US" sz="1800" kern="1200" dirty="0">
                <a:solidFill>
                  <a:srgbClr val="000000"/>
                </a:solidFill>
                <a:latin typeface="Courier New" panose="02070309020205020404" pitchFamily="49" charset="0"/>
                <a:cs typeface="Arial" panose="020B0604020202020204" pitchFamily="34" charset="0"/>
              </a:rPr>
              <a:t>      double getArea() const;</a:t>
            </a:r>
          </a:p>
          <a:p>
            <a:pPr marL="0" lvl="0" indent="0" eaLnBrk="1" hangingPunct="1">
              <a:spcBef>
                <a:spcPct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179644842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400" y="152400"/>
            <a:ext cx="8229600" cy="1143000"/>
          </a:xfrm>
        </p:spPr>
        <p:txBody>
          <a:bodyPr/>
          <a:lstStyle/>
          <a:p>
            <a:r>
              <a:rPr lang="en-US" altLang="en-US" dirty="0"/>
              <a:t>UML Access Specification Notation</a:t>
            </a:r>
            <a:endParaRPr lang="en-IN" dirty="0"/>
          </a:p>
        </p:txBody>
      </p:sp>
      <p:sp>
        <p:nvSpPr>
          <p:cNvPr id="3" name="Content Placeholder 2"/>
          <p:cNvSpPr>
            <a:spLocks noGrp="1"/>
          </p:cNvSpPr>
          <p:nvPr>
            <p:ph idx="1"/>
          </p:nvPr>
        </p:nvSpPr>
        <p:spPr>
          <a:xfrm>
            <a:off x="280800" y="1681200"/>
            <a:ext cx="8077200" cy="1600200"/>
          </a:xfrm>
        </p:spPr>
        <p:txBody>
          <a:bodyPr/>
          <a:lstStyle/>
          <a:p>
            <a:pPr lvl="0">
              <a:buFontTx/>
              <a:buChar char="•"/>
            </a:pPr>
            <a:r>
              <a:rPr lang="en-US" altLang="en-US" dirty="0">
                <a:solidFill>
                  <a:srgbClr val="000000"/>
                </a:solidFill>
              </a:rPr>
              <a:t>In UML you indicate a private member with a minus </a:t>
            </a:r>
            <a:r>
              <a:rPr lang="en-US" altLang="en-US" dirty="0" smtClean="0">
                <a:solidFill>
                  <a:srgbClr val="000000"/>
                </a:solidFill>
              </a:rPr>
              <a:t>(−) </a:t>
            </a:r>
            <a:r>
              <a:rPr lang="en-US" altLang="en-US" dirty="0">
                <a:solidFill>
                  <a:srgbClr val="000000"/>
                </a:solidFill>
              </a:rPr>
              <a:t>and a public member with a plus</a:t>
            </a:r>
            <a:r>
              <a:rPr lang="en-US" altLang="en-US" dirty="0" smtClean="0">
                <a:solidFill>
                  <a:srgbClr val="000000"/>
                </a:solidFill>
              </a:rPr>
              <a:t>(+).</a:t>
            </a:r>
            <a:endParaRPr lang="en-US" altLang="en-US" dirty="0">
              <a:solidFill>
                <a:srgbClr val="000000"/>
              </a:solidFill>
            </a:endParaRPr>
          </a:p>
        </p:txBody>
      </p:sp>
      <p:pic>
        <p:nvPicPr>
          <p:cNvPr id="4" name="Picture 3" descr="The screenshot shows the UML access specification notation. The class name 'Rectangle' is displayed in the top layer. The member variables such as width, length goes in the second layer alongside minus symbols to indicate that these member variables are private. The member functions such as setWidth(), setLength(), getWidth(), getLength(), and getArea() are displayed in the bottom layer alongside plus signs to indicate that they are public."/>
          <p:cNvPicPr>
            <a:picLocks noChangeAspect="1"/>
          </p:cNvPicPr>
          <p:nvPr/>
        </p:nvPicPr>
        <p:blipFill>
          <a:blip r:embed="rId2"/>
          <a:stretch>
            <a:fillRect/>
          </a:stretch>
        </p:blipFill>
        <p:spPr>
          <a:xfrm>
            <a:off x="380379" y="3048000"/>
            <a:ext cx="7163421" cy="2895851"/>
          </a:xfrm>
          <a:prstGeom prst="rect">
            <a:avLst/>
          </a:prstGeom>
        </p:spPr>
      </p:pic>
    </p:spTree>
    <p:extLst>
      <p:ext uri="{BB962C8B-B14F-4D97-AF65-F5344CB8AC3E}">
        <p14:creationId xmlns:p14="http://schemas.microsoft.com/office/powerpoint/2010/main" val="32246145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80800"/>
            <a:ext cx="8229600" cy="883800"/>
          </a:xfrm>
        </p:spPr>
        <p:txBody>
          <a:bodyPr/>
          <a:lstStyle/>
          <a:p>
            <a:r>
              <a:rPr lang="en-US" altLang="en-US" dirty="0"/>
              <a:t>UML Data Type Notation</a:t>
            </a:r>
            <a:endParaRPr lang="en-IN" dirty="0"/>
          </a:p>
        </p:txBody>
      </p:sp>
      <p:sp>
        <p:nvSpPr>
          <p:cNvPr id="4" name="Content Placeholder 3"/>
          <p:cNvSpPr>
            <a:spLocks noGrp="1"/>
          </p:cNvSpPr>
          <p:nvPr>
            <p:ph idx="1"/>
          </p:nvPr>
        </p:nvSpPr>
        <p:spPr>
          <a:xfrm>
            <a:off x="457200" y="1951200"/>
            <a:ext cx="8229600" cy="1447800"/>
          </a:xfrm>
        </p:spPr>
        <p:txBody>
          <a:bodyPr/>
          <a:lstStyle/>
          <a:p>
            <a:pPr lvl="0">
              <a:buFontTx/>
              <a:buChar char="•"/>
            </a:pPr>
            <a:r>
              <a:rPr lang="en-US" altLang="en-US" sz="2800" dirty="0">
                <a:solidFill>
                  <a:srgbClr val="000000"/>
                </a:solidFill>
              </a:rPr>
              <a:t>To indicate the data type of a member variable, place a colon followed by the name of the data type after the name of the variable. </a:t>
            </a:r>
          </a:p>
        </p:txBody>
      </p:sp>
      <p:sp>
        <p:nvSpPr>
          <p:cNvPr id="5" name="Content Placeholder 4"/>
          <p:cNvSpPr>
            <a:spLocks noGrp="1"/>
          </p:cNvSpPr>
          <p:nvPr>
            <p:ph sz="quarter" idx="11"/>
          </p:nvPr>
        </p:nvSpPr>
        <p:spPr>
          <a:xfrm>
            <a:off x="2819400" y="3733800"/>
            <a:ext cx="3991232" cy="990600"/>
          </a:xfrm>
        </p:spPr>
        <p:txBody>
          <a:bodyPr/>
          <a:lstStyle/>
          <a:p>
            <a:pPr lvl="0" indent="-432000" eaLnBrk="1" hangingPunct="1">
              <a:spcBef>
                <a:spcPct val="0"/>
              </a:spcBef>
              <a:buFont typeface="Lucida Console" panose="020B0609040504020204" pitchFamily="49" charset="0"/>
              <a:buChar char="-"/>
            </a:pPr>
            <a:r>
              <a:rPr lang="en-US" altLang="en-US" sz="2800" kern="1200" dirty="0" smtClean="0">
                <a:solidFill>
                  <a:srgbClr val="000000"/>
                </a:solidFill>
                <a:latin typeface="Lucida Console" panose="020B0609040504020204" pitchFamily="49" charset="0"/>
                <a:cs typeface="Arial" panose="020B0604020202020204" pitchFamily="34" charset="0"/>
              </a:rPr>
              <a:t>width </a:t>
            </a:r>
            <a:r>
              <a:rPr lang="en-US" altLang="en-US" sz="2800" kern="1200" dirty="0">
                <a:solidFill>
                  <a:srgbClr val="000000"/>
                </a:solidFill>
                <a:latin typeface="Lucida Console" panose="020B0609040504020204" pitchFamily="49" charset="0"/>
                <a:cs typeface="Arial" panose="020B0604020202020204" pitchFamily="34" charset="0"/>
              </a:rPr>
              <a:t>: double</a:t>
            </a:r>
          </a:p>
          <a:p>
            <a:pPr lvl="0" indent="-432000" eaLnBrk="1" hangingPunct="1">
              <a:spcBef>
                <a:spcPct val="0"/>
              </a:spcBef>
              <a:buFont typeface="Lucida Console" panose="020B0609040504020204" pitchFamily="49" charset="0"/>
              <a:buChar char="-"/>
            </a:pPr>
            <a:r>
              <a:rPr lang="en-US" altLang="en-US" sz="2800" kern="1200" dirty="0" smtClean="0">
                <a:solidFill>
                  <a:srgbClr val="000000"/>
                </a:solidFill>
                <a:latin typeface="Lucida Console" panose="020B0609040504020204" pitchFamily="49" charset="0"/>
                <a:cs typeface="Arial" panose="020B0604020202020204" pitchFamily="34" charset="0"/>
              </a:rPr>
              <a:t>length </a:t>
            </a:r>
            <a:r>
              <a:rPr lang="en-US" altLang="en-US" sz="2800" kern="1200" dirty="0">
                <a:solidFill>
                  <a:srgbClr val="000000"/>
                </a:solidFill>
                <a:latin typeface="Lucida Console" panose="020B0609040504020204" pitchFamily="49" charset="0"/>
                <a:cs typeface="Arial" panose="020B0604020202020204" pitchFamily="34" charset="0"/>
              </a:rPr>
              <a:t>: double</a:t>
            </a:r>
          </a:p>
        </p:txBody>
      </p:sp>
    </p:spTree>
    <p:extLst>
      <p:ext uri="{BB962C8B-B14F-4D97-AF65-F5344CB8AC3E}">
        <p14:creationId xmlns:p14="http://schemas.microsoft.com/office/powerpoint/2010/main" val="371212658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7086600" cy="1143000"/>
          </a:xfrm>
        </p:spPr>
        <p:txBody>
          <a:bodyPr/>
          <a:lstStyle/>
          <a:p>
            <a:r>
              <a:rPr lang="en-US" altLang="en-US" dirty="0"/>
              <a:t>UML Parameter Type Notation</a:t>
            </a:r>
            <a:endParaRPr lang="en-IN" dirty="0"/>
          </a:p>
        </p:txBody>
      </p:sp>
      <p:sp>
        <p:nvSpPr>
          <p:cNvPr id="3" name="Content Placeholder 2"/>
          <p:cNvSpPr>
            <a:spLocks noGrp="1"/>
          </p:cNvSpPr>
          <p:nvPr>
            <p:ph idx="1"/>
          </p:nvPr>
        </p:nvSpPr>
        <p:spPr>
          <a:xfrm>
            <a:off x="304800" y="1990800"/>
            <a:ext cx="8229600" cy="2057399"/>
          </a:xfrm>
        </p:spPr>
        <p:txBody>
          <a:bodyPr/>
          <a:lstStyle/>
          <a:p>
            <a:pPr lvl="0">
              <a:buFontTx/>
              <a:buChar char="•"/>
            </a:pPr>
            <a:r>
              <a:rPr lang="en-US" altLang="en-US" dirty="0">
                <a:solidFill>
                  <a:srgbClr val="000000"/>
                </a:solidFill>
              </a:rPr>
              <a:t>To indicate the data type of a function’s parameter variable, place a colon followed by the name of the data type after the name of the variable</a:t>
            </a:r>
            <a:r>
              <a:rPr lang="en-US" altLang="en-US" dirty="0" smtClean="0">
                <a:solidFill>
                  <a:srgbClr val="000000"/>
                </a:solidFill>
              </a:rPr>
              <a:t>.</a:t>
            </a:r>
            <a:endParaRPr lang="en-US" altLang="en-US" dirty="0">
              <a:solidFill>
                <a:srgbClr val="000000"/>
              </a:solidFill>
            </a:endParaRPr>
          </a:p>
        </p:txBody>
      </p:sp>
      <p:sp>
        <p:nvSpPr>
          <p:cNvPr id="4" name="Content Placeholder 3"/>
          <p:cNvSpPr>
            <a:spLocks noGrp="1"/>
          </p:cNvSpPr>
          <p:nvPr>
            <p:ph sz="quarter" idx="11"/>
          </p:nvPr>
        </p:nvSpPr>
        <p:spPr>
          <a:xfrm>
            <a:off x="1981200" y="4204800"/>
            <a:ext cx="4953000" cy="457200"/>
          </a:xfrm>
        </p:spPr>
        <p:txBody>
          <a:bodyPr/>
          <a:lstStyle/>
          <a:p>
            <a:pPr marL="0" lvl="0" indent="0" eaLnBrk="1" hangingPunct="1">
              <a:spcBef>
                <a:spcPct val="0"/>
              </a:spcBef>
              <a:buNone/>
            </a:pPr>
            <a:r>
              <a:rPr lang="en-US" altLang="en-US" sz="2800" kern="1200" dirty="0">
                <a:solidFill>
                  <a:srgbClr val="000000"/>
                </a:solidFill>
                <a:latin typeface="Lucida Console" panose="020B0609040504020204" pitchFamily="49" charset="0"/>
                <a:cs typeface="Arial" panose="020B0604020202020204" pitchFamily="34" charset="0"/>
              </a:rPr>
              <a:t>+ setWidth(w : double</a:t>
            </a:r>
            <a:r>
              <a:rPr lang="en-US" altLang="en-US" sz="2800" kern="1200" dirty="0" smtClean="0">
                <a:solidFill>
                  <a:srgbClr val="000000"/>
                </a:solidFill>
                <a:latin typeface="Lucida Console" panose="020B0609040504020204" pitchFamily="49" charset="0"/>
                <a:cs typeface="Arial" panose="020B0604020202020204" pitchFamily="34" charset="0"/>
              </a:rPr>
              <a:t>)</a:t>
            </a:r>
            <a:endParaRPr lang="en-US" altLang="en-US" sz="2800" kern="1200" dirty="0">
              <a:solidFill>
                <a:srgbClr val="000000"/>
              </a:solidFill>
              <a:latin typeface="Lucida Console" panose="020B0609040504020204" pitchFamily="49" charset="0"/>
              <a:cs typeface="Arial" panose="020B0604020202020204" pitchFamily="34" charset="0"/>
            </a:endParaRPr>
          </a:p>
        </p:txBody>
      </p:sp>
    </p:spTree>
    <p:extLst>
      <p:ext uri="{BB962C8B-B14F-4D97-AF65-F5344CB8AC3E}">
        <p14:creationId xmlns:p14="http://schemas.microsoft.com/office/powerpoint/2010/main" val="362270024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04800" y="152400"/>
            <a:ext cx="8229600" cy="1143000"/>
          </a:xfrm>
        </p:spPr>
        <p:txBody>
          <a:bodyPr/>
          <a:lstStyle/>
          <a:p>
            <a:r>
              <a:rPr lang="en-US" altLang="en-US" dirty="0"/>
              <a:t>UML Function Return Type Notation</a:t>
            </a:r>
            <a:endParaRPr lang="en-IN" dirty="0"/>
          </a:p>
        </p:txBody>
      </p:sp>
      <p:sp>
        <p:nvSpPr>
          <p:cNvPr id="5" name="Content Placeholder 4"/>
          <p:cNvSpPr>
            <a:spLocks noGrp="1"/>
          </p:cNvSpPr>
          <p:nvPr>
            <p:ph idx="1"/>
          </p:nvPr>
        </p:nvSpPr>
        <p:spPr>
          <a:xfrm>
            <a:off x="304800" y="1915200"/>
            <a:ext cx="8229600" cy="2057399"/>
          </a:xfrm>
        </p:spPr>
        <p:txBody>
          <a:bodyPr/>
          <a:lstStyle/>
          <a:p>
            <a:pPr lvl="0">
              <a:buFontTx/>
              <a:buChar char="•"/>
            </a:pPr>
            <a:r>
              <a:rPr lang="en-US" altLang="en-US" dirty="0">
                <a:solidFill>
                  <a:srgbClr val="000000"/>
                </a:solidFill>
              </a:rPr>
              <a:t>To indicate the data type of a function’s return value, place a colon followed by the name of the data type after the function’s parameter list</a:t>
            </a:r>
            <a:r>
              <a:rPr lang="en-US" altLang="en-US" dirty="0" smtClean="0">
                <a:solidFill>
                  <a:srgbClr val="000000"/>
                </a:solidFill>
              </a:rPr>
              <a:t>.</a:t>
            </a:r>
            <a:endParaRPr lang="en-US" altLang="en-US" dirty="0">
              <a:solidFill>
                <a:srgbClr val="000000"/>
              </a:solidFill>
            </a:endParaRPr>
          </a:p>
        </p:txBody>
      </p:sp>
      <p:sp>
        <p:nvSpPr>
          <p:cNvPr id="6" name="Content Placeholder 5"/>
          <p:cNvSpPr>
            <a:spLocks noGrp="1"/>
          </p:cNvSpPr>
          <p:nvPr>
            <p:ph sz="quarter" idx="11"/>
          </p:nvPr>
        </p:nvSpPr>
        <p:spPr>
          <a:xfrm>
            <a:off x="990600" y="4204800"/>
            <a:ext cx="6477000" cy="457200"/>
          </a:xfrm>
        </p:spPr>
        <p:txBody>
          <a:bodyPr/>
          <a:lstStyle/>
          <a:p>
            <a:pPr marL="0" lvl="0" indent="0" eaLnBrk="1" hangingPunct="1">
              <a:spcBef>
                <a:spcPct val="0"/>
              </a:spcBef>
              <a:buNone/>
            </a:pPr>
            <a:r>
              <a:rPr lang="en-US" altLang="en-US" sz="2800" kern="1200" dirty="0">
                <a:solidFill>
                  <a:srgbClr val="000000"/>
                </a:solidFill>
                <a:latin typeface="Lucida Console" panose="020B0609040504020204" pitchFamily="49" charset="0"/>
                <a:cs typeface="Arial" panose="020B0604020202020204" pitchFamily="34" charset="0"/>
              </a:rPr>
              <a:t>+ setWidth(w : double) : </a:t>
            </a:r>
            <a:r>
              <a:rPr lang="en-US" altLang="en-US" sz="2800" kern="1200" dirty="0" smtClean="0">
                <a:solidFill>
                  <a:srgbClr val="000000"/>
                </a:solidFill>
                <a:latin typeface="Lucida Console" panose="020B0609040504020204" pitchFamily="49" charset="0"/>
                <a:cs typeface="Arial" panose="020B0604020202020204" pitchFamily="34" charset="0"/>
              </a:rPr>
              <a:t>void</a:t>
            </a:r>
            <a:endParaRPr lang="en-US" altLang="en-US" sz="2800" kern="1200" dirty="0">
              <a:solidFill>
                <a:srgbClr val="000000"/>
              </a:solidFill>
              <a:latin typeface="Lucida Console" panose="020B0609040504020204" pitchFamily="49" charset="0"/>
              <a:cs typeface="Arial" panose="020B0604020202020204" pitchFamily="34" charset="0"/>
            </a:endParaRPr>
          </a:p>
        </p:txBody>
      </p:sp>
    </p:spTree>
    <p:extLst>
      <p:ext uri="{BB962C8B-B14F-4D97-AF65-F5344CB8AC3E}">
        <p14:creationId xmlns:p14="http://schemas.microsoft.com/office/powerpoint/2010/main" val="282109219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The Rectangle Class</a:t>
            </a:r>
            <a:endParaRPr lang="en-IN" dirty="0"/>
          </a:p>
        </p:txBody>
      </p:sp>
      <p:pic>
        <p:nvPicPr>
          <p:cNvPr id="4" name="Picture 3" descr="The screenshot shows the UML access specification notation. The class name 'Rectangle' is displayed in the top layer. The member variables such as width, length goes in the second layer alongside minus symbols to indicate that these member variables are private. The member functions such as setWidth(), setLength(), getWidth(), getLength(), and getArea() are displayed in the bottom layer alongside plus signs to indicate that they are publ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286000"/>
            <a:ext cx="3962400" cy="321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5228094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Showing Constructors and Destructors</a:t>
            </a:r>
            <a:endParaRPr lang="en-IN" dirty="0"/>
          </a:p>
        </p:txBody>
      </p:sp>
      <p:pic>
        <p:nvPicPr>
          <p:cNvPr id="4" name="Picture 3" descr="The screenshot shows the UML structure for the class InventoryItem along with the data types of  member variables and member functions. The class name 'InventoryItem' is displayed in the top layer. The member variables such as description : char asterisk, cost : double, units : int, and createDescription(size : int, value : char asterisk) : void are listed in the second layer with minus symbols. The member functions are displayed in the third section with plus symbols. The member variable, InventoryItems (desc: char asterisk) represents the constructor, and the member variable, tilde InventoryItem() represents the destructor."/>
          <p:cNvPicPr>
            <a:picLocks noChangeAspect="1"/>
          </p:cNvPicPr>
          <p:nvPr/>
        </p:nvPicPr>
        <p:blipFill>
          <a:blip r:embed="rId2"/>
          <a:stretch>
            <a:fillRect/>
          </a:stretch>
        </p:blipFill>
        <p:spPr>
          <a:xfrm>
            <a:off x="237600" y="1676400"/>
            <a:ext cx="6962235" cy="4663844"/>
          </a:xfrm>
          <a:prstGeom prst="rect">
            <a:avLst/>
          </a:prstGeom>
        </p:spPr>
      </p:pic>
    </p:spTree>
    <p:extLst>
      <p:ext uri="{BB962C8B-B14F-4D97-AF65-F5344CB8AC3E}">
        <p14:creationId xmlns:p14="http://schemas.microsoft.com/office/powerpoint/2010/main" val="357733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2DE39A3-C1DF-43A8-8955-1ECD34E47BD9}"/>
</file>

<file path=customXml/itemProps2.xml><?xml version="1.0" encoding="utf-8"?>
<ds:datastoreItem xmlns:ds="http://schemas.openxmlformats.org/officeDocument/2006/customXml" ds:itemID="{0FECB368-D32F-4E01-9269-81BB8C797459}"/>
</file>

<file path=customXml/itemProps3.xml><?xml version="1.0" encoding="utf-8"?>
<ds:datastoreItem xmlns:ds="http://schemas.openxmlformats.org/officeDocument/2006/customXml" ds:itemID="{2B4AF97B-2F1C-4041-9AFE-1C9001B828B3}"/>
</file>

<file path=docProps/app.xml><?xml version="1.0" encoding="utf-8"?>
<Properties xmlns="http://schemas.openxmlformats.org/officeDocument/2006/extended-properties" xmlns:vt="http://schemas.openxmlformats.org/officeDocument/2006/docPropsVTypes">
  <Template/>
  <TotalTime>2210</TotalTime>
  <Words>2052</Words>
  <Application>Microsoft Office PowerPoint</Application>
  <PresentationFormat>On-screen Show (4:3)</PresentationFormat>
  <Paragraphs>264</Paragraphs>
  <Slides>83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83</vt:i4>
      </vt:variant>
    </vt:vector>
  </HeadingPairs>
  <TitlesOfParts>
    <vt:vector size="90" baseType="lpstr">
      <vt:lpstr>Arial</vt:lpstr>
      <vt:lpstr>Calibri</vt:lpstr>
      <vt:lpstr>Consolas</vt:lpstr>
      <vt:lpstr>Courier New</vt:lpstr>
      <vt:lpstr>Lucida Console</vt:lpstr>
      <vt:lpstr>Times New Roman</vt:lpstr>
      <vt:lpstr>Default Design</vt:lpstr>
      <vt:lpstr>Chapter 13: Introduction to Classes</vt:lpstr>
      <vt:lpstr>13.1</vt:lpstr>
      <vt:lpstr>Procedural and Object-Oriented Programming</vt:lpstr>
      <vt:lpstr>Limitations of Procedural Programming</vt:lpstr>
      <vt:lpstr>Object-Oriented Programming Terminology (1 of 2)</vt:lpstr>
      <vt:lpstr>Classes and Objects</vt:lpstr>
      <vt:lpstr>Object-Oriented Programming Terminology (2 of 2)</vt:lpstr>
      <vt:lpstr>More on Objects</vt:lpstr>
      <vt:lpstr>13.2</vt:lpstr>
      <vt:lpstr>Introduction to Classes</vt:lpstr>
      <vt:lpstr>Class Example (1 of 2)</vt:lpstr>
      <vt:lpstr>Access Specifiers</vt:lpstr>
      <vt:lpstr>Class Example (2 of 2)</vt:lpstr>
      <vt:lpstr>More on Access Specifiers</vt:lpstr>
      <vt:lpstr>Using const With Member Functions</vt:lpstr>
      <vt:lpstr>Defining a Member Function</vt:lpstr>
      <vt:lpstr>Accessors and Mutators</vt:lpstr>
      <vt:lpstr>13.3</vt:lpstr>
      <vt:lpstr>Defining an Instance of a Class</vt:lpstr>
      <vt:lpstr>Program 13-1 (1 of 4)</vt:lpstr>
      <vt:lpstr>Program 13-1 (2 of 4)</vt:lpstr>
      <vt:lpstr>Program 13-1 (3 of 4)</vt:lpstr>
      <vt:lpstr>Program 13-1 (4 of 4)</vt:lpstr>
      <vt:lpstr>Avoiding Stale Data</vt:lpstr>
      <vt:lpstr>Pointer to an Object</vt:lpstr>
      <vt:lpstr>Dynamically Allocating an Object</vt:lpstr>
      <vt:lpstr>13.4</vt:lpstr>
      <vt:lpstr>Why Have Private Members?</vt:lpstr>
      <vt:lpstr> </vt:lpstr>
      <vt:lpstr>13.5</vt:lpstr>
      <vt:lpstr>Separating Specification from Implementation</vt:lpstr>
      <vt:lpstr>13.6</vt:lpstr>
      <vt:lpstr>Inline Member Functions</vt:lpstr>
      <vt:lpstr>Rectangle Class with Inline Member Functions</vt:lpstr>
      <vt:lpstr>Tradeoffs – Inline vs. Regular Member Functions</vt:lpstr>
      <vt:lpstr>13.7</vt:lpstr>
      <vt:lpstr>Constructors</vt:lpstr>
      <vt:lpstr>  </vt:lpstr>
      <vt:lpstr>Contents of Rectangle.ccp Version 3 (1 of 2)</vt:lpstr>
      <vt:lpstr>Contents of Rectangle.ccp Version 3 (2 of 2)</vt:lpstr>
      <vt:lpstr>   </vt:lpstr>
      <vt:lpstr>In-Place Initialization</vt:lpstr>
      <vt:lpstr>Default Constructors</vt:lpstr>
      <vt:lpstr>13.8</vt:lpstr>
      <vt:lpstr>Passing Arguments to Constructors (1 of 2)</vt:lpstr>
      <vt:lpstr>Passing Arguments to Constructors (2 of 2)</vt:lpstr>
      <vt:lpstr>More About Default Constructors</vt:lpstr>
      <vt:lpstr>Classes with No Default Constructor</vt:lpstr>
      <vt:lpstr>13.9</vt:lpstr>
      <vt:lpstr>Destructors</vt:lpstr>
      <vt:lpstr>Contents of InventoryItem.h Version1 (1 of 2)</vt:lpstr>
      <vt:lpstr>Contents of InventoryItem.h Version1 (2 of 2)</vt:lpstr>
      <vt:lpstr>    </vt:lpstr>
      <vt:lpstr>Constructors, Destructors, and Dynamically Allocated Objects</vt:lpstr>
      <vt:lpstr>13.10</vt:lpstr>
      <vt:lpstr>Overloading Constructors</vt:lpstr>
      <vt:lpstr>     </vt:lpstr>
      <vt:lpstr>      </vt:lpstr>
      <vt:lpstr>Constructor Delegation (1 of 3)</vt:lpstr>
      <vt:lpstr>Constructor Delegation (2 of 3)</vt:lpstr>
      <vt:lpstr>Constructor Delegation (3 of 3)</vt:lpstr>
      <vt:lpstr>Only One Default Constructor and One Destructor</vt:lpstr>
      <vt:lpstr>Member Function Overloading</vt:lpstr>
      <vt:lpstr>3.11</vt:lpstr>
      <vt:lpstr>Using Private Member Functions</vt:lpstr>
      <vt:lpstr>13.12</vt:lpstr>
      <vt:lpstr>Arrays of Objects (1 of 4)</vt:lpstr>
      <vt:lpstr>Arrays of Objects (2 of 4)</vt:lpstr>
      <vt:lpstr>Arrays of Objects (3 of 4)</vt:lpstr>
      <vt:lpstr>Arrays of Objects</vt:lpstr>
      <vt:lpstr>Accessing Objects in an Array</vt:lpstr>
      <vt:lpstr>Program 13-14 (1 of 2)</vt:lpstr>
      <vt:lpstr>Program 13-14 (2 of 2)</vt:lpstr>
      <vt:lpstr>13.16</vt:lpstr>
      <vt:lpstr>The Unified Modeling Language</vt:lpstr>
      <vt:lpstr>UML Class Diagram</vt:lpstr>
      <vt:lpstr>Example: A Rectangle Class</vt:lpstr>
      <vt:lpstr>UML Access Specification Notation</vt:lpstr>
      <vt:lpstr>UML Data Type Notation</vt:lpstr>
      <vt:lpstr>UML Parameter Type Notation</vt:lpstr>
      <vt:lpstr>UML Function Return Type Notation</vt:lpstr>
      <vt:lpstr>The Rectangle Class</vt:lpstr>
      <vt:lpstr>Showing Constructors and Destructors</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182</cp:revision>
  <dcterms:created xsi:type="dcterms:W3CDTF">2011-02-16T20:47:20Z</dcterms:created>
  <dcterms:modified xsi:type="dcterms:W3CDTF">2021-08-19T09:45:55Z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