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27.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handoutMasters/handoutMaster1.xml" ContentType="application/vnd.openxmlformats-officedocument.presentationml.handout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handoutMasterIdLst>
    <p:handoutMasterId r:id="rId30"/>
  </p:handoutMasterIdLst>
  <p:sldIdLst>
    <p:sldId id="314" r:id="rId2"/>
    <p:sldId id="289" r:id="rId3"/>
    <p:sldId id="290" r:id="rId4"/>
    <p:sldId id="291" r:id="rId5"/>
    <p:sldId id="292" r:id="rId6"/>
    <p:sldId id="293" r:id="rId7"/>
    <p:sldId id="294" r:id="rId8"/>
    <p:sldId id="295" r:id="rId9"/>
    <p:sldId id="296" r:id="rId10"/>
    <p:sldId id="297" r:id="rId11"/>
    <p:sldId id="298" r:id="rId12"/>
    <p:sldId id="272" r:id="rId13"/>
    <p:sldId id="299" r:id="rId14"/>
    <p:sldId id="300" r:id="rId15"/>
    <p:sldId id="301" r:id="rId16"/>
    <p:sldId id="302" r:id="rId17"/>
    <p:sldId id="303" r:id="rId18"/>
    <p:sldId id="304" r:id="rId19"/>
    <p:sldId id="305" r:id="rId20"/>
    <p:sldId id="306" r:id="rId21"/>
    <p:sldId id="307" r:id="rId22"/>
    <p:sldId id="308" r:id="rId23"/>
    <p:sldId id="309" r:id="rId24"/>
    <p:sldId id="310" r:id="rId25"/>
    <p:sldId id="311" r:id="rId26"/>
    <p:sldId id="286" r:id="rId27"/>
    <p:sldId id="312" r:id="rId2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344" userDrawn="1">
          <p15:clr>
            <a:srgbClr val="A4A3A4"/>
          </p15:clr>
        </p15:guide>
        <p15:guide id="2" pos="192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7797"/>
    <a:srgbClr val="FA8218"/>
    <a:srgbClr val="0488AE"/>
    <a:srgbClr val="E6FCFE"/>
    <a:srgbClr val="DAFBFE"/>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502" autoAdjust="0"/>
    <p:restoredTop sz="94660"/>
  </p:normalViewPr>
  <p:slideViewPr>
    <p:cSldViewPr showGuides="1">
      <p:cViewPr varScale="1">
        <p:scale>
          <a:sx n="116" d="100"/>
          <a:sy n="116" d="100"/>
        </p:scale>
        <p:origin x="1758" y="108"/>
      </p:cViewPr>
      <p:guideLst>
        <p:guide orient="horz" pos="1344"/>
        <p:guide pos="1920"/>
      </p:guideLst>
    </p:cSldViewPr>
  </p:slideViewPr>
  <p:notesTextViewPr>
    <p:cViewPr>
      <p:scale>
        <a:sx n="100" d="100"/>
        <a:sy n="100" d="100"/>
      </p:scale>
      <p:origin x="0" y="0"/>
    </p:cViewPr>
  </p:notesTextViewPr>
  <p:notesViewPr>
    <p:cSldViewPr showGuides="1">
      <p:cViewPr varScale="1">
        <p:scale>
          <a:sx n="56" d="100"/>
          <a:sy n="56" d="100"/>
        </p:scale>
        <p:origin x="-285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37"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20A79EAB-9878-494D-A0B2-DF7D185EEEE7}" type="datetimeFigureOut">
              <a:rPr lang="en-US"/>
              <a:pPr>
                <a:defRPr/>
              </a:pPr>
              <a:t>8/19/2021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3B6FDFEA-BBE0-4DD2-8FF5-E22C39486069}" type="slidenum">
              <a:rPr lang="en-US" altLang="en-US"/>
              <a:pPr/>
              <a:t>‹#›</a:t>
            </a:fld>
            <a:endParaRPr lang="en-US" altLang="en-US"/>
          </a:p>
        </p:txBody>
      </p:sp>
    </p:spTree>
    <p:extLst>
      <p:ext uri="{BB962C8B-B14F-4D97-AF65-F5344CB8AC3E}">
        <p14:creationId xmlns:p14="http://schemas.microsoft.com/office/powerpoint/2010/main" val="10753231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C00E54D4-8012-4BC5-A210-CAF25FA8CD89}" type="datetimeFigureOut">
              <a:rPr lang="en-US"/>
              <a:pPr>
                <a:defRPr/>
              </a:pPr>
              <a:t>8/19/2021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2ECC2CB2-56B9-49D8-AA25-34BDD763C3FF}" type="slidenum">
              <a:rPr lang="en-US" altLang="en-US"/>
              <a:pPr/>
              <a:t>‹#›</a:t>
            </a:fld>
            <a:endParaRPr lang="en-US" altLang="en-US"/>
          </a:p>
        </p:txBody>
      </p:sp>
    </p:spTree>
    <p:extLst>
      <p:ext uri="{BB962C8B-B14F-4D97-AF65-F5344CB8AC3E}">
        <p14:creationId xmlns:p14="http://schemas.microsoft.com/office/powerpoint/2010/main" val="33121573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xfrm>
            <a:off x="685800" y="2130425"/>
            <a:ext cx="7772400" cy="1470025"/>
          </a:xfrm>
        </p:spPr>
        <p:txBody>
          <a:bodyPr/>
          <a:lstStyle>
            <a:lvl1pPr algn="ctr">
              <a:defRPr sz="8000">
                <a:solidFill>
                  <a:srgbClr val="0488AE"/>
                </a:solidFill>
              </a:defRPr>
            </a:lvl1pPr>
          </a:lstStyle>
          <a:p>
            <a:r>
              <a:rPr lang="en-US" dirty="0"/>
              <a:t>Section #</a:t>
            </a:r>
          </a:p>
        </p:txBody>
      </p:sp>
      <p:sp>
        <p:nvSpPr>
          <p:cNvPr id="11267" name="Rectangle 3"/>
          <p:cNvSpPr>
            <a:spLocks noGrp="1" noChangeArrowheads="1"/>
          </p:cNvSpPr>
          <p:nvPr>
            <p:ph type="subTitle" idx="1"/>
          </p:nvPr>
        </p:nvSpPr>
        <p:spPr>
          <a:xfrm>
            <a:off x="1371600" y="4267200"/>
            <a:ext cx="6400800" cy="1752600"/>
          </a:xfrm>
        </p:spPr>
        <p:txBody>
          <a:bodyPr/>
          <a:lstStyle>
            <a:lvl1pPr marL="0" indent="0" algn="ctr">
              <a:buFontTx/>
              <a:buNone/>
              <a:defRPr/>
            </a:lvl1pPr>
          </a:lstStyle>
          <a:p>
            <a:r>
              <a:rPr lang="en-US"/>
              <a:t>Click to edit Master subtitle style</a:t>
            </a:r>
          </a:p>
        </p:txBody>
      </p:sp>
      <p:sp>
        <p:nvSpPr>
          <p:cNvPr id="4" name="Slide Number Placeholder 4"/>
          <p:cNvSpPr>
            <a:spLocks noGrp="1" noChangeArrowheads="1"/>
          </p:cNvSpPr>
          <p:nvPr>
            <p:ph type="sldNum" sz="quarter" idx="10"/>
          </p:nvPr>
        </p:nvSpPr>
        <p:spPr>
          <a:xfrm>
            <a:off x="6934200" y="6245225"/>
            <a:ext cx="1752600" cy="476250"/>
          </a:xfrm>
        </p:spPr>
        <p:txBody>
          <a:bodyPr/>
          <a:lstStyle>
            <a:lvl1pPr>
              <a:defRPr/>
            </a:lvl1pPr>
          </a:lstStyle>
          <a:p>
            <a:fld id="{9A497F3E-AAD5-4136-AA42-FFF2E08A512D}" type="slidenum">
              <a:rPr lang="en-US" altLang="en-US"/>
              <a:pPr/>
              <a:t>‹#›</a:t>
            </a:fld>
            <a:endParaRPr lang="en-US" altLang="en-US"/>
          </a:p>
        </p:txBody>
      </p:sp>
    </p:spTree>
    <p:extLst>
      <p:ext uri="{BB962C8B-B14F-4D97-AF65-F5344CB8AC3E}">
        <p14:creationId xmlns:p14="http://schemas.microsoft.com/office/powerpoint/2010/main" val="3108135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marL="342900" indent="-342900">
              <a:buFont typeface="Arial" panose="020B0604020202020204" pitchFamily="34" charset="0"/>
              <a:buChar char="•"/>
              <a:defRPr/>
            </a:lvl1pPr>
            <a:lvl2pPr marL="742950" indent="-285750">
              <a:buFont typeface="Arial" panose="020B0604020202020204" pitchFamily="34" charset="0"/>
              <a:buChar char="•"/>
              <a:defRPr/>
            </a:lvl2pPr>
            <a:lvl3pPr marL="1143000" indent="-228600">
              <a:buFont typeface="Arial" panose="020B0604020202020204" pitchFamily="34" charset="0"/>
              <a:buChar char="•"/>
              <a:defRPr/>
            </a:lvl3pPr>
            <a:lvl4pPr marL="1600200" indent="-228600">
              <a:buFont typeface="Arial" panose="020B0604020202020204" pitchFamily="34" charset="0"/>
              <a:buChar char="•"/>
              <a:defRPr/>
            </a:lvl4pPr>
            <a:lvl5pPr marL="2057400" indent="-2286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fld id="{B3C7F41F-2A2B-4153-9DE4-0713ADFE2D84}" type="slidenum">
              <a:rPr lang="en-US" altLang="en-US"/>
              <a:pPr/>
              <a:t>‹#›</a:t>
            </a:fld>
            <a:endParaRPr lang="en-US" altLang="en-US"/>
          </a:p>
        </p:txBody>
      </p:sp>
    </p:spTree>
    <p:extLst>
      <p:ext uri="{BB962C8B-B14F-4D97-AF65-F5344CB8AC3E}">
        <p14:creationId xmlns:p14="http://schemas.microsoft.com/office/powerpoint/2010/main" val="2112004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1600200"/>
          </a:xfrm>
        </p:spPr>
        <p:txBody>
          <a:bodyPr/>
          <a:lstStyle>
            <a:lvl1pPr marL="342900" indent="-342900">
              <a:buFont typeface="Arial" panose="020B0604020202020204" pitchFamily="34" charset="0"/>
              <a:buChar char="•"/>
              <a:defRPr/>
            </a:lvl1pPr>
            <a:lvl2pPr marL="742950" indent="-285750">
              <a:buFont typeface="Arial" panose="020B0604020202020204" pitchFamily="34" charset="0"/>
              <a:buChar char="•"/>
              <a:defRPr/>
            </a:lvl2pPr>
            <a:lvl3pPr marL="1143000" indent="-228600">
              <a:buFont typeface="Arial" panose="020B0604020202020204" pitchFamily="34" charset="0"/>
              <a:buChar char="•"/>
              <a:defRPr/>
            </a:lvl3pPr>
            <a:lvl4pPr marL="1600200" indent="-228600">
              <a:buFont typeface="Arial" panose="020B0604020202020204" pitchFamily="34" charset="0"/>
              <a:buChar char="•"/>
              <a:defRPr/>
            </a:lvl4pPr>
            <a:lvl5pPr marL="2057400" indent="-2286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fld id="{B3C7F41F-2A2B-4153-9DE4-0713ADFE2D84}" type="slidenum">
              <a:rPr lang="en-US" altLang="en-US"/>
              <a:pPr/>
              <a:t>‹#›</a:t>
            </a:fld>
            <a:endParaRPr lang="en-US" altLang="en-US"/>
          </a:p>
        </p:txBody>
      </p:sp>
      <p:sp>
        <p:nvSpPr>
          <p:cNvPr id="6" name="Content Placeholder 5"/>
          <p:cNvSpPr>
            <a:spLocks noGrp="1"/>
          </p:cNvSpPr>
          <p:nvPr>
            <p:ph sz="quarter" idx="11"/>
          </p:nvPr>
        </p:nvSpPr>
        <p:spPr>
          <a:xfrm>
            <a:off x="914400" y="3886200"/>
            <a:ext cx="7620000" cy="914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Tree>
    <p:extLst>
      <p:ext uri="{BB962C8B-B14F-4D97-AF65-F5344CB8AC3E}">
        <p14:creationId xmlns:p14="http://schemas.microsoft.com/office/powerpoint/2010/main" val="1323701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1600200"/>
          </a:xfrm>
        </p:spPr>
        <p:txBody>
          <a:bodyPr/>
          <a:lstStyle>
            <a:lvl1pPr marL="342900" indent="-342900">
              <a:buFont typeface="Arial" panose="020B0604020202020204" pitchFamily="34" charset="0"/>
              <a:buChar char="•"/>
              <a:defRPr/>
            </a:lvl1pPr>
            <a:lvl2pPr marL="742950" indent="-285750">
              <a:buFont typeface="Arial" panose="020B0604020202020204" pitchFamily="34" charset="0"/>
              <a:buChar char="•"/>
              <a:defRPr/>
            </a:lvl2pPr>
            <a:lvl3pPr marL="1143000" indent="-228600">
              <a:buFont typeface="Arial" panose="020B0604020202020204" pitchFamily="34" charset="0"/>
              <a:buChar char="•"/>
              <a:defRPr/>
            </a:lvl3pPr>
            <a:lvl4pPr marL="1600200" indent="-228600">
              <a:buFont typeface="Arial" panose="020B0604020202020204" pitchFamily="34" charset="0"/>
              <a:buChar char="•"/>
              <a:defRPr/>
            </a:lvl4pPr>
            <a:lvl5pPr marL="2057400" indent="-2286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fld id="{B3C7F41F-2A2B-4153-9DE4-0713ADFE2D84}" type="slidenum">
              <a:rPr lang="en-US" altLang="en-US"/>
              <a:pPr/>
              <a:t>‹#›</a:t>
            </a:fld>
            <a:endParaRPr lang="en-US" altLang="en-US"/>
          </a:p>
        </p:txBody>
      </p:sp>
      <p:sp>
        <p:nvSpPr>
          <p:cNvPr id="6" name="Content Placeholder 5"/>
          <p:cNvSpPr>
            <a:spLocks noGrp="1"/>
          </p:cNvSpPr>
          <p:nvPr>
            <p:ph sz="quarter" idx="11"/>
          </p:nvPr>
        </p:nvSpPr>
        <p:spPr>
          <a:xfrm>
            <a:off x="457200" y="3447826"/>
            <a:ext cx="8229600" cy="9144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Content Placeholder 6"/>
          <p:cNvSpPr>
            <a:spLocks noGrp="1"/>
          </p:cNvSpPr>
          <p:nvPr>
            <p:ph sz="quarter" idx="12"/>
          </p:nvPr>
        </p:nvSpPr>
        <p:spPr>
          <a:xfrm>
            <a:off x="533400" y="5029200"/>
            <a:ext cx="8077200" cy="9144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3098258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fld id="{3177FCD1-1FEC-4912-9CC0-D28E222CE574}" type="slidenum">
              <a:rPr lang="en-US" altLang="en-US"/>
              <a:pPr/>
              <a:t>‹#›</a:t>
            </a:fld>
            <a:endParaRPr lang="en-US" altLang="en-US"/>
          </a:p>
        </p:txBody>
      </p:sp>
    </p:spTree>
    <p:extLst>
      <p:ext uri="{BB962C8B-B14F-4D97-AF65-F5344CB8AC3E}">
        <p14:creationId xmlns:p14="http://schemas.microsoft.com/office/powerpoint/2010/main" val="2724530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sldNum" sz="quarter" idx="10"/>
          </p:nvPr>
        </p:nvSpPr>
        <p:spPr>
          <a:ln/>
        </p:spPr>
        <p:txBody>
          <a:bodyPr/>
          <a:lstStyle>
            <a:lvl1pPr>
              <a:defRPr/>
            </a:lvl1pPr>
          </a:lstStyle>
          <a:p>
            <a:fld id="{AA2C8910-3EE4-4A38-BB7A-F98C90D903AE}" type="slidenum">
              <a:rPr lang="en-US" altLang="en-US"/>
              <a:pPr/>
              <a:t>‹#›</a:t>
            </a:fld>
            <a:endParaRPr lang="en-US" altLang="en-US"/>
          </a:p>
        </p:txBody>
      </p:sp>
    </p:spTree>
    <p:extLst>
      <p:ext uri="{BB962C8B-B14F-4D97-AF65-F5344CB8AC3E}">
        <p14:creationId xmlns:p14="http://schemas.microsoft.com/office/powerpoint/2010/main" val="4134409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sldNum" sz="quarter" idx="10"/>
          </p:nvPr>
        </p:nvSpPr>
        <p:spPr>
          <a:ln/>
        </p:spPr>
        <p:txBody>
          <a:bodyPr/>
          <a:lstStyle>
            <a:lvl1pPr>
              <a:defRPr/>
            </a:lvl1pPr>
          </a:lstStyle>
          <a:p>
            <a:fld id="{2843AE24-5419-4B45-854E-91FF54846ED7}" type="slidenum">
              <a:rPr lang="en-US" altLang="en-US"/>
              <a:pPr/>
              <a:t>‹#›</a:t>
            </a:fld>
            <a:endParaRPr lang="en-US" altLang="en-US"/>
          </a:p>
        </p:txBody>
      </p:sp>
    </p:spTree>
    <p:extLst>
      <p:ext uri="{BB962C8B-B14F-4D97-AF65-F5344CB8AC3E}">
        <p14:creationId xmlns:p14="http://schemas.microsoft.com/office/powerpoint/2010/main" val="882003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sldNum" sz="quarter" idx="10"/>
          </p:nvPr>
        </p:nvSpPr>
        <p:spPr>
          <a:ln/>
        </p:spPr>
        <p:txBody>
          <a:bodyPr/>
          <a:lstStyle>
            <a:lvl1pPr>
              <a:defRPr/>
            </a:lvl1pPr>
          </a:lstStyle>
          <a:p>
            <a:fld id="{85C979BE-2368-4C49-83BB-896DB80C79A0}" type="slidenum">
              <a:rPr lang="en-US" altLang="en-US"/>
              <a:pPr/>
              <a:t>‹#›</a:t>
            </a:fld>
            <a:endParaRPr lang="en-US" altLang="en-US"/>
          </a:p>
        </p:txBody>
      </p:sp>
    </p:spTree>
    <p:extLst>
      <p:ext uri="{BB962C8B-B14F-4D97-AF65-F5344CB8AC3E}">
        <p14:creationId xmlns:p14="http://schemas.microsoft.com/office/powerpoint/2010/main" val="1754361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fld id="{3AE83578-BE14-42BF-9489-B46189C8052D}" type="slidenum">
              <a:rPr lang="en-US" altLang="en-US"/>
              <a:pPr/>
              <a:t>‹#›</a:t>
            </a:fld>
            <a:endParaRPr lang="en-US" altLang="en-US"/>
          </a:p>
        </p:txBody>
      </p:sp>
    </p:spTree>
    <p:extLst>
      <p:ext uri="{BB962C8B-B14F-4D97-AF65-F5344CB8AC3E}">
        <p14:creationId xmlns:p14="http://schemas.microsoft.com/office/powerpoint/2010/main" val="1988755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038DBFA6-FD17-4386-A164-E374E559F277}" type="slidenum">
              <a:rPr lang="en-US" altLang="en-US"/>
              <a:pPr/>
              <a:t>‹#›</a:t>
            </a:fld>
            <a:endParaRPr lang="en-US" altLang="en-US"/>
          </a:p>
        </p:txBody>
      </p:sp>
    </p:spTree>
    <p:extLst>
      <p:ext uri="{BB962C8B-B14F-4D97-AF65-F5344CB8AC3E}">
        <p14:creationId xmlns:p14="http://schemas.microsoft.com/office/powerpoint/2010/main" val="3183819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F52C053C-4B01-477B-8D97-80796DB30739}" type="slidenum">
              <a:rPr lang="en-US" altLang="en-US"/>
              <a:pPr/>
              <a:t>‹#›</a:t>
            </a:fld>
            <a:endParaRPr lang="en-US" altLang="en-US"/>
          </a:p>
        </p:txBody>
      </p:sp>
    </p:spTree>
    <p:extLst>
      <p:ext uri="{BB962C8B-B14F-4D97-AF65-F5344CB8AC3E}">
        <p14:creationId xmlns:p14="http://schemas.microsoft.com/office/powerpoint/2010/main" val="35215259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fld id="{6279174A-A6FD-441F-B89B-AD00E1385B2B}" type="slidenum">
              <a:rPr lang="en-US" altLang="en-US"/>
              <a:pPr/>
              <a:t>‹#›</a:t>
            </a:fld>
            <a:endParaRPr lang="en-US" altLang="en-US"/>
          </a:p>
        </p:txBody>
      </p:sp>
    </p:spTree>
    <p:extLst>
      <p:ext uri="{BB962C8B-B14F-4D97-AF65-F5344CB8AC3E}">
        <p14:creationId xmlns:p14="http://schemas.microsoft.com/office/powerpoint/2010/main" val="41359692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fld id="{FFD69B69-7549-4F29-AE37-E69AFD329E29}" type="slidenum">
              <a:rPr lang="en-US" altLang="en-US"/>
              <a:pPr/>
              <a:t>‹#›</a:t>
            </a:fld>
            <a:endParaRPr lang="en-US" altLang="en-US"/>
          </a:p>
        </p:txBody>
      </p:sp>
    </p:spTree>
    <p:extLst>
      <p:ext uri="{BB962C8B-B14F-4D97-AF65-F5344CB8AC3E}">
        <p14:creationId xmlns:p14="http://schemas.microsoft.com/office/powerpoint/2010/main" val="15895098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smtClean="0"/>
              <a:t>Click to edit Master text styles</a:t>
            </a:r>
          </a:p>
          <a:p>
            <a:pPr lvl="1"/>
            <a:r>
              <a:rPr lang="en-US" altLang="en-US" dirty="0" smtClean="0"/>
              <a:t>Second level</a:t>
            </a:r>
          </a:p>
          <a:p>
            <a:pPr lvl="2"/>
            <a:r>
              <a:rPr lang="en-US" altLang="en-US" dirty="0" smtClean="0"/>
              <a:t>Third level</a:t>
            </a:r>
          </a:p>
          <a:p>
            <a:pPr lvl="3"/>
            <a:r>
              <a:rPr lang="en-US" altLang="en-US" dirty="0" smtClean="0"/>
              <a:t>Fourth level</a:t>
            </a:r>
          </a:p>
          <a:p>
            <a:pPr lvl="4"/>
            <a:r>
              <a:rPr lang="en-US" altLang="en-US" dirty="0" smtClean="0"/>
              <a:t>Fifth level</a:t>
            </a: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B2041CE4-DFC4-415F-A536-9563040EDC3A}" type="slidenum">
              <a:rPr lang="en-US" altLang="en-US"/>
              <a:pPr/>
              <a:t>‹#›</a:t>
            </a:fld>
            <a:endParaRPr lang="en-US" altLang="en-US"/>
          </a:p>
        </p:txBody>
      </p:sp>
      <p:sp>
        <p:nvSpPr>
          <p:cNvPr id="1029" name="Text Box 14"/>
          <p:cNvSpPr txBox="1">
            <a:spLocks noChangeArrowheads="1"/>
          </p:cNvSpPr>
          <p:nvPr userDrawn="1"/>
        </p:nvSpPr>
        <p:spPr bwMode="auto">
          <a:xfrm>
            <a:off x="1181100" y="6410325"/>
            <a:ext cx="6781800" cy="276225"/>
          </a:xfrm>
          <a:prstGeom prst="rect">
            <a:avLst/>
          </a:prstGeom>
          <a:noFill/>
          <a:ln>
            <a:noFill/>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r>
              <a:rPr lang="en-US" altLang="en-US" sz="1200" dirty="0">
                <a:latin typeface="Times New Roman" pitchFamily="18" charset="0"/>
              </a:rPr>
              <a:t>Copyright © 2020, 2018, 2015, 2012, 2009 Pearson Education, Inc. All rights reserved.</a:t>
            </a:r>
          </a:p>
        </p:txBody>
      </p:sp>
      <p:pic>
        <p:nvPicPr>
          <p:cNvPr id="2" name="Picture 6"/>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152400" y="6394450"/>
            <a:ext cx="998538"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63" r:id="rId1"/>
    <p:sldLayoutId id="2147483853" r:id="rId2"/>
    <p:sldLayoutId id="2147483864" r:id="rId3"/>
    <p:sldLayoutId id="2147483865" r:id="rId4"/>
    <p:sldLayoutId id="2147483854" r:id="rId5"/>
    <p:sldLayoutId id="2147483855" r:id="rId6"/>
    <p:sldLayoutId id="2147483856" r:id="rId7"/>
    <p:sldLayoutId id="2147483857" r:id="rId8"/>
    <p:sldLayoutId id="2147483858" r:id="rId9"/>
    <p:sldLayoutId id="2147483859" r:id="rId10"/>
    <p:sldLayoutId id="2147483860" r:id="rId11"/>
    <p:sldLayoutId id="2147483861" r:id="rId12"/>
    <p:sldLayoutId id="2147483862" r:id="rId13"/>
  </p:sldLayoutIdLst>
  <p:timing>
    <p:tnLst>
      <p:par>
        <p:cTn id="1" dur="indefinite" restart="never" nodeType="tmRoot"/>
      </p:par>
    </p:tnLst>
  </p:timing>
  <p:txStyles>
    <p:titleStyle>
      <a:lvl1pPr algn="l" rtl="0" eaLnBrk="0" fontAlgn="base" hangingPunct="0">
        <a:spcBef>
          <a:spcPct val="0"/>
        </a:spcBef>
        <a:spcAft>
          <a:spcPct val="0"/>
        </a:spcAft>
        <a:defRPr sz="4400">
          <a:solidFill>
            <a:srgbClr val="0488AE"/>
          </a:solidFill>
          <a:latin typeface="+mj-lt"/>
          <a:ea typeface="+mj-ea"/>
          <a:cs typeface="+mj-cs"/>
        </a:defRPr>
      </a:lvl1pPr>
      <a:lvl2pPr algn="l" rtl="0" eaLnBrk="0" fontAlgn="base" hangingPunct="0">
        <a:spcBef>
          <a:spcPct val="0"/>
        </a:spcBef>
        <a:spcAft>
          <a:spcPct val="0"/>
        </a:spcAft>
        <a:defRPr sz="4400">
          <a:solidFill>
            <a:srgbClr val="0488AE"/>
          </a:solidFill>
          <a:latin typeface="Arial" charset="0"/>
          <a:cs typeface="Arial" charset="0"/>
        </a:defRPr>
      </a:lvl2pPr>
      <a:lvl3pPr algn="l" rtl="0" eaLnBrk="0" fontAlgn="base" hangingPunct="0">
        <a:spcBef>
          <a:spcPct val="0"/>
        </a:spcBef>
        <a:spcAft>
          <a:spcPct val="0"/>
        </a:spcAft>
        <a:defRPr sz="4400">
          <a:solidFill>
            <a:srgbClr val="0488AE"/>
          </a:solidFill>
          <a:latin typeface="Arial" charset="0"/>
          <a:cs typeface="Arial" charset="0"/>
        </a:defRPr>
      </a:lvl3pPr>
      <a:lvl4pPr algn="l" rtl="0" eaLnBrk="0" fontAlgn="base" hangingPunct="0">
        <a:spcBef>
          <a:spcPct val="0"/>
        </a:spcBef>
        <a:spcAft>
          <a:spcPct val="0"/>
        </a:spcAft>
        <a:defRPr sz="4400">
          <a:solidFill>
            <a:srgbClr val="0488AE"/>
          </a:solidFill>
          <a:latin typeface="Arial" charset="0"/>
          <a:cs typeface="Arial" charset="0"/>
        </a:defRPr>
      </a:lvl4pPr>
      <a:lvl5pPr algn="l" rtl="0" eaLnBrk="0" fontAlgn="base" hangingPunct="0">
        <a:spcBef>
          <a:spcPct val="0"/>
        </a:spcBef>
        <a:spcAft>
          <a:spcPct val="0"/>
        </a:spcAft>
        <a:defRPr sz="4400">
          <a:solidFill>
            <a:srgbClr val="0488AE"/>
          </a:solidFill>
          <a:latin typeface="Arial" charset="0"/>
          <a:cs typeface="Arial" charset="0"/>
        </a:defRPr>
      </a:lvl5pPr>
      <a:lvl6pPr marL="457200" algn="l" rtl="0" fontAlgn="base">
        <a:spcBef>
          <a:spcPct val="0"/>
        </a:spcBef>
        <a:spcAft>
          <a:spcPct val="0"/>
        </a:spcAft>
        <a:defRPr sz="4400">
          <a:solidFill>
            <a:srgbClr val="FF3300"/>
          </a:solidFill>
          <a:latin typeface="Arial" charset="0"/>
          <a:cs typeface="Arial" charset="0"/>
        </a:defRPr>
      </a:lvl6pPr>
      <a:lvl7pPr marL="914400" algn="l" rtl="0" fontAlgn="base">
        <a:spcBef>
          <a:spcPct val="0"/>
        </a:spcBef>
        <a:spcAft>
          <a:spcPct val="0"/>
        </a:spcAft>
        <a:defRPr sz="4400">
          <a:solidFill>
            <a:srgbClr val="FF3300"/>
          </a:solidFill>
          <a:latin typeface="Arial" charset="0"/>
          <a:cs typeface="Arial" charset="0"/>
        </a:defRPr>
      </a:lvl7pPr>
      <a:lvl8pPr marL="1371600" algn="l" rtl="0" fontAlgn="base">
        <a:spcBef>
          <a:spcPct val="0"/>
        </a:spcBef>
        <a:spcAft>
          <a:spcPct val="0"/>
        </a:spcAft>
        <a:defRPr sz="4400">
          <a:solidFill>
            <a:srgbClr val="FF3300"/>
          </a:solidFill>
          <a:latin typeface="Arial" charset="0"/>
          <a:cs typeface="Arial" charset="0"/>
        </a:defRPr>
      </a:lvl8pPr>
      <a:lvl9pPr marL="1828800" algn="l" rtl="0" fontAlgn="base">
        <a:spcBef>
          <a:spcPct val="0"/>
        </a:spcBef>
        <a:spcAft>
          <a:spcPct val="0"/>
        </a:spcAft>
        <a:defRPr sz="4400">
          <a:solidFill>
            <a:srgbClr val="FF3300"/>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58800" y="1432800"/>
            <a:ext cx="7772400" cy="1470025"/>
          </a:xfrm>
        </p:spPr>
        <p:txBody>
          <a:bodyPr/>
          <a:lstStyle/>
          <a:p>
            <a:pPr lvl="0" eaLnBrk="1" hangingPunct="1">
              <a:lnSpc>
                <a:spcPct val="140000"/>
              </a:lnSpc>
              <a:spcBef>
                <a:spcPct val="50000"/>
              </a:spcBef>
            </a:pPr>
            <a:r>
              <a:rPr lang="en-US" altLang="en-US" sz="4400" b="1" kern="1200" dirty="0">
                <a:solidFill>
                  <a:srgbClr val="037797"/>
                </a:solidFill>
                <a:latin typeface="Arial" panose="020B0604020202020204" pitchFamily="34" charset="0"/>
                <a:ea typeface="+mn-ea"/>
                <a:cs typeface="Arial" panose="020B0604020202020204" pitchFamily="34" charset="0"/>
              </a:rPr>
              <a:t>Chapter 21:</a:t>
            </a:r>
            <a:r>
              <a:rPr lang="en-US" altLang="en-US" sz="2800" b="1" kern="1200" dirty="0">
                <a:solidFill>
                  <a:srgbClr val="037797"/>
                </a:solidFill>
                <a:latin typeface="Arial" panose="020B0604020202020204" pitchFamily="34" charset="0"/>
                <a:ea typeface="+mn-ea"/>
                <a:cs typeface="Arial" panose="020B0604020202020204" pitchFamily="34" charset="0"/>
              </a:rPr>
              <a:t/>
            </a:r>
            <a:br>
              <a:rPr lang="en-US" altLang="en-US" sz="2800" b="1" kern="1200" dirty="0">
                <a:solidFill>
                  <a:srgbClr val="037797"/>
                </a:solidFill>
                <a:latin typeface="Arial" panose="020B0604020202020204" pitchFamily="34" charset="0"/>
                <a:ea typeface="+mn-ea"/>
                <a:cs typeface="Arial" panose="020B0604020202020204" pitchFamily="34" charset="0"/>
              </a:rPr>
            </a:br>
            <a:r>
              <a:rPr lang="en-US" altLang="en-US" sz="2800" b="1" kern="1200" dirty="0">
                <a:solidFill>
                  <a:srgbClr val="000000"/>
                </a:solidFill>
                <a:latin typeface="Arial" panose="020B0604020202020204" pitchFamily="34" charset="0"/>
                <a:ea typeface="+mn-ea"/>
                <a:cs typeface="Arial" panose="020B0604020202020204" pitchFamily="34" charset="0"/>
              </a:rPr>
              <a:t>Binary </a:t>
            </a:r>
            <a:r>
              <a:rPr lang="en-US" altLang="en-US" sz="2800" b="1" kern="1200" dirty="0" smtClean="0">
                <a:solidFill>
                  <a:srgbClr val="000000"/>
                </a:solidFill>
                <a:latin typeface="Arial" panose="020B0604020202020204" pitchFamily="34" charset="0"/>
                <a:ea typeface="+mn-ea"/>
                <a:cs typeface="Arial" panose="020B0604020202020204" pitchFamily="34" charset="0"/>
              </a:rPr>
              <a:t>Trees</a:t>
            </a:r>
            <a:endParaRPr lang="en-IN" dirty="0"/>
          </a:p>
        </p:txBody>
      </p:sp>
    </p:spTree>
    <p:extLst>
      <p:ext uri="{BB962C8B-B14F-4D97-AF65-F5344CB8AC3E}">
        <p14:creationId xmlns:p14="http://schemas.microsoft.com/office/powerpoint/2010/main" val="3018236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solidFill>
                  <a:srgbClr val="037797"/>
                </a:solidFill>
              </a:rPr>
              <a:t>21.1</a:t>
            </a:r>
            <a:endParaRPr lang="en-IN" dirty="0">
              <a:solidFill>
                <a:srgbClr val="037797"/>
              </a:solidFill>
            </a:endParaRPr>
          </a:p>
        </p:txBody>
      </p:sp>
      <p:sp>
        <p:nvSpPr>
          <p:cNvPr id="3" name="Subtitle 2"/>
          <p:cNvSpPr>
            <a:spLocks noGrp="1"/>
          </p:cNvSpPr>
          <p:nvPr>
            <p:ph type="subTitle" idx="1"/>
          </p:nvPr>
        </p:nvSpPr>
        <p:spPr/>
        <p:txBody>
          <a:bodyPr/>
          <a:lstStyle/>
          <a:p>
            <a:pPr lvl="0"/>
            <a:r>
              <a:rPr lang="en-US" altLang="en-US" dirty="0">
                <a:solidFill>
                  <a:srgbClr val="000000"/>
                </a:solidFill>
              </a:rPr>
              <a:t>Definition and Application of Binary </a:t>
            </a:r>
            <a:r>
              <a:rPr lang="en-US" altLang="en-US" dirty="0" smtClean="0">
                <a:solidFill>
                  <a:srgbClr val="000000"/>
                </a:solidFill>
              </a:rPr>
              <a:t>Trees</a:t>
            </a:r>
            <a:endParaRPr lang="en-US" altLang="en-US" dirty="0">
              <a:solidFill>
                <a:srgbClr val="000000"/>
              </a:solidFill>
            </a:endParaRPr>
          </a:p>
        </p:txBody>
      </p:sp>
    </p:spTree>
    <p:extLst>
      <p:ext uri="{BB962C8B-B14F-4D97-AF65-F5344CB8AC3E}">
        <p14:creationId xmlns:p14="http://schemas.microsoft.com/office/powerpoint/2010/main" val="3748173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Definition and Application </a:t>
            </a:r>
            <a:r>
              <a:rPr lang="en-US" altLang="en-US" dirty="0" smtClean="0">
                <a:solidFill>
                  <a:srgbClr val="037797"/>
                </a:solidFill>
              </a:rPr>
              <a:t>of </a:t>
            </a:r>
            <a:r>
              <a:rPr lang="en-US" altLang="en-US" dirty="0">
                <a:solidFill>
                  <a:srgbClr val="037797"/>
                </a:solidFill>
              </a:rPr>
              <a:t>Binary Trees</a:t>
            </a:r>
            <a:endParaRPr lang="en-IN" dirty="0">
              <a:solidFill>
                <a:srgbClr val="037797"/>
              </a:solidFill>
            </a:endParaRPr>
          </a:p>
        </p:txBody>
      </p:sp>
      <p:sp>
        <p:nvSpPr>
          <p:cNvPr id="3" name="Content Placeholder 2"/>
          <p:cNvSpPr>
            <a:spLocks noGrp="1"/>
          </p:cNvSpPr>
          <p:nvPr>
            <p:ph idx="1"/>
          </p:nvPr>
        </p:nvSpPr>
        <p:spPr>
          <a:xfrm>
            <a:off x="457200" y="1600201"/>
            <a:ext cx="8229600" cy="1066799"/>
          </a:xfrm>
        </p:spPr>
        <p:txBody>
          <a:bodyPr/>
          <a:lstStyle/>
          <a:p>
            <a:pPr lvl="0">
              <a:buFontTx/>
              <a:buChar char="•"/>
            </a:pPr>
            <a:r>
              <a:rPr lang="en-US" altLang="en-US" sz="2800" u="sng" dirty="0">
                <a:solidFill>
                  <a:srgbClr val="000000"/>
                </a:solidFill>
              </a:rPr>
              <a:t>Binary tree</a:t>
            </a:r>
            <a:r>
              <a:rPr lang="en-US" altLang="en-US" sz="2800" dirty="0">
                <a:solidFill>
                  <a:srgbClr val="000000"/>
                </a:solidFill>
              </a:rPr>
              <a:t>: a nonlinear linked list in which each node may point to 0, 1, or two other </a:t>
            </a:r>
            <a:r>
              <a:rPr lang="en-US" altLang="en-US" sz="2800" dirty="0" smtClean="0">
                <a:solidFill>
                  <a:srgbClr val="000000"/>
                </a:solidFill>
              </a:rPr>
              <a:t>nodes</a:t>
            </a:r>
            <a:endParaRPr lang="en-US" altLang="en-US" sz="2800" dirty="0">
              <a:solidFill>
                <a:srgbClr val="000000"/>
              </a:solidFill>
            </a:endParaRPr>
          </a:p>
        </p:txBody>
      </p:sp>
      <p:sp>
        <p:nvSpPr>
          <p:cNvPr id="4" name="Content Placeholder 3"/>
          <p:cNvSpPr>
            <a:spLocks noGrp="1"/>
          </p:cNvSpPr>
          <p:nvPr>
            <p:ph sz="quarter" idx="11"/>
          </p:nvPr>
        </p:nvSpPr>
        <p:spPr>
          <a:xfrm>
            <a:off x="457193" y="2743200"/>
            <a:ext cx="3657607" cy="1905000"/>
          </a:xfrm>
        </p:spPr>
        <p:txBody>
          <a:bodyPr/>
          <a:lstStyle/>
          <a:p>
            <a:r>
              <a:rPr lang="en-US" altLang="en-US" sz="2800" dirty="0"/>
              <a:t>Each node </a:t>
            </a:r>
            <a:r>
              <a:rPr lang="en-US" altLang="en-US" sz="2800" dirty="0" smtClean="0"/>
              <a:t>contains one </a:t>
            </a:r>
            <a:r>
              <a:rPr lang="en-US" altLang="en-US" sz="2800" dirty="0"/>
              <a:t>or </a:t>
            </a:r>
            <a:r>
              <a:rPr lang="en-US" altLang="en-US" sz="2800" dirty="0" smtClean="0"/>
              <a:t>more </a:t>
            </a:r>
            <a:br>
              <a:rPr lang="en-US" altLang="en-US" sz="2800" dirty="0" smtClean="0"/>
            </a:br>
            <a:r>
              <a:rPr lang="en-US" altLang="en-US" sz="2800" dirty="0" smtClean="0"/>
              <a:t>data </a:t>
            </a:r>
            <a:r>
              <a:rPr lang="en-US" altLang="en-US" sz="2800" dirty="0"/>
              <a:t>fields </a:t>
            </a:r>
            <a:r>
              <a:rPr lang="en-US" altLang="en-US" sz="2800" dirty="0" smtClean="0"/>
              <a:t>and </a:t>
            </a:r>
            <a:br>
              <a:rPr lang="en-US" altLang="en-US" sz="2800" dirty="0" smtClean="0"/>
            </a:br>
            <a:r>
              <a:rPr lang="en-US" altLang="en-US" sz="2800" dirty="0" smtClean="0"/>
              <a:t>two </a:t>
            </a:r>
            <a:r>
              <a:rPr lang="en-US" altLang="en-US" sz="2800" dirty="0"/>
              <a:t>pointers</a:t>
            </a:r>
          </a:p>
        </p:txBody>
      </p:sp>
      <p:pic>
        <p:nvPicPr>
          <p:cNvPr id="5" name="Picture 4" descr="The screenshot shows a binary tree. The binary tree is non-linear and linked. It displays a list in which the first node points to the second, the second points to the third and fourth nodes, and third node points to the fifth node and a null pointer. The fourth node points to the sixth node and a null pointer. The fifth and sixth node point to two null pointers."/>
          <p:cNvPicPr>
            <a:picLocks noChangeAspect="1"/>
          </p:cNvPicPr>
          <p:nvPr/>
        </p:nvPicPr>
        <p:blipFill rotWithShape="1">
          <a:blip r:embed="rId2"/>
          <a:srcRect t="9398"/>
          <a:stretch/>
        </p:blipFill>
        <p:spPr>
          <a:xfrm>
            <a:off x="4039660" y="3048000"/>
            <a:ext cx="4211467" cy="2938423"/>
          </a:xfrm>
          <a:prstGeom prst="rect">
            <a:avLst/>
          </a:prstGeom>
        </p:spPr>
      </p:pic>
    </p:spTree>
    <p:extLst>
      <p:ext uri="{BB962C8B-B14F-4D97-AF65-F5344CB8AC3E}">
        <p14:creationId xmlns:p14="http://schemas.microsoft.com/office/powerpoint/2010/main" val="3382604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Binary Tree </a:t>
            </a:r>
            <a:r>
              <a:rPr lang="en-US" altLang="en-US" dirty="0" smtClean="0">
                <a:solidFill>
                  <a:srgbClr val="037797"/>
                </a:solidFill>
              </a:rPr>
              <a:t>Terminology </a:t>
            </a:r>
            <a:r>
              <a:rPr lang="en-US" altLang="en-US" sz="1200" dirty="0" smtClean="0">
                <a:solidFill>
                  <a:srgbClr val="037797"/>
                </a:solidFill>
              </a:rPr>
              <a:t>(1 of 5)</a:t>
            </a:r>
            <a:endParaRPr lang="en-IN" sz="1200" dirty="0">
              <a:solidFill>
                <a:srgbClr val="037797"/>
              </a:solidFill>
            </a:endParaRPr>
          </a:p>
        </p:txBody>
      </p:sp>
      <p:sp>
        <p:nvSpPr>
          <p:cNvPr id="3" name="Content Placeholder 2"/>
          <p:cNvSpPr>
            <a:spLocks noGrp="1"/>
          </p:cNvSpPr>
          <p:nvPr>
            <p:ph idx="1"/>
          </p:nvPr>
        </p:nvSpPr>
        <p:spPr>
          <a:xfrm>
            <a:off x="457200" y="1752600"/>
            <a:ext cx="4191000" cy="3352800"/>
          </a:xfrm>
        </p:spPr>
        <p:txBody>
          <a:bodyPr/>
          <a:lstStyle/>
          <a:p>
            <a:pPr lvl="0">
              <a:buFontTx/>
              <a:buChar char="•"/>
            </a:pPr>
            <a:r>
              <a:rPr lang="en-US" altLang="en-US" sz="2800" u="sng" dirty="0">
                <a:solidFill>
                  <a:srgbClr val="000000"/>
                </a:solidFill>
              </a:rPr>
              <a:t>Tree pointer</a:t>
            </a:r>
            <a:r>
              <a:rPr lang="en-US" altLang="en-US" sz="2800" dirty="0">
                <a:solidFill>
                  <a:srgbClr val="000000"/>
                </a:solidFill>
              </a:rPr>
              <a:t>: like a head pointer for a linked list, it points to the first node in the binary tree</a:t>
            </a:r>
          </a:p>
          <a:p>
            <a:pPr lvl="0">
              <a:buFontTx/>
              <a:buChar char="•"/>
            </a:pPr>
            <a:r>
              <a:rPr lang="en-US" altLang="en-US" sz="2800" u="sng" dirty="0">
                <a:solidFill>
                  <a:srgbClr val="000000"/>
                </a:solidFill>
              </a:rPr>
              <a:t>Root node</a:t>
            </a:r>
            <a:r>
              <a:rPr lang="en-US" altLang="en-US" sz="2800" dirty="0">
                <a:solidFill>
                  <a:srgbClr val="000000"/>
                </a:solidFill>
              </a:rPr>
              <a:t>: the node at the top of the </a:t>
            </a:r>
            <a:r>
              <a:rPr lang="en-US" altLang="en-US" sz="2800" dirty="0" smtClean="0">
                <a:solidFill>
                  <a:srgbClr val="000000"/>
                </a:solidFill>
              </a:rPr>
              <a:t>tree</a:t>
            </a:r>
            <a:endParaRPr lang="en-US" altLang="en-US" sz="2800" dirty="0">
              <a:solidFill>
                <a:srgbClr val="000000"/>
              </a:solidFill>
            </a:endParaRPr>
          </a:p>
        </p:txBody>
      </p:sp>
      <p:pic>
        <p:nvPicPr>
          <p:cNvPr id="4" name="Picture 3" descr="The screenshot shows the binary tree terminology. The binary tree is non-linear and linked. It displays a list in which the first node points to the second, the second points to the third and fourth nodes, and third node points to the fifth node and a null pointer. The fourth node points to the sixth node and a null pointer. The fifth and sixth node point to two null pointers. The first arrow labeled the tree pointer, points to the first node. The second arrow points to the root node at the top of the tree."/>
          <p:cNvPicPr>
            <a:picLocks noChangeAspect="1"/>
          </p:cNvPicPr>
          <p:nvPr/>
        </p:nvPicPr>
        <p:blipFill rotWithShape="1">
          <a:blip r:embed="rId2"/>
          <a:srcRect l="4474" t="15772"/>
          <a:stretch/>
        </p:blipFill>
        <p:spPr>
          <a:xfrm>
            <a:off x="4703618" y="3060252"/>
            <a:ext cx="4156364" cy="2959548"/>
          </a:xfrm>
          <a:prstGeom prst="rect">
            <a:avLst/>
          </a:prstGeom>
        </p:spPr>
      </p:pic>
    </p:spTree>
    <p:extLst>
      <p:ext uri="{BB962C8B-B14F-4D97-AF65-F5344CB8AC3E}">
        <p14:creationId xmlns:p14="http://schemas.microsoft.com/office/powerpoint/2010/main" val="2365411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Binary Tree Terminology </a:t>
            </a:r>
            <a:r>
              <a:rPr lang="en-US" altLang="en-US" sz="1200" dirty="0" smtClean="0">
                <a:solidFill>
                  <a:srgbClr val="037797"/>
                </a:solidFill>
              </a:rPr>
              <a:t>(2 </a:t>
            </a:r>
            <a:r>
              <a:rPr lang="en-US" altLang="en-US" sz="1200" dirty="0">
                <a:solidFill>
                  <a:srgbClr val="037797"/>
                </a:solidFill>
              </a:rPr>
              <a:t>of 5)</a:t>
            </a:r>
            <a:endParaRPr lang="en-IN" dirty="0"/>
          </a:p>
        </p:txBody>
      </p:sp>
      <p:sp>
        <p:nvSpPr>
          <p:cNvPr id="3" name="Content Placeholder 2"/>
          <p:cNvSpPr>
            <a:spLocks noGrp="1"/>
          </p:cNvSpPr>
          <p:nvPr>
            <p:ph idx="1"/>
          </p:nvPr>
        </p:nvSpPr>
        <p:spPr>
          <a:xfrm>
            <a:off x="457200" y="1600200"/>
            <a:ext cx="4191000" cy="2666999"/>
          </a:xfrm>
        </p:spPr>
        <p:txBody>
          <a:bodyPr/>
          <a:lstStyle/>
          <a:p>
            <a:pPr lvl="0">
              <a:lnSpc>
                <a:spcPct val="90000"/>
              </a:lnSpc>
              <a:buFontTx/>
              <a:buChar char="•"/>
            </a:pPr>
            <a:r>
              <a:rPr lang="en-US" altLang="en-US" sz="2800" u="sng" dirty="0">
                <a:solidFill>
                  <a:srgbClr val="000000"/>
                </a:solidFill>
              </a:rPr>
              <a:t>Leaf nodes</a:t>
            </a:r>
            <a:r>
              <a:rPr lang="en-US" altLang="en-US" sz="2800" dirty="0">
                <a:solidFill>
                  <a:srgbClr val="000000"/>
                </a:solidFill>
              </a:rPr>
              <a:t>: nodes that have no </a:t>
            </a:r>
            <a:r>
              <a:rPr lang="en-US" altLang="en-US" sz="2800" dirty="0" smtClean="0">
                <a:solidFill>
                  <a:srgbClr val="000000"/>
                </a:solidFill>
              </a:rPr>
              <a:t>children</a:t>
            </a:r>
          </a:p>
          <a:p>
            <a:pPr marL="306000" lvl="0" indent="0">
              <a:lnSpc>
                <a:spcPct val="90000"/>
              </a:lnSpc>
              <a:spcBef>
                <a:spcPts val="4500"/>
              </a:spcBef>
              <a:buNone/>
            </a:pPr>
            <a:r>
              <a:rPr lang="en-US" altLang="en-US" sz="2800" dirty="0" smtClean="0">
                <a:solidFill>
                  <a:srgbClr val="000000"/>
                </a:solidFill>
              </a:rPr>
              <a:t>The </a:t>
            </a:r>
            <a:r>
              <a:rPr lang="en-US" altLang="en-US" sz="2800" dirty="0">
                <a:solidFill>
                  <a:srgbClr val="000000"/>
                </a:solidFill>
              </a:rPr>
              <a:t>nodes containing </a:t>
            </a:r>
            <a:r>
              <a:rPr lang="en-US" altLang="en-US" sz="2800" dirty="0">
                <a:solidFill>
                  <a:srgbClr val="000000"/>
                </a:solidFill>
                <a:latin typeface="Courier New" panose="02070309020205020404" pitchFamily="49" charset="0"/>
              </a:rPr>
              <a:t>7</a:t>
            </a:r>
            <a:r>
              <a:rPr lang="en-US" altLang="en-US" sz="2800" dirty="0">
                <a:solidFill>
                  <a:srgbClr val="000000"/>
                </a:solidFill>
              </a:rPr>
              <a:t> and </a:t>
            </a:r>
            <a:r>
              <a:rPr lang="en-US" altLang="en-US" sz="2800" dirty="0">
                <a:solidFill>
                  <a:srgbClr val="000000"/>
                </a:solidFill>
                <a:latin typeface="Courier New" panose="02070309020205020404" pitchFamily="49" charset="0"/>
              </a:rPr>
              <a:t>43</a:t>
            </a:r>
            <a:r>
              <a:rPr lang="en-US" altLang="en-US" sz="2800" dirty="0">
                <a:solidFill>
                  <a:srgbClr val="000000"/>
                </a:solidFill>
              </a:rPr>
              <a:t> are leaf </a:t>
            </a:r>
            <a:r>
              <a:rPr lang="en-US" altLang="en-US" sz="2800" dirty="0" smtClean="0">
                <a:solidFill>
                  <a:srgbClr val="000000"/>
                </a:solidFill>
              </a:rPr>
              <a:t>nodes</a:t>
            </a:r>
            <a:endParaRPr lang="en-US" altLang="en-US" sz="2800" u="sng" dirty="0">
              <a:solidFill>
                <a:srgbClr val="000000"/>
              </a:solidFill>
            </a:endParaRPr>
          </a:p>
        </p:txBody>
      </p:sp>
      <p:pic>
        <p:nvPicPr>
          <p:cNvPr id="4" name="Picture 3" descr="The screenshot shows the binary tree terminology. The binary tree is non-linear and linked. The node with 31 points to the node with 19 and the node with 59. The node with 19 points to the node with 7 and a null pointer. The node with seven points to two null pointers. The node with 59 points to the node with 43 and a null pointer. The node with 43 points to two null pointers. The leaf nodes are the nodes with no children. The first node has one child. The second node has two children - third and fourth nodes. The fifth and sixth nodes containing 7 and 43 are the leaf nodes, since they point to null pointers."/>
          <p:cNvPicPr>
            <a:picLocks noChangeAspect="1"/>
          </p:cNvPicPr>
          <p:nvPr/>
        </p:nvPicPr>
        <p:blipFill rotWithShape="1">
          <a:blip r:embed="rId2"/>
          <a:srcRect l="2696" t="11555" r="4087" b="3662"/>
          <a:stretch/>
        </p:blipFill>
        <p:spPr>
          <a:xfrm>
            <a:off x="4772261" y="3200400"/>
            <a:ext cx="4219339" cy="2916539"/>
          </a:xfrm>
          <a:prstGeom prst="rect">
            <a:avLst/>
          </a:prstGeom>
        </p:spPr>
      </p:pic>
    </p:spTree>
    <p:extLst>
      <p:ext uri="{BB962C8B-B14F-4D97-AF65-F5344CB8AC3E}">
        <p14:creationId xmlns:p14="http://schemas.microsoft.com/office/powerpoint/2010/main" val="1528861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Binary Tree Terminology </a:t>
            </a:r>
            <a:r>
              <a:rPr lang="en-US" altLang="en-US" sz="1200" dirty="0" smtClean="0">
                <a:solidFill>
                  <a:srgbClr val="037797"/>
                </a:solidFill>
              </a:rPr>
              <a:t>(3 </a:t>
            </a:r>
            <a:r>
              <a:rPr lang="en-US" altLang="en-US" sz="1200" dirty="0">
                <a:solidFill>
                  <a:srgbClr val="037797"/>
                </a:solidFill>
              </a:rPr>
              <a:t>of 5)</a:t>
            </a:r>
            <a:endParaRPr lang="en-IN" dirty="0">
              <a:solidFill>
                <a:srgbClr val="037797"/>
              </a:solidFill>
            </a:endParaRPr>
          </a:p>
        </p:txBody>
      </p:sp>
      <p:sp>
        <p:nvSpPr>
          <p:cNvPr id="3" name="Content Placeholder 2"/>
          <p:cNvSpPr>
            <a:spLocks noGrp="1"/>
          </p:cNvSpPr>
          <p:nvPr>
            <p:ph idx="1"/>
          </p:nvPr>
        </p:nvSpPr>
        <p:spPr>
          <a:xfrm>
            <a:off x="457201" y="1600201"/>
            <a:ext cx="3733800" cy="3276600"/>
          </a:xfrm>
        </p:spPr>
        <p:txBody>
          <a:bodyPr/>
          <a:lstStyle/>
          <a:p>
            <a:pPr lvl="0">
              <a:lnSpc>
                <a:spcPct val="90000"/>
              </a:lnSpc>
              <a:buFontTx/>
              <a:buChar char="•"/>
            </a:pPr>
            <a:r>
              <a:rPr lang="en-US" altLang="en-US" sz="2800" u="sng" dirty="0">
                <a:solidFill>
                  <a:srgbClr val="000000"/>
                </a:solidFill>
              </a:rPr>
              <a:t>Child nodes</a:t>
            </a:r>
            <a:r>
              <a:rPr lang="en-US" altLang="en-US" sz="2800" dirty="0">
                <a:solidFill>
                  <a:srgbClr val="000000"/>
                </a:solidFill>
              </a:rPr>
              <a:t>, </a:t>
            </a:r>
            <a:r>
              <a:rPr lang="en-US" altLang="en-US" sz="2800" u="sng" dirty="0">
                <a:solidFill>
                  <a:srgbClr val="000000"/>
                </a:solidFill>
              </a:rPr>
              <a:t>children</a:t>
            </a:r>
            <a:r>
              <a:rPr lang="en-US" altLang="en-US" sz="2800" dirty="0">
                <a:solidFill>
                  <a:srgbClr val="000000"/>
                </a:solidFill>
              </a:rPr>
              <a:t>: nodes below a given node </a:t>
            </a:r>
            <a:endParaRPr lang="en-US" altLang="en-US" sz="2800" dirty="0" smtClean="0">
              <a:solidFill>
                <a:srgbClr val="000000"/>
              </a:solidFill>
            </a:endParaRPr>
          </a:p>
          <a:p>
            <a:pPr marL="273600" lvl="0" indent="0">
              <a:lnSpc>
                <a:spcPct val="90000"/>
              </a:lnSpc>
              <a:buNone/>
            </a:pPr>
            <a:r>
              <a:rPr lang="en-US" altLang="en-US" sz="2800" dirty="0" smtClean="0">
                <a:solidFill>
                  <a:srgbClr val="000000"/>
                </a:solidFill>
              </a:rPr>
              <a:t>The </a:t>
            </a:r>
            <a:r>
              <a:rPr lang="en-US" altLang="en-US" sz="2800" dirty="0">
                <a:solidFill>
                  <a:srgbClr val="000000"/>
                </a:solidFill>
              </a:rPr>
              <a:t>children of the node containing </a:t>
            </a:r>
            <a:r>
              <a:rPr lang="en-US" altLang="en-US" sz="2800" dirty="0">
                <a:solidFill>
                  <a:srgbClr val="000000"/>
                </a:solidFill>
                <a:latin typeface="Courier New" panose="02070309020205020404" pitchFamily="49" charset="0"/>
              </a:rPr>
              <a:t>31</a:t>
            </a:r>
            <a:r>
              <a:rPr lang="en-US" altLang="en-US" sz="2800" dirty="0">
                <a:solidFill>
                  <a:srgbClr val="000000"/>
                </a:solidFill>
              </a:rPr>
              <a:t> are the nodes containing </a:t>
            </a:r>
            <a:r>
              <a:rPr lang="en-US" altLang="en-US" sz="2800" dirty="0">
                <a:solidFill>
                  <a:srgbClr val="000000"/>
                </a:solidFill>
                <a:latin typeface="Courier New" panose="02070309020205020404" pitchFamily="49" charset="0"/>
              </a:rPr>
              <a:t>19</a:t>
            </a:r>
            <a:r>
              <a:rPr lang="en-US" altLang="en-US" sz="2800" dirty="0">
                <a:solidFill>
                  <a:srgbClr val="000000"/>
                </a:solidFill>
              </a:rPr>
              <a:t> and </a:t>
            </a:r>
            <a:r>
              <a:rPr lang="en-US" altLang="en-US" sz="2800" dirty="0" smtClean="0">
                <a:solidFill>
                  <a:srgbClr val="000000"/>
                </a:solidFill>
                <a:latin typeface="Courier New" panose="02070309020205020404" pitchFamily="49" charset="0"/>
              </a:rPr>
              <a:t>59</a:t>
            </a:r>
            <a:endParaRPr lang="en-US" altLang="en-US" sz="2800" u="sng" dirty="0">
              <a:solidFill>
                <a:srgbClr val="000000"/>
              </a:solidFill>
              <a:latin typeface="Courier New" panose="02070309020205020404" pitchFamily="49" charset="0"/>
            </a:endParaRPr>
          </a:p>
        </p:txBody>
      </p:sp>
      <p:pic>
        <p:nvPicPr>
          <p:cNvPr id="4" name="Picture 3" descr="The screenshot shows the binary tree terminology. The binary tree is non-linear and linked. The node with 31 points to the node with 19 and the node with 59. The node with 19 points to the node with 7 and a null pointer. The node with seven points to two null pointers. The node with 59 points to the node with 43 and a null pointer. The node with 43 points to two null pointers. The leaf nodes are the nodes with no children. The first node has one child. The second node has two children - third and fourth nodes. The fifth and sixth nodes containing 7 and 43 are the leaf nodes, since they point to null pointers."/>
          <p:cNvPicPr>
            <a:picLocks noChangeAspect="1"/>
          </p:cNvPicPr>
          <p:nvPr/>
        </p:nvPicPr>
        <p:blipFill rotWithShape="1">
          <a:blip r:embed="rId2"/>
          <a:srcRect l="2696" t="11555" r="4087" b="3662"/>
          <a:stretch/>
        </p:blipFill>
        <p:spPr>
          <a:xfrm>
            <a:off x="4343400" y="3054573"/>
            <a:ext cx="4641273" cy="3208193"/>
          </a:xfrm>
          <a:prstGeom prst="rect">
            <a:avLst/>
          </a:prstGeom>
        </p:spPr>
      </p:pic>
    </p:spTree>
    <p:extLst>
      <p:ext uri="{BB962C8B-B14F-4D97-AF65-F5344CB8AC3E}">
        <p14:creationId xmlns:p14="http://schemas.microsoft.com/office/powerpoint/2010/main" val="1555541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Binary Tree Terminology </a:t>
            </a:r>
            <a:r>
              <a:rPr lang="en-US" altLang="en-US" sz="1200" dirty="0" smtClean="0">
                <a:solidFill>
                  <a:srgbClr val="037797"/>
                </a:solidFill>
              </a:rPr>
              <a:t>(4 </a:t>
            </a:r>
            <a:r>
              <a:rPr lang="en-US" altLang="en-US" sz="1200" dirty="0">
                <a:solidFill>
                  <a:srgbClr val="037797"/>
                </a:solidFill>
              </a:rPr>
              <a:t>of 5)</a:t>
            </a:r>
            <a:endParaRPr lang="en-IN" dirty="0"/>
          </a:p>
        </p:txBody>
      </p:sp>
      <p:sp>
        <p:nvSpPr>
          <p:cNvPr id="3" name="Content Placeholder 2"/>
          <p:cNvSpPr>
            <a:spLocks noGrp="1"/>
          </p:cNvSpPr>
          <p:nvPr>
            <p:ph idx="1"/>
          </p:nvPr>
        </p:nvSpPr>
        <p:spPr>
          <a:xfrm>
            <a:off x="457200" y="1600201"/>
            <a:ext cx="4114800" cy="2590800"/>
          </a:xfrm>
        </p:spPr>
        <p:txBody>
          <a:bodyPr/>
          <a:lstStyle/>
          <a:p>
            <a:pPr lvl="0">
              <a:lnSpc>
                <a:spcPct val="90000"/>
              </a:lnSpc>
              <a:buFontTx/>
              <a:buChar char="•"/>
            </a:pPr>
            <a:r>
              <a:rPr lang="en-US" altLang="en-US" sz="2800" u="sng" dirty="0">
                <a:solidFill>
                  <a:srgbClr val="000000"/>
                </a:solidFill>
              </a:rPr>
              <a:t>Parent node</a:t>
            </a:r>
            <a:r>
              <a:rPr lang="en-US" altLang="en-US" sz="2800" dirty="0">
                <a:solidFill>
                  <a:srgbClr val="000000"/>
                </a:solidFill>
              </a:rPr>
              <a:t>: node above a given </a:t>
            </a:r>
            <a:r>
              <a:rPr lang="en-US" altLang="en-US" sz="2800" dirty="0" smtClean="0">
                <a:solidFill>
                  <a:srgbClr val="000000"/>
                </a:solidFill>
              </a:rPr>
              <a:t>node</a:t>
            </a:r>
          </a:p>
          <a:p>
            <a:pPr marL="309600" lvl="0" indent="0">
              <a:lnSpc>
                <a:spcPct val="90000"/>
              </a:lnSpc>
              <a:spcBef>
                <a:spcPts val="4200"/>
              </a:spcBef>
              <a:buNone/>
            </a:pPr>
            <a:r>
              <a:rPr lang="en-US" altLang="en-US" sz="2800" dirty="0" smtClean="0">
                <a:solidFill>
                  <a:srgbClr val="000000"/>
                </a:solidFill>
              </a:rPr>
              <a:t>The </a:t>
            </a:r>
            <a:r>
              <a:rPr lang="en-US" altLang="en-US" sz="2800" dirty="0">
                <a:solidFill>
                  <a:srgbClr val="000000"/>
                </a:solidFill>
              </a:rPr>
              <a:t>parent of the node containing </a:t>
            </a:r>
            <a:r>
              <a:rPr lang="en-US" altLang="en-US" sz="2800" dirty="0">
                <a:solidFill>
                  <a:srgbClr val="000000"/>
                </a:solidFill>
                <a:latin typeface="Courier New" panose="02070309020205020404" pitchFamily="49" charset="0"/>
              </a:rPr>
              <a:t>43</a:t>
            </a:r>
            <a:r>
              <a:rPr lang="en-US" altLang="en-US" sz="2800" dirty="0">
                <a:solidFill>
                  <a:srgbClr val="000000"/>
                </a:solidFill>
              </a:rPr>
              <a:t> is the node containing </a:t>
            </a:r>
            <a:r>
              <a:rPr lang="en-US" altLang="en-US" sz="2800" dirty="0">
                <a:solidFill>
                  <a:srgbClr val="000000"/>
                </a:solidFill>
                <a:latin typeface="Courier New" panose="02070309020205020404" pitchFamily="49" charset="0"/>
              </a:rPr>
              <a:t>59</a:t>
            </a:r>
            <a:endParaRPr lang="en-US" altLang="en-US" sz="2800" u="sng" dirty="0">
              <a:solidFill>
                <a:srgbClr val="000000"/>
              </a:solidFill>
              <a:latin typeface="Courier New" panose="02070309020205020404" pitchFamily="49" charset="0"/>
            </a:endParaRPr>
          </a:p>
          <a:p>
            <a:endParaRPr lang="en-IN" dirty="0"/>
          </a:p>
        </p:txBody>
      </p:sp>
      <p:pic>
        <p:nvPicPr>
          <p:cNvPr id="4" name="Picture 3" descr="The screenshot shows the binary tree terminology. The binary tree is non-linear and linked. The node with 31 points to the node with 19 and the node with 59. The node with 19 points to the node with 7 and a null pointer. The node with seven points to two null pointers. The node with 59 points to the node with 43 and a null pointer. The node with 43 points to two null pointers. The leaf nodes are the nodes with no children. The first node has one child. The second node has two children - third and fourth nodes. The fifth and sixth nodes containing 7 and 43 are the leaf nodes, since they point to null pointers."/>
          <p:cNvPicPr>
            <a:picLocks noChangeAspect="1"/>
          </p:cNvPicPr>
          <p:nvPr/>
        </p:nvPicPr>
        <p:blipFill rotWithShape="1">
          <a:blip r:embed="rId2"/>
          <a:srcRect l="2696" t="11555" r="4087" b="3662"/>
          <a:stretch/>
        </p:blipFill>
        <p:spPr>
          <a:xfrm>
            <a:off x="4637494" y="3200400"/>
            <a:ext cx="4219339" cy="2916539"/>
          </a:xfrm>
          <a:prstGeom prst="rect">
            <a:avLst/>
          </a:prstGeom>
        </p:spPr>
      </p:pic>
    </p:spTree>
    <p:extLst>
      <p:ext uri="{BB962C8B-B14F-4D97-AF65-F5344CB8AC3E}">
        <p14:creationId xmlns:p14="http://schemas.microsoft.com/office/powerpoint/2010/main" val="1134570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Binary Tree Terminology </a:t>
            </a:r>
            <a:r>
              <a:rPr lang="en-US" altLang="en-US" sz="1200" dirty="0" smtClean="0">
                <a:solidFill>
                  <a:srgbClr val="037797"/>
                </a:solidFill>
              </a:rPr>
              <a:t>(5 </a:t>
            </a:r>
            <a:r>
              <a:rPr lang="en-US" altLang="en-US" sz="1200" dirty="0">
                <a:solidFill>
                  <a:srgbClr val="037797"/>
                </a:solidFill>
              </a:rPr>
              <a:t>of 5)</a:t>
            </a:r>
            <a:endParaRPr lang="en-IN" dirty="0"/>
          </a:p>
        </p:txBody>
      </p:sp>
      <p:sp>
        <p:nvSpPr>
          <p:cNvPr id="3" name="Content Placeholder 2"/>
          <p:cNvSpPr>
            <a:spLocks noGrp="1"/>
          </p:cNvSpPr>
          <p:nvPr>
            <p:ph idx="1"/>
          </p:nvPr>
        </p:nvSpPr>
        <p:spPr>
          <a:xfrm>
            <a:off x="457201" y="1600200"/>
            <a:ext cx="4114799" cy="4525963"/>
          </a:xfrm>
        </p:spPr>
        <p:txBody>
          <a:bodyPr/>
          <a:lstStyle/>
          <a:p>
            <a:pPr lvl="0">
              <a:buFontTx/>
              <a:buChar char="•"/>
            </a:pPr>
            <a:r>
              <a:rPr lang="en-US" altLang="en-US" sz="2800" u="sng" dirty="0">
                <a:solidFill>
                  <a:srgbClr val="000000"/>
                </a:solidFill>
              </a:rPr>
              <a:t>Subtree</a:t>
            </a:r>
            <a:r>
              <a:rPr lang="en-US" altLang="en-US" sz="2800" dirty="0">
                <a:solidFill>
                  <a:srgbClr val="000000"/>
                </a:solidFill>
              </a:rPr>
              <a:t>: the portion of a tree from a node down to the </a:t>
            </a:r>
            <a:r>
              <a:rPr lang="en-US" altLang="en-US" sz="2800" dirty="0" smtClean="0">
                <a:solidFill>
                  <a:srgbClr val="000000"/>
                </a:solidFill>
              </a:rPr>
              <a:t>leaves</a:t>
            </a:r>
          </a:p>
          <a:p>
            <a:pPr marL="360000" lvl="0" indent="0">
              <a:spcBef>
                <a:spcPts val="4500"/>
              </a:spcBef>
              <a:buNone/>
            </a:pPr>
            <a:r>
              <a:rPr lang="en-US" altLang="en-US" sz="2800" dirty="0" smtClean="0">
                <a:solidFill>
                  <a:srgbClr val="000000"/>
                </a:solidFill>
              </a:rPr>
              <a:t>The </a:t>
            </a:r>
            <a:r>
              <a:rPr lang="en-US" altLang="en-US" sz="2800" dirty="0">
                <a:solidFill>
                  <a:srgbClr val="000000"/>
                </a:solidFill>
              </a:rPr>
              <a:t>nodes containing </a:t>
            </a:r>
            <a:r>
              <a:rPr lang="en-US" altLang="en-US" sz="2800" dirty="0">
                <a:solidFill>
                  <a:srgbClr val="000000"/>
                </a:solidFill>
                <a:latin typeface="Courier New" panose="02070309020205020404" pitchFamily="49" charset="0"/>
              </a:rPr>
              <a:t>19</a:t>
            </a:r>
            <a:r>
              <a:rPr lang="en-US" altLang="en-US" sz="2800" dirty="0">
                <a:solidFill>
                  <a:srgbClr val="000000"/>
                </a:solidFill>
              </a:rPr>
              <a:t> and </a:t>
            </a:r>
            <a:r>
              <a:rPr lang="en-US" altLang="en-US" sz="2800" dirty="0">
                <a:solidFill>
                  <a:srgbClr val="000000"/>
                </a:solidFill>
                <a:latin typeface="Courier New" panose="02070309020205020404" pitchFamily="49" charset="0"/>
              </a:rPr>
              <a:t>7</a:t>
            </a:r>
            <a:r>
              <a:rPr lang="en-US" altLang="en-US" sz="2800" dirty="0">
                <a:solidFill>
                  <a:srgbClr val="000000"/>
                </a:solidFill>
              </a:rPr>
              <a:t> are the left subtree of the node containing </a:t>
            </a:r>
            <a:r>
              <a:rPr lang="en-US" altLang="en-US" sz="2800" dirty="0" smtClean="0">
                <a:solidFill>
                  <a:srgbClr val="000000"/>
                </a:solidFill>
                <a:latin typeface="Courier New" panose="02070309020205020404" pitchFamily="49" charset="0"/>
              </a:rPr>
              <a:t>31</a:t>
            </a:r>
            <a:endParaRPr lang="en-US" altLang="en-US" sz="2800" dirty="0">
              <a:solidFill>
                <a:srgbClr val="000000"/>
              </a:solidFill>
              <a:latin typeface="Courier New" panose="02070309020205020404" pitchFamily="49" charset="0"/>
            </a:endParaRPr>
          </a:p>
        </p:txBody>
      </p:sp>
      <p:pic>
        <p:nvPicPr>
          <p:cNvPr id="4" name="Picture 3" descr="The screenshot shows the binary tree terminology. The binary tree is non-linear and linked. The node with 31 points to the node with 19 and the node with 59. The node with 19 points to the node with 7 and a null pointer. The node with seven points to two null pointers. The node with 59 points to the node with 43 and a null pointer. The node with 43 points to two null pointers. The leaf nodes are the nodes with no children. The first node has one child. The second node has two children - third and fourth nodes. The fifth and sixth nodes containing 7 and 43 are the leaf nodes, since they point to null pointers."/>
          <p:cNvPicPr>
            <a:picLocks noChangeAspect="1"/>
          </p:cNvPicPr>
          <p:nvPr/>
        </p:nvPicPr>
        <p:blipFill rotWithShape="1">
          <a:blip r:embed="rId2"/>
          <a:srcRect l="2696" t="11555" r="4087" b="3662"/>
          <a:stretch/>
        </p:blipFill>
        <p:spPr>
          <a:xfrm>
            <a:off x="4637494" y="3200400"/>
            <a:ext cx="4219339" cy="2916539"/>
          </a:xfrm>
          <a:prstGeom prst="rect">
            <a:avLst/>
          </a:prstGeom>
        </p:spPr>
      </p:pic>
    </p:spTree>
    <p:extLst>
      <p:ext uri="{BB962C8B-B14F-4D97-AF65-F5344CB8AC3E}">
        <p14:creationId xmlns:p14="http://schemas.microsoft.com/office/powerpoint/2010/main" val="2844143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Uses of Binary Trees</a:t>
            </a:r>
            <a:endParaRPr lang="en-IN" dirty="0">
              <a:solidFill>
                <a:srgbClr val="037797"/>
              </a:solidFill>
            </a:endParaRPr>
          </a:p>
        </p:txBody>
      </p:sp>
      <p:sp>
        <p:nvSpPr>
          <p:cNvPr id="3" name="Content Placeholder 2"/>
          <p:cNvSpPr>
            <a:spLocks noGrp="1"/>
          </p:cNvSpPr>
          <p:nvPr>
            <p:ph idx="1"/>
          </p:nvPr>
        </p:nvSpPr>
        <p:spPr>
          <a:xfrm>
            <a:off x="457201" y="1687291"/>
            <a:ext cx="4038599" cy="3657600"/>
          </a:xfrm>
        </p:spPr>
        <p:txBody>
          <a:bodyPr/>
          <a:lstStyle/>
          <a:p>
            <a:pPr lvl="0">
              <a:lnSpc>
                <a:spcPct val="90000"/>
              </a:lnSpc>
              <a:buFontTx/>
              <a:buChar char="•"/>
            </a:pPr>
            <a:r>
              <a:rPr lang="en-US" altLang="en-US" sz="2400" u="sng" dirty="0">
                <a:solidFill>
                  <a:srgbClr val="000000"/>
                </a:solidFill>
              </a:rPr>
              <a:t>Binary search tree</a:t>
            </a:r>
            <a:r>
              <a:rPr lang="en-US" altLang="en-US" sz="2400" dirty="0">
                <a:solidFill>
                  <a:srgbClr val="000000"/>
                </a:solidFill>
              </a:rPr>
              <a:t>: data organized in a binary tree to simplify searches</a:t>
            </a:r>
          </a:p>
          <a:p>
            <a:pPr lvl="0">
              <a:lnSpc>
                <a:spcPct val="90000"/>
              </a:lnSpc>
              <a:buFontTx/>
              <a:buChar char="•"/>
            </a:pPr>
            <a:r>
              <a:rPr lang="en-US" altLang="en-US" sz="2400" dirty="0">
                <a:solidFill>
                  <a:srgbClr val="000000"/>
                </a:solidFill>
              </a:rPr>
              <a:t>Left subtree of a node contains data values &lt; the data in the node</a:t>
            </a:r>
          </a:p>
          <a:p>
            <a:pPr lvl="0">
              <a:lnSpc>
                <a:spcPct val="90000"/>
              </a:lnSpc>
              <a:buFontTx/>
              <a:buChar char="•"/>
            </a:pPr>
            <a:r>
              <a:rPr lang="en-US" altLang="en-US" sz="2400" dirty="0">
                <a:solidFill>
                  <a:srgbClr val="000000"/>
                </a:solidFill>
              </a:rPr>
              <a:t>Right subtree of a node contains values &gt; the data in the </a:t>
            </a:r>
            <a:r>
              <a:rPr lang="en-US" altLang="en-US" sz="2400" dirty="0" smtClean="0">
                <a:solidFill>
                  <a:srgbClr val="000000"/>
                </a:solidFill>
              </a:rPr>
              <a:t>node</a:t>
            </a:r>
            <a:endParaRPr lang="en-US" altLang="en-US" sz="2400" u="sng" dirty="0">
              <a:solidFill>
                <a:srgbClr val="000000"/>
              </a:solidFill>
            </a:endParaRPr>
          </a:p>
        </p:txBody>
      </p:sp>
      <p:pic>
        <p:nvPicPr>
          <p:cNvPr id="4" name="Picture 3" descr="The screenshot shows the binary tree terminology. The binary tree is non-linear and linked. The node with 31 points to the node with 19 and the node with 59. The node with 19 points to the node with 7 and a null pointer. The node with seven points to two null pointers. The node with 59 points to the node with 43 and a null pointer. The node with 43 points to two null pointers. The leaf nodes are the nodes with no children. The first node has one child. The second node has two children - third and fourth nodes. The fifth and sixth nodes containing 7 and 43 are the leaf nodes, since they point to null pointers."/>
          <p:cNvPicPr>
            <a:picLocks noChangeAspect="1"/>
          </p:cNvPicPr>
          <p:nvPr/>
        </p:nvPicPr>
        <p:blipFill rotWithShape="1">
          <a:blip r:embed="rId2"/>
          <a:srcRect l="2696" t="11555" r="4087" b="3662"/>
          <a:stretch/>
        </p:blipFill>
        <p:spPr>
          <a:xfrm>
            <a:off x="4637494" y="3200400"/>
            <a:ext cx="4219339" cy="2916539"/>
          </a:xfrm>
          <a:prstGeom prst="rect">
            <a:avLst/>
          </a:prstGeom>
        </p:spPr>
      </p:pic>
    </p:spTree>
    <p:extLst>
      <p:ext uri="{BB962C8B-B14F-4D97-AF65-F5344CB8AC3E}">
        <p14:creationId xmlns:p14="http://schemas.microsoft.com/office/powerpoint/2010/main" val="2974203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Searching in a Binary </a:t>
            </a:r>
            <a:r>
              <a:rPr lang="en-US" altLang="en-US" dirty="0" smtClean="0">
                <a:solidFill>
                  <a:srgbClr val="037797"/>
                </a:solidFill>
              </a:rPr>
              <a:t>Tree </a:t>
            </a:r>
            <a:r>
              <a:rPr lang="en-US" altLang="en-US" sz="1200" dirty="0" smtClean="0">
                <a:solidFill>
                  <a:srgbClr val="037797"/>
                </a:solidFill>
              </a:rPr>
              <a:t>(1 of 2)</a:t>
            </a:r>
            <a:endParaRPr lang="en-IN" sz="1200" dirty="0">
              <a:solidFill>
                <a:srgbClr val="037797"/>
              </a:solidFill>
            </a:endParaRPr>
          </a:p>
        </p:txBody>
      </p:sp>
      <p:sp>
        <p:nvSpPr>
          <p:cNvPr id="3" name="Content Placeholder 2"/>
          <p:cNvSpPr>
            <a:spLocks noGrp="1"/>
          </p:cNvSpPr>
          <p:nvPr>
            <p:ph idx="1"/>
          </p:nvPr>
        </p:nvSpPr>
        <p:spPr>
          <a:xfrm>
            <a:off x="300438" y="1521819"/>
            <a:ext cx="4500162" cy="4525963"/>
          </a:xfrm>
        </p:spPr>
        <p:txBody>
          <a:bodyPr/>
          <a:lstStyle/>
          <a:p>
            <a:pPr marL="609600" lvl="0" indent="-609600">
              <a:lnSpc>
                <a:spcPct val="90000"/>
              </a:lnSpc>
              <a:buClr>
                <a:srgbClr val="000000"/>
              </a:buClr>
              <a:buSzPct val="80000"/>
              <a:buFontTx/>
              <a:buAutoNum type="arabicParenR"/>
            </a:pPr>
            <a:r>
              <a:rPr lang="en-US" altLang="en-US" sz="2400" dirty="0">
                <a:solidFill>
                  <a:srgbClr val="000000"/>
                </a:solidFill>
              </a:rPr>
              <a:t>Start at root node</a:t>
            </a:r>
          </a:p>
          <a:p>
            <a:pPr marL="609600" lvl="0" indent="-609600">
              <a:lnSpc>
                <a:spcPct val="90000"/>
              </a:lnSpc>
              <a:buClr>
                <a:srgbClr val="000000"/>
              </a:buClr>
              <a:buSzPct val="80000"/>
              <a:buFontTx/>
              <a:buAutoNum type="arabicParenR"/>
            </a:pPr>
            <a:r>
              <a:rPr lang="en-US" altLang="en-US" sz="2400" dirty="0">
                <a:solidFill>
                  <a:srgbClr val="000000"/>
                </a:solidFill>
              </a:rPr>
              <a:t>Examine node data:</a:t>
            </a:r>
          </a:p>
          <a:p>
            <a:pPr marL="990600" lvl="1" indent="-533400">
              <a:lnSpc>
                <a:spcPct val="90000"/>
              </a:lnSpc>
              <a:buClr>
                <a:srgbClr val="000000"/>
              </a:buClr>
              <a:buSzPct val="80000"/>
              <a:buFontTx/>
              <a:buAutoNum type="alphaLcParenR"/>
            </a:pPr>
            <a:r>
              <a:rPr lang="en-US" altLang="en-US" sz="2000" dirty="0">
                <a:solidFill>
                  <a:srgbClr val="000000"/>
                </a:solidFill>
              </a:rPr>
              <a:t>Is it desired value? Done</a:t>
            </a:r>
          </a:p>
          <a:p>
            <a:pPr marL="990600" lvl="1" indent="-533400">
              <a:lnSpc>
                <a:spcPct val="90000"/>
              </a:lnSpc>
              <a:buClr>
                <a:srgbClr val="000000"/>
              </a:buClr>
              <a:buSzPct val="80000"/>
              <a:buFontTx/>
              <a:buAutoNum type="alphaLcParenR"/>
            </a:pPr>
            <a:r>
              <a:rPr lang="en-US" altLang="en-US" sz="2000" dirty="0">
                <a:solidFill>
                  <a:srgbClr val="000000"/>
                </a:solidFill>
              </a:rPr>
              <a:t>Else, is desired data &lt; node data? Repeat step 2 with left subtree</a:t>
            </a:r>
          </a:p>
          <a:p>
            <a:pPr marL="990600" lvl="1" indent="-533400">
              <a:lnSpc>
                <a:spcPct val="90000"/>
              </a:lnSpc>
              <a:buClr>
                <a:srgbClr val="000000"/>
              </a:buClr>
              <a:buSzPct val="80000"/>
              <a:buFontTx/>
              <a:buAutoNum type="alphaLcParenR"/>
            </a:pPr>
            <a:r>
              <a:rPr lang="en-US" altLang="en-US" sz="2000" dirty="0">
                <a:solidFill>
                  <a:srgbClr val="000000"/>
                </a:solidFill>
              </a:rPr>
              <a:t>Else, is desired data &gt; node data? Repeat step 2 with right subtree</a:t>
            </a:r>
          </a:p>
          <a:p>
            <a:pPr marL="609600" lvl="0" indent="-609600">
              <a:lnSpc>
                <a:spcPct val="90000"/>
              </a:lnSpc>
              <a:buClr>
                <a:srgbClr val="000000"/>
              </a:buClr>
              <a:buSzPct val="80000"/>
              <a:buFontTx/>
              <a:buAutoNum type="arabicParenR"/>
            </a:pPr>
            <a:r>
              <a:rPr lang="en-US" altLang="en-US" sz="2400" dirty="0">
                <a:solidFill>
                  <a:srgbClr val="000000"/>
                </a:solidFill>
              </a:rPr>
              <a:t>Continue until </a:t>
            </a:r>
            <a:r>
              <a:rPr lang="en-US" altLang="en-US" sz="2400" dirty="0" smtClean="0">
                <a:solidFill>
                  <a:srgbClr val="000000"/>
                </a:solidFill>
              </a:rPr>
              <a:t>desired value </a:t>
            </a:r>
            <a:r>
              <a:rPr lang="en-US" altLang="en-US" sz="2400" dirty="0">
                <a:solidFill>
                  <a:srgbClr val="000000"/>
                </a:solidFill>
              </a:rPr>
              <a:t>found or a null pointer </a:t>
            </a:r>
            <a:r>
              <a:rPr lang="en-US" altLang="en-US" sz="2400" dirty="0" smtClean="0">
                <a:solidFill>
                  <a:srgbClr val="000000"/>
                </a:solidFill>
              </a:rPr>
              <a:t>reached</a:t>
            </a:r>
            <a:endParaRPr lang="en-US" altLang="en-US" sz="2400" dirty="0">
              <a:solidFill>
                <a:srgbClr val="000000"/>
              </a:solidFill>
            </a:endParaRPr>
          </a:p>
        </p:txBody>
      </p:sp>
      <p:pic>
        <p:nvPicPr>
          <p:cNvPr id="4" name="Picture 3" descr="The screenshot shows the binary tree terminology. The binary tree is non-linear and linked. The node with 31 points to the node with 19 and the node with 59. The node with 19 points to the node with 7 and a null pointer. The node with seven points to two null pointers. The node with 59 points to the node with 43 and a null pointer. The node with 43 points to two null pointers. The leaf nodes are the nodes with no children. The first node has one child. The second node has two children - third and fourth nodes. The fifth and sixth nodes containing 7 and 43 are the leaf nodes, since they point to null pointers."/>
          <p:cNvPicPr>
            <a:picLocks noChangeAspect="1"/>
          </p:cNvPicPr>
          <p:nvPr/>
        </p:nvPicPr>
        <p:blipFill rotWithShape="1">
          <a:blip r:embed="rId2"/>
          <a:srcRect l="2696" t="11555" r="4087" b="3662"/>
          <a:stretch/>
        </p:blipFill>
        <p:spPr>
          <a:xfrm>
            <a:off x="4848461" y="3200400"/>
            <a:ext cx="4219339" cy="2916539"/>
          </a:xfrm>
          <a:prstGeom prst="rect">
            <a:avLst/>
          </a:prstGeom>
        </p:spPr>
      </p:pic>
    </p:spTree>
    <p:extLst>
      <p:ext uri="{BB962C8B-B14F-4D97-AF65-F5344CB8AC3E}">
        <p14:creationId xmlns:p14="http://schemas.microsoft.com/office/powerpoint/2010/main" val="2182911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Searching in a Binary Tree </a:t>
            </a:r>
            <a:r>
              <a:rPr lang="en-US" altLang="en-US" sz="1200" dirty="0" smtClean="0">
                <a:solidFill>
                  <a:srgbClr val="037797"/>
                </a:solidFill>
              </a:rPr>
              <a:t>(2 </a:t>
            </a:r>
            <a:r>
              <a:rPr lang="en-US" altLang="en-US" sz="1200" dirty="0">
                <a:solidFill>
                  <a:srgbClr val="037797"/>
                </a:solidFill>
              </a:rPr>
              <a:t>of 2)</a:t>
            </a:r>
            <a:endParaRPr lang="en-IN" dirty="0"/>
          </a:p>
        </p:txBody>
      </p:sp>
      <p:sp>
        <p:nvSpPr>
          <p:cNvPr id="3" name="Content Placeholder 2"/>
          <p:cNvSpPr>
            <a:spLocks noGrp="1"/>
          </p:cNvSpPr>
          <p:nvPr>
            <p:ph idx="1"/>
          </p:nvPr>
        </p:nvSpPr>
        <p:spPr>
          <a:xfrm>
            <a:off x="187225" y="1504401"/>
            <a:ext cx="4853024" cy="3524799"/>
          </a:xfrm>
        </p:spPr>
        <p:txBody>
          <a:bodyPr/>
          <a:lstStyle/>
          <a:p>
            <a:pPr marL="114300" lvl="0" indent="-114300">
              <a:lnSpc>
                <a:spcPct val="95000"/>
              </a:lnSpc>
              <a:buClr>
                <a:srgbClr val="008000"/>
              </a:buClr>
              <a:buNone/>
            </a:pPr>
            <a:r>
              <a:rPr lang="en-US" altLang="en-US" sz="2800" dirty="0">
                <a:solidFill>
                  <a:srgbClr val="000000"/>
                </a:solidFill>
              </a:rPr>
              <a:t>	</a:t>
            </a:r>
            <a:r>
              <a:rPr lang="en-US" altLang="en-US" sz="2400" dirty="0">
                <a:solidFill>
                  <a:srgbClr val="000000"/>
                </a:solidFill>
              </a:rPr>
              <a:t>To locate the node containing </a:t>
            </a:r>
            <a:r>
              <a:rPr lang="en-US" altLang="en-US" sz="2400" dirty="0">
                <a:solidFill>
                  <a:srgbClr val="000000"/>
                </a:solidFill>
                <a:latin typeface="Courier New" panose="02070309020205020404" pitchFamily="49" charset="0"/>
              </a:rPr>
              <a:t>43</a:t>
            </a:r>
            <a:r>
              <a:rPr lang="en-US" altLang="en-US" sz="2400" dirty="0">
                <a:solidFill>
                  <a:srgbClr val="000000"/>
                </a:solidFill>
              </a:rPr>
              <a:t>,</a:t>
            </a:r>
            <a:r>
              <a:rPr lang="en-US" altLang="en-US" sz="2800" dirty="0">
                <a:solidFill>
                  <a:srgbClr val="000000"/>
                </a:solidFill>
              </a:rPr>
              <a:t> </a:t>
            </a:r>
          </a:p>
          <a:p>
            <a:pPr marL="914400" lvl="1" indent="-393700">
              <a:lnSpc>
                <a:spcPct val="95000"/>
              </a:lnSpc>
            </a:pPr>
            <a:r>
              <a:rPr lang="en-US" altLang="en-US" sz="2000" dirty="0">
                <a:solidFill>
                  <a:srgbClr val="000000"/>
                </a:solidFill>
              </a:rPr>
              <a:t>Examine the root node (</a:t>
            </a:r>
            <a:r>
              <a:rPr lang="en-US" altLang="en-US" sz="2000" dirty="0">
                <a:solidFill>
                  <a:srgbClr val="000000"/>
                </a:solidFill>
                <a:latin typeface="Courier New" panose="02070309020205020404" pitchFamily="49" charset="0"/>
              </a:rPr>
              <a:t>31</a:t>
            </a:r>
            <a:r>
              <a:rPr lang="en-US" altLang="en-US" sz="2000" dirty="0">
                <a:solidFill>
                  <a:srgbClr val="000000"/>
                </a:solidFill>
              </a:rPr>
              <a:t>) first</a:t>
            </a:r>
          </a:p>
          <a:p>
            <a:pPr marL="914400" lvl="1" indent="-393700">
              <a:lnSpc>
                <a:spcPct val="95000"/>
              </a:lnSpc>
            </a:pPr>
            <a:r>
              <a:rPr lang="en-US" altLang="en-US" sz="2000" dirty="0">
                <a:solidFill>
                  <a:srgbClr val="000000"/>
                </a:solidFill>
              </a:rPr>
              <a:t>Since </a:t>
            </a:r>
            <a:r>
              <a:rPr lang="en-US" altLang="en-US" sz="2000" dirty="0">
                <a:solidFill>
                  <a:srgbClr val="000000"/>
                </a:solidFill>
                <a:latin typeface="Courier New" panose="02070309020205020404" pitchFamily="49" charset="0"/>
              </a:rPr>
              <a:t>43 &gt; 31</a:t>
            </a:r>
            <a:r>
              <a:rPr lang="en-US" altLang="en-US" sz="2000" dirty="0">
                <a:solidFill>
                  <a:srgbClr val="000000"/>
                </a:solidFill>
              </a:rPr>
              <a:t>, examine the right child of the node containing </a:t>
            </a:r>
            <a:r>
              <a:rPr lang="en-US" altLang="en-US" sz="2000" dirty="0">
                <a:solidFill>
                  <a:srgbClr val="000000"/>
                </a:solidFill>
                <a:latin typeface="Courier New" panose="02070309020205020404" pitchFamily="49" charset="0"/>
              </a:rPr>
              <a:t>31</a:t>
            </a:r>
            <a:r>
              <a:rPr lang="en-US" altLang="en-US" sz="2000" dirty="0">
                <a:solidFill>
                  <a:srgbClr val="000000"/>
                </a:solidFill>
              </a:rPr>
              <a:t>, (</a:t>
            </a:r>
            <a:r>
              <a:rPr lang="en-US" altLang="en-US" sz="2000" dirty="0">
                <a:solidFill>
                  <a:srgbClr val="000000"/>
                </a:solidFill>
                <a:latin typeface="Courier New" panose="02070309020205020404" pitchFamily="49" charset="0"/>
              </a:rPr>
              <a:t>59</a:t>
            </a:r>
            <a:r>
              <a:rPr lang="en-US" altLang="en-US" sz="2000" dirty="0">
                <a:solidFill>
                  <a:srgbClr val="000000"/>
                </a:solidFill>
              </a:rPr>
              <a:t>) </a:t>
            </a:r>
          </a:p>
          <a:p>
            <a:pPr marL="914400" lvl="1" indent="-393700">
              <a:lnSpc>
                <a:spcPct val="95000"/>
              </a:lnSpc>
            </a:pPr>
            <a:r>
              <a:rPr lang="en-US" altLang="en-US" sz="2000" dirty="0">
                <a:solidFill>
                  <a:srgbClr val="000000"/>
                </a:solidFill>
              </a:rPr>
              <a:t>Since </a:t>
            </a:r>
            <a:r>
              <a:rPr lang="en-US" altLang="en-US" sz="2000" dirty="0">
                <a:solidFill>
                  <a:srgbClr val="000000"/>
                </a:solidFill>
                <a:latin typeface="Courier New" panose="02070309020205020404" pitchFamily="49" charset="0"/>
              </a:rPr>
              <a:t>43 &lt; 59</a:t>
            </a:r>
            <a:r>
              <a:rPr lang="en-US" altLang="en-US" sz="2000" dirty="0">
                <a:solidFill>
                  <a:srgbClr val="000000"/>
                </a:solidFill>
              </a:rPr>
              <a:t>, examine the left child of the node containing </a:t>
            </a:r>
            <a:r>
              <a:rPr lang="en-US" altLang="en-US" sz="2000" dirty="0">
                <a:solidFill>
                  <a:srgbClr val="000000"/>
                </a:solidFill>
                <a:latin typeface="Courier New" panose="02070309020205020404" pitchFamily="49" charset="0"/>
              </a:rPr>
              <a:t>59</a:t>
            </a:r>
            <a:r>
              <a:rPr lang="en-US" altLang="en-US" sz="2000" dirty="0">
                <a:solidFill>
                  <a:srgbClr val="000000"/>
                </a:solidFill>
              </a:rPr>
              <a:t>, (</a:t>
            </a:r>
            <a:r>
              <a:rPr lang="en-US" altLang="en-US" sz="2000" dirty="0">
                <a:solidFill>
                  <a:srgbClr val="000000"/>
                </a:solidFill>
                <a:latin typeface="Courier New" panose="02070309020205020404" pitchFamily="49" charset="0"/>
              </a:rPr>
              <a:t>43</a:t>
            </a:r>
            <a:r>
              <a:rPr lang="en-US" altLang="en-US" sz="2000" dirty="0">
                <a:solidFill>
                  <a:srgbClr val="000000"/>
                </a:solidFill>
              </a:rPr>
              <a:t>)</a:t>
            </a:r>
          </a:p>
          <a:p>
            <a:pPr marL="914400" lvl="1" indent="-393700">
              <a:lnSpc>
                <a:spcPct val="95000"/>
              </a:lnSpc>
            </a:pPr>
            <a:r>
              <a:rPr lang="en-US" altLang="en-US" sz="2000" dirty="0">
                <a:solidFill>
                  <a:srgbClr val="000000"/>
                </a:solidFill>
              </a:rPr>
              <a:t>The node containing</a:t>
            </a:r>
            <a:br>
              <a:rPr lang="en-US" altLang="en-US" sz="2000" dirty="0">
                <a:solidFill>
                  <a:srgbClr val="000000"/>
                </a:solidFill>
              </a:rPr>
            </a:br>
            <a:r>
              <a:rPr lang="en-US" altLang="en-US" sz="2000" dirty="0">
                <a:solidFill>
                  <a:srgbClr val="000000"/>
                </a:solidFill>
              </a:rPr>
              <a:t>43 has been </a:t>
            </a:r>
            <a:r>
              <a:rPr lang="en-US" altLang="en-US" sz="2000" dirty="0" smtClean="0">
                <a:solidFill>
                  <a:srgbClr val="000000"/>
                </a:solidFill>
              </a:rPr>
              <a:t>found</a:t>
            </a:r>
            <a:endParaRPr lang="en-US" altLang="en-US" sz="2000" dirty="0">
              <a:solidFill>
                <a:srgbClr val="000000"/>
              </a:solidFill>
            </a:endParaRPr>
          </a:p>
        </p:txBody>
      </p:sp>
      <p:pic>
        <p:nvPicPr>
          <p:cNvPr id="4" name="Picture 3" descr="The screenshot shows the binary tree terminology. The binary tree is non-linear and linked. The node with 31 points to the node with 19 and the node with 59. The node with 19 points to the node with 7 and a null pointer. The node with seven points to two null pointers. The node with 59 points to the node with 43 and a null pointer. The node with 43 points to two null pointers. The leaf nodes are the nodes with no children. The first node has one child. The second node has two children - third and fourth nodes. The fifth and sixth nodes containing 7 and 43 are the leaf nodes, since they point to null pointers."/>
          <p:cNvPicPr>
            <a:picLocks noChangeAspect="1"/>
          </p:cNvPicPr>
          <p:nvPr/>
        </p:nvPicPr>
        <p:blipFill rotWithShape="1">
          <a:blip r:embed="rId2"/>
          <a:srcRect l="2696" t="11555" r="4087" b="3662"/>
          <a:stretch/>
        </p:blipFill>
        <p:spPr>
          <a:xfrm>
            <a:off x="5155837" y="3332970"/>
            <a:ext cx="3835763" cy="2651399"/>
          </a:xfrm>
          <a:prstGeom prst="rect">
            <a:avLst/>
          </a:prstGeom>
        </p:spPr>
      </p:pic>
    </p:spTree>
    <p:extLst>
      <p:ext uri="{BB962C8B-B14F-4D97-AF65-F5344CB8AC3E}">
        <p14:creationId xmlns:p14="http://schemas.microsoft.com/office/powerpoint/2010/main" val="202495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noChangeArrowheads="1"/>
          </p:cNvSpPr>
          <p:nvPr>
            <p:ph type="ctrTitle"/>
          </p:nvPr>
        </p:nvSpPr>
        <p:spPr/>
        <p:txBody>
          <a:bodyPr/>
          <a:lstStyle/>
          <a:p>
            <a:r>
              <a:rPr lang="en-US" altLang="en-US" dirty="0" smtClean="0">
                <a:solidFill>
                  <a:srgbClr val="037797"/>
                </a:solidFill>
              </a:rPr>
              <a:t>21.2</a:t>
            </a:r>
          </a:p>
        </p:txBody>
      </p:sp>
      <p:sp>
        <p:nvSpPr>
          <p:cNvPr id="16387" name="Subtitle 2"/>
          <p:cNvSpPr>
            <a:spLocks noGrp="1" noChangeArrowheads="1"/>
          </p:cNvSpPr>
          <p:nvPr>
            <p:ph type="subTitle" idx="1"/>
          </p:nvPr>
        </p:nvSpPr>
        <p:spPr>
          <a:xfrm>
            <a:off x="1371600" y="4267200"/>
            <a:ext cx="6400800" cy="685800"/>
          </a:xfrm>
        </p:spPr>
        <p:txBody>
          <a:bodyPr/>
          <a:lstStyle/>
          <a:p>
            <a:r>
              <a:rPr lang="en-US" altLang="en-US" smtClean="0"/>
              <a:t>Binary Search Tree Operations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Binary Search Tree Operations</a:t>
            </a:r>
            <a:endParaRPr lang="en-IN" dirty="0">
              <a:solidFill>
                <a:srgbClr val="037797"/>
              </a:solidFill>
            </a:endParaRPr>
          </a:p>
        </p:txBody>
      </p:sp>
      <p:sp>
        <p:nvSpPr>
          <p:cNvPr id="3" name="Content Placeholder 2"/>
          <p:cNvSpPr>
            <a:spLocks noGrp="1"/>
          </p:cNvSpPr>
          <p:nvPr>
            <p:ph idx="1"/>
          </p:nvPr>
        </p:nvSpPr>
        <p:spPr>
          <a:xfrm>
            <a:off x="457200" y="1948551"/>
            <a:ext cx="8001000" cy="3657599"/>
          </a:xfrm>
        </p:spPr>
        <p:txBody>
          <a:bodyPr/>
          <a:lstStyle/>
          <a:p>
            <a:pPr lvl="0">
              <a:lnSpc>
                <a:spcPct val="90000"/>
              </a:lnSpc>
              <a:buFontTx/>
              <a:buChar char="•"/>
            </a:pPr>
            <a:r>
              <a:rPr lang="en-US" altLang="en-US" sz="2800" dirty="0">
                <a:solidFill>
                  <a:srgbClr val="000000"/>
                </a:solidFill>
              </a:rPr>
              <a:t>Create a binary search tree – organize data into a binary search tree</a:t>
            </a:r>
          </a:p>
          <a:p>
            <a:pPr lvl="0">
              <a:lnSpc>
                <a:spcPct val="90000"/>
              </a:lnSpc>
              <a:buFontTx/>
              <a:buChar char="•"/>
            </a:pPr>
            <a:r>
              <a:rPr lang="en-US" altLang="en-US" sz="2800" dirty="0">
                <a:solidFill>
                  <a:srgbClr val="000000"/>
                </a:solidFill>
              </a:rPr>
              <a:t>Insert a node into a binary tree – put node into tree in its correct position to maintain order</a:t>
            </a:r>
          </a:p>
          <a:p>
            <a:pPr lvl="0">
              <a:lnSpc>
                <a:spcPct val="90000"/>
              </a:lnSpc>
              <a:buFontTx/>
              <a:buChar char="•"/>
            </a:pPr>
            <a:r>
              <a:rPr lang="en-US" altLang="en-US" sz="2800" dirty="0">
                <a:solidFill>
                  <a:srgbClr val="000000"/>
                </a:solidFill>
              </a:rPr>
              <a:t>Find a node in a binary tree – locate a node with particular data value</a:t>
            </a:r>
          </a:p>
          <a:p>
            <a:pPr lvl="0">
              <a:lnSpc>
                <a:spcPct val="90000"/>
              </a:lnSpc>
              <a:buFontTx/>
              <a:buChar char="•"/>
            </a:pPr>
            <a:r>
              <a:rPr lang="en-US" altLang="en-US" sz="2800" dirty="0">
                <a:solidFill>
                  <a:srgbClr val="000000"/>
                </a:solidFill>
              </a:rPr>
              <a:t>Delete a node from a binary tree – remove a node and adjust links to maintain binary </a:t>
            </a:r>
            <a:r>
              <a:rPr lang="en-US" altLang="en-US" sz="2800" dirty="0" smtClean="0">
                <a:solidFill>
                  <a:srgbClr val="000000"/>
                </a:solidFill>
              </a:rPr>
              <a:t>tree</a:t>
            </a:r>
            <a:endParaRPr lang="en-US" altLang="en-US" sz="2800" dirty="0">
              <a:solidFill>
                <a:srgbClr val="000000"/>
              </a:solidFill>
            </a:endParaRPr>
          </a:p>
        </p:txBody>
      </p:sp>
    </p:spTree>
    <p:extLst>
      <p:ext uri="{BB962C8B-B14F-4D97-AF65-F5344CB8AC3E}">
        <p14:creationId xmlns:p14="http://schemas.microsoft.com/office/powerpoint/2010/main" val="449105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Binary Search Tree Node</a:t>
            </a:r>
            <a:endParaRPr lang="en-IN" dirty="0">
              <a:solidFill>
                <a:srgbClr val="037797"/>
              </a:solidFill>
            </a:endParaRPr>
          </a:p>
        </p:txBody>
      </p:sp>
      <p:sp>
        <p:nvSpPr>
          <p:cNvPr id="3" name="Content Placeholder 2"/>
          <p:cNvSpPr>
            <a:spLocks noGrp="1"/>
          </p:cNvSpPr>
          <p:nvPr>
            <p:ph idx="1"/>
          </p:nvPr>
        </p:nvSpPr>
        <p:spPr>
          <a:xfrm>
            <a:off x="457200" y="1739539"/>
            <a:ext cx="7848599" cy="4191000"/>
          </a:xfrm>
        </p:spPr>
        <p:txBody>
          <a:bodyPr/>
          <a:lstStyle/>
          <a:p>
            <a:pPr lvl="0">
              <a:lnSpc>
                <a:spcPct val="90000"/>
              </a:lnSpc>
              <a:buFontTx/>
              <a:buChar char="•"/>
            </a:pPr>
            <a:r>
              <a:rPr lang="en-US" altLang="en-US" dirty="0">
                <a:solidFill>
                  <a:srgbClr val="000000"/>
                </a:solidFill>
              </a:rPr>
              <a:t>A node in a binary tree is like a node in a linked list, with two node pointer fields:</a:t>
            </a:r>
          </a:p>
          <a:p>
            <a:pPr lvl="1">
              <a:lnSpc>
                <a:spcPct val="90000"/>
              </a:lnSpc>
              <a:buNone/>
            </a:pPr>
            <a:r>
              <a:rPr lang="en-US" altLang="en-US" dirty="0">
                <a:solidFill>
                  <a:srgbClr val="000000"/>
                </a:solidFill>
                <a:latin typeface="Courier New" panose="02070309020205020404" pitchFamily="49" charset="0"/>
              </a:rPr>
              <a:t>struct TreeNode</a:t>
            </a:r>
          </a:p>
          <a:p>
            <a:pPr lvl="1">
              <a:lnSpc>
                <a:spcPct val="90000"/>
              </a:lnSpc>
              <a:buNone/>
            </a:pPr>
            <a:r>
              <a:rPr lang="en-US" altLang="en-US" dirty="0" smtClean="0">
                <a:solidFill>
                  <a:srgbClr val="000000"/>
                </a:solidFill>
                <a:latin typeface="Courier New" panose="02070309020205020404" pitchFamily="49" charset="0"/>
              </a:rPr>
              <a:t>{</a:t>
            </a:r>
          </a:p>
          <a:p>
            <a:pPr marL="1202400" lvl="1">
              <a:lnSpc>
                <a:spcPct val="90000"/>
              </a:lnSpc>
              <a:buNone/>
            </a:pPr>
            <a:r>
              <a:rPr lang="en-US" altLang="en-US" dirty="0" smtClean="0">
                <a:solidFill>
                  <a:srgbClr val="000000"/>
                </a:solidFill>
                <a:latin typeface="Courier New" panose="02070309020205020404" pitchFamily="49" charset="0"/>
              </a:rPr>
              <a:t>int value;</a:t>
            </a:r>
          </a:p>
          <a:p>
            <a:pPr marL="1202400" lvl="1">
              <a:lnSpc>
                <a:spcPct val="90000"/>
              </a:lnSpc>
              <a:buNone/>
            </a:pPr>
            <a:r>
              <a:rPr lang="en-US" altLang="en-US" dirty="0" smtClean="0">
                <a:solidFill>
                  <a:srgbClr val="000000"/>
                </a:solidFill>
                <a:latin typeface="Courier New" panose="02070309020205020404" pitchFamily="49" charset="0"/>
              </a:rPr>
              <a:t>TreeNode </a:t>
            </a:r>
            <a:r>
              <a:rPr lang="en-US" altLang="en-US" dirty="0">
                <a:solidFill>
                  <a:srgbClr val="000000"/>
                </a:solidFill>
                <a:latin typeface="Courier New" panose="02070309020205020404" pitchFamily="49" charset="0"/>
              </a:rPr>
              <a:t>*</a:t>
            </a:r>
            <a:r>
              <a:rPr lang="en-US" altLang="en-US" dirty="0" smtClean="0">
                <a:solidFill>
                  <a:srgbClr val="000000"/>
                </a:solidFill>
                <a:latin typeface="Courier New" panose="02070309020205020404" pitchFamily="49" charset="0"/>
              </a:rPr>
              <a:t>left;</a:t>
            </a:r>
          </a:p>
          <a:p>
            <a:pPr marL="1202400" lvl="1">
              <a:lnSpc>
                <a:spcPct val="90000"/>
              </a:lnSpc>
              <a:buNone/>
            </a:pPr>
            <a:r>
              <a:rPr lang="en-US" altLang="en-US" dirty="0" smtClean="0">
                <a:solidFill>
                  <a:srgbClr val="000000"/>
                </a:solidFill>
                <a:latin typeface="Courier New" panose="02070309020205020404" pitchFamily="49" charset="0"/>
              </a:rPr>
              <a:t>TreeNode </a:t>
            </a:r>
            <a:r>
              <a:rPr lang="en-US" altLang="en-US" dirty="0">
                <a:solidFill>
                  <a:srgbClr val="000000"/>
                </a:solidFill>
                <a:latin typeface="Courier New" panose="02070309020205020404" pitchFamily="49" charset="0"/>
              </a:rPr>
              <a:t>*right;</a:t>
            </a:r>
          </a:p>
          <a:p>
            <a:pPr lvl="1">
              <a:lnSpc>
                <a:spcPct val="90000"/>
              </a:lnSpc>
              <a:buNone/>
            </a:pPr>
            <a:r>
              <a:rPr lang="en-US" altLang="en-US" dirty="0" smtClean="0">
                <a:solidFill>
                  <a:srgbClr val="000000"/>
                </a:solidFill>
                <a:latin typeface="Courier New" panose="02070309020205020404" pitchFamily="49" charset="0"/>
              </a:rPr>
              <a:t>}</a:t>
            </a:r>
            <a:endParaRPr lang="en-US" altLang="en-US"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30470298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Creating a New Node</a:t>
            </a:r>
            <a:endParaRPr lang="en-IN" dirty="0">
              <a:solidFill>
                <a:srgbClr val="037797"/>
              </a:solidFill>
            </a:endParaRPr>
          </a:p>
        </p:txBody>
      </p:sp>
      <p:sp>
        <p:nvSpPr>
          <p:cNvPr id="3" name="Content Placeholder 2"/>
          <p:cNvSpPr>
            <a:spLocks noGrp="1"/>
          </p:cNvSpPr>
          <p:nvPr>
            <p:ph idx="1"/>
          </p:nvPr>
        </p:nvSpPr>
        <p:spPr>
          <a:xfrm>
            <a:off x="457200" y="1600200"/>
            <a:ext cx="5867400" cy="4525963"/>
          </a:xfrm>
        </p:spPr>
        <p:txBody>
          <a:bodyPr/>
          <a:lstStyle/>
          <a:p>
            <a:pPr lvl="0">
              <a:lnSpc>
                <a:spcPct val="90000"/>
              </a:lnSpc>
              <a:buFontTx/>
              <a:buChar char="•"/>
            </a:pPr>
            <a:r>
              <a:rPr lang="en-US" altLang="en-US" sz="2800" dirty="0">
                <a:solidFill>
                  <a:srgbClr val="000000"/>
                </a:solidFill>
              </a:rPr>
              <a:t>Allocate memory for new node:</a:t>
            </a:r>
          </a:p>
          <a:p>
            <a:pPr lvl="1">
              <a:lnSpc>
                <a:spcPct val="90000"/>
              </a:lnSpc>
              <a:buClr>
                <a:srgbClr val="3333CC"/>
              </a:buClr>
              <a:buNone/>
            </a:pPr>
            <a:r>
              <a:rPr lang="en-US" altLang="en-US" sz="2400" dirty="0">
                <a:solidFill>
                  <a:srgbClr val="000000"/>
                </a:solidFill>
                <a:latin typeface="Courier New" panose="02070309020205020404" pitchFamily="49" charset="0"/>
              </a:rPr>
              <a:t>newNode = new TreeNode;</a:t>
            </a:r>
          </a:p>
          <a:p>
            <a:pPr lvl="0">
              <a:lnSpc>
                <a:spcPct val="90000"/>
              </a:lnSpc>
              <a:buFontTx/>
              <a:buChar char="•"/>
            </a:pPr>
            <a:r>
              <a:rPr lang="en-US" altLang="en-US" sz="2800" dirty="0">
                <a:solidFill>
                  <a:srgbClr val="000000"/>
                </a:solidFill>
              </a:rPr>
              <a:t>Initialize the contents of the node:</a:t>
            </a:r>
          </a:p>
          <a:p>
            <a:pPr lvl="1">
              <a:lnSpc>
                <a:spcPct val="90000"/>
              </a:lnSpc>
              <a:buClr>
                <a:srgbClr val="3333CC"/>
              </a:buClr>
              <a:buNone/>
            </a:pPr>
            <a:r>
              <a:rPr lang="en-US" altLang="en-US" sz="2400" dirty="0">
                <a:solidFill>
                  <a:srgbClr val="000000"/>
                </a:solidFill>
                <a:latin typeface="Courier New" panose="02070309020205020404" pitchFamily="49" charset="0"/>
              </a:rPr>
              <a:t>newNode-&gt;value = num;</a:t>
            </a:r>
          </a:p>
          <a:p>
            <a:pPr lvl="0">
              <a:lnSpc>
                <a:spcPct val="90000"/>
              </a:lnSpc>
              <a:buFontTx/>
              <a:buChar char="•"/>
            </a:pPr>
            <a:r>
              <a:rPr lang="en-US" altLang="en-US" sz="2800" dirty="0">
                <a:solidFill>
                  <a:srgbClr val="000000"/>
                </a:solidFill>
              </a:rPr>
              <a:t>Set the pointers to </a:t>
            </a:r>
            <a:r>
              <a:rPr lang="en-US" altLang="en-US" sz="2800" dirty="0">
                <a:solidFill>
                  <a:srgbClr val="000000"/>
                </a:solidFill>
                <a:latin typeface="Courier New" panose="02070309020205020404" pitchFamily="49" charset="0"/>
              </a:rPr>
              <a:t>nullptr</a:t>
            </a:r>
            <a:r>
              <a:rPr lang="en-US" altLang="en-US" sz="2800" dirty="0">
                <a:solidFill>
                  <a:srgbClr val="000000"/>
                </a:solidFill>
              </a:rPr>
              <a:t>:</a:t>
            </a:r>
          </a:p>
          <a:p>
            <a:pPr lvl="1">
              <a:lnSpc>
                <a:spcPct val="90000"/>
              </a:lnSpc>
              <a:buClr>
                <a:srgbClr val="3333CC"/>
              </a:buClr>
              <a:buNone/>
            </a:pPr>
            <a:r>
              <a:rPr lang="en-US" altLang="en-US" sz="2400" dirty="0">
                <a:solidFill>
                  <a:srgbClr val="000000"/>
                </a:solidFill>
                <a:latin typeface="Courier New" panose="02070309020205020404" pitchFamily="49" charset="0"/>
              </a:rPr>
              <a:t>newNode-&gt;Left </a:t>
            </a:r>
          </a:p>
          <a:p>
            <a:pPr lvl="1">
              <a:lnSpc>
                <a:spcPct val="90000"/>
              </a:lnSpc>
              <a:buClr>
                <a:srgbClr val="3333CC"/>
              </a:buClr>
              <a:buNone/>
            </a:pPr>
            <a:r>
              <a:rPr lang="en-US" altLang="en-US" sz="2400" dirty="0">
                <a:solidFill>
                  <a:srgbClr val="000000"/>
                </a:solidFill>
                <a:latin typeface="Courier New" panose="02070309020205020404" pitchFamily="49" charset="0"/>
              </a:rPr>
              <a:t>= newNode-&gt;Right</a:t>
            </a:r>
          </a:p>
          <a:p>
            <a:pPr lvl="1">
              <a:lnSpc>
                <a:spcPct val="90000"/>
              </a:lnSpc>
              <a:buClr>
                <a:srgbClr val="3333CC"/>
              </a:buClr>
              <a:buNone/>
            </a:pPr>
            <a:r>
              <a:rPr lang="en-US" altLang="en-US" sz="2400" dirty="0">
                <a:solidFill>
                  <a:srgbClr val="000000"/>
                </a:solidFill>
                <a:latin typeface="Courier New" panose="02070309020205020404" pitchFamily="49" charset="0"/>
              </a:rPr>
              <a:t>= nullptr</a:t>
            </a:r>
            <a:r>
              <a:rPr lang="en-US" altLang="en-US" sz="2400" dirty="0" smtClean="0">
                <a:solidFill>
                  <a:srgbClr val="000000"/>
                </a:solidFill>
                <a:latin typeface="Courier New" panose="02070309020205020404" pitchFamily="49" charset="0"/>
              </a:rPr>
              <a:t>;</a:t>
            </a:r>
            <a:endParaRPr lang="en-US" altLang="en-US" sz="2400" dirty="0">
              <a:solidFill>
                <a:srgbClr val="000000"/>
              </a:solidFill>
            </a:endParaRPr>
          </a:p>
        </p:txBody>
      </p:sp>
      <p:pic>
        <p:nvPicPr>
          <p:cNvPr id="6" name="Picture 5" descr="The screenshot shows the binary tree terminology. The binary tree is non-linear and linked. It displays a list in which the newNode points to the second node. The second newNode points to the node with 23. The third newNode points to the node with 23. The node with 23 points to two null pointers."/>
          <p:cNvPicPr>
            <a:picLocks noChangeAspect="1"/>
          </p:cNvPicPr>
          <p:nvPr/>
        </p:nvPicPr>
        <p:blipFill>
          <a:blip r:embed="rId2"/>
          <a:stretch>
            <a:fillRect/>
          </a:stretch>
        </p:blipFill>
        <p:spPr>
          <a:xfrm>
            <a:off x="6496207" y="1677345"/>
            <a:ext cx="2495393" cy="4494855"/>
          </a:xfrm>
          <a:prstGeom prst="rect">
            <a:avLst/>
          </a:prstGeom>
        </p:spPr>
      </p:pic>
    </p:spTree>
    <p:extLst>
      <p:ext uri="{BB962C8B-B14F-4D97-AF65-F5344CB8AC3E}">
        <p14:creationId xmlns:p14="http://schemas.microsoft.com/office/powerpoint/2010/main" val="11544372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6553200" cy="1143000"/>
          </a:xfrm>
        </p:spPr>
        <p:txBody>
          <a:bodyPr/>
          <a:lstStyle/>
          <a:p>
            <a:r>
              <a:rPr lang="en-US" altLang="en-US" dirty="0">
                <a:solidFill>
                  <a:srgbClr val="037797"/>
                </a:solidFill>
              </a:rPr>
              <a:t>Inserting a Node in a </a:t>
            </a:r>
            <a:r>
              <a:rPr lang="en-US" altLang="en-US" dirty="0" smtClean="0">
                <a:solidFill>
                  <a:srgbClr val="037797"/>
                </a:solidFill>
              </a:rPr>
              <a:t>Binary </a:t>
            </a:r>
            <a:r>
              <a:rPr lang="en-US" altLang="en-US" dirty="0">
                <a:solidFill>
                  <a:srgbClr val="037797"/>
                </a:solidFill>
              </a:rPr>
              <a:t>Search </a:t>
            </a:r>
            <a:r>
              <a:rPr lang="en-US" altLang="en-US" dirty="0" smtClean="0">
                <a:solidFill>
                  <a:srgbClr val="037797"/>
                </a:solidFill>
              </a:rPr>
              <a:t>Tree </a:t>
            </a:r>
            <a:r>
              <a:rPr lang="en-US" altLang="en-US" sz="1200" dirty="0" smtClean="0">
                <a:solidFill>
                  <a:srgbClr val="037797"/>
                </a:solidFill>
              </a:rPr>
              <a:t>(1 of 2)</a:t>
            </a:r>
            <a:endParaRPr lang="en-IN" sz="1200" dirty="0">
              <a:solidFill>
                <a:srgbClr val="037797"/>
              </a:solidFill>
            </a:endParaRPr>
          </a:p>
        </p:txBody>
      </p:sp>
      <p:sp>
        <p:nvSpPr>
          <p:cNvPr id="3" name="Content Placeholder 2"/>
          <p:cNvSpPr>
            <a:spLocks noGrp="1"/>
          </p:cNvSpPr>
          <p:nvPr>
            <p:ph idx="1"/>
          </p:nvPr>
        </p:nvSpPr>
        <p:spPr>
          <a:xfrm>
            <a:off x="309147" y="1905006"/>
            <a:ext cx="8229600" cy="3657600"/>
          </a:xfrm>
        </p:spPr>
        <p:txBody>
          <a:bodyPr/>
          <a:lstStyle/>
          <a:p>
            <a:pPr marL="609600" lvl="0" indent="-609600">
              <a:lnSpc>
                <a:spcPct val="90000"/>
              </a:lnSpc>
              <a:buClr>
                <a:srgbClr val="000000"/>
              </a:buClr>
              <a:buSzPct val="90000"/>
              <a:buFontTx/>
              <a:buAutoNum type="arabicParenR"/>
            </a:pPr>
            <a:r>
              <a:rPr lang="en-US" altLang="en-US" sz="2800" dirty="0">
                <a:solidFill>
                  <a:srgbClr val="000000"/>
                </a:solidFill>
              </a:rPr>
              <a:t>If tree is empty, insert the new node as the root node</a:t>
            </a:r>
          </a:p>
          <a:p>
            <a:pPr marL="609600" lvl="0" indent="-609600">
              <a:lnSpc>
                <a:spcPct val="90000"/>
              </a:lnSpc>
              <a:buClr>
                <a:srgbClr val="000000"/>
              </a:buClr>
              <a:buSzPct val="90000"/>
              <a:buFontTx/>
              <a:buAutoNum type="arabicParenR"/>
            </a:pPr>
            <a:r>
              <a:rPr lang="en-US" altLang="en-US" sz="2800" dirty="0">
                <a:solidFill>
                  <a:srgbClr val="000000"/>
                </a:solidFill>
              </a:rPr>
              <a:t>Else, compare new node against left or right child, depending on whether data value of new node is </a:t>
            </a:r>
            <a:r>
              <a:rPr lang="en-US" altLang="en-US" sz="2800" dirty="0">
                <a:solidFill>
                  <a:srgbClr val="000000"/>
                </a:solidFill>
                <a:latin typeface="Courier New" panose="02070309020205020404" pitchFamily="49" charset="0"/>
              </a:rPr>
              <a:t>&lt;</a:t>
            </a:r>
            <a:r>
              <a:rPr lang="en-US" altLang="en-US" sz="2800" dirty="0">
                <a:solidFill>
                  <a:srgbClr val="000000"/>
                </a:solidFill>
              </a:rPr>
              <a:t> or </a:t>
            </a:r>
            <a:r>
              <a:rPr lang="en-US" altLang="en-US" sz="2800" dirty="0">
                <a:solidFill>
                  <a:srgbClr val="000000"/>
                </a:solidFill>
                <a:latin typeface="Courier New" panose="02070309020205020404" pitchFamily="49" charset="0"/>
              </a:rPr>
              <a:t>&gt;</a:t>
            </a:r>
            <a:r>
              <a:rPr lang="en-US" altLang="en-US" sz="2800" dirty="0">
                <a:solidFill>
                  <a:srgbClr val="000000"/>
                </a:solidFill>
              </a:rPr>
              <a:t> root node</a:t>
            </a:r>
          </a:p>
          <a:p>
            <a:pPr marL="609600" lvl="0" indent="-609600">
              <a:lnSpc>
                <a:spcPct val="90000"/>
              </a:lnSpc>
              <a:buClr>
                <a:srgbClr val="000000"/>
              </a:buClr>
              <a:buSzPct val="90000"/>
              <a:buFontTx/>
              <a:buAutoNum type="arabicParenR"/>
            </a:pPr>
            <a:r>
              <a:rPr lang="en-US" altLang="en-US" sz="2800" dirty="0">
                <a:solidFill>
                  <a:srgbClr val="000000"/>
                </a:solidFill>
              </a:rPr>
              <a:t>Continue comparing and choosing left or right subtree unitl null pointer found</a:t>
            </a:r>
          </a:p>
          <a:p>
            <a:pPr marL="609600" lvl="0" indent="-609600">
              <a:lnSpc>
                <a:spcPct val="90000"/>
              </a:lnSpc>
              <a:buClr>
                <a:srgbClr val="000000"/>
              </a:buClr>
              <a:buSzPct val="90000"/>
              <a:buFontTx/>
              <a:buAutoNum type="arabicParenR"/>
            </a:pPr>
            <a:r>
              <a:rPr lang="en-US" altLang="en-US" sz="2800" dirty="0">
                <a:solidFill>
                  <a:srgbClr val="000000"/>
                </a:solidFill>
              </a:rPr>
              <a:t>Set this null pointer to point to new </a:t>
            </a:r>
            <a:r>
              <a:rPr lang="en-US" altLang="en-US" sz="2800" dirty="0" smtClean="0">
                <a:solidFill>
                  <a:srgbClr val="000000"/>
                </a:solidFill>
              </a:rPr>
              <a:t>node</a:t>
            </a:r>
            <a:endParaRPr lang="en-US" altLang="en-US" sz="2800" dirty="0">
              <a:solidFill>
                <a:srgbClr val="000000"/>
              </a:solidFill>
            </a:endParaRPr>
          </a:p>
        </p:txBody>
      </p:sp>
    </p:spTree>
    <p:extLst>
      <p:ext uri="{BB962C8B-B14F-4D97-AF65-F5344CB8AC3E}">
        <p14:creationId xmlns:p14="http://schemas.microsoft.com/office/powerpoint/2010/main" val="17880534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6553200" cy="1143000"/>
          </a:xfrm>
        </p:spPr>
        <p:txBody>
          <a:bodyPr/>
          <a:lstStyle/>
          <a:p>
            <a:r>
              <a:rPr lang="en-US" altLang="en-US" dirty="0">
                <a:solidFill>
                  <a:srgbClr val="037797"/>
                </a:solidFill>
              </a:rPr>
              <a:t>Inserting a Node in a Binary Search Tree </a:t>
            </a:r>
            <a:r>
              <a:rPr lang="en-US" altLang="en-US" sz="1200" dirty="0" smtClean="0">
                <a:solidFill>
                  <a:srgbClr val="037797"/>
                </a:solidFill>
              </a:rPr>
              <a:t>(2 </a:t>
            </a:r>
            <a:r>
              <a:rPr lang="en-US" altLang="en-US" sz="1200" dirty="0">
                <a:solidFill>
                  <a:srgbClr val="037797"/>
                </a:solidFill>
              </a:rPr>
              <a:t>of 2)</a:t>
            </a:r>
            <a:endParaRPr lang="en-IN" dirty="0">
              <a:solidFill>
                <a:srgbClr val="037797"/>
              </a:solidFill>
            </a:endParaRPr>
          </a:p>
        </p:txBody>
      </p:sp>
      <p:pic>
        <p:nvPicPr>
          <p:cNvPr id="4" name="Picture 3" descr="The screenshot shows the method to insert a node in a binary search tree. The binary tree is non-linear and linked. The node with 31 points to the node with 19 and the node with 59. The node with 19 points to the node with 7 and a null pointer. The node with seven points to two null pointers. The node with 59 points to the node with 43 and a null pointer. The node with 43 points to two null pointers. The first step is to examine the root node at the top of the tree. If the value is less than the node, go to the left sub tree. The second step is to examine the node in the left sub tree. If the value is greater than the node then go to the right sub tree. Since the right sub tree is null, insert here."/>
          <p:cNvPicPr>
            <a:picLocks noChangeAspect="1"/>
          </p:cNvPicPr>
          <p:nvPr/>
        </p:nvPicPr>
        <p:blipFill rotWithShape="1">
          <a:blip r:embed="rId2"/>
          <a:srcRect r="3241"/>
          <a:stretch/>
        </p:blipFill>
        <p:spPr>
          <a:xfrm>
            <a:off x="304800" y="1743052"/>
            <a:ext cx="6477000" cy="4657748"/>
          </a:xfrm>
          <a:prstGeom prst="rect">
            <a:avLst/>
          </a:prstGeom>
        </p:spPr>
      </p:pic>
      <p:pic>
        <p:nvPicPr>
          <p:cNvPr id="5" name="Picture 4" descr="The screenshot shows the method to create a new node. The first step is to allocate memory for the new node: newNode equals new TreeNode. The second step is to initialize the contents of the node: newNode right arrow value equals num. The third step is to set the pointers to null. newNode right arrow Left equals newNode right arrow Right equals nullptr."/>
          <p:cNvPicPr>
            <a:picLocks noChangeAspect="1"/>
          </p:cNvPicPr>
          <p:nvPr/>
        </p:nvPicPr>
        <p:blipFill rotWithShape="1">
          <a:blip r:embed="rId3"/>
          <a:srcRect r="3307"/>
          <a:stretch/>
        </p:blipFill>
        <p:spPr>
          <a:xfrm>
            <a:off x="6839512" y="1709766"/>
            <a:ext cx="2228288" cy="1871634"/>
          </a:xfrm>
          <a:prstGeom prst="rect">
            <a:avLst/>
          </a:prstGeom>
        </p:spPr>
      </p:pic>
    </p:spTree>
    <p:extLst>
      <p:ext uri="{BB962C8B-B14F-4D97-AF65-F5344CB8AC3E}">
        <p14:creationId xmlns:p14="http://schemas.microsoft.com/office/powerpoint/2010/main" val="13449851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Traversing a Binary </a:t>
            </a:r>
            <a:r>
              <a:rPr lang="en-US" altLang="en-US" dirty="0" smtClean="0">
                <a:solidFill>
                  <a:srgbClr val="037797"/>
                </a:solidFill>
              </a:rPr>
              <a:t>Tree </a:t>
            </a:r>
            <a:r>
              <a:rPr lang="en-US" altLang="en-US" sz="1200" dirty="0" smtClean="0">
                <a:solidFill>
                  <a:srgbClr val="037797"/>
                </a:solidFill>
              </a:rPr>
              <a:t>(1 of 2)</a:t>
            </a:r>
            <a:endParaRPr lang="en-IN" sz="1200" dirty="0">
              <a:solidFill>
                <a:srgbClr val="037797"/>
              </a:solidFill>
            </a:endParaRPr>
          </a:p>
        </p:txBody>
      </p:sp>
      <p:sp>
        <p:nvSpPr>
          <p:cNvPr id="3" name="Content Placeholder 2"/>
          <p:cNvSpPr>
            <a:spLocks noGrp="1"/>
          </p:cNvSpPr>
          <p:nvPr>
            <p:ph idx="1"/>
          </p:nvPr>
        </p:nvSpPr>
        <p:spPr>
          <a:xfrm>
            <a:off x="256897" y="1600200"/>
            <a:ext cx="7667903" cy="4525963"/>
          </a:xfrm>
        </p:spPr>
        <p:txBody>
          <a:bodyPr/>
          <a:lstStyle/>
          <a:p>
            <a:pPr marL="114300" lvl="0" indent="-114300">
              <a:lnSpc>
                <a:spcPct val="80000"/>
              </a:lnSpc>
              <a:buSzPct val="90000"/>
              <a:buNone/>
            </a:pPr>
            <a:r>
              <a:rPr lang="en-US" altLang="en-US" sz="2800" dirty="0">
                <a:solidFill>
                  <a:srgbClr val="000000"/>
                </a:solidFill>
              </a:rPr>
              <a:t>	Three traversal methods:</a:t>
            </a:r>
          </a:p>
          <a:p>
            <a:pPr marL="863600" lvl="1" indent="-406400">
              <a:lnSpc>
                <a:spcPct val="80000"/>
              </a:lnSpc>
              <a:buClr>
                <a:srgbClr val="000000"/>
              </a:buClr>
              <a:buSzPct val="90000"/>
              <a:buFontTx/>
              <a:buAutoNum type="arabicParenR"/>
            </a:pPr>
            <a:r>
              <a:rPr lang="en-US" altLang="en-US" sz="2400" u="sng" dirty="0">
                <a:solidFill>
                  <a:srgbClr val="000000"/>
                </a:solidFill>
              </a:rPr>
              <a:t>Inorder</a:t>
            </a:r>
            <a:r>
              <a:rPr lang="en-US" altLang="en-US" sz="2400" dirty="0">
                <a:solidFill>
                  <a:srgbClr val="000000"/>
                </a:solidFill>
              </a:rPr>
              <a:t>: </a:t>
            </a:r>
          </a:p>
          <a:p>
            <a:pPr marL="1549400" lvl="2" indent="-342900">
              <a:lnSpc>
                <a:spcPct val="80000"/>
              </a:lnSpc>
              <a:buClr>
                <a:srgbClr val="000000"/>
              </a:buClr>
              <a:buSzPct val="90000"/>
              <a:buFontTx/>
              <a:buAutoNum type="alphaLcParenR"/>
            </a:pPr>
            <a:r>
              <a:rPr lang="en-US" altLang="en-US" sz="2000" dirty="0">
                <a:solidFill>
                  <a:srgbClr val="000000"/>
                </a:solidFill>
              </a:rPr>
              <a:t>Traverse left subtree of node</a:t>
            </a:r>
          </a:p>
          <a:p>
            <a:pPr marL="1549400" lvl="2" indent="-342900">
              <a:lnSpc>
                <a:spcPct val="80000"/>
              </a:lnSpc>
              <a:buClr>
                <a:srgbClr val="000000"/>
              </a:buClr>
              <a:buSzPct val="90000"/>
              <a:buFontTx/>
              <a:buAutoNum type="alphaLcParenR"/>
            </a:pPr>
            <a:r>
              <a:rPr lang="en-US" altLang="en-US" sz="2000" dirty="0">
                <a:solidFill>
                  <a:srgbClr val="000000"/>
                </a:solidFill>
              </a:rPr>
              <a:t>Process data in node</a:t>
            </a:r>
          </a:p>
          <a:p>
            <a:pPr marL="1549400" lvl="2" indent="-342900">
              <a:lnSpc>
                <a:spcPct val="80000"/>
              </a:lnSpc>
              <a:buClr>
                <a:srgbClr val="000000"/>
              </a:buClr>
              <a:buSzPct val="90000"/>
              <a:buFontTx/>
              <a:buAutoNum type="alphaLcParenR"/>
            </a:pPr>
            <a:r>
              <a:rPr lang="en-US" altLang="en-US" sz="2000" dirty="0">
                <a:solidFill>
                  <a:srgbClr val="000000"/>
                </a:solidFill>
              </a:rPr>
              <a:t>Traverse right subtree of node</a:t>
            </a:r>
          </a:p>
          <a:p>
            <a:pPr marL="863600" lvl="1" indent="-406400">
              <a:lnSpc>
                <a:spcPct val="80000"/>
              </a:lnSpc>
              <a:buClr>
                <a:srgbClr val="000000"/>
              </a:buClr>
              <a:buSzPct val="90000"/>
              <a:buFontTx/>
              <a:buAutoNum type="arabicParenR"/>
            </a:pPr>
            <a:r>
              <a:rPr lang="en-US" altLang="en-US" sz="2400" u="sng" dirty="0">
                <a:solidFill>
                  <a:srgbClr val="000000"/>
                </a:solidFill>
              </a:rPr>
              <a:t>Preorder</a:t>
            </a:r>
            <a:r>
              <a:rPr lang="en-US" altLang="en-US" sz="2400" dirty="0">
                <a:solidFill>
                  <a:srgbClr val="000000"/>
                </a:solidFill>
              </a:rPr>
              <a:t>: </a:t>
            </a:r>
          </a:p>
          <a:p>
            <a:pPr marL="1549400" lvl="2" indent="-342900">
              <a:lnSpc>
                <a:spcPct val="80000"/>
              </a:lnSpc>
              <a:buClr>
                <a:srgbClr val="000000"/>
              </a:buClr>
              <a:buSzPct val="90000"/>
              <a:buFontTx/>
              <a:buAutoNum type="alphaLcParenR"/>
            </a:pPr>
            <a:r>
              <a:rPr lang="en-US" altLang="en-US" sz="2000" dirty="0">
                <a:solidFill>
                  <a:srgbClr val="000000"/>
                </a:solidFill>
              </a:rPr>
              <a:t>Process data in node</a:t>
            </a:r>
          </a:p>
          <a:p>
            <a:pPr marL="1549400" lvl="2" indent="-342900">
              <a:lnSpc>
                <a:spcPct val="80000"/>
              </a:lnSpc>
              <a:buClr>
                <a:srgbClr val="000000"/>
              </a:buClr>
              <a:buSzPct val="90000"/>
              <a:buFontTx/>
              <a:buAutoNum type="alphaLcParenR"/>
            </a:pPr>
            <a:r>
              <a:rPr lang="en-US" altLang="en-US" sz="2000" dirty="0">
                <a:solidFill>
                  <a:srgbClr val="000000"/>
                </a:solidFill>
              </a:rPr>
              <a:t>Traverse left subtree of node</a:t>
            </a:r>
          </a:p>
          <a:p>
            <a:pPr marL="1549400" lvl="2" indent="-342900">
              <a:lnSpc>
                <a:spcPct val="80000"/>
              </a:lnSpc>
              <a:buClr>
                <a:srgbClr val="000000"/>
              </a:buClr>
              <a:buSzPct val="90000"/>
              <a:buFontTx/>
              <a:buAutoNum type="alphaLcParenR"/>
            </a:pPr>
            <a:r>
              <a:rPr lang="en-US" altLang="en-US" sz="2000" dirty="0">
                <a:solidFill>
                  <a:srgbClr val="000000"/>
                </a:solidFill>
              </a:rPr>
              <a:t>Traverse right subtree of node</a:t>
            </a:r>
          </a:p>
          <a:p>
            <a:pPr marL="863600" lvl="1" indent="-406400">
              <a:lnSpc>
                <a:spcPct val="80000"/>
              </a:lnSpc>
              <a:buClr>
                <a:srgbClr val="000000"/>
              </a:buClr>
              <a:buSzPct val="90000"/>
              <a:buFontTx/>
              <a:buAutoNum type="arabicParenR"/>
            </a:pPr>
            <a:r>
              <a:rPr lang="en-US" altLang="en-US" sz="2400" u="sng" dirty="0">
                <a:solidFill>
                  <a:srgbClr val="000000"/>
                </a:solidFill>
              </a:rPr>
              <a:t>Postorder</a:t>
            </a:r>
            <a:r>
              <a:rPr lang="en-US" altLang="en-US" sz="2400" dirty="0">
                <a:solidFill>
                  <a:srgbClr val="000000"/>
                </a:solidFill>
              </a:rPr>
              <a:t>: </a:t>
            </a:r>
          </a:p>
          <a:p>
            <a:pPr marL="1549400" lvl="2" indent="-342900">
              <a:lnSpc>
                <a:spcPct val="80000"/>
              </a:lnSpc>
              <a:buClr>
                <a:srgbClr val="000000"/>
              </a:buClr>
              <a:buSzPct val="90000"/>
              <a:buFontTx/>
              <a:buAutoNum type="alphaLcParenR"/>
            </a:pPr>
            <a:r>
              <a:rPr lang="en-US" altLang="en-US" sz="2000" dirty="0">
                <a:solidFill>
                  <a:srgbClr val="000000"/>
                </a:solidFill>
              </a:rPr>
              <a:t>Traverse left subtree of node</a:t>
            </a:r>
          </a:p>
          <a:p>
            <a:pPr marL="1549400" lvl="2" indent="-342900">
              <a:lnSpc>
                <a:spcPct val="80000"/>
              </a:lnSpc>
              <a:buClr>
                <a:srgbClr val="000000"/>
              </a:buClr>
              <a:buSzPct val="90000"/>
              <a:buFontTx/>
              <a:buAutoNum type="alphaLcParenR"/>
            </a:pPr>
            <a:r>
              <a:rPr lang="en-US" altLang="en-US" sz="2000" dirty="0">
                <a:solidFill>
                  <a:srgbClr val="000000"/>
                </a:solidFill>
              </a:rPr>
              <a:t>Traverse right subtree of node</a:t>
            </a:r>
          </a:p>
          <a:p>
            <a:pPr marL="1549400" lvl="2" indent="-342900">
              <a:lnSpc>
                <a:spcPct val="80000"/>
              </a:lnSpc>
              <a:buClr>
                <a:srgbClr val="000000"/>
              </a:buClr>
              <a:buSzPct val="90000"/>
              <a:buFontTx/>
              <a:buAutoNum type="alphaLcParenR"/>
            </a:pPr>
            <a:r>
              <a:rPr lang="en-US" altLang="en-US" sz="2000" dirty="0">
                <a:solidFill>
                  <a:srgbClr val="000000"/>
                </a:solidFill>
              </a:rPr>
              <a:t>Process data in </a:t>
            </a:r>
            <a:r>
              <a:rPr lang="en-US" altLang="en-US" sz="2000" dirty="0" smtClean="0">
                <a:solidFill>
                  <a:srgbClr val="000000"/>
                </a:solidFill>
              </a:rPr>
              <a:t>node</a:t>
            </a:r>
            <a:endParaRPr lang="en-US" altLang="en-US" sz="2000" dirty="0">
              <a:solidFill>
                <a:srgbClr val="000000"/>
              </a:solidFill>
            </a:endParaRPr>
          </a:p>
        </p:txBody>
      </p:sp>
    </p:spTree>
    <p:extLst>
      <p:ext uri="{BB962C8B-B14F-4D97-AF65-F5344CB8AC3E}">
        <p14:creationId xmlns:p14="http://schemas.microsoft.com/office/powerpoint/2010/main" val="17213256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Traversing a Binary Tree </a:t>
            </a:r>
            <a:r>
              <a:rPr lang="en-US" altLang="en-US" sz="1200" dirty="0" smtClean="0">
                <a:solidFill>
                  <a:srgbClr val="037797"/>
                </a:solidFill>
              </a:rPr>
              <a:t>(2 </a:t>
            </a:r>
            <a:r>
              <a:rPr lang="en-US" altLang="en-US" sz="1200" dirty="0">
                <a:solidFill>
                  <a:srgbClr val="037797"/>
                </a:solidFill>
              </a:rPr>
              <a:t>of 2)</a:t>
            </a:r>
            <a:endParaRPr lang="en-IN" dirty="0"/>
          </a:p>
        </p:txBody>
      </p:sp>
      <p:pic>
        <p:nvPicPr>
          <p:cNvPr id="5" name="Picture 4" descr="The screenshot shows the binary tree terminology. The binary tree is non-linear and linked. The node with 31 points to the node with 19 and the node with 59. The node with 19 points to the node with 7 and a null pointer. The node with seven points to two null pointers. The node with 59 points to the node with 43 and a null pointer. The node with 43 points to two null pointers. The leaf nodes are the nodes with no children. The first node has one child. The second node has two children - third and fourth nodes. The fifth and sixth nodes containing 7 and 43 are the leaf nodes, since they point to null pointers."/>
          <p:cNvPicPr>
            <a:picLocks noChangeAspect="1"/>
          </p:cNvPicPr>
          <p:nvPr/>
        </p:nvPicPr>
        <p:blipFill>
          <a:blip r:embed="rId2"/>
          <a:stretch>
            <a:fillRect/>
          </a:stretch>
        </p:blipFill>
        <p:spPr>
          <a:xfrm>
            <a:off x="263236" y="1669473"/>
            <a:ext cx="4918364" cy="3740727"/>
          </a:xfrm>
          <a:prstGeom prst="rect">
            <a:avLst/>
          </a:prstGeom>
        </p:spPr>
      </p:pic>
      <p:graphicFrame>
        <p:nvGraphicFramePr>
          <p:cNvPr id="4" name="Table 3" descr="The screenshot shows the traversal method and the nodes visited in order: Inorder - 7, 19, 31, 43, 59. Preorder - 31, 19, 7, 59, 43. Postorder - 7, 19, 43, 59, 31."/>
          <p:cNvGraphicFramePr>
            <a:graphicFrameLocks noGrp="1"/>
          </p:cNvGraphicFramePr>
          <p:nvPr>
            <p:extLst>
              <p:ext uri="{D42A27DB-BD31-4B8C-83A1-F6EECF244321}">
                <p14:modId xmlns:p14="http://schemas.microsoft.com/office/powerpoint/2010/main" val="3364752400"/>
              </p:ext>
            </p:extLst>
          </p:nvPr>
        </p:nvGraphicFramePr>
        <p:xfrm>
          <a:off x="5511800" y="1600200"/>
          <a:ext cx="3251200" cy="4064000"/>
        </p:xfrm>
        <a:graphic>
          <a:graphicData uri="http://schemas.openxmlformats.org/drawingml/2006/table">
            <a:tbl>
              <a:tblPr firstRow="1" firstCol="1"/>
              <a:tblGrid>
                <a:gridCol w="1557338"/>
                <a:gridCol w="1693862"/>
              </a:tblGrid>
              <a:tr h="1016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ヒラギノ角ゴ Pro W3" pitchFamily="112" charset="-128"/>
                        </a:rPr>
                        <a:t>TRAVERSAL METHOD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charset="0"/>
                          <a:ea typeface="ヒラギノ角ゴ Pro W3" pitchFamily="112" charset="-128"/>
                        </a:rPr>
                        <a:t>NODES VISITED IN ORDER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16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ヒラギノ角ゴ Pro W3" pitchFamily="112" charset="-128"/>
                        </a:rPr>
                        <a:t>Inorder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Courier New" pitchFamily="112" charset="0"/>
                          <a:ea typeface="ヒラギノ角ゴ Pro W3" pitchFamily="112" charset="-128"/>
                        </a:rPr>
                        <a:t>7, 19, 31, 43, 59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16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charset="0"/>
                          <a:ea typeface="ヒラギノ角ゴ Pro W3" pitchFamily="112" charset="-128"/>
                        </a:rPr>
                        <a:t>Preorder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Courier New" pitchFamily="112" charset="0"/>
                          <a:ea typeface="ヒラギノ角ゴ Pro W3" pitchFamily="112" charset="-128"/>
                        </a:rPr>
                        <a:t>31, 19, 7, 59, 43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16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ヒラギノ角ゴ Pro W3" pitchFamily="112" charset="-128"/>
                        </a:rPr>
                        <a:t>Postorder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ourier New" pitchFamily="112" charset="0"/>
                          <a:ea typeface="ヒラギノ角ゴ Pro W3" pitchFamily="112" charset="-128"/>
                        </a:rPr>
                        <a:t>7, 19, 43, 59, 31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27597204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Searching in a Binary Tree</a:t>
            </a:r>
            <a:endParaRPr lang="en-IN" dirty="0">
              <a:solidFill>
                <a:srgbClr val="037797"/>
              </a:solidFill>
            </a:endParaRPr>
          </a:p>
        </p:txBody>
      </p:sp>
      <p:sp>
        <p:nvSpPr>
          <p:cNvPr id="3" name="Content Placeholder 2"/>
          <p:cNvSpPr>
            <a:spLocks noGrp="1"/>
          </p:cNvSpPr>
          <p:nvPr>
            <p:ph idx="1"/>
          </p:nvPr>
        </p:nvSpPr>
        <p:spPr>
          <a:xfrm>
            <a:off x="457200" y="1739543"/>
            <a:ext cx="3429000" cy="3276599"/>
          </a:xfrm>
        </p:spPr>
        <p:txBody>
          <a:bodyPr/>
          <a:lstStyle/>
          <a:p>
            <a:pPr lvl="0">
              <a:buFontTx/>
              <a:buChar char="•"/>
            </a:pPr>
            <a:r>
              <a:rPr lang="en-US" altLang="en-US" sz="2400" dirty="0">
                <a:solidFill>
                  <a:srgbClr val="000000"/>
                </a:solidFill>
              </a:rPr>
              <a:t>Start at root node, traverse the tree looking for value</a:t>
            </a:r>
          </a:p>
          <a:p>
            <a:pPr lvl="0">
              <a:buFontTx/>
              <a:buChar char="•"/>
            </a:pPr>
            <a:r>
              <a:rPr lang="en-US" altLang="en-US" sz="2400" dirty="0">
                <a:solidFill>
                  <a:srgbClr val="000000"/>
                </a:solidFill>
              </a:rPr>
              <a:t>Stop when value found or null pointer detected</a:t>
            </a:r>
          </a:p>
          <a:p>
            <a:pPr lvl="0">
              <a:buFontTx/>
              <a:buChar char="•"/>
            </a:pPr>
            <a:r>
              <a:rPr lang="en-US" altLang="en-US" sz="2400" dirty="0">
                <a:solidFill>
                  <a:srgbClr val="000000"/>
                </a:solidFill>
              </a:rPr>
              <a:t>Can be implemented as a </a:t>
            </a:r>
            <a:r>
              <a:rPr lang="en-US" altLang="en-US" sz="2400" dirty="0">
                <a:solidFill>
                  <a:srgbClr val="000000"/>
                </a:solidFill>
                <a:latin typeface="Courier New" panose="02070309020205020404" pitchFamily="49" charset="0"/>
              </a:rPr>
              <a:t>bool</a:t>
            </a:r>
            <a:r>
              <a:rPr lang="en-US" altLang="en-US" sz="2400" dirty="0">
                <a:solidFill>
                  <a:srgbClr val="000000"/>
                </a:solidFill>
              </a:rPr>
              <a:t> </a:t>
            </a:r>
            <a:r>
              <a:rPr lang="en-US" altLang="en-US" sz="2400" dirty="0" smtClean="0">
                <a:solidFill>
                  <a:srgbClr val="000000"/>
                </a:solidFill>
              </a:rPr>
              <a:t>function</a:t>
            </a:r>
            <a:endParaRPr lang="en-US" altLang="en-US" sz="2400" dirty="0">
              <a:solidFill>
                <a:srgbClr val="000000"/>
              </a:solidFill>
            </a:endParaRPr>
          </a:p>
        </p:txBody>
      </p:sp>
      <p:pic>
        <p:nvPicPr>
          <p:cNvPr id="5" name="Picture 4" descr="The screenshot shows the binary tree terminology. The binary tree is non-linear and linked. The node with 31 points to the node with 19 and the node with 59. The node with 19 points to the node with 7 and a null pointer. The node with seven points to two null pointers. The node with 59 points to the node with 43 and a null pointer. The node with 43 points to two null pointers. The leaf nodes are the nodes with no children. The first node has one child. The second node has two children - third and fourth nodes. The fifth and sixth nodes containing 7 and 43 are the leaf nodes, since they point to null pointers."/>
          <p:cNvPicPr>
            <a:picLocks noChangeAspect="1"/>
          </p:cNvPicPr>
          <p:nvPr/>
        </p:nvPicPr>
        <p:blipFill>
          <a:blip r:embed="rId2"/>
          <a:stretch>
            <a:fillRect/>
          </a:stretch>
        </p:blipFill>
        <p:spPr>
          <a:xfrm>
            <a:off x="3997036" y="1524000"/>
            <a:ext cx="4918364" cy="3740727"/>
          </a:xfrm>
          <a:prstGeom prst="rect">
            <a:avLst/>
          </a:prstGeom>
        </p:spPr>
      </p:pic>
      <p:sp>
        <p:nvSpPr>
          <p:cNvPr id="4" name="Content Placeholder 3"/>
          <p:cNvSpPr>
            <a:spLocks noGrp="1"/>
          </p:cNvSpPr>
          <p:nvPr>
            <p:ph sz="quarter" idx="11"/>
          </p:nvPr>
        </p:nvSpPr>
        <p:spPr>
          <a:xfrm>
            <a:off x="5033548" y="5462443"/>
            <a:ext cx="3200400" cy="533400"/>
          </a:xfrm>
        </p:spPr>
        <p:txBody>
          <a:bodyPr/>
          <a:lstStyle/>
          <a:p>
            <a:pPr marL="0" lvl="0" indent="0" eaLnBrk="1" hangingPunct="1">
              <a:lnSpc>
                <a:spcPct val="80000"/>
              </a:lnSpc>
              <a:spcBef>
                <a:spcPct val="0"/>
              </a:spcBef>
              <a:buNone/>
            </a:pPr>
            <a:r>
              <a:rPr lang="en-US" altLang="en-US" sz="1800" kern="1200" dirty="0">
                <a:solidFill>
                  <a:srgbClr val="037797"/>
                </a:solidFill>
                <a:latin typeface="Arial" panose="020B0604020202020204" pitchFamily="34" charset="0"/>
                <a:cs typeface="Arial" panose="020B0604020202020204" pitchFamily="34" charset="0"/>
              </a:rPr>
              <a:t>Search for </a:t>
            </a:r>
            <a:r>
              <a:rPr lang="en-US" altLang="en-US" sz="1800" kern="1200" dirty="0">
                <a:solidFill>
                  <a:srgbClr val="037797"/>
                </a:solidFill>
                <a:latin typeface="Courier New" panose="02070309020205020404" pitchFamily="49" charset="0"/>
                <a:cs typeface="Arial" panose="020B0604020202020204" pitchFamily="34" charset="0"/>
              </a:rPr>
              <a:t>43</a:t>
            </a:r>
            <a:r>
              <a:rPr lang="en-US" altLang="en-US" sz="1800" kern="1200" dirty="0">
                <a:solidFill>
                  <a:srgbClr val="037797"/>
                </a:solidFill>
                <a:latin typeface="Arial" panose="020B0604020202020204" pitchFamily="34" charset="0"/>
                <a:cs typeface="Arial" panose="020B0604020202020204" pitchFamily="34" charset="0"/>
              </a:rPr>
              <a:t>? return</a:t>
            </a:r>
            <a:r>
              <a:rPr lang="en-US" altLang="en-US" sz="1800" kern="1200" dirty="0">
                <a:solidFill>
                  <a:srgbClr val="037797"/>
                </a:solidFill>
                <a:latin typeface="Courier New" panose="02070309020205020404" pitchFamily="49" charset="0"/>
                <a:cs typeface="Arial" panose="020B0604020202020204" pitchFamily="34" charset="0"/>
              </a:rPr>
              <a:t> true</a:t>
            </a:r>
          </a:p>
          <a:p>
            <a:pPr marL="0" lvl="0" indent="0" eaLnBrk="1" hangingPunct="1">
              <a:lnSpc>
                <a:spcPct val="80000"/>
              </a:lnSpc>
              <a:spcBef>
                <a:spcPct val="0"/>
              </a:spcBef>
              <a:buNone/>
            </a:pPr>
            <a:r>
              <a:rPr lang="en-US" altLang="en-US" sz="1800" kern="1200" dirty="0">
                <a:solidFill>
                  <a:srgbClr val="037797"/>
                </a:solidFill>
                <a:latin typeface="Arial" panose="020B0604020202020204" pitchFamily="34" charset="0"/>
                <a:cs typeface="Arial" panose="020B0604020202020204" pitchFamily="34" charset="0"/>
              </a:rPr>
              <a:t>Search for </a:t>
            </a:r>
            <a:r>
              <a:rPr lang="en-US" altLang="en-US" sz="1800" kern="1200" dirty="0">
                <a:solidFill>
                  <a:srgbClr val="037797"/>
                </a:solidFill>
                <a:latin typeface="Courier New" panose="02070309020205020404" pitchFamily="49" charset="0"/>
                <a:cs typeface="Arial" panose="020B0604020202020204" pitchFamily="34" charset="0"/>
              </a:rPr>
              <a:t>17</a:t>
            </a:r>
            <a:r>
              <a:rPr lang="en-US" altLang="en-US" sz="1800" kern="1200" dirty="0">
                <a:solidFill>
                  <a:srgbClr val="037797"/>
                </a:solidFill>
                <a:latin typeface="Arial" panose="020B0604020202020204" pitchFamily="34" charset="0"/>
                <a:cs typeface="Arial" panose="020B0604020202020204" pitchFamily="34" charset="0"/>
              </a:rPr>
              <a:t>? return </a:t>
            </a:r>
            <a:r>
              <a:rPr lang="en-US" altLang="en-US" sz="1800" kern="1200" dirty="0" smtClean="0">
                <a:solidFill>
                  <a:srgbClr val="037797"/>
                </a:solidFill>
                <a:latin typeface="Courier New" panose="02070309020205020404" pitchFamily="49" charset="0"/>
                <a:cs typeface="Arial" panose="020B0604020202020204" pitchFamily="34" charset="0"/>
              </a:rPr>
              <a:t>false</a:t>
            </a:r>
            <a:endParaRPr lang="en-IN" altLang="en-US" dirty="0" smtClean="0">
              <a:solidFill>
                <a:srgbClr val="037797"/>
              </a:solidFill>
            </a:endParaRPr>
          </a:p>
        </p:txBody>
      </p:sp>
    </p:spTree>
    <p:extLst>
      <p:ext uri="{BB962C8B-B14F-4D97-AF65-F5344CB8AC3E}">
        <p14:creationId xmlns:p14="http://schemas.microsoft.com/office/powerpoint/2010/main" val="22573631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Deleting a Node from a </a:t>
            </a:r>
            <a:br>
              <a:rPr lang="en-US" altLang="en-US" dirty="0">
                <a:solidFill>
                  <a:srgbClr val="037797"/>
                </a:solidFill>
              </a:rPr>
            </a:br>
            <a:r>
              <a:rPr lang="en-US" altLang="en-US" dirty="0">
                <a:solidFill>
                  <a:srgbClr val="037797"/>
                </a:solidFill>
              </a:rPr>
              <a:t>Binary Tree – Leaf Node</a:t>
            </a:r>
            <a:endParaRPr lang="en-IN" dirty="0">
              <a:solidFill>
                <a:srgbClr val="037797"/>
              </a:solidFill>
            </a:endParaRPr>
          </a:p>
        </p:txBody>
      </p:sp>
      <p:sp>
        <p:nvSpPr>
          <p:cNvPr id="3" name="Content Placeholder 2"/>
          <p:cNvSpPr>
            <a:spLocks noGrp="1"/>
          </p:cNvSpPr>
          <p:nvPr>
            <p:ph idx="1"/>
          </p:nvPr>
        </p:nvSpPr>
        <p:spPr>
          <a:xfrm>
            <a:off x="457200" y="1600201"/>
            <a:ext cx="8229600" cy="1371600"/>
          </a:xfrm>
        </p:spPr>
        <p:txBody>
          <a:bodyPr/>
          <a:lstStyle/>
          <a:p>
            <a:pPr lvl="0">
              <a:buFontTx/>
              <a:buChar char="•"/>
            </a:pPr>
            <a:r>
              <a:rPr lang="en-US" altLang="en-US" sz="2800" dirty="0">
                <a:solidFill>
                  <a:srgbClr val="000000"/>
                </a:solidFill>
              </a:rPr>
              <a:t>If node to be deleted is a leaf node, replace parent node’s pointer to it with the null pointer, then delete the </a:t>
            </a:r>
            <a:r>
              <a:rPr lang="en-US" altLang="en-US" sz="2800" dirty="0" smtClean="0">
                <a:solidFill>
                  <a:srgbClr val="000000"/>
                </a:solidFill>
              </a:rPr>
              <a:t>node</a:t>
            </a:r>
            <a:endParaRPr lang="en-US" altLang="en-US" sz="2800" dirty="0">
              <a:solidFill>
                <a:srgbClr val="000000"/>
              </a:solidFill>
            </a:endParaRPr>
          </a:p>
        </p:txBody>
      </p:sp>
      <p:pic>
        <p:nvPicPr>
          <p:cNvPr id="4" name="Picture 3" descr="The screenshot shows deleting a node from the leaf node of a binary tree. It shows the binary tree before deleting the node with 7. The node containing 7, points to two null pointers."/>
          <p:cNvPicPr>
            <a:picLocks noChangeAspect="1"/>
          </p:cNvPicPr>
          <p:nvPr/>
        </p:nvPicPr>
        <p:blipFill>
          <a:blip r:embed="rId2"/>
          <a:stretch>
            <a:fillRect/>
          </a:stretch>
        </p:blipFill>
        <p:spPr>
          <a:xfrm>
            <a:off x="568239" y="3549403"/>
            <a:ext cx="2505673" cy="2481287"/>
          </a:xfrm>
          <a:prstGeom prst="rect">
            <a:avLst/>
          </a:prstGeom>
        </p:spPr>
      </p:pic>
      <p:pic>
        <p:nvPicPr>
          <p:cNvPr id="5" name="Picture 4" descr="The screenshot shows deleting a node from the leaf node of a binary tree. It shows the binary tree after deleting the node with 7. The node containing 19, points to two null pointers."/>
          <p:cNvPicPr>
            <a:picLocks noChangeAspect="1"/>
          </p:cNvPicPr>
          <p:nvPr/>
        </p:nvPicPr>
        <p:blipFill>
          <a:blip r:embed="rId3"/>
          <a:stretch>
            <a:fillRect/>
          </a:stretch>
        </p:blipFill>
        <p:spPr>
          <a:xfrm>
            <a:off x="5583720" y="3400463"/>
            <a:ext cx="2493480" cy="2712955"/>
          </a:xfrm>
          <a:prstGeom prst="rect">
            <a:avLst/>
          </a:prstGeom>
        </p:spPr>
      </p:pic>
    </p:spTree>
    <p:extLst>
      <p:ext uri="{BB962C8B-B14F-4D97-AF65-F5344CB8AC3E}">
        <p14:creationId xmlns:p14="http://schemas.microsoft.com/office/powerpoint/2010/main" val="17533625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Deleting a Node from a </a:t>
            </a:r>
            <a:br>
              <a:rPr lang="en-US" altLang="en-US" dirty="0">
                <a:solidFill>
                  <a:srgbClr val="037797"/>
                </a:solidFill>
              </a:rPr>
            </a:br>
            <a:r>
              <a:rPr lang="en-US" altLang="en-US" dirty="0">
                <a:solidFill>
                  <a:srgbClr val="037797"/>
                </a:solidFill>
              </a:rPr>
              <a:t>Binary Tree – One </a:t>
            </a:r>
            <a:r>
              <a:rPr lang="en-US" altLang="en-US" dirty="0" smtClean="0">
                <a:solidFill>
                  <a:srgbClr val="037797"/>
                </a:solidFill>
              </a:rPr>
              <a:t>Child </a:t>
            </a:r>
            <a:r>
              <a:rPr lang="en-US" altLang="en-US" sz="1200" dirty="0" smtClean="0">
                <a:solidFill>
                  <a:srgbClr val="037797"/>
                </a:solidFill>
              </a:rPr>
              <a:t>(1 of 2)</a:t>
            </a:r>
            <a:endParaRPr lang="en-IN" sz="1200" dirty="0">
              <a:solidFill>
                <a:srgbClr val="037797"/>
              </a:solidFill>
            </a:endParaRPr>
          </a:p>
        </p:txBody>
      </p:sp>
      <p:sp>
        <p:nvSpPr>
          <p:cNvPr id="3" name="Content Placeholder 2"/>
          <p:cNvSpPr>
            <a:spLocks noGrp="1"/>
          </p:cNvSpPr>
          <p:nvPr>
            <p:ph idx="1"/>
          </p:nvPr>
        </p:nvSpPr>
        <p:spPr>
          <a:xfrm>
            <a:off x="457200" y="1756958"/>
            <a:ext cx="8001000" cy="1905000"/>
          </a:xfrm>
        </p:spPr>
        <p:txBody>
          <a:bodyPr/>
          <a:lstStyle/>
          <a:p>
            <a:pPr lvl="0">
              <a:buFontTx/>
              <a:buChar char="•"/>
            </a:pPr>
            <a:r>
              <a:rPr lang="en-US" altLang="en-US" sz="2800" dirty="0">
                <a:solidFill>
                  <a:srgbClr val="000000"/>
                </a:solidFill>
              </a:rPr>
              <a:t>If node to be deleted has one child node, adjust pointers so that parent of node to be deleted points to child of node to be deleted, then delete the </a:t>
            </a:r>
            <a:r>
              <a:rPr lang="en-US" altLang="en-US" sz="2800" dirty="0" smtClean="0">
                <a:solidFill>
                  <a:srgbClr val="000000"/>
                </a:solidFill>
              </a:rPr>
              <a:t>node</a:t>
            </a:r>
            <a:endParaRPr lang="en-US" altLang="en-US" sz="2800" dirty="0">
              <a:solidFill>
                <a:srgbClr val="000000"/>
              </a:solidFill>
            </a:endParaRPr>
          </a:p>
        </p:txBody>
      </p:sp>
    </p:spTree>
    <p:extLst>
      <p:ext uri="{BB962C8B-B14F-4D97-AF65-F5344CB8AC3E}">
        <p14:creationId xmlns:p14="http://schemas.microsoft.com/office/powerpoint/2010/main" val="2989628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Deleting a Node from a </a:t>
            </a:r>
            <a:br>
              <a:rPr lang="en-US" altLang="en-US" dirty="0">
                <a:solidFill>
                  <a:srgbClr val="037797"/>
                </a:solidFill>
              </a:rPr>
            </a:br>
            <a:r>
              <a:rPr lang="en-US" altLang="en-US" dirty="0">
                <a:solidFill>
                  <a:srgbClr val="037797"/>
                </a:solidFill>
              </a:rPr>
              <a:t>Binary Tree – One Child </a:t>
            </a:r>
            <a:r>
              <a:rPr lang="en-US" altLang="en-US" sz="1200" dirty="0" smtClean="0">
                <a:solidFill>
                  <a:srgbClr val="037797"/>
                </a:solidFill>
              </a:rPr>
              <a:t>(2 </a:t>
            </a:r>
            <a:r>
              <a:rPr lang="en-US" altLang="en-US" sz="1200" dirty="0">
                <a:solidFill>
                  <a:srgbClr val="037797"/>
                </a:solidFill>
              </a:rPr>
              <a:t>of 2)</a:t>
            </a:r>
            <a:endParaRPr lang="en-IN" dirty="0">
              <a:solidFill>
                <a:srgbClr val="037797"/>
              </a:solidFill>
            </a:endParaRPr>
          </a:p>
        </p:txBody>
      </p:sp>
      <p:pic>
        <p:nvPicPr>
          <p:cNvPr id="4" name="Picture 3" descr="The screenshot shows deleting a node (one child) from a binary tree. The binary tree is non-linear and linked. The node with 31 points to the node with 19 and the node with 59. The node with 19 points to the node with 7 and a null pointer. The node with seven points to two null pointers. The node with 59 points to the node with 43 and a null pointer. The node with 43 points to two null pointers. The children are the nodes below a given node. It shows the node with 19 before deletion."/>
          <p:cNvPicPr>
            <a:picLocks noChangeAspect="1"/>
          </p:cNvPicPr>
          <p:nvPr/>
        </p:nvPicPr>
        <p:blipFill>
          <a:blip r:embed="rId2"/>
          <a:stretch>
            <a:fillRect/>
          </a:stretch>
        </p:blipFill>
        <p:spPr>
          <a:xfrm>
            <a:off x="228600" y="1828800"/>
            <a:ext cx="4444369" cy="3755461"/>
          </a:xfrm>
          <a:prstGeom prst="rect">
            <a:avLst/>
          </a:prstGeom>
        </p:spPr>
      </p:pic>
      <p:pic>
        <p:nvPicPr>
          <p:cNvPr id="5" name="Picture 4" descr="The screenshot shows deleting a node (one child) from a binary tree. The binary tree is non-linear and linked. The node with 31 points to the node with 19 and the node with 59. The node with 19 points to the node with 7 and a null pointer. The node with seven points to two null pointers. The node with 59 points to the node with 43 and a null pointer. The node with 43 points to two null pointers. The children are the nodes below a given node. It shows the node with 19 after deletion. The second node points to the node with 7. The node with seven points to two null pointers."/>
          <p:cNvPicPr>
            <a:picLocks noChangeAspect="1"/>
          </p:cNvPicPr>
          <p:nvPr/>
        </p:nvPicPr>
        <p:blipFill>
          <a:blip r:embed="rId3"/>
          <a:stretch>
            <a:fillRect/>
          </a:stretch>
        </p:blipFill>
        <p:spPr>
          <a:xfrm>
            <a:off x="4876800" y="1801042"/>
            <a:ext cx="4127350" cy="3761558"/>
          </a:xfrm>
          <a:prstGeom prst="rect">
            <a:avLst/>
          </a:prstGeom>
        </p:spPr>
      </p:pic>
    </p:spTree>
    <p:extLst>
      <p:ext uri="{BB962C8B-B14F-4D97-AF65-F5344CB8AC3E}">
        <p14:creationId xmlns:p14="http://schemas.microsoft.com/office/powerpoint/2010/main" val="21390000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Deleting a Node from a </a:t>
            </a:r>
            <a:br>
              <a:rPr lang="en-US" altLang="en-US" dirty="0">
                <a:solidFill>
                  <a:srgbClr val="037797"/>
                </a:solidFill>
              </a:rPr>
            </a:br>
            <a:r>
              <a:rPr lang="en-US" altLang="en-US" dirty="0">
                <a:solidFill>
                  <a:srgbClr val="037797"/>
                </a:solidFill>
              </a:rPr>
              <a:t>Binary Tree – Two </a:t>
            </a:r>
            <a:r>
              <a:rPr lang="en-US" altLang="en-US" dirty="0" smtClean="0">
                <a:solidFill>
                  <a:srgbClr val="037797"/>
                </a:solidFill>
              </a:rPr>
              <a:t>Children </a:t>
            </a:r>
            <a:r>
              <a:rPr lang="en-US" altLang="en-US" sz="1200" dirty="0" smtClean="0">
                <a:solidFill>
                  <a:srgbClr val="037797"/>
                </a:solidFill>
              </a:rPr>
              <a:t>(1 of 2)</a:t>
            </a:r>
            <a:endParaRPr lang="en-IN" sz="1200" dirty="0">
              <a:solidFill>
                <a:srgbClr val="037797"/>
              </a:solidFill>
            </a:endParaRPr>
          </a:p>
        </p:txBody>
      </p:sp>
      <p:sp>
        <p:nvSpPr>
          <p:cNvPr id="3" name="Content Placeholder 2"/>
          <p:cNvSpPr>
            <a:spLocks noGrp="1"/>
          </p:cNvSpPr>
          <p:nvPr>
            <p:ph idx="1"/>
          </p:nvPr>
        </p:nvSpPr>
        <p:spPr>
          <a:xfrm>
            <a:off x="457200" y="1828800"/>
            <a:ext cx="8229600" cy="2971800"/>
          </a:xfrm>
        </p:spPr>
        <p:txBody>
          <a:bodyPr/>
          <a:lstStyle/>
          <a:p>
            <a:pPr lvl="0">
              <a:lnSpc>
                <a:spcPct val="90000"/>
              </a:lnSpc>
              <a:buFontTx/>
              <a:buChar char="•"/>
            </a:pPr>
            <a:r>
              <a:rPr lang="en-US" altLang="en-US" sz="2800" dirty="0">
                <a:solidFill>
                  <a:srgbClr val="000000"/>
                </a:solidFill>
              </a:rPr>
              <a:t>If node to be deleted has left and right children, </a:t>
            </a:r>
          </a:p>
          <a:p>
            <a:pPr lvl="1">
              <a:lnSpc>
                <a:spcPct val="90000"/>
              </a:lnSpc>
            </a:pPr>
            <a:r>
              <a:rPr lang="en-US" altLang="en-US" sz="2400" dirty="0">
                <a:solidFill>
                  <a:srgbClr val="000000"/>
                </a:solidFill>
              </a:rPr>
              <a:t>‘Promote’ one child to take the place of the deleted node</a:t>
            </a:r>
          </a:p>
          <a:p>
            <a:pPr lvl="1">
              <a:lnSpc>
                <a:spcPct val="90000"/>
              </a:lnSpc>
            </a:pPr>
            <a:r>
              <a:rPr lang="en-US" altLang="en-US" sz="2400" dirty="0">
                <a:solidFill>
                  <a:srgbClr val="000000"/>
                </a:solidFill>
              </a:rPr>
              <a:t>Locate correct position for other child in subtree of promoted child</a:t>
            </a:r>
          </a:p>
          <a:p>
            <a:pPr lvl="0">
              <a:lnSpc>
                <a:spcPct val="90000"/>
              </a:lnSpc>
              <a:buFontTx/>
              <a:buChar char="•"/>
            </a:pPr>
            <a:r>
              <a:rPr lang="en-US" altLang="en-US" sz="2800" dirty="0">
                <a:solidFill>
                  <a:srgbClr val="000000"/>
                </a:solidFill>
              </a:rPr>
              <a:t>Convention in text: promote the right child, position left subtree </a:t>
            </a:r>
            <a:r>
              <a:rPr lang="en-US" altLang="en-US" sz="2800" dirty="0" smtClean="0">
                <a:solidFill>
                  <a:srgbClr val="000000"/>
                </a:solidFill>
              </a:rPr>
              <a:t>underneath</a:t>
            </a:r>
            <a:endParaRPr lang="en-US" altLang="en-US" sz="2800" dirty="0">
              <a:solidFill>
                <a:srgbClr val="000000"/>
              </a:solidFill>
            </a:endParaRPr>
          </a:p>
        </p:txBody>
      </p:sp>
    </p:spTree>
    <p:extLst>
      <p:ext uri="{BB962C8B-B14F-4D97-AF65-F5344CB8AC3E}">
        <p14:creationId xmlns:p14="http://schemas.microsoft.com/office/powerpoint/2010/main" val="34392370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Deleting a Node from a </a:t>
            </a:r>
            <a:br>
              <a:rPr lang="en-US" altLang="en-US" dirty="0">
                <a:solidFill>
                  <a:srgbClr val="037797"/>
                </a:solidFill>
              </a:rPr>
            </a:br>
            <a:r>
              <a:rPr lang="en-US" altLang="en-US" dirty="0">
                <a:solidFill>
                  <a:srgbClr val="037797"/>
                </a:solidFill>
              </a:rPr>
              <a:t>Binary Tree – Two Children </a:t>
            </a:r>
            <a:r>
              <a:rPr lang="en-US" altLang="en-US" sz="1200" dirty="0" smtClean="0">
                <a:solidFill>
                  <a:srgbClr val="037797"/>
                </a:solidFill>
              </a:rPr>
              <a:t>(2 </a:t>
            </a:r>
            <a:r>
              <a:rPr lang="en-US" altLang="en-US" sz="1200" dirty="0">
                <a:solidFill>
                  <a:srgbClr val="037797"/>
                </a:solidFill>
              </a:rPr>
              <a:t>of 2)</a:t>
            </a:r>
            <a:endParaRPr lang="en-IN" dirty="0">
              <a:solidFill>
                <a:srgbClr val="037797"/>
              </a:solidFill>
            </a:endParaRPr>
          </a:p>
        </p:txBody>
      </p:sp>
      <p:pic>
        <p:nvPicPr>
          <p:cNvPr id="4" name="Picture 3" descr="The screenshot shows deleting a node (two children) from a binary tree. The binary tree is non-linear and linked. The node with 31 points to the node with 19 and the node with 59. The node with 19 points to the node with 7 and a null pointer. The node with seven points to two null pointers. The node with 59 points to the node with 43 and a null pointer. The node with 43 points to two null pointers. The children are the nodes below a given node. It shows the node with 31 before deletion."/>
          <p:cNvPicPr>
            <a:picLocks noChangeAspect="1"/>
          </p:cNvPicPr>
          <p:nvPr/>
        </p:nvPicPr>
        <p:blipFill>
          <a:blip r:embed="rId2"/>
          <a:stretch>
            <a:fillRect/>
          </a:stretch>
        </p:blipFill>
        <p:spPr>
          <a:xfrm>
            <a:off x="228600" y="1810167"/>
            <a:ext cx="4426080" cy="3981033"/>
          </a:xfrm>
          <a:prstGeom prst="rect">
            <a:avLst/>
          </a:prstGeom>
        </p:spPr>
      </p:pic>
      <p:pic>
        <p:nvPicPr>
          <p:cNvPr id="5" name="Picture 4" descr="The screenshot shows deleting a node (two children) from a binary tree. The binary tree is non-linear and linked. The node with 31 points to the node with 19 and the node with 59. The node with 19 points to the node with 7 and a null pointer. The node with seven points to two null pointers. The node with 59 points to the node with 43 and a null pointer. The node with 43 points to two null pointers. The children are the nodes below a given node. It shows the node with 31 after deletion. The node with 59 points to the node with 43 and a null pointer."/>
          <p:cNvPicPr>
            <a:picLocks noChangeAspect="1"/>
          </p:cNvPicPr>
          <p:nvPr/>
        </p:nvPicPr>
        <p:blipFill>
          <a:blip r:embed="rId3"/>
          <a:stretch>
            <a:fillRect/>
          </a:stretch>
        </p:blipFill>
        <p:spPr>
          <a:xfrm>
            <a:off x="4724400" y="1718719"/>
            <a:ext cx="4285859" cy="4072481"/>
          </a:xfrm>
          <a:prstGeom prst="rect">
            <a:avLst/>
          </a:prstGeom>
        </p:spPr>
      </p:pic>
    </p:spTree>
    <p:extLst>
      <p:ext uri="{BB962C8B-B14F-4D97-AF65-F5344CB8AC3E}">
        <p14:creationId xmlns:p14="http://schemas.microsoft.com/office/powerpoint/2010/main" val="40670613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noChangeArrowheads="1"/>
          </p:cNvSpPr>
          <p:nvPr>
            <p:ph type="ctrTitle"/>
          </p:nvPr>
        </p:nvSpPr>
        <p:spPr/>
        <p:txBody>
          <a:bodyPr/>
          <a:lstStyle/>
          <a:p>
            <a:r>
              <a:rPr lang="en-US" altLang="en-US" dirty="0" smtClean="0">
                <a:solidFill>
                  <a:srgbClr val="037797"/>
                </a:solidFill>
              </a:rPr>
              <a:t>21.3</a:t>
            </a:r>
          </a:p>
        </p:txBody>
      </p:sp>
      <p:sp>
        <p:nvSpPr>
          <p:cNvPr id="35843" name="Subtitle 2"/>
          <p:cNvSpPr>
            <a:spLocks noGrp="1" noChangeArrowheads="1"/>
          </p:cNvSpPr>
          <p:nvPr>
            <p:ph type="subTitle" idx="1"/>
          </p:nvPr>
        </p:nvSpPr>
        <p:spPr>
          <a:xfrm>
            <a:off x="1371600" y="4267199"/>
            <a:ext cx="6400800" cy="1295401"/>
          </a:xfrm>
        </p:spPr>
        <p:txBody>
          <a:bodyPr/>
          <a:lstStyle/>
          <a:p>
            <a:r>
              <a:rPr lang="en-US" altLang="en-US" dirty="0" smtClean="0"/>
              <a:t>Template Considerations for Binary Search Trees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Template Considerations </a:t>
            </a:r>
            <a:r>
              <a:rPr lang="en-US" altLang="en-US" dirty="0" smtClean="0">
                <a:solidFill>
                  <a:srgbClr val="037797"/>
                </a:solidFill>
              </a:rPr>
              <a:t>for </a:t>
            </a:r>
            <a:r>
              <a:rPr lang="en-US" altLang="en-US" dirty="0">
                <a:solidFill>
                  <a:srgbClr val="037797"/>
                </a:solidFill>
              </a:rPr>
              <a:t>Binary Search Trees</a:t>
            </a:r>
            <a:endParaRPr lang="en-IN" dirty="0">
              <a:solidFill>
                <a:srgbClr val="037797"/>
              </a:solidFill>
            </a:endParaRPr>
          </a:p>
        </p:txBody>
      </p:sp>
      <p:sp>
        <p:nvSpPr>
          <p:cNvPr id="3" name="Content Placeholder 2"/>
          <p:cNvSpPr>
            <a:spLocks noGrp="1"/>
          </p:cNvSpPr>
          <p:nvPr>
            <p:ph idx="1"/>
          </p:nvPr>
        </p:nvSpPr>
        <p:spPr>
          <a:xfrm>
            <a:off x="304800" y="1828800"/>
            <a:ext cx="8229600" cy="3581400"/>
          </a:xfrm>
        </p:spPr>
        <p:txBody>
          <a:bodyPr/>
          <a:lstStyle/>
          <a:p>
            <a:pPr lvl="0">
              <a:buFontTx/>
              <a:buChar char="•"/>
            </a:pPr>
            <a:r>
              <a:rPr lang="en-US" altLang="en-US" dirty="0">
                <a:solidFill>
                  <a:srgbClr val="000000"/>
                </a:solidFill>
              </a:rPr>
              <a:t>Binary tree can be implemented as a template, allowing flexibility </a:t>
            </a:r>
            <a:r>
              <a:rPr lang="en-US" altLang="en-US" dirty="0" smtClean="0">
                <a:solidFill>
                  <a:srgbClr val="000000"/>
                </a:solidFill>
              </a:rPr>
              <a:t>in determining </a:t>
            </a:r>
            <a:r>
              <a:rPr lang="en-US" altLang="en-US" dirty="0">
                <a:solidFill>
                  <a:srgbClr val="000000"/>
                </a:solidFill>
              </a:rPr>
              <a:t>type of data stored</a:t>
            </a:r>
          </a:p>
          <a:p>
            <a:pPr lvl="0">
              <a:buFontTx/>
              <a:buChar char="•"/>
            </a:pPr>
            <a:r>
              <a:rPr lang="en-US" altLang="en-US" dirty="0">
                <a:solidFill>
                  <a:srgbClr val="000000"/>
                </a:solidFill>
              </a:rPr>
              <a:t>Implementation must support relational operators </a:t>
            </a:r>
            <a:r>
              <a:rPr lang="en-US" altLang="en-US" dirty="0">
                <a:solidFill>
                  <a:srgbClr val="000000"/>
                </a:solidFill>
                <a:latin typeface="Courier New" panose="02070309020205020404" pitchFamily="49" charset="0"/>
              </a:rPr>
              <a:t>&gt;</a:t>
            </a:r>
            <a:r>
              <a:rPr lang="en-US" altLang="en-US" dirty="0">
                <a:solidFill>
                  <a:srgbClr val="000000"/>
                </a:solidFill>
              </a:rPr>
              <a:t>, </a:t>
            </a:r>
            <a:r>
              <a:rPr lang="en-US" altLang="en-US" dirty="0">
                <a:solidFill>
                  <a:srgbClr val="000000"/>
                </a:solidFill>
                <a:latin typeface="Courier New" panose="02070309020205020404" pitchFamily="49" charset="0"/>
              </a:rPr>
              <a:t>&lt;</a:t>
            </a:r>
            <a:r>
              <a:rPr lang="en-US" altLang="en-US" dirty="0">
                <a:solidFill>
                  <a:srgbClr val="000000"/>
                </a:solidFill>
              </a:rPr>
              <a:t>, and </a:t>
            </a:r>
            <a:r>
              <a:rPr lang="en-US" altLang="en-US" dirty="0">
                <a:solidFill>
                  <a:srgbClr val="000000"/>
                </a:solidFill>
                <a:latin typeface="Courier New" panose="02070309020205020404" pitchFamily="49" charset="0"/>
              </a:rPr>
              <a:t>==</a:t>
            </a:r>
            <a:r>
              <a:rPr lang="en-US" altLang="en-US" dirty="0">
                <a:solidFill>
                  <a:srgbClr val="000000"/>
                </a:solidFill>
              </a:rPr>
              <a:t> to allow comparison of </a:t>
            </a:r>
            <a:r>
              <a:rPr lang="en-US" altLang="en-US" dirty="0" smtClean="0">
                <a:solidFill>
                  <a:srgbClr val="000000"/>
                </a:solidFill>
              </a:rPr>
              <a:t>nodes</a:t>
            </a:r>
            <a:endParaRPr lang="en-US" altLang="en-US" dirty="0">
              <a:solidFill>
                <a:srgbClr val="000000"/>
              </a:solidFill>
            </a:endParaRPr>
          </a:p>
        </p:txBody>
      </p:sp>
    </p:spTree>
    <p:extLst>
      <p:ext uri="{BB962C8B-B14F-4D97-AF65-F5344CB8AC3E}">
        <p14:creationId xmlns:p14="http://schemas.microsoft.com/office/powerpoint/2010/main" val="3433040198"/>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C71FBD443DB645BC32CB9A99CF976B" ma:contentTypeVersion="17" ma:contentTypeDescription="Create a new document." ma:contentTypeScope="" ma:versionID="39a3bbf795037644b9fd5734deb0019b">
  <xsd:schema xmlns:xsd="http://www.w3.org/2001/XMLSchema" xmlns:xs="http://www.w3.org/2001/XMLSchema" xmlns:p="http://schemas.microsoft.com/office/2006/metadata/properties" xmlns:ns1="http://schemas.microsoft.com/sharepoint/v3" xmlns:ns2="a29706ce-7dd9-430f-9203-d15122c9954d" xmlns:ns3="564477d5-28bc-4281-951a-a6595459d476" targetNamespace="http://schemas.microsoft.com/office/2006/metadata/properties" ma:root="true" ma:fieldsID="6bd08733601efdedf8e3b4f70a48190e" ns1:_="" ns2:_="" ns3:_="">
    <xsd:import namespace="http://schemas.microsoft.com/sharepoint/v3"/>
    <xsd:import namespace="a29706ce-7dd9-430f-9203-d15122c9954d"/>
    <xsd:import namespace="564477d5-28bc-4281-951a-a6595459d476"/>
    <xsd:element name="properties">
      <xsd:complexType>
        <xsd:sequence>
          <xsd:element name="documentManagement">
            <xsd:complexType>
              <xsd:all>
                <xsd:element ref="ns2:MediaServiceMetadata" minOccurs="0"/>
                <xsd:element ref="ns2:MediaServiceFastMetadata" minOccurs="0"/>
                <xsd:element ref="ns2:MediaLengthInSecond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ObjectDetectorVersions" minOccurs="0"/>
                <xsd:element ref="ns2:MediaServiceLocation" minOccurs="0"/>
                <xsd:element ref="ns1:_ip_UnifiedCompliancePolicyProperties" minOccurs="0"/>
                <xsd:element ref="ns1:_ip_UnifiedCompliancePolicyUIAc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706ce-7dd9-430f-9203-d15122c995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MediaServiceDateTaken" ma:index="11" nillable="true" ma:displayName="MediaServiceDateTaken" ma:hidden="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ab9d10e-cf46-43c3-8dbe-852b4cfb5ddc"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64477d5-28bc-4281-951a-a6595459d47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a014298-9250-4e8d-9453-de0460558e4e}" ma:internalName="TaxCatchAll" ma:showField="CatchAllData" ma:web="564477d5-28bc-4281-951a-a6595459d476">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564477d5-28bc-4281-951a-a6595459d476" xsi:nil="true"/>
    <_ip_UnifiedCompliancePolicyUIAction xmlns="http://schemas.microsoft.com/sharepoint/v3" xsi:nil="true"/>
    <_ip_UnifiedCompliancePolicyProperties xmlns="http://schemas.microsoft.com/sharepoint/v3" xsi:nil="true"/>
    <lcf76f155ced4ddcb4097134ff3c332f xmlns="a29706ce-7dd9-430f-9203-d15122c9954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808B639-4533-4010-8686-B7CF810220AC}"/>
</file>

<file path=customXml/itemProps2.xml><?xml version="1.0" encoding="utf-8"?>
<ds:datastoreItem xmlns:ds="http://schemas.openxmlformats.org/officeDocument/2006/customXml" ds:itemID="{C18E63D4-9055-440D-98C3-35466580C7CB}"/>
</file>

<file path=customXml/itemProps3.xml><?xml version="1.0" encoding="utf-8"?>
<ds:datastoreItem xmlns:ds="http://schemas.openxmlformats.org/officeDocument/2006/customXml" ds:itemID="{DDF037D7-0EDE-4088-940B-CF6D733C7718}"/>
</file>

<file path=docProps/app.xml><?xml version="1.0" encoding="utf-8"?>
<Properties xmlns="http://schemas.openxmlformats.org/officeDocument/2006/extended-properties" xmlns:vt="http://schemas.openxmlformats.org/officeDocument/2006/docPropsVTypes">
  <Template/>
  <TotalTime>912</TotalTime>
  <Words>840</Words>
  <Application>Microsoft Office PowerPoint</Application>
  <PresentationFormat>On-screen Show (4:3)</PresentationFormat>
  <Paragraphs>113</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Courier New</vt:lpstr>
      <vt:lpstr>Times New Roman</vt:lpstr>
      <vt:lpstr>ヒラギノ角ゴ Pro W3</vt:lpstr>
      <vt:lpstr>Default Design</vt:lpstr>
      <vt:lpstr>Chapter 21: Binary Trees</vt:lpstr>
      <vt:lpstr>21.1</vt:lpstr>
      <vt:lpstr>Definition and Application of Binary Trees</vt:lpstr>
      <vt:lpstr>Binary Tree Terminology (1 of 5)</vt:lpstr>
      <vt:lpstr>Binary Tree Terminology (2 of 5)</vt:lpstr>
      <vt:lpstr>Binary Tree Terminology (3 of 5)</vt:lpstr>
      <vt:lpstr>Binary Tree Terminology (4 of 5)</vt:lpstr>
      <vt:lpstr>Binary Tree Terminology (5 of 5)</vt:lpstr>
      <vt:lpstr>Uses of Binary Trees</vt:lpstr>
      <vt:lpstr>Searching in a Binary Tree (1 of 2)</vt:lpstr>
      <vt:lpstr>Searching in a Binary Tree (2 of 2)</vt:lpstr>
      <vt:lpstr>21.2</vt:lpstr>
      <vt:lpstr>Binary Search Tree Operations</vt:lpstr>
      <vt:lpstr>Binary Search Tree Node</vt:lpstr>
      <vt:lpstr>Creating a New Node</vt:lpstr>
      <vt:lpstr>Inserting a Node in a Binary Search Tree (1 of 2)</vt:lpstr>
      <vt:lpstr>Inserting a Node in a Binary Search Tree (2 of 2)</vt:lpstr>
      <vt:lpstr>Traversing a Binary Tree (1 of 2)</vt:lpstr>
      <vt:lpstr>Traversing a Binary Tree (2 of 2)</vt:lpstr>
      <vt:lpstr>Searching in a Binary Tree</vt:lpstr>
      <vt:lpstr>Deleting a Node from a  Binary Tree – Leaf Node</vt:lpstr>
      <vt:lpstr>Deleting a Node from a  Binary Tree – One Child (1 of 2)</vt:lpstr>
      <vt:lpstr>Deleting a Node from a  Binary Tree – One Child (2 of 2)</vt:lpstr>
      <vt:lpstr>Deleting a Node from a  Binary Tree – Two Children (1 of 2)</vt:lpstr>
      <vt:lpstr>Deleting a Node from a  Binary Tree – Two Children (2 of 2)</vt:lpstr>
      <vt:lpstr>21.3</vt:lpstr>
      <vt:lpstr>Template Considerations for Binary Search Trees</vt:lpstr>
    </vt:vector>
  </TitlesOfParts>
  <Company>PEARSON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dc:title>
  <dc:subject>Introduction to C++</dc:subject>
  <dc:creator>Tony Gaddis</dc:creator>
  <cp:lastModifiedBy>codemantra</cp:lastModifiedBy>
  <cp:revision>179</cp:revision>
  <dcterms:created xsi:type="dcterms:W3CDTF">2011-02-16T20:47:20Z</dcterms:created>
  <dcterms:modified xsi:type="dcterms:W3CDTF">2021-08-19T13:03:15Z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0x01010012C71FBD443DB645BC32CB9A99CF976B</vt:lpwstr>
  </property>
</Properties>
</file>