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4.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8.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9.xml" ContentType="application/vnd.openxmlformats-officedocument.presentationml.slide+xml"/>
  <Override PartName="/ppt/slides/slide86.xml" ContentType="application/vnd.openxmlformats-officedocument.presentationml.slide+xml"/>
  <Override PartName="/ppt/slides/slide85.xml" ContentType="application/vnd.openxmlformats-officedocument.presentationml.slide+xml"/>
  <Override PartName="/ppt/slides/slide29.xml" ContentType="application/vnd.openxmlformats-officedocument.presentationml.slide+xml"/>
  <Override PartName="/ppt/slides/slide87.xml" ContentType="application/vnd.openxmlformats-officedocument.presentationml.slide+xml"/>
  <Override PartName="/ppt/slides/slide27.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theme/theme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handoutMasterIdLst>
    <p:handoutMasterId r:id="rId90"/>
  </p:handoutMasterIdLst>
  <p:sldIdLst>
    <p:sldId id="348" r:id="rId2"/>
    <p:sldId id="349" r:id="rId3"/>
    <p:sldId id="350" r:id="rId4"/>
    <p:sldId id="351" r:id="rId5"/>
    <p:sldId id="352" r:id="rId6"/>
    <p:sldId id="353" r:id="rId7"/>
    <p:sldId id="354" r:id="rId8"/>
    <p:sldId id="355" r:id="rId9"/>
    <p:sldId id="356" r:id="rId10"/>
    <p:sldId id="270" r:id="rId11"/>
    <p:sldId id="357" r:id="rId12"/>
    <p:sldId id="272" r:id="rId13"/>
    <p:sldId id="358" r:id="rId14"/>
    <p:sldId id="274" r:id="rId15"/>
    <p:sldId id="359" r:id="rId16"/>
    <p:sldId id="276" r:id="rId17"/>
    <p:sldId id="277" r:id="rId18"/>
    <p:sldId id="278" r:id="rId19"/>
    <p:sldId id="279" r:id="rId20"/>
    <p:sldId id="360" r:id="rId21"/>
    <p:sldId id="361" r:id="rId22"/>
    <p:sldId id="362" r:id="rId23"/>
    <p:sldId id="283" r:id="rId24"/>
    <p:sldId id="363" r:id="rId25"/>
    <p:sldId id="364" r:id="rId26"/>
    <p:sldId id="286" r:id="rId27"/>
    <p:sldId id="287" r:id="rId28"/>
    <p:sldId id="365" r:id="rId29"/>
    <p:sldId id="289" r:id="rId30"/>
    <p:sldId id="366" r:id="rId31"/>
    <p:sldId id="291" r:id="rId32"/>
    <p:sldId id="292" r:id="rId33"/>
    <p:sldId id="293" r:id="rId34"/>
    <p:sldId id="294" r:id="rId35"/>
    <p:sldId id="367" r:id="rId36"/>
    <p:sldId id="368" r:id="rId37"/>
    <p:sldId id="369" r:id="rId38"/>
    <p:sldId id="298" r:id="rId39"/>
    <p:sldId id="370" r:id="rId40"/>
    <p:sldId id="371" r:id="rId41"/>
    <p:sldId id="301" r:id="rId42"/>
    <p:sldId id="372" r:id="rId43"/>
    <p:sldId id="373" r:id="rId44"/>
    <p:sldId id="374" r:id="rId45"/>
    <p:sldId id="375" r:id="rId46"/>
    <p:sldId id="376" r:id="rId47"/>
    <p:sldId id="307" r:id="rId48"/>
    <p:sldId id="377" r:id="rId49"/>
    <p:sldId id="309" r:id="rId50"/>
    <p:sldId id="378" r:id="rId51"/>
    <p:sldId id="379" r:id="rId52"/>
    <p:sldId id="380" r:id="rId53"/>
    <p:sldId id="381" r:id="rId54"/>
    <p:sldId id="382" r:id="rId55"/>
    <p:sldId id="383" r:id="rId56"/>
    <p:sldId id="384" r:id="rId57"/>
    <p:sldId id="385" r:id="rId58"/>
    <p:sldId id="386" r:id="rId59"/>
    <p:sldId id="387" r:id="rId60"/>
    <p:sldId id="388" r:id="rId61"/>
    <p:sldId id="321" r:id="rId62"/>
    <p:sldId id="389" r:id="rId63"/>
    <p:sldId id="390" r:id="rId64"/>
    <p:sldId id="391" r:id="rId65"/>
    <p:sldId id="392" r:id="rId66"/>
    <p:sldId id="393" r:id="rId67"/>
    <p:sldId id="394" r:id="rId68"/>
    <p:sldId id="395" r:id="rId69"/>
    <p:sldId id="396" r:id="rId70"/>
    <p:sldId id="397" r:id="rId71"/>
    <p:sldId id="398" r:id="rId72"/>
    <p:sldId id="399" r:id="rId73"/>
    <p:sldId id="400" r:id="rId74"/>
    <p:sldId id="401" r:id="rId75"/>
    <p:sldId id="402" r:id="rId76"/>
    <p:sldId id="403" r:id="rId77"/>
    <p:sldId id="404" r:id="rId78"/>
    <p:sldId id="405" r:id="rId79"/>
    <p:sldId id="406" r:id="rId80"/>
    <p:sldId id="340" r:id="rId81"/>
    <p:sldId id="407" r:id="rId82"/>
    <p:sldId id="342" r:id="rId83"/>
    <p:sldId id="343" r:id="rId84"/>
    <p:sldId id="344" r:id="rId85"/>
    <p:sldId id="345" r:id="rId86"/>
    <p:sldId id="408" r:id="rId87"/>
    <p:sldId id="409" r:id="rId8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639" userDrawn="1">
          <p15:clr>
            <a:srgbClr val="A4A3A4"/>
          </p15:clr>
        </p15:guide>
        <p15:guide id="2" pos="449" userDrawn="1">
          <p15:clr>
            <a:srgbClr val="A4A3A4"/>
          </p15:clr>
        </p15:guide>
        <p15:guide id="3" orient="horz" pos="3304" userDrawn="1">
          <p15:clr>
            <a:srgbClr val="A4A3A4"/>
          </p15:clr>
        </p15:guide>
        <p15:guide id="5" orient="horz" pos="411" userDrawn="1">
          <p15:clr>
            <a:srgbClr val="A4A3A4"/>
          </p15:clr>
        </p15:guide>
        <p15:guide id="6" orient="horz" pos="2070" userDrawn="1">
          <p15:clr>
            <a:srgbClr val="A4A3A4"/>
          </p15:clr>
        </p15:guide>
        <p15:guide id="7" pos="373"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037797"/>
    <a:srgbClr val="FA8218"/>
    <a:srgbClr val="0488AE"/>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82163" autoAdjust="0"/>
  </p:normalViewPr>
  <p:slideViewPr>
    <p:cSldViewPr>
      <p:cViewPr varScale="1">
        <p:scale>
          <a:sx n="116" d="100"/>
          <a:sy n="116" d="100"/>
        </p:scale>
        <p:origin x="816" y="108"/>
      </p:cViewPr>
      <p:guideLst>
        <p:guide orient="horz" pos="1639"/>
        <p:guide pos="449"/>
        <p:guide orient="horz" pos="3304"/>
        <p:guide orient="horz" pos="411"/>
        <p:guide orient="horz" pos="2070"/>
        <p:guide pos="37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566"/>
    </p:cViewPr>
  </p:sorterViewPr>
  <p:notesViewPr>
    <p:cSldViewPr>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95" Type="http://schemas.openxmlformats.org/officeDocument/2006/relationships/customXml" Target="../customXml/item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9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ustomXml" Target="../customXml/item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36C910F6-7CC6-425C-A7A1-F74521483069}" type="datetimeFigureOut">
              <a:rPr lang="en-US"/>
              <a:pPr>
                <a:defRPr/>
              </a:pPr>
              <a:t>8/19/2021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D3AE99E-4079-420E-BFC8-51D374287FCD}" type="slidenum">
              <a:rPr lang="en-US" altLang="en-US"/>
              <a:pPr/>
              <a:t>‹#›</a:t>
            </a:fld>
            <a:endParaRPr lang="en-US" altLang="en-US" dirty="0"/>
          </a:p>
        </p:txBody>
      </p:sp>
    </p:spTree>
    <p:extLst>
      <p:ext uri="{BB962C8B-B14F-4D97-AF65-F5344CB8AC3E}">
        <p14:creationId xmlns:p14="http://schemas.microsoft.com/office/powerpoint/2010/main" val="40946445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FC0FB338-4F45-49DA-A5DE-AA282DFE9C12}" type="datetimeFigureOut">
              <a:rPr lang="en-US"/>
              <a:pPr>
                <a:defRPr/>
              </a:pPr>
              <a:t>8/19/2021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1320FD20-AE21-4E2A-A636-1DDC5279A2B1}" type="slidenum">
              <a:rPr lang="en-US" altLang="en-US"/>
              <a:pPr/>
              <a:t>‹#›</a:t>
            </a:fld>
            <a:endParaRPr lang="en-US" altLang="en-US" dirty="0"/>
          </a:p>
        </p:txBody>
      </p:sp>
    </p:spTree>
    <p:extLst>
      <p:ext uri="{BB962C8B-B14F-4D97-AF65-F5344CB8AC3E}">
        <p14:creationId xmlns:p14="http://schemas.microsoft.com/office/powerpoint/2010/main" val="15887792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37797"/>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8172D92C-888F-48A6-963B-DC433595D262}" type="slidenum">
              <a:rPr lang="en-US" altLang="en-US"/>
              <a:pPr/>
              <a:t>‹#›</a:t>
            </a:fld>
            <a:endParaRPr lang="en-US" altLang="en-US" dirty="0"/>
          </a:p>
        </p:txBody>
      </p:sp>
    </p:spTree>
    <p:extLst>
      <p:ext uri="{BB962C8B-B14F-4D97-AF65-F5344CB8AC3E}">
        <p14:creationId xmlns:p14="http://schemas.microsoft.com/office/powerpoint/2010/main" val="2851673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8AC93FA1-62F1-4B1B-BC8E-716B6DCBCC4F}" type="slidenum">
              <a:rPr lang="en-US" altLang="en-US"/>
              <a:pPr/>
              <a:t>‹#›</a:t>
            </a:fld>
            <a:endParaRPr lang="en-US" altLang="en-US" dirty="0"/>
          </a:p>
        </p:txBody>
      </p:sp>
    </p:spTree>
    <p:extLst>
      <p:ext uri="{BB962C8B-B14F-4D97-AF65-F5344CB8AC3E}">
        <p14:creationId xmlns:p14="http://schemas.microsoft.com/office/powerpoint/2010/main" val="1976919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C1662CDC-AB92-477F-AC74-D5282D375DED}" type="slidenum">
              <a:rPr lang="en-US" altLang="en-US"/>
              <a:pPr/>
              <a:t>‹#›</a:t>
            </a:fld>
            <a:endParaRPr lang="en-US" altLang="en-US" dirty="0"/>
          </a:p>
        </p:txBody>
      </p:sp>
    </p:spTree>
    <p:extLst>
      <p:ext uri="{BB962C8B-B14F-4D97-AF65-F5344CB8AC3E}">
        <p14:creationId xmlns:p14="http://schemas.microsoft.com/office/powerpoint/2010/main" val="1182777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1CD67E72-4E8C-41E8-A218-8B1E910C7391}" type="slidenum">
              <a:rPr lang="en-US" altLang="en-US"/>
              <a:pPr/>
              <a:t>‹#›</a:t>
            </a:fld>
            <a:endParaRPr lang="en-US" altLang="en-US" dirty="0"/>
          </a:p>
        </p:txBody>
      </p:sp>
    </p:spTree>
    <p:extLst>
      <p:ext uri="{BB962C8B-B14F-4D97-AF65-F5344CB8AC3E}">
        <p14:creationId xmlns:p14="http://schemas.microsoft.com/office/powerpoint/2010/main" val="374328331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DF2E6B0F-4D75-4E2B-905D-9B0616726099}" type="slidenum">
              <a:rPr lang="en-US" altLang="en-US"/>
              <a:pPr/>
              <a:t>‹#›</a:t>
            </a:fld>
            <a:endParaRPr lang="en-US" altLang="en-US" dirty="0"/>
          </a:p>
        </p:txBody>
      </p:sp>
    </p:spTree>
    <p:extLst>
      <p:ext uri="{BB962C8B-B14F-4D97-AF65-F5344CB8AC3E}">
        <p14:creationId xmlns:p14="http://schemas.microsoft.com/office/powerpoint/2010/main" val="104387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5A17578E-51CF-4F9B-B13A-C565A50D5340}" type="slidenum">
              <a:rPr lang="en-US" altLang="en-US"/>
              <a:pPr/>
              <a:t>‹#›</a:t>
            </a:fld>
            <a:endParaRPr lang="en-US" altLang="en-US" dirty="0"/>
          </a:p>
        </p:txBody>
      </p:sp>
    </p:spTree>
    <p:extLst>
      <p:ext uri="{BB962C8B-B14F-4D97-AF65-F5344CB8AC3E}">
        <p14:creationId xmlns:p14="http://schemas.microsoft.com/office/powerpoint/2010/main" val="3310736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28604F78-13C6-4A9C-844A-3E3FD23EFF4A}" type="slidenum">
              <a:rPr lang="en-US" altLang="en-US"/>
              <a:pPr/>
              <a:t>‹#›</a:t>
            </a:fld>
            <a:endParaRPr lang="en-US" altLang="en-US" dirty="0"/>
          </a:p>
        </p:txBody>
      </p:sp>
    </p:spTree>
    <p:extLst>
      <p:ext uri="{BB962C8B-B14F-4D97-AF65-F5344CB8AC3E}">
        <p14:creationId xmlns:p14="http://schemas.microsoft.com/office/powerpoint/2010/main" val="1860469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A0430FE2-AEC0-4E45-B685-5B64B74E68D5}" type="slidenum">
              <a:rPr lang="en-US" altLang="en-US"/>
              <a:pPr/>
              <a:t>‹#›</a:t>
            </a:fld>
            <a:endParaRPr lang="en-US" altLang="en-US" dirty="0"/>
          </a:p>
        </p:txBody>
      </p:sp>
    </p:spTree>
    <p:extLst>
      <p:ext uri="{BB962C8B-B14F-4D97-AF65-F5344CB8AC3E}">
        <p14:creationId xmlns:p14="http://schemas.microsoft.com/office/powerpoint/2010/main" val="259349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98D6EDDE-15B8-48AB-8B28-22C5A621D36F}" type="slidenum">
              <a:rPr lang="en-US" altLang="en-US"/>
              <a:pPr/>
              <a:t>‹#›</a:t>
            </a:fld>
            <a:endParaRPr lang="en-US" altLang="en-US" dirty="0"/>
          </a:p>
        </p:txBody>
      </p:sp>
    </p:spTree>
    <p:extLst>
      <p:ext uri="{BB962C8B-B14F-4D97-AF65-F5344CB8AC3E}">
        <p14:creationId xmlns:p14="http://schemas.microsoft.com/office/powerpoint/2010/main" val="4071651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533586FF-2129-49A6-84DF-92B6FE71340F}" type="slidenum">
              <a:rPr lang="en-US" altLang="en-US"/>
              <a:pPr/>
              <a:t>‹#›</a:t>
            </a:fld>
            <a:endParaRPr lang="en-US" altLang="en-US" dirty="0"/>
          </a:p>
        </p:txBody>
      </p:sp>
    </p:spTree>
    <p:extLst>
      <p:ext uri="{BB962C8B-B14F-4D97-AF65-F5344CB8AC3E}">
        <p14:creationId xmlns:p14="http://schemas.microsoft.com/office/powerpoint/2010/main" val="2074316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76D4E486-221F-4901-B889-7ECE5E8ACCC8}" type="slidenum">
              <a:rPr lang="en-US" altLang="en-US"/>
              <a:pPr/>
              <a:t>‹#›</a:t>
            </a:fld>
            <a:endParaRPr lang="en-US" altLang="en-US" dirty="0"/>
          </a:p>
        </p:txBody>
      </p:sp>
    </p:spTree>
    <p:extLst>
      <p:ext uri="{BB962C8B-B14F-4D97-AF65-F5344CB8AC3E}">
        <p14:creationId xmlns:p14="http://schemas.microsoft.com/office/powerpoint/2010/main" val="761164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66471F9F-2902-47A8-8F00-7AE777FAB034}" type="slidenum">
              <a:rPr lang="en-US" altLang="en-US"/>
              <a:pPr/>
              <a:t>‹#›</a:t>
            </a:fld>
            <a:endParaRPr lang="en-US" altLang="en-US" dirty="0"/>
          </a:p>
        </p:txBody>
      </p:sp>
      <p:sp>
        <p:nvSpPr>
          <p:cNvPr id="1029" name="Text Box 14"/>
          <p:cNvSpPr txBox="1">
            <a:spLocks noChangeArrowheads="1"/>
          </p:cNvSpPr>
          <p:nvPr userDrawn="1"/>
        </p:nvSpPr>
        <p:spPr bwMode="auto">
          <a:xfrm>
            <a:off x="1176338" y="6415088"/>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2021, 2018, 2015, 2012, 2009 Pearson Education, Inc. All rights reserved.</a:t>
            </a:r>
          </a:p>
        </p:txBody>
      </p:sp>
      <p:pic>
        <p:nvPicPr>
          <p:cNvPr id="2" name="Picture 6"/>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71"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37797"/>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60000" y="1295400"/>
            <a:ext cx="4766095" cy="1785968"/>
          </a:xfrm>
        </p:spPr>
        <p:txBody>
          <a:bodyPr/>
          <a:lstStyle/>
          <a:p>
            <a:pPr lvl="0" eaLnBrk="1" hangingPunct="1">
              <a:lnSpc>
                <a:spcPct val="140000"/>
              </a:lnSpc>
              <a:spcBef>
                <a:spcPct val="50000"/>
              </a:spcBef>
            </a:pPr>
            <a:r>
              <a:rPr lang="en-US" altLang="en-US" sz="4400" b="1" kern="1200" dirty="0">
                <a:latin typeface="Arial" panose="020B0604020202020204" pitchFamily="34" charset="0"/>
                <a:cs typeface="Arial" panose="020B0604020202020204" pitchFamily="34" charset="0"/>
              </a:rPr>
              <a:t>Chapter </a:t>
            </a:r>
            <a:r>
              <a:rPr lang="en-US" altLang="en-US" sz="4400" b="1" kern="1200" dirty="0" smtClean="0">
                <a:latin typeface="Arial" panose="020B0604020202020204" pitchFamily="34" charset="0"/>
                <a:cs typeface="Arial" panose="020B0604020202020204" pitchFamily="34" charset="0"/>
              </a:rPr>
              <a:t>12: </a:t>
            </a:r>
            <a:r>
              <a:rPr lang="en-US" altLang="en-US" sz="2800" b="1" kern="1200" dirty="0" smtClean="0">
                <a:solidFill>
                  <a:srgbClr val="000000"/>
                </a:solidFill>
                <a:latin typeface="Arial" panose="020B0604020202020204" pitchFamily="34" charset="0"/>
                <a:cs typeface="Arial" panose="020B0604020202020204" pitchFamily="34" charset="0"/>
              </a:rPr>
              <a:t>Advanced </a:t>
            </a:r>
            <a:r>
              <a:rPr lang="en-US" altLang="en-US" sz="2800" b="1" kern="1200" dirty="0">
                <a:solidFill>
                  <a:srgbClr val="000000"/>
                </a:solidFill>
                <a:latin typeface="Arial" panose="020B0604020202020204" pitchFamily="34" charset="0"/>
                <a:cs typeface="Arial" panose="020B0604020202020204" pitchFamily="34" charset="0"/>
              </a:rPr>
              <a:t>File </a:t>
            </a:r>
            <a:r>
              <a:rPr lang="en-US" altLang="en-US" sz="2800" b="1" kern="1200" dirty="0" smtClean="0">
                <a:solidFill>
                  <a:srgbClr val="000000"/>
                </a:solidFill>
                <a:latin typeface="Arial" panose="020B0604020202020204" pitchFamily="34" charset="0"/>
                <a:cs typeface="Arial" panose="020B0604020202020204" pitchFamily="34" charset="0"/>
              </a:rPr>
              <a:t>Operations</a:t>
            </a:r>
            <a:endParaRPr lang="en-US" dirty="0"/>
          </a:p>
        </p:txBody>
      </p:sp>
    </p:spTree>
    <p:extLst>
      <p:ext uri="{BB962C8B-B14F-4D97-AF65-F5344CB8AC3E}">
        <p14:creationId xmlns:p14="http://schemas.microsoft.com/office/powerpoint/2010/main" val="2951094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12.1</a:t>
            </a:r>
            <a:endParaRPr lang="en-US" dirty="0"/>
          </a:p>
        </p:txBody>
      </p:sp>
      <p:sp>
        <p:nvSpPr>
          <p:cNvPr id="3" name="Subtitle 2"/>
          <p:cNvSpPr>
            <a:spLocks noGrp="1"/>
          </p:cNvSpPr>
          <p:nvPr>
            <p:ph type="subTitle" idx="1"/>
          </p:nvPr>
        </p:nvSpPr>
        <p:spPr/>
        <p:txBody>
          <a:bodyPr/>
          <a:lstStyle/>
          <a:p>
            <a:pPr lvl="0" eaLnBrk="1" hangingPunct="1"/>
            <a:r>
              <a:rPr lang="en-US" altLang="en-US" dirty="0">
                <a:solidFill>
                  <a:srgbClr val="000000"/>
                </a:solidFill>
              </a:rPr>
              <a:t>File </a:t>
            </a:r>
            <a:r>
              <a:rPr lang="en-US" altLang="en-US" dirty="0" smtClean="0">
                <a:solidFill>
                  <a:srgbClr val="000000"/>
                </a:solidFill>
              </a:rPr>
              <a:t>Operations</a:t>
            </a:r>
            <a:endParaRPr lang="en-US" dirty="0"/>
          </a:p>
        </p:txBody>
      </p:sp>
    </p:spTree>
    <p:extLst>
      <p:ext uri="{BB962C8B-B14F-4D97-AF65-F5344CB8AC3E}">
        <p14:creationId xmlns:p14="http://schemas.microsoft.com/office/powerpoint/2010/main" val="4239709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File Operations</a:t>
            </a:r>
            <a:endParaRPr lang="en-US" dirty="0"/>
          </a:p>
        </p:txBody>
      </p:sp>
      <p:sp>
        <p:nvSpPr>
          <p:cNvPr id="3" name="Content Placeholder 2"/>
          <p:cNvSpPr>
            <a:spLocks noGrp="1"/>
          </p:cNvSpPr>
          <p:nvPr>
            <p:ph idx="1"/>
          </p:nvPr>
        </p:nvSpPr>
        <p:spPr>
          <a:xfrm>
            <a:off x="310550" y="1746849"/>
            <a:ext cx="8229600" cy="4525963"/>
          </a:xfrm>
        </p:spPr>
        <p:txBody>
          <a:bodyPr/>
          <a:lstStyle/>
          <a:p>
            <a:pPr lvl="0">
              <a:lnSpc>
                <a:spcPct val="90000"/>
              </a:lnSpc>
              <a:buFontTx/>
              <a:buChar char="•"/>
            </a:pPr>
            <a:r>
              <a:rPr lang="en-US" altLang="en-US" dirty="0">
                <a:solidFill>
                  <a:srgbClr val="000000"/>
                </a:solidFill>
              </a:rPr>
              <a:t>File: a set of data stored on a computer, often on a disk drive</a:t>
            </a:r>
          </a:p>
          <a:p>
            <a:pPr lvl="0">
              <a:lnSpc>
                <a:spcPct val="90000"/>
              </a:lnSpc>
              <a:buFontTx/>
              <a:buChar char="•"/>
            </a:pPr>
            <a:r>
              <a:rPr lang="en-US" altLang="en-US" dirty="0">
                <a:solidFill>
                  <a:srgbClr val="000000"/>
                </a:solidFill>
              </a:rPr>
              <a:t>Programs can read from, write to files</a:t>
            </a:r>
          </a:p>
          <a:p>
            <a:pPr lvl="0">
              <a:lnSpc>
                <a:spcPct val="90000"/>
              </a:lnSpc>
              <a:buFontTx/>
              <a:buChar char="•"/>
            </a:pPr>
            <a:r>
              <a:rPr lang="en-US" altLang="en-US" dirty="0">
                <a:solidFill>
                  <a:srgbClr val="000000"/>
                </a:solidFill>
              </a:rPr>
              <a:t>Used in many applications:</a:t>
            </a:r>
          </a:p>
          <a:p>
            <a:pPr lvl="1">
              <a:lnSpc>
                <a:spcPct val="90000"/>
              </a:lnSpc>
            </a:pPr>
            <a:r>
              <a:rPr lang="en-US" altLang="en-US" dirty="0">
                <a:solidFill>
                  <a:srgbClr val="000000"/>
                </a:solidFill>
              </a:rPr>
              <a:t>Word </a:t>
            </a:r>
            <a:r>
              <a:rPr lang="en-US" altLang="en-US" dirty="0" smtClean="0">
                <a:solidFill>
                  <a:srgbClr val="000000"/>
                </a:solidFill>
              </a:rPr>
              <a:t>processing</a:t>
            </a:r>
            <a:endParaRPr lang="en-US" altLang="en-US" dirty="0">
              <a:solidFill>
                <a:srgbClr val="000000"/>
              </a:solidFill>
            </a:endParaRPr>
          </a:p>
          <a:p>
            <a:pPr lvl="1">
              <a:lnSpc>
                <a:spcPct val="90000"/>
              </a:lnSpc>
            </a:pPr>
            <a:r>
              <a:rPr lang="en-US" altLang="en-US" dirty="0">
                <a:solidFill>
                  <a:srgbClr val="000000"/>
                </a:solidFill>
              </a:rPr>
              <a:t>Databases</a:t>
            </a:r>
          </a:p>
          <a:p>
            <a:pPr lvl="1">
              <a:lnSpc>
                <a:spcPct val="90000"/>
              </a:lnSpc>
            </a:pPr>
            <a:r>
              <a:rPr lang="en-US" altLang="en-US" dirty="0">
                <a:solidFill>
                  <a:srgbClr val="000000"/>
                </a:solidFill>
              </a:rPr>
              <a:t>Spreadsheets</a:t>
            </a:r>
          </a:p>
          <a:p>
            <a:pPr lvl="1">
              <a:lnSpc>
                <a:spcPct val="90000"/>
              </a:lnSpc>
            </a:pPr>
            <a:r>
              <a:rPr lang="en-US" altLang="en-US" dirty="0" smtClean="0">
                <a:solidFill>
                  <a:srgbClr val="000000"/>
                </a:solidFill>
              </a:rPr>
              <a:t>Compilers</a:t>
            </a:r>
            <a:endParaRPr lang="en-US" altLang="en-US" dirty="0">
              <a:solidFill>
                <a:srgbClr val="000000"/>
              </a:solidFill>
            </a:endParaRPr>
          </a:p>
        </p:txBody>
      </p:sp>
    </p:spTree>
    <p:extLst>
      <p:ext uri="{BB962C8B-B14F-4D97-AF65-F5344CB8AC3E}">
        <p14:creationId xmlns:p14="http://schemas.microsoft.com/office/powerpoint/2010/main" val="77235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Using Files</a:t>
            </a:r>
            <a:endParaRPr lang="en-US" dirty="0"/>
          </a:p>
        </p:txBody>
      </p:sp>
      <p:sp>
        <p:nvSpPr>
          <p:cNvPr id="3" name="Content Placeholder 2"/>
          <p:cNvSpPr>
            <a:spLocks noGrp="1"/>
          </p:cNvSpPr>
          <p:nvPr>
            <p:ph idx="1"/>
          </p:nvPr>
        </p:nvSpPr>
        <p:spPr>
          <a:xfrm>
            <a:off x="457200" y="1807234"/>
            <a:ext cx="7824158" cy="4525963"/>
          </a:xfrm>
        </p:spPr>
        <p:txBody>
          <a:bodyPr/>
          <a:lstStyle/>
          <a:p>
            <a:pPr marL="609600" lvl="0" indent="-609600">
              <a:lnSpc>
                <a:spcPct val="90000"/>
              </a:lnSpc>
              <a:spcBef>
                <a:spcPct val="15000"/>
              </a:spcBef>
              <a:buClr>
                <a:srgbClr val="000000"/>
              </a:buClr>
              <a:buFontTx/>
              <a:buAutoNum type="arabicPeriod"/>
            </a:pPr>
            <a:r>
              <a:rPr lang="en-US" altLang="en-US" sz="2800" dirty="0">
                <a:solidFill>
                  <a:srgbClr val="000000"/>
                </a:solidFill>
              </a:rPr>
              <a:t>Requires </a:t>
            </a:r>
            <a:r>
              <a:rPr lang="en-US" altLang="en-US" sz="2800" dirty="0">
                <a:solidFill>
                  <a:srgbClr val="000000"/>
                </a:solidFill>
                <a:latin typeface="Courier New" panose="02070309020205020404" pitchFamily="49" charset="0"/>
              </a:rPr>
              <a:t>fstream</a:t>
            </a:r>
            <a:r>
              <a:rPr lang="en-US" altLang="en-US" sz="2800" dirty="0">
                <a:solidFill>
                  <a:srgbClr val="000000"/>
                </a:solidFill>
              </a:rPr>
              <a:t> header file</a:t>
            </a:r>
          </a:p>
          <a:p>
            <a:pPr marL="990600" lvl="1" indent="-533400">
              <a:lnSpc>
                <a:spcPct val="90000"/>
              </a:lnSpc>
              <a:spcBef>
                <a:spcPct val="15000"/>
              </a:spcBef>
            </a:pPr>
            <a:r>
              <a:rPr lang="en-US" altLang="en-US" sz="2400" dirty="0">
                <a:solidFill>
                  <a:srgbClr val="000000"/>
                </a:solidFill>
              </a:rPr>
              <a:t>use </a:t>
            </a:r>
            <a:r>
              <a:rPr lang="en-US" altLang="en-US" sz="2400" dirty="0">
                <a:solidFill>
                  <a:srgbClr val="000000"/>
                </a:solidFill>
                <a:latin typeface="Courier New" panose="02070309020205020404" pitchFamily="49" charset="0"/>
              </a:rPr>
              <a:t>ifstream</a:t>
            </a:r>
            <a:r>
              <a:rPr lang="en-US" altLang="en-US" sz="2400" dirty="0">
                <a:solidFill>
                  <a:srgbClr val="000000"/>
                </a:solidFill>
              </a:rPr>
              <a:t> data type for input files</a:t>
            </a:r>
          </a:p>
          <a:p>
            <a:pPr marL="990600" lvl="1" indent="-533400">
              <a:lnSpc>
                <a:spcPct val="90000"/>
              </a:lnSpc>
              <a:spcBef>
                <a:spcPct val="15000"/>
              </a:spcBef>
            </a:pPr>
            <a:r>
              <a:rPr lang="en-US" altLang="en-US" sz="2400" dirty="0">
                <a:solidFill>
                  <a:srgbClr val="000000"/>
                </a:solidFill>
              </a:rPr>
              <a:t>use </a:t>
            </a:r>
            <a:r>
              <a:rPr lang="en-US" altLang="en-US" sz="2400" dirty="0">
                <a:solidFill>
                  <a:srgbClr val="000000"/>
                </a:solidFill>
                <a:latin typeface="Courier New" panose="02070309020205020404" pitchFamily="49" charset="0"/>
              </a:rPr>
              <a:t>ofstream</a:t>
            </a:r>
            <a:r>
              <a:rPr lang="en-US" altLang="en-US" sz="2400" dirty="0">
                <a:solidFill>
                  <a:srgbClr val="000000"/>
                </a:solidFill>
              </a:rPr>
              <a:t> data type for output files</a:t>
            </a:r>
          </a:p>
          <a:p>
            <a:pPr marL="990600" lvl="1" indent="-533400">
              <a:lnSpc>
                <a:spcPct val="90000"/>
              </a:lnSpc>
              <a:spcBef>
                <a:spcPct val="15000"/>
              </a:spcBef>
            </a:pPr>
            <a:r>
              <a:rPr lang="en-US" altLang="en-US" sz="2400" dirty="0">
                <a:solidFill>
                  <a:srgbClr val="000000"/>
                </a:solidFill>
              </a:rPr>
              <a:t>use </a:t>
            </a:r>
            <a:r>
              <a:rPr lang="en-US" altLang="en-US" sz="2400" dirty="0">
                <a:solidFill>
                  <a:srgbClr val="000000"/>
                </a:solidFill>
                <a:latin typeface="Courier New" panose="02070309020205020404" pitchFamily="49" charset="0"/>
              </a:rPr>
              <a:t>fstream</a:t>
            </a:r>
            <a:r>
              <a:rPr lang="en-US" altLang="en-US" sz="2400" dirty="0">
                <a:solidFill>
                  <a:srgbClr val="000000"/>
                </a:solidFill>
              </a:rPr>
              <a:t> data type for both input, output files</a:t>
            </a:r>
          </a:p>
          <a:p>
            <a:pPr marL="609600" lvl="0" indent="-609600">
              <a:lnSpc>
                <a:spcPct val="90000"/>
              </a:lnSpc>
              <a:spcBef>
                <a:spcPct val="15000"/>
              </a:spcBef>
              <a:buClr>
                <a:srgbClr val="000000"/>
              </a:buClr>
              <a:buFontTx/>
              <a:buAutoNum type="arabicPeriod" startAt="2"/>
            </a:pPr>
            <a:r>
              <a:rPr lang="en-US" altLang="en-US" sz="2800" dirty="0">
                <a:solidFill>
                  <a:srgbClr val="000000"/>
                </a:solidFill>
              </a:rPr>
              <a:t>Can use </a:t>
            </a:r>
            <a:r>
              <a:rPr lang="en-US" altLang="en-US" sz="2800" dirty="0">
                <a:solidFill>
                  <a:srgbClr val="000000"/>
                </a:solidFill>
                <a:latin typeface="Courier New" panose="02070309020205020404" pitchFamily="49" charset="0"/>
              </a:rPr>
              <a:t>&gt;&gt;</a:t>
            </a:r>
            <a:r>
              <a:rPr lang="en-US" altLang="en-US" sz="2800" dirty="0">
                <a:solidFill>
                  <a:srgbClr val="000000"/>
                </a:solidFill>
              </a:rPr>
              <a:t>, </a:t>
            </a:r>
            <a:r>
              <a:rPr lang="en-US" altLang="en-US" sz="2800" dirty="0">
                <a:solidFill>
                  <a:srgbClr val="000000"/>
                </a:solidFill>
                <a:latin typeface="Courier New" panose="02070309020205020404" pitchFamily="49" charset="0"/>
              </a:rPr>
              <a:t>&lt;&lt;</a:t>
            </a:r>
            <a:r>
              <a:rPr lang="en-US" altLang="en-US" sz="2800" dirty="0">
                <a:solidFill>
                  <a:srgbClr val="000000"/>
                </a:solidFill>
              </a:rPr>
              <a:t> to read from, write to a file</a:t>
            </a:r>
          </a:p>
          <a:p>
            <a:pPr marL="609600" lvl="0" indent="-609600">
              <a:lnSpc>
                <a:spcPct val="90000"/>
              </a:lnSpc>
              <a:spcBef>
                <a:spcPct val="15000"/>
              </a:spcBef>
              <a:buClr>
                <a:srgbClr val="000000"/>
              </a:buClr>
              <a:buFontTx/>
              <a:buAutoNum type="arabicPeriod" startAt="2"/>
            </a:pPr>
            <a:r>
              <a:rPr lang="en-US" altLang="en-US" sz="2800" dirty="0">
                <a:solidFill>
                  <a:srgbClr val="000000"/>
                </a:solidFill>
              </a:rPr>
              <a:t>Can use </a:t>
            </a:r>
            <a:r>
              <a:rPr lang="en-US" altLang="en-US" sz="2800" dirty="0">
                <a:solidFill>
                  <a:srgbClr val="000000"/>
                </a:solidFill>
                <a:latin typeface="Courier New" panose="02070309020205020404" pitchFamily="49" charset="0"/>
              </a:rPr>
              <a:t>eof</a:t>
            </a:r>
            <a:r>
              <a:rPr lang="en-US" altLang="en-US" sz="2800" dirty="0">
                <a:solidFill>
                  <a:srgbClr val="000000"/>
                </a:solidFill>
              </a:rPr>
              <a:t> member function to test for end of input </a:t>
            </a:r>
            <a:r>
              <a:rPr lang="en-US" altLang="en-US" sz="2800" dirty="0" smtClean="0">
                <a:solidFill>
                  <a:srgbClr val="000000"/>
                </a:solidFill>
              </a:rPr>
              <a:t>file</a:t>
            </a:r>
            <a:endParaRPr lang="en-US" altLang="en-US" sz="2800" dirty="0">
              <a:solidFill>
                <a:srgbClr val="000000"/>
              </a:solidFill>
            </a:endParaRPr>
          </a:p>
        </p:txBody>
      </p:sp>
    </p:spTree>
    <p:extLst>
      <p:ext uri="{BB962C8B-B14F-4D97-AF65-F5344CB8AC3E}">
        <p14:creationId xmlns:p14="http://schemas.microsoft.com/office/powerpoint/2010/main" val="1361533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Courier New" panose="02070309020205020404" pitchFamily="49" charset="0"/>
              </a:rPr>
              <a:t>fstream</a:t>
            </a:r>
            <a:r>
              <a:rPr lang="en-US" altLang="en-US" dirty="0"/>
              <a:t> Object</a:t>
            </a:r>
            <a:endParaRPr lang="en-US" dirty="0"/>
          </a:p>
        </p:txBody>
      </p:sp>
      <p:sp>
        <p:nvSpPr>
          <p:cNvPr id="3" name="Content Placeholder 2"/>
          <p:cNvSpPr>
            <a:spLocks noGrp="1"/>
          </p:cNvSpPr>
          <p:nvPr>
            <p:ph idx="1"/>
          </p:nvPr>
        </p:nvSpPr>
        <p:spPr>
          <a:xfrm>
            <a:off x="457201" y="1945257"/>
            <a:ext cx="8229600" cy="4525963"/>
          </a:xfrm>
        </p:spPr>
        <p:txBody>
          <a:bodyPr/>
          <a:lstStyle/>
          <a:p>
            <a:pPr lvl="0">
              <a:lnSpc>
                <a:spcPct val="90000"/>
              </a:lnSpc>
              <a:buFontTx/>
              <a:buChar char="•"/>
            </a:pPr>
            <a:r>
              <a:rPr lang="en-US" altLang="en-US" sz="2400" dirty="0">
                <a:solidFill>
                  <a:srgbClr val="000000"/>
                </a:solidFill>
                <a:latin typeface="Courier New" panose="02070309020205020404" pitchFamily="49" charset="0"/>
              </a:rPr>
              <a:t>fstream</a:t>
            </a:r>
            <a:r>
              <a:rPr lang="en-US" altLang="en-US" sz="2400" dirty="0">
                <a:solidFill>
                  <a:srgbClr val="000000"/>
                </a:solidFill>
              </a:rPr>
              <a:t> object can be used for either input or output</a:t>
            </a:r>
          </a:p>
          <a:p>
            <a:pPr lvl="0">
              <a:lnSpc>
                <a:spcPct val="90000"/>
              </a:lnSpc>
              <a:buFontTx/>
              <a:buChar char="•"/>
            </a:pPr>
            <a:r>
              <a:rPr lang="en-US" altLang="en-US" sz="2400" dirty="0">
                <a:solidFill>
                  <a:srgbClr val="000000"/>
                </a:solidFill>
              </a:rPr>
              <a:t>Must specify mode on the </a:t>
            </a:r>
            <a:r>
              <a:rPr lang="en-US" altLang="en-US" sz="2400" dirty="0">
                <a:solidFill>
                  <a:srgbClr val="000000"/>
                </a:solidFill>
                <a:latin typeface="Courier New" panose="02070309020205020404" pitchFamily="49" charset="0"/>
              </a:rPr>
              <a:t>open</a:t>
            </a:r>
            <a:r>
              <a:rPr lang="en-US" altLang="en-US" sz="2400" dirty="0">
                <a:solidFill>
                  <a:srgbClr val="000000"/>
                </a:solidFill>
              </a:rPr>
              <a:t> statement</a:t>
            </a:r>
          </a:p>
          <a:p>
            <a:pPr lvl="0">
              <a:lnSpc>
                <a:spcPct val="90000"/>
              </a:lnSpc>
              <a:buFontTx/>
              <a:buChar char="•"/>
            </a:pPr>
            <a:r>
              <a:rPr lang="en-US" altLang="en-US" sz="2400" dirty="0">
                <a:solidFill>
                  <a:srgbClr val="000000"/>
                </a:solidFill>
              </a:rPr>
              <a:t>Sample modes:</a:t>
            </a:r>
          </a:p>
          <a:p>
            <a:pPr marL="740664" lvl="1" indent="0">
              <a:lnSpc>
                <a:spcPct val="90000"/>
              </a:lnSpc>
              <a:buClr>
                <a:srgbClr val="3333CC"/>
              </a:buClr>
              <a:buNone/>
            </a:pPr>
            <a:r>
              <a:rPr lang="en-US" altLang="en-US" sz="2000" dirty="0" smtClean="0">
                <a:solidFill>
                  <a:srgbClr val="000000"/>
                </a:solidFill>
                <a:latin typeface="Courier New" panose="02070309020205020404" pitchFamily="49" charset="0"/>
              </a:rPr>
              <a:t>ios</a:t>
            </a:r>
            <a:r>
              <a:rPr lang="en-US" altLang="en-US" sz="2000" dirty="0">
                <a:solidFill>
                  <a:srgbClr val="000000"/>
                </a:solidFill>
                <a:latin typeface="Courier New" panose="02070309020205020404" pitchFamily="49" charset="0"/>
              </a:rPr>
              <a:t>::in</a:t>
            </a:r>
            <a:r>
              <a:rPr lang="en-US" altLang="en-US" sz="2000" dirty="0">
                <a:solidFill>
                  <a:srgbClr val="000000"/>
                </a:solidFill>
              </a:rPr>
              <a:t>   – input</a:t>
            </a:r>
          </a:p>
          <a:p>
            <a:pPr marL="740664" lvl="1" indent="0">
              <a:lnSpc>
                <a:spcPct val="90000"/>
              </a:lnSpc>
              <a:buClr>
                <a:srgbClr val="3333CC"/>
              </a:buClr>
              <a:buNone/>
            </a:pPr>
            <a:r>
              <a:rPr lang="en-US" altLang="en-US" sz="2000" dirty="0" smtClean="0">
                <a:solidFill>
                  <a:srgbClr val="000000"/>
                </a:solidFill>
                <a:latin typeface="Courier New" panose="02070309020205020404" pitchFamily="49" charset="0"/>
              </a:rPr>
              <a:t>ios</a:t>
            </a:r>
            <a:r>
              <a:rPr lang="en-US" altLang="en-US" sz="2000" dirty="0">
                <a:solidFill>
                  <a:srgbClr val="000000"/>
                </a:solidFill>
                <a:latin typeface="Courier New" panose="02070309020205020404" pitchFamily="49" charset="0"/>
              </a:rPr>
              <a:t>::out</a:t>
            </a:r>
            <a:r>
              <a:rPr lang="en-US" altLang="en-US" sz="2000" dirty="0">
                <a:solidFill>
                  <a:srgbClr val="000000"/>
                </a:solidFill>
              </a:rPr>
              <a:t> – output</a:t>
            </a:r>
          </a:p>
          <a:p>
            <a:pPr lvl="0">
              <a:lnSpc>
                <a:spcPct val="90000"/>
              </a:lnSpc>
              <a:buFontTx/>
              <a:buChar char="•"/>
            </a:pPr>
            <a:r>
              <a:rPr lang="en-US" altLang="en-US" sz="2400" dirty="0">
                <a:solidFill>
                  <a:srgbClr val="000000"/>
                </a:solidFill>
              </a:rPr>
              <a:t>Can be combined on </a:t>
            </a:r>
            <a:r>
              <a:rPr lang="en-US" altLang="en-US" sz="2400" dirty="0">
                <a:solidFill>
                  <a:srgbClr val="000000"/>
                </a:solidFill>
                <a:latin typeface="Courier New" panose="02070309020205020404" pitchFamily="49" charset="0"/>
              </a:rPr>
              <a:t>open</a:t>
            </a:r>
            <a:r>
              <a:rPr lang="en-US" altLang="en-US" sz="2400" dirty="0">
                <a:solidFill>
                  <a:srgbClr val="000000"/>
                </a:solidFill>
              </a:rPr>
              <a:t> call:</a:t>
            </a:r>
          </a:p>
          <a:p>
            <a:pPr marL="740664" lvl="1" indent="0">
              <a:lnSpc>
                <a:spcPct val="90000"/>
              </a:lnSpc>
              <a:buClr>
                <a:srgbClr val="3333CC"/>
              </a:buClr>
              <a:buNone/>
            </a:pPr>
            <a:r>
              <a:rPr lang="en-US" altLang="en-US" sz="2000" dirty="0" smtClean="0">
                <a:solidFill>
                  <a:srgbClr val="000000"/>
                </a:solidFill>
                <a:latin typeface="Courier New" panose="02070309020205020404" pitchFamily="49" charset="0"/>
              </a:rPr>
              <a:t>dFile.open</a:t>
            </a:r>
            <a:r>
              <a:rPr lang="en-US" altLang="en-US" sz="2000" dirty="0">
                <a:solidFill>
                  <a:srgbClr val="000000"/>
                </a:solidFill>
                <a:latin typeface="Courier New" panose="02070309020205020404" pitchFamily="49" charset="0"/>
              </a:rPr>
              <a:t>("class.txt", ios::in | ios::out</a:t>
            </a:r>
            <a:r>
              <a:rPr lang="en-US" altLang="en-US" sz="2000" dirty="0" smtClean="0">
                <a:solidFill>
                  <a:srgbClr val="000000"/>
                </a:solidFill>
                <a:latin typeface="Courier New" panose="02070309020205020404" pitchFamily="49" charset="0"/>
              </a:rPr>
              <a:t>);</a:t>
            </a:r>
            <a:endParaRPr lang="en-US" altLang="en-US" sz="2000" dirty="0">
              <a:solidFill>
                <a:srgbClr val="000000"/>
              </a:solidFill>
            </a:endParaRPr>
          </a:p>
        </p:txBody>
      </p:sp>
    </p:spTree>
    <p:extLst>
      <p:ext uri="{BB962C8B-B14F-4D97-AF65-F5344CB8AC3E}">
        <p14:creationId xmlns:p14="http://schemas.microsoft.com/office/powerpoint/2010/main" val="3598888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File Access Flags</a:t>
            </a:r>
            <a:endParaRPr lang="en-US" dirty="0"/>
          </a:p>
        </p:txBody>
      </p:sp>
      <p:pic>
        <p:nvPicPr>
          <p:cNvPr id="4" name="Picture 3" descr="A figure shows the file access flags and their meanings. ios: : app is append mode. If the file already exists, its contents are preserved and all output is written to the end of the file. By default, this flag causes the file to be created if it does not exist. ios: : ate- if the file already exists, the program goes directly to the end of it. The output may be written anywhere in the file. ios: : binary -Binary mode. When a file is opened in binary mode, the data is written to or read from it in pure binary format. (The default mode is text.). ios: : in- Input mode. Data will be read from the file. If the file does not exist, it will not be created and the open function will fail. ios: : out- Output mode. Data will be written to the file. By default, the file's contents will be deleted if it already exists. ios: : truce- If the file already exists, its contents will be deleted (truncated). This is the default mode used by ios: : out.&#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90663"/>
            <a:ext cx="8534400" cy="422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8862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Using Files - Example</a:t>
            </a:r>
            <a:endParaRPr lang="en-US" dirty="0"/>
          </a:p>
        </p:txBody>
      </p:sp>
      <p:sp>
        <p:nvSpPr>
          <p:cNvPr id="3" name="Content Placeholder 2"/>
          <p:cNvSpPr>
            <a:spLocks noGrp="1"/>
          </p:cNvSpPr>
          <p:nvPr>
            <p:ph idx="1"/>
          </p:nvPr>
        </p:nvSpPr>
        <p:spPr>
          <a:xfrm>
            <a:off x="370936" y="1531189"/>
            <a:ext cx="8229600" cy="4525963"/>
          </a:xfrm>
        </p:spPr>
        <p:txBody>
          <a:bodyPr/>
          <a:lstStyle/>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 copy 10 numbers between files</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 open the files</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fstream infile("input.txt", ios::in);</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fstream outfile("output.txt", ios::out);</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int num;</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for (int i = 1; i &lt;= 10; i++)</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a:t>
            </a:r>
          </a:p>
          <a:p>
            <a:pPr marL="990600" lvl="1" indent="0">
              <a:lnSpc>
                <a:spcPct val="85000"/>
              </a:lnSpc>
              <a:buClr>
                <a:srgbClr val="000000"/>
              </a:buClr>
              <a:buNone/>
            </a:pPr>
            <a:r>
              <a:rPr lang="en-US" altLang="en-US" sz="2400" dirty="0" smtClean="0">
                <a:solidFill>
                  <a:srgbClr val="000000"/>
                </a:solidFill>
                <a:latin typeface="Courier New" panose="02070309020205020404" pitchFamily="49" charset="0"/>
              </a:rPr>
              <a:t>infile </a:t>
            </a:r>
            <a:r>
              <a:rPr lang="en-US" altLang="en-US" sz="2400" dirty="0">
                <a:solidFill>
                  <a:srgbClr val="000000"/>
                </a:solidFill>
                <a:latin typeface="Courier New" panose="02070309020205020404" pitchFamily="49" charset="0"/>
              </a:rPr>
              <a:t>&gt;&gt; num</a:t>
            </a:r>
            <a:r>
              <a:rPr lang="en-US" altLang="en-US" sz="2400" dirty="0" smtClean="0">
                <a:solidFill>
                  <a:srgbClr val="000000"/>
                </a:solidFill>
                <a:latin typeface="Courier New" panose="02070309020205020404" pitchFamily="49" charset="0"/>
              </a:rPr>
              <a:t>; // </a:t>
            </a:r>
            <a:r>
              <a:rPr lang="en-US" altLang="en-US" sz="2400" dirty="0">
                <a:solidFill>
                  <a:srgbClr val="000000"/>
                </a:solidFill>
                <a:latin typeface="Courier New" panose="02070309020205020404" pitchFamily="49" charset="0"/>
              </a:rPr>
              <a:t>use the files</a:t>
            </a:r>
          </a:p>
          <a:p>
            <a:pPr marL="990600" lvl="1" indent="0">
              <a:lnSpc>
                <a:spcPct val="85000"/>
              </a:lnSpc>
              <a:buClr>
                <a:srgbClr val="000000"/>
              </a:buClr>
              <a:buNone/>
            </a:pPr>
            <a:r>
              <a:rPr lang="en-US" altLang="en-US" sz="2400" dirty="0" smtClean="0">
                <a:solidFill>
                  <a:srgbClr val="000000"/>
                </a:solidFill>
                <a:latin typeface="Courier New" panose="02070309020205020404" pitchFamily="49" charset="0"/>
              </a:rPr>
              <a:t>outfile </a:t>
            </a:r>
            <a:r>
              <a:rPr lang="en-US" altLang="en-US" sz="2400" dirty="0">
                <a:solidFill>
                  <a:srgbClr val="000000"/>
                </a:solidFill>
                <a:latin typeface="Courier New" panose="02070309020205020404" pitchFamily="49" charset="0"/>
              </a:rPr>
              <a:t>&lt;&lt; num;</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infile.close</a:t>
            </a:r>
            <a:r>
              <a:rPr lang="en-US" altLang="en-US" sz="2400" dirty="0" smtClean="0">
                <a:solidFill>
                  <a:srgbClr val="000000"/>
                </a:solidFill>
                <a:latin typeface="Courier New" panose="02070309020205020404" pitchFamily="49" charset="0"/>
              </a:rPr>
              <a:t>(); // </a:t>
            </a:r>
            <a:r>
              <a:rPr lang="en-US" altLang="en-US" sz="2400" dirty="0">
                <a:solidFill>
                  <a:srgbClr val="000000"/>
                </a:solidFill>
                <a:latin typeface="Courier New" panose="02070309020205020404" pitchFamily="49" charset="0"/>
              </a:rPr>
              <a:t>close the files</a:t>
            </a:r>
          </a:p>
          <a:p>
            <a:pPr marL="990600" lvl="1" indent="-533400">
              <a:lnSpc>
                <a:spcPct val="85000"/>
              </a:lnSpc>
              <a:buClr>
                <a:srgbClr val="000000"/>
              </a:buClr>
              <a:buNone/>
            </a:pPr>
            <a:r>
              <a:rPr lang="en-US" altLang="en-US" sz="2400" dirty="0">
                <a:solidFill>
                  <a:srgbClr val="000000"/>
                </a:solidFill>
                <a:latin typeface="Courier New" panose="02070309020205020404" pitchFamily="49" charset="0"/>
              </a:rPr>
              <a:t>outfile.close</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90996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Default File Open Modes</a:t>
            </a:r>
            <a:endParaRPr lang="en-US" dirty="0"/>
          </a:p>
        </p:txBody>
      </p:sp>
      <p:sp>
        <p:nvSpPr>
          <p:cNvPr id="3" name="Content Placeholder 2"/>
          <p:cNvSpPr>
            <a:spLocks noGrp="1"/>
          </p:cNvSpPr>
          <p:nvPr>
            <p:ph idx="1"/>
          </p:nvPr>
        </p:nvSpPr>
        <p:spPr/>
        <p:txBody>
          <a:bodyPr/>
          <a:lstStyle/>
          <a:p>
            <a:pPr lvl="0">
              <a:lnSpc>
                <a:spcPct val="85000"/>
              </a:lnSpc>
              <a:buFontTx/>
              <a:buChar char="•"/>
            </a:pPr>
            <a:r>
              <a:rPr lang="en-US" altLang="en-US" sz="2800" dirty="0">
                <a:solidFill>
                  <a:srgbClr val="000000"/>
                </a:solidFill>
                <a:latin typeface="Courier New" panose="02070309020205020404" pitchFamily="49" charset="0"/>
              </a:rPr>
              <a:t>ifstream</a:t>
            </a:r>
            <a:r>
              <a:rPr lang="en-US" altLang="en-US" sz="2800" dirty="0" smtClean="0">
                <a:solidFill>
                  <a:srgbClr val="000000"/>
                </a:solidFill>
              </a:rPr>
              <a:t>:</a:t>
            </a:r>
            <a:endParaRPr lang="en-US" altLang="en-US" sz="2800" dirty="0">
              <a:solidFill>
                <a:srgbClr val="000000"/>
              </a:solidFill>
            </a:endParaRPr>
          </a:p>
          <a:p>
            <a:pPr lvl="1">
              <a:lnSpc>
                <a:spcPct val="85000"/>
              </a:lnSpc>
            </a:pPr>
            <a:r>
              <a:rPr lang="en-US" altLang="en-US" sz="2400" dirty="0">
                <a:solidFill>
                  <a:srgbClr val="000000"/>
                </a:solidFill>
              </a:rPr>
              <a:t>open for input only</a:t>
            </a:r>
          </a:p>
          <a:p>
            <a:pPr lvl="1">
              <a:lnSpc>
                <a:spcPct val="85000"/>
              </a:lnSpc>
            </a:pPr>
            <a:r>
              <a:rPr lang="en-US" altLang="en-US" sz="2400" dirty="0">
                <a:solidFill>
                  <a:srgbClr val="000000"/>
                </a:solidFill>
              </a:rPr>
              <a:t>file cannot be written to</a:t>
            </a:r>
          </a:p>
          <a:p>
            <a:pPr lvl="1">
              <a:lnSpc>
                <a:spcPct val="85000"/>
              </a:lnSpc>
            </a:pPr>
            <a:r>
              <a:rPr lang="en-US" altLang="en-US" sz="2400" dirty="0">
                <a:solidFill>
                  <a:srgbClr val="000000"/>
                </a:solidFill>
                <a:latin typeface="Courier New" panose="02070309020205020404" pitchFamily="49" charset="0"/>
              </a:rPr>
              <a:t>open</a:t>
            </a:r>
            <a:r>
              <a:rPr lang="en-US" altLang="en-US" sz="2400" dirty="0">
                <a:solidFill>
                  <a:srgbClr val="000000"/>
                </a:solidFill>
              </a:rPr>
              <a:t> fails if file does not </a:t>
            </a:r>
            <a:r>
              <a:rPr lang="en-US" altLang="en-US" sz="2400" dirty="0" smtClean="0">
                <a:solidFill>
                  <a:srgbClr val="000000"/>
                </a:solidFill>
              </a:rPr>
              <a:t>exist</a:t>
            </a:r>
            <a:endParaRPr lang="en-US" altLang="en-US" sz="2400" dirty="0">
              <a:solidFill>
                <a:srgbClr val="000000"/>
              </a:solidFill>
            </a:endParaRPr>
          </a:p>
          <a:p>
            <a:pPr lvl="0">
              <a:lnSpc>
                <a:spcPct val="85000"/>
              </a:lnSpc>
              <a:spcBef>
                <a:spcPts val="3000"/>
              </a:spcBef>
              <a:buFontTx/>
              <a:buChar char="•"/>
            </a:pPr>
            <a:r>
              <a:rPr lang="en-US" altLang="en-US" sz="2800" dirty="0" smtClean="0">
                <a:solidFill>
                  <a:srgbClr val="000000"/>
                </a:solidFill>
                <a:latin typeface="Courier New" panose="02070309020205020404" pitchFamily="49" charset="0"/>
              </a:rPr>
              <a:t>ofstream:</a:t>
            </a:r>
          </a:p>
          <a:p>
            <a:pPr lvl="1">
              <a:lnSpc>
                <a:spcPct val="85000"/>
              </a:lnSpc>
            </a:pPr>
            <a:r>
              <a:rPr lang="en-US" altLang="en-US" sz="2400" dirty="0" smtClean="0">
                <a:solidFill>
                  <a:srgbClr val="000000"/>
                </a:solidFill>
              </a:rPr>
              <a:t>open for output only</a:t>
            </a:r>
          </a:p>
          <a:p>
            <a:pPr lvl="1">
              <a:lnSpc>
                <a:spcPct val="85000"/>
              </a:lnSpc>
            </a:pPr>
            <a:r>
              <a:rPr lang="en-US" altLang="en-US" sz="2400" dirty="0" smtClean="0">
                <a:solidFill>
                  <a:srgbClr val="000000"/>
                </a:solidFill>
              </a:rPr>
              <a:t>file </a:t>
            </a:r>
            <a:r>
              <a:rPr lang="en-US" altLang="en-US" sz="2400" dirty="0">
                <a:solidFill>
                  <a:srgbClr val="000000"/>
                </a:solidFill>
              </a:rPr>
              <a:t>cannot be read from</a:t>
            </a:r>
          </a:p>
          <a:p>
            <a:pPr lvl="1">
              <a:lnSpc>
                <a:spcPct val="85000"/>
              </a:lnSpc>
            </a:pPr>
            <a:r>
              <a:rPr lang="en-US" altLang="en-US" sz="2400" dirty="0">
                <a:solidFill>
                  <a:srgbClr val="000000"/>
                </a:solidFill>
              </a:rPr>
              <a:t>file created if no file exists</a:t>
            </a:r>
          </a:p>
          <a:p>
            <a:pPr lvl="1">
              <a:lnSpc>
                <a:spcPct val="85000"/>
              </a:lnSpc>
            </a:pPr>
            <a:r>
              <a:rPr lang="en-US" altLang="en-US" sz="2400" dirty="0">
                <a:solidFill>
                  <a:srgbClr val="000000"/>
                </a:solidFill>
              </a:rPr>
              <a:t>file contents erased if file </a:t>
            </a:r>
            <a:r>
              <a:rPr lang="en-US" altLang="en-US" sz="2400" dirty="0" smtClean="0">
                <a:solidFill>
                  <a:srgbClr val="000000"/>
                </a:solidFill>
              </a:rPr>
              <a:t>exists</a:t>
            </a:r>
            <a:endParaRPr lang="en-US" altLang="en-US" sz="2400" dirty="0">
              <a:solidFill>
                <a:srgbClr val="000000"/>
              </a:solidFill>
            </a:endParaRPr>
          </a:p>
        </p:txBody>
      </p:sp>
    </p:spTree>
    <p:extLst>
      <p:ext uri="{BB962C8B-B14F-4D97-AF65-F5344CB8AC3E}">
        <p14:creationId xmlns:p14="http://schemas.microsoft.com/office/powerpoint/2010/main" val="2691754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More File Open Details</a:t>
            </a:r>
            <a:endParaRPr lang="en-US" dirty="0"/>
          </a:p>
        </p:txBody>
      </p:sp>
      <p:sp>
        <p:nvSpPr>
          <p:cNvPr id="3" name="Content Placeholder 2"/>
          <p:cNvSpPr>
            <a:spLocks noGrp="1"/>
          </p:cNvSpPr>
          <p:nvPr>
            <p:ph idx="1"/>
          </p:nvPr>
        </p:nvSpPr>
        <p:spPr>
          <a:xfrm>
            <a:off x="310551" y="1600200"/>
            <a:ext cx="8082951" cy="4525963"/>
          </a:xfrm>
        </p:spPr>
        <p:txBody>
          <a:bodyPr/>
          <a:lstStyle/>
          <a:p>
            <a:pPr lvl="0">
              <a:lnSpc>
                <a:spcPct val="90000"/>
              </a:lnSpc>
              <a:buFontTx/>
              <a:buChar char="•"/>
            </a:pPr>
            <a:r>
              <a:rPr lang="en-US" altLang="en-US" dirty="0">
                <a:solidFill>
                  <a:srgbClr val="000000"/>
                </a:solidFill>
              </a:rPr>
              <a:t>Can use filename, flags in definition:</a:t>
            </a:r>
          </a:p>
          <a:p>
            <a:pPr lvl="1" indent="0">
              <a:lnSpc>
                <a:spcPct val="90000"/>
              </a:lnSpc>
              <a:buClr>
                <a:srgbClr val="3333CC"/>
              </a:buClr>
              <a:buNone/>
            </a:pPr>
            <a:r>
              <a:rPr lang="en-US" altLang="en-US" dirty="0" smtClean="0">
                <a:solidFill>
                  <a:srgbClr val="000000"/>
                </a:solidFill>
                <a:latin typeface="Courier New" panose="02070309020205020404" pitchFamily="49" charset="0"/>
              </a:rPr>
              <a:t>ifstream </a:t>
            </a:r>
            <a:r>
              <a:rPr lang="en-US" altLang="en-US" dirty="0">
                <a:solidFill>
                  <a:srgbClr val="000000"/>
                </a:solidFill>
                <a:latin typeface="Courier New" panose="02070309020205020404" pitchFamily="49" charset="0"/>
              </a:rPr>
              <a:t>gradeList("grades.txt</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lvl="0">
              <a:lnSpc>
                <a:spcPct val="90000"/>
              </a:lnSpc>
              <a:spcBef>
                <a:spcPts val="3800"/>
              </a:spcBef>
              <a:buFontTx/>
              <a:buChar char="•"/>
            </a:pPr>
            <a:r>
              <a:rPr lang="en-US" altLang="en-US" dirty="0">
                <a:solidFill>
                  <a:srgbClr val="000000"/>
                </a:solidFill>
              </a:rPr>
              <a:t>File stream object set to </a:t>
            </a:r>
            <a:r>
              <a:rPr lang="en-US" altLang="en-US" dirty="0">
                <a:solidFill>
                  <a:srgbClr val="000000"/>
                </a:solidFill>
                <a:latin typeface="Courier New" panose="02070309020205020404" pitchFamily="49" charset="0"/>
              </a:rPr>
              <a:t>0</a:t>
            </a:r>
            <a:r>
              <a:rPr lang="en-US" altLang="en-US" dirty="0">
                <a:solidFill>
                  <a:srgbClr val="000000"/>
                </a:solidFill>
              </a:rPr>
              <a:t> (</a:t>
            </a:r>
            <a:r>
              <a:rPr lang="en-US" altLang="en-US" dirty="0">
                <a:solidFill>
                  <a:srgbClr val="000000"/>
                </a:solidFill>
                <a:latin typeface="Courier New" panose="02070309020205020404" pitchFamily="49" charset="0"/>
              </a:rPr>
              <a:t>false</a:t>
            </a:r>
            <a:r>
              <a:rPr lang="en-US" altLang="en-US" dirty="0">
                <a:solidFill>
                  <a:srgbClr val="000000"/>
                </a:solidFill>
              </a:rPr>
              <a:t>) if open failed:</a:t>
            </a:r>
          </a:p>
          <a:p>
            <a:pPr lvl="1" indent="0">
              <a:lnSpc>
                <a:spcPct val="90000"/>
              </a:lnSpc>
              <a:buClr>
                <a:srgbClr val="3333CC"/>
              </a:buClr>
              <a:buNone/>
            </a:pPr>
            <a:r>
              <a:rPr lang="en-US" altLang="en-US" dirty="0" smtClean="0">
                <a:solidFill>
                  <a:srgbClr val="000000"/>
                </a:solidFill>
                <a:latin typeface="Courier New" panose="02070309020205020404" pitchFamily="49" charset="0"/>
              </a:rPr>
              <a:t>if </a:t>
            </a:r>
            <a:r>
              <a:rPr lang="en-US" altLang="en-US" dirty="0">
                <a:solidFill>
                  <a:srgbClr val="000000"/>
                </a:solidFill>
                <a:latin typeface="Courier New" panose="02070309020205020404" pitchFamily="49" charset="0"/>
              </a:rPr>
              <a:t>(!gradeList) </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lvl="0">
              <a:lnSpc>
                <a:spcPct val="90000"/>
              </a:lnSpc>
              <a:spcBef>
                <a:spcPts val="3700"/>
              </a:spcBef>
              <a:buFontTx/>
              <a:buChar char="•"/>
            </a:pPr>
            <a:r>
              <a:rPr lang="en-US" altLang="en-US" dirty="0">
                <a:solidFill>
                  <a:srgbClr val="000000"/>
                </a:solidFill>
              </a:rPr>
              <a:t>Can also check </a:t>
            </a:r>
            <a:r>
              <a:rPr lang="en-US" altLang="en-US" dirty="0">
                <a:solidFill>
                  <a:srgbClr val="000000"/>
                </a:solidFill>
                <a:latin typeface="Courier New" panose="02070309020205020404" pitchFamily="49" charset="0"/>
              </a:rPr>
              <a:t>fail</a:t>
            </a:r>
            <a:r>
              <a:rPr lang="en-US" altLang="en-US" dirty="0">
                <a:solidFill>
                  <a:srgbClr val="000000"/>
                </a:solidFill>
              </a:rPr>
              <a:t> member function to detect file open error:</a:t>
            </a:r>
          </a:p>
          <a:p>
            <a:pPr lvl="1" indent="0">
              <a:lnSpc>
                <a:spcPct val="90000"/>
              </a:lnSpc>
              <a:buClr>
                <a:srgbClr val="3333CC"/>
              </a:buClr>
              <a:buNone/>
            </a:pPr>
            <a:r>
              <a:rPr lang="en-US" altLang="en-US" dirty="0" smtClean="0">
                <a:solidFill>
                  <a:srgbClr val="000000"/>
                </a:solidFill>
                <a:latin typeface="Courier New" panose="02070309020205020404" pitchFamily="49" charset="0"/>
              </a:rPr>
              <a:t>if </a:t>
            </a:r>
            <a:r>
              <a:rPr lang="en-US" altLang="en-US" dirty="0">
                <a:solidFill>
                  <a:srgbClr val="000000"/>
                </a:solidFill>
                <a:latin typeface="Courier New" panose="02070309020205020404" pitchFamily="49" charset="0"/>
              </a:rPr>
              <a:t>(gradeList.fail()) </a:t>
            </a:r>
            <a:r>
              <a:rPr lang="en-US" altLang="en-US" dirty="0" smtClean="0">
                <a:solidFill>
                  <a:srgbClr val="000000"/>
                </a:solidFill>
                <a:latin typeface="Courier New" panose="02070309020205020404" pitchFamily="49" charset="0"/>
              </a:rPr>
              <a:t>...</a:t>
            </a:r>
            <a:endParaRPr lang="en-US" altLang="en-US" dirty="0">
              <a:solidFill>
                <a:srgbClr val="000000"/>
              </a:solidFill>
            </a:endParaRPr>
          </a:p>
        </p:txBody>
      </p:sp>
    </p:spTree>
    <p:extLst>
      <p:ext uri="{BB962C8B-B14F-4D97-AF65-F5344CB8AC3E}">
        <p14:creationId xmlns:p14="http://schemas.microsoft.com/office/powerpoint/2010/main" val="4116275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noChangeArrowheads="1"/>
          </p:cNvSpPr>
          <p:nvPr>
            <p:ph type="ctrTitle"/>
          </p:nvPr>
        </p:nvSpPr>
        <p:spPr/>
        <p:txBody>
          <a:bodyPr/>
          <a:lstStyle/>
          <a:p>
            <a:r>
              <a:rPr lang="en-US" altLang="en-US" dirty="0" smtClean="0"/>
              <a:t>12.2</a:t>
            </a:r>
          </a:p>
        </p:txBody>
      </p:sp>
      <p:sp>
        <p:nvSpPr>
          <p:cNvPr id="22531" name="Subtitle 2"/>
          <p:cNvSpPr>
            <a:spLocks noGrp="1" noChangeArrowheads="1"/>
          </p:cNvSpPr>
          <p:nvPr>
            <p:ph type="subTitle" idx="1"/>
          </p:nvPr>
        </p:nvSpPr>
        <p:spPr/>
        <p:txBody>
          <a:bodyPr/>
          <a:lstStyle/>
          <a:p>
            <a:r>
              <a:rPr lang="en-US" altLang="en-US" dirty="0" smtClean="0"/>
              <a:t>File Output Formatting</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File Output Formatting</a:t>
            </a:r>
            <a:endParaRPr lang="en-US" dirty="0"/>
          </a:p>
        </p:txBody>
      </p:sp>
      <p:sp>
        <p:nvSpPr>
          <p:cNvPr id="3" name="Content Placeholder 2"/>
          <p:cNvSpPr>
            <a:spLocks noGrp="1"/>
          </p:cNvSpPr>
          <p:nvPr>
            <p:ph idx="1"/>
          </p:nvPr>
        </p:nvSpPr>
        <p:spPr>
          <a:xfrm>
            <a:off x="301924" y="1824487"/>
            <a:ext cx="8229600" cy="4525963"/>
          </a:xfrm>
        </p:spPr>
        <p:txBody>
          <a:bodyPr/>
          <a:lstStyle/>
          <a:p>
            <a:pPr lvl="0">
              <a:buFontTx/>
              <a:buChar char="•"/>
            </a:pPr>
            <a:r>
              <a:rPr lang="en-US" altLang="en-US" dirty="0">
                <a:solidFill>
                  <a:srgbClr val="000000"/>
                </a:solidFill>
              </a:rPr>
              <a:t>Use the same techniques with file stream objects as with </a:t>
            </a:r>
            <a:r>
              <a:rPr lang="en-US" altLang="en-US" dirty="0">
                <a:solidFill>
                  <a:srgbClr val="000000"/>
                </a:solidFill>
                <a:latin typeface="Courier New" panose="02070309020205020404" pitchFamily="49" charset="0"/>
              </a:rPr>
              <a:t>cout</a:t>
            </a:r>
            <a:r>
              <a:rPr lang="en-US" altLang="en-US" dirty="0">
                <a:solidFill>
                  <a:srgbClr val="000000"/>
                </a:solidFill>
              </a:rPr>
              <a:t>: </a:t>
            </a:r>
            <a:r>
              <a:rPr lang="en-US" altLang="en-US" dirty="0">
                <a:solidFill>
                  <a:srgbClr val="000000"/>
                </a:solidFill>
                <a:latin typeface="Courier New" panose="02070309020205020404" pitchFamily="49" charset="0"/>
              </a:rPr>
              <a:t>showpoint, setw(x),</a:t>
            </a:r>
            <a:r>
              <a:rPr lang="en-US" altLang="en-US" dirty="0">
                <a:solidFill>
                  <a:srgbClr val="000000"/>
                </a:solidFill>
              </a:rPr>
              <a:t> </a:t>
            </a:r>
            <a:r>
              <a:rPr lang="en-US" altLang="en-US" dirty="0">
                <a:solidFill>
                  <a:srgbClr val="000000"/>
                </a:solidFill>
                <a:latin typeface="Courier New" panose="02070309020205020404" pitchFamily="49" charset="0"/>
              </a:rPr>
              <a:t>showprecision(x), </a:t>
            </a:r>
            <a:r>
              <a:rPr lang="en-US" altLang="en-US" dirty="0">
                <a:solidFill>
                  <a:srgbClr val="000000"/>
                </a:solidFill>
              </a:rPr>
              <a:t>etc</a:t>
            </a:r>
            <a:r>
              <a:rPr lang="en-US" altLang="en-US" dirty="0" smtClean="0">
                <a:solidFill>
                  <a:srgbClr val="000000"/>
                </a:solidFill>
              </a:rPr>
              <a:t>.</a:t>
            </a:r>
            <a:endParaRPr lang="en-US" altLang="en-US" dirty="0">
              <a:solidFill>
                <a:srgbClr val="000000"/>
              </a:solidFill>
            </a:endParaRPr>
          </a:p>
          <a:p>
            <a:pPr lvl="0">
              <a:spcBef>
                <a:spcPts val="4600"/>
              </a:spcBef>
              <a:buFontTx/>
              <a:buChar char="•"/>
            </a:pPr>
            <a:r>
              <a:rPr lang="en-US" altLang="en-US" dirty="0">
                <a:solidFill>
                  <a:srgbClr val="000000"/>
                </a:solidFill>
              </a:rPr>
              <a:t>Requires </a:t>
            </a:r>
            <a:r>
              <a:rPr lang="en-US" altLang="en-US" dirty="0">
                <a:solidFill>
                  <a:srgbClr val="000000"/>
                </a:solidFill>
                <a:latin typeface="Courier New" panose="02070309020205020404" pitchFamily="49" charset="0"/>
              </a:rPr>
              <a:t>iomanip</a:t>
            </a:r>
            <a:r>
              <a:rPr lang="en-US" altLang="en-US" dirty="0">
                <a:solidFill>
                  <a:srgbClr val="000000"/>
                </a:solidFill>
              </a:rPr>
              <a:t> to use </a:t>
            </a:r>
            <a:r>
              <a:rPr lang="en-US" altLang="en-US" dirty="0" smtClean="0">
                <a:solidFill>
                  <a:srgbClr val="000000"/>
                </a:solidFill>
              </a:rPr>
              <a:t>manipulators</a:t>
            </a:r>
            <a:endParaRPr lang="en-US" altLang="en-US" dirty="0">
              <a:solidFill>
                <a:srgbClr val="000000"/>
              </a:solidFill>
            </a:endParaRPr>
          </a:p>
        </p:txBody>
      </p:sp>
    </p:spTree>
    <p:extLst>
      <p:ext uri="{BB962C8B-B14F-4D97-AF65-F5344CB8AC3E}">
        <p14:creationId xmlns:p14="http://schemas.microsoft.com/office/powerpoint/2010/main" val="1199593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77842" cy="311958"/>
          </a:xfrm>
        </p:spPr>
        <p:txBody>
          <a:bodyPr/>
          <a:lstStyle/>
          <a:p>
            <a:r>
              <a:rPr lang="en-US" dirty="0" smtClean="0"/>
              <a:t> </a:t>
            </a:r>
            <a:endParaRPr lang="en-US" dirty="0"/>
          </a:p>
        </p:txBody>
      </p:sp>
      <p:pic>
        <p:nvPicPr>
          <p:cNvPr id="25602" name="Picture 1" descr="The screenshot shows the program that uses the setprecision and fixed manipulators to format the file output. The main statement declares the fstream dataFile, and num variables are declared. The line, dataFile.open (&quot;numfile.txt', ios: : out); opens in output mode. The line, dataFile double open brackets fixed; is represented to format for fixed-point notation. The line, dataFile double open brackets num  double open brackets end1; writes the number. The line, dataFile double open bracket setprecision(4); formats for four decimal places. The line, dataFile double open brackets num  double open brackets end1; writes the number.&#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85800"/>
            <a:ext cx="7934325"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93113"/>
          </a:xfrm>
        </p:spPr>
        <p:txBody>
          <a:bodyPr/>
          <a:lstStyle/>
          <a:p>
            <a:r>
              <a:rPr lang="en-US" dirty="0" smtClean="0"/>
              <a:t>  </a:t>
            </a:r>
            <a:endParaRPr lang="en-US" dirty="0"/>
          </a:p>
        </p:txBody>
      </p:sp>
      <p:pic>
        <p:nvPicPr>
          <p:cNvPr id="5" name="Picture 1" descr="The screenshot shows the program that uses the setprecision and fixed manipulators to format the file output. The main statement displays the format for three decimal places, two decimal places, and one decimal place, and writes the number. The program output displays the contents of the File numfile.txt.&#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38" y="1219200"/>
            <a:ext cx="8213725" cy="464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4995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noChangeArrowheads="1"/>
          </p:cNvSpPr>
          <p:nvPr>
            <p:ph type="ctrTitle"/>
          </p:nvPr>
        </p:nvSpPr>
        <p:spPr/>
        <p:txBody>
          <a:bodyPr/>
          <a:lstStyle/>
          <a:p>
            <a:r>
              <a:rPr lang="en-US" altLang="en-US" dirty="0" smtClean="0"/>
              <a:t>12.3</a:t>
            </a:r>
          </a:p>
        </p:txBody>
      </p:sp>
      <p:sp>
        <p:nvSpPr>
          <p:cNvPr id="27651" name="Subtitle 2"/>
          <p:cNvSpPr>
            <a:spLocks noGrp="1" noChangeArrowheads="1"/>
          </p:cNvSpPr>
          <p:nvPr>
            <p:ph type="subTitle" idx="1"/>
          </p:nvPr>
        </p:nvSpPr>
        <p:spPr/>
        <p:txBody>
          <a:bodyPr/>
          <a:lstStyle/>
          <a:p>
            <a:r>
              <a:rPr lang="en-US" altLang="en-US" dirty="0" smtClean="0"/>
              <a:t>Passing File Stream Objects to Functions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Passing File Stream Objects to Functions</a:t>
            </a:r>
            <a:endParaRPr lang="en-US" dirty="0"/>
          </a:p>
        </p:txBody>
      </p:sp>
      <p:sp>
        <p:nvSpPr>
          <p:cNvPr id="3" name="Content Placeholder 2"/>
          <p:cNvSpPr>
            <a:spLocks noGrp="1"/>
          </p:cNvSpPr>
          <p:nvPr>
            <p:ph idx="1"/>
          </p:nvPr>
        </p:nvSpPr>
        <p:spPr>
          <a:xfrm>
            <a:off x="301925" y="1824488"/>
            <a:ext cx="8229600" cy="2773392"/>
          </a:xfrm>
        </p:spPr>
        <p:txBody>
          <a:bodyPr/>
          <a:lstStyle/>
          <a:p>
            <a:pPr lvl="0">
              <a:buFontTx/>
              <a:buChar char="•"/>
            </a:pPr>
            <a:r>
              <a:rPr lang="en-US" altLang="en-US" dirty="0">
                <a:solidFill>
                  <a:srgbClr val="000000"/>
                </a:solidFill>
              </a:rPr>
              <a:t>It is very useful to pass file stream objects to </a:t>
            </a:r>
            <a:r>
              <a:rPr lang="en-US" altLang="en-US" dirty="0" smtClean="0">
                <a:solidFill>
                  <a:srgbClr val="000000"/>
                </a:solidFill>
              </a:rPr>
              <a:t>functions</a:t>
            </a:r>
            <a:endParaRPr lang="en-US" altLang="en-US" dirty="0">
              <a:solidFill>
                <a:srgbClr val="000000"/>
              </a:solidFill>
            </a:endParaRPr>
          </a:p>
          <a:p>
            <a:pPr lvl="0">
              <a:spcBef>
                <a:spcPts val="4600"/>
              </a:spcBef>
              <a:buFontTx/>
              <a:buChar char="•"/>
            </a:pPr>
            <a:r>
              <a:rPr lang="en-US" altLang="en-US" dirty="0">
                <a:solidFill>
                  <a:srgbClr val="000000"/>
                </a:solidFill>
              </a:rPr>
              <a:t>Be sure to always pass file stream objects by </a:t>
            </a:r>
            <a:r>
              <a:rPr lang="en-US" altLang="en-US" dirty="0" smtClean="0">
                <a:solidFill>
                  <a:srgbClr val="000000"/>
                </a:solidFill>
              </a:rPr>
              <a:t>reference</a:t>
            </a:r>
            <a:endParaRPr lang="en-US" altLang="en-US" dirty="0">
              <a:solidFill>
                <a:srgbClr val="000000"/>
              </a:solidFill>
            </a:endParaRPr>
          </a:p>
        </p:txBody>
      </p:sp>
    </p:spTree>
    <p:extLst>
      <p:ext uri="{BB962C8B-B14F-4D97-AF65-F5344CB8AC3E}">
        <p14:creationId xmlns:p14="http://schemas.microsoft.com/office/powerpoint/2010/main" val="3797911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08830" cy="260200"/>
          </a:xfrm>
        </p:spPr>
        <p:txBody>
          <a:bodyPr/>
          <a:lstStyle/>
          <a:p>
            <a:r>
              <a:rPr lang="en-US" dirty="0" smtClean="0"/>
              <a:t>   </a:t>
            </a:r>
            <a:endParaRPr lang="en-US" dirty="0"/>
          </a:p>
        </p:txBody>
      </p:sp>
      <p:pic>
        <p:nvPicPr>
          <p:cNvPr id="30722" name="Picture 1" descr="The screenshot shows the program that demonstrates how the file stream objects may be passed by reference to functions. The main statement declares the functions openFileIn (fstream ampersand, string) and showContents (fstream ampersand). The fstream dataFile is displayed under the main function. The if-else statement opens the file and reads the data. If the file cannot be opened it displays the outpu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52400"/>
            <a:ext cx="61722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255479" cy="260200"/>
          </a:xfrm>
        </p:spPr>
        <p:txBody>
          <a:bodyPr/>
          <a:lstStyle/>
          <a:p>
            <a:r>
              <a:rPr lang="en-US" dirty="0" smtClean="0"/>
              <a:t>    </a:t>
            </a:r>
            <a:endParaRPr lang="en-US" dirty="0"/>
          </a:p>
        </p:txBody>
      </p:sp>
      <p:pic>
        <p:nvPicPr>
          <p:cNvPr id="31746" name="Picture 1" descr="The screenshot shows the program that demonstrates how the file stream objects may be passed by reference to functions. The main statement declares the functions openFileIn (fstream ampersand, string) and showContents (fstream ampersand). The fstream dataFile is displayed under the main function. The if-else statement opens the file and reads the data. If the file cannot be opened it displays the output. The function openFileIn accepts a reference to an fstream object as an argument. The file is opened for input. The function returns true upon success, false upon failure. The function showContents accepts an fstream reference as its argument. it uses a loop to read each name from the file and displays it on the screen using a while loop.&#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2400"/>
            <a:ext cx="6216650" cy="613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3498"/>
          </a:xfrm>
        </p:spPr>
        <p:txBody>
          <a:bodyPr/>
          <a:lstStyle/>
          <a:p>
            <a:r>
              <a:rPr lang="en-US" dirty="0" smtClean="0"/>
              <a:t>     </a:t>
            </a:r>
            <a:endParaRPr lang="en-US" dirty="0"/>
          </a:p>
        </p:txBody>
      </p:sp>
      <p:pic>
        <p:nvPicPr>
          <p:cNvPr id="32770" name="Picture 1" descr="The program output displays how the file stream objects may be passed by reference to functions. The output reads, &quot;File opened successfully. Now reading data from the file. Jones, Smith, Willis, Davis, space, and Done.&#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2133600"/>
            <a:ext cx="805815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noChangeArrowheads="1"/>
          </p:cNvSpPr>
          <p:nvPr>
            <p:ph type="ctrTitle"/>
          </p:nvPr>
        </p:nvSpPr>
        <p:spPr/>
        <p:txBody>
          <a:bodyPr/>
          <a:lstStyle/>
          <a:p>
            <a:r>
              <a:rPr lang="en-US" altLang="en-US" dirty="0" smtClean="0"/>
              <a:t>12.4</a:t>
            </a:r>
          </a:p>
        </p:txBody>
      </p:sp>
      <p:sp>
        <p:nvSpPr>
          <p:cNvPr id="33795" name="Subtitle 2"/>
          <p:cNvSpPr>
            <a:spLocks noGrp="1" noChangeArrowheads="1"/>
          </p:cNvSpPr>
          <p:nvPr>
            <p:ph type="subTitle" idx="1"/>
          </p:nvPr>
        </p:nvSpPr>
        <p:spPr/>
        <p:txBody>
          <a:bodyPr/>
          <a:lstStyle/>
          <a:p>
            <a:r>
              <a:rPr lang="en-US" altLang="en-US" dirty="0" smtClean="0"/>
              <a:t>More Detailed Error Testing</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574" y="67604"/>
            <a:ext cx="8229600" cy="1143000"/>
          </a:xfrm>
        </p:spPr>
        <p:txBody>
          <a:bodyPr/>
          <a:lstStyle/>
          <a:p>
            <a:r>
              <a:rPr lang="en-US" altLang="en-US" dirty="0"/>
              <a:t>More Detailed Error Testing</a:t>
            </a:r>
            <a:endParaRPr lang="en-US" dirty="0"/>
          </a:p>
        </p:txBody>
      </p:sp>
      <p:sp>
        <p:nvSpPr>
          <p:cNvPr id="3" name="Content Placeholder 2"/>
          <p:cNvSpPr>
            <a:spLocks noGrp="1"/>
          </p:cNvSpPr>
          <p:nvPr>
            <p:ph idx="1"/>
          </p:nvPr>
        </p:nvSpPr>
        <p:spPr>
          <a:xfrm>
            <a:off x="457200" y="1807235"/>
            <a:ext cx="8315864" cy="1522562"/>
          </a:xfrm>
        </p:spPr>
        <p:txBody>
          <a:bodyPr/>
          <a:lstStyle/>
          <a:p>
            <a:pPr lvl="0">
              <a:lnSpc>
                <a:spcPct val="90000"/>
              </a:lnSpc>
              <a:buFontTx/>
              <a:buChar char="•"/>
            </a:pPr>
            <a:r>
              <a:rPr lang="en-US" altLang="en-US" sz="2800" dirty="0">
                <a:solidFill>
                  <a:srgbClr val="000000"/>
                </a:solidFill>
              </a:rPr>
              <a:t>Can examine error state bits to determine stream status</a:t>
            </a:r>
          </a:p>
          <a:p>
            <a:pPr lvl="0">
              <a:lnSpc>
                <a:spcPct val="90000"/>
              </a:lnSpc>
              <a:buFontTx/>
              <a:buChar char="•"/>
            </a:pPr>
            <a:r>
              <a:rPr lang="en-US" altLang="en-US" sz="2800" dirty="0">
                <a:solidFill>
                  <a:srgbClr val="000000"/>
                </a:solidFill>
              </a:rPr>
              <a:t>Bits tested/cleared by stream member </a:t>
            </a:r>
            <a:r>
              <a:rPr lang="en-US" altLang="en-US" sz="2800" dirty="0" smtClean="0">
                <a:solidFill>
                  <a:srgbClr val="000000"/>
                </a:solidFill>
              </a:rPr>
              <a:t>functions</a:t>
            </a:r>
            <a:endParaRPr lang="en-US" altLang="en-US" sz="2800" dirty="0">
              <a:solidFill>
                <a:srgbClr val="000000"/>
              </a:solidFill>
            </a:endParaRPr>
          </a:p>
        </p:txBody>
      </p:sp>
      <p:graphicFrame>
        <p:nvGraphicFramePr>
          <p:cNvPr id="5" name="Table 4" descr="The table shows the error stream bits and their definitions. ios: : eofbit- set when end of file detected; ios: : failbit- set when operation failed; ios: :hardfail- set when error occurred and no recovery; ios: :badbit - set when invalid operation attempted; ios: :goodbit - set when no other bits are set.&#10;"/>
          <p:cNvGraphicFramePr>
            <a:graphicFrameLocks noGrp="1"/>
          </p:cNvGraphicFramePr>
          <p:nvPr>
            <p:extLst>
              <p:ext uri="{D42A27DB-BD31-4B8C-83A1-F6EECF244321}">
                <p14:modId xmlns:p14="http://schemas.microsoft.com/office/powerpoint/2010/main" val="1588093131"/>
              </p:ext>
            </p:extLst>
          </p:nvPr>
        </p:nvGraphicFramePr>
        <p:xfrm>
          <a:off x="983411" y="3454879"/>
          <a:ext cx="7402513" cy="2330451"/>
        </p:xfrm>
        <a:graphic>
          <a:graphicData uri="http://schemas.openxmlformats.org/drawingml/2006/table">
            <a:tbl>
              <a:tblPr firstRow="1" firstCol="1"/>
              <a:tblGrid>
                <a:gridCol w="2341563"/>
                <a:gridCol w="5060950"/>
              </a:tblGrid>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rPr>
                        <a:t>ios::eofbit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set when end of file detected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rPr>
                        <a:t>ios::failbit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set when operation failed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rPr>
                        <a:t>ios::hardfail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set when error occurred and no recovery</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rPr>
                        <a:t>ios::badbit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set when invalid operation attempted</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rPr>
                        <a:t>ios::goodbit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set when no other bits are 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561393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287"/>
            <a:ext cx="8229600" cy="831042"/>
          </a:xfrm>
        </p:spPr>
        <p:txBody>
          <a:bodyPr/>
          <a:lstStyle/>
          <a:p>
            <a:r>
              <a:rPr lang="en-US" altLang="en-US" dirty="0"/>
              <a:t>Member Functions / Flags</a:t>
            </a:r>
            <a:endParaRPr lang="en-US" dirty="0"/>
          </a:p>
        </p:txBody>
      </p:sp>
      <p:graphicFrame>
        <p:nvGraphicFramePr>
          <p:cNvPr id="5" name="Table 4" descr="The table displays the member functions or flags: Eof ( ) - true if eofbit set, false otherwise; fail ( ) - true if failbit or hardfail set, false otherwise; bad ( ) - true if badbit set, false otherwise; good ( ) - true if goodbit set, false otherwise; clear ( ) -clear all flags (no arguments), or clear a specific flag.&#10;"/>
          <p:cNvGraphicFramePr>
            <a:graphicFrameLocks noGrp="1"/>
          </p:cNvGraphicFramePr>
          <p:nvPr>
            <p:extLst>
              <p:ext uri="{D42A27DB-BD31-4B8C-83A1-F6EECF244321}">
                <p14:modId xmlns:p14="http://schemas.microsoft.com/office/powerpoint/2010/main" val="1466032643"/>
              </p:ext>
            </p:extLst>
          </p:nvPr>
        </p:nvGraphicFramePr>
        <p:xfrm>
          <a:off x="543464" y="1712344"/>
          <a:ext cx="8075613" cy="3927476"/>
        </p:xfrm>
        <a:graphic>
          <a:graphicData uri="http://schemas.openxmlformats.org/drawingml/2006/table">
            <a:tbl>
              <a:tblPr firstRow="1" firstCol="1"/>
              <a:tblGrid>
                <a:gridCol w="1662113"/>
                <a:gridCol w="6413500"/>
              </a:tblGrid>
              <a:tr h="762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Courier New" pitchFamily="112" charset="0"/>
                        </a:rPr>
                        <a:t>eof()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true if </a:t>
                      </a:r>
                      <a:r>
                        <a:rPr kumimoji="0" lang="en-US" sz="2000" b="0" i="0" u="none" strike="noStrike" cap="none" normalizeH="0" baseline="0" dirty="0">
                          <a:ln>
                            <a:noFill/>
                          </a:ln>
                          <a:solidFill>
                            <a:schemeClr val="tx1"/>
                          </a:solidFill>
                          <a:effectLst/>
                          <a:latin typeface="Courier New" pitchFamily="112" charset="0"/>
                        </a:rPr>
                        <a:t>eofbit</a:t>
                      </a:r>
                      <a:r>
                        <a:rPr kumimoji="0" lang="en-US" sz="2000" b="0" i="0" u="none" strike="noStrike" cap="none" normalizeH="0" baseline="0" dirty="0">
                          <a:ln>
                            <a:noFill/>
                          </a:ln>
                          <a:solidFill>
                            <a:schemeClr val="tx1"/>
                          </a:solidFill>
                          <a:effectLst/>
                          <a:latin typeface="Arial" charset="0"/>
                        </a:rPr>
                        <a:t> set, false otherwise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07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Courier New" pitchFamily="112" charset="0"/>
                        </a:rPr>
                        <a:t>fail()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true if </a:t>
                      </a:r>
                      <a:r>
                        <a:rPr kumimoji="0" lang="en-US" sz="2000" b="0" i="0" u="none" strike="noStrike" cap="none" normalizeH="0" baseline="0" dirty="0">
                          <a:ln>
                            <a:noFill/>
                          </a:ln>
                          <a:solidFill>
                            <a:schemeClr val="tx1"/>
                          </a:solidFill>
                          <a:effectLst/>
                          <a:latin typeface="Courier New" pitchFamily="112" charset="0"/>
                        </a:rPr>
                        <a:t>failbit</a:t>
                      </a:r>
                      <a:r>
                        <a:rPr kumimoji="0" lang="en-US" sz="2000" b="0" i="0" u="none" strike="noStrike" cap="none" normalizeH="0" baseline="0" dirty="0">
                          <a:ln>
                            <a:noFill/>
                          </a:ln>
                          <a:solidFill>
                            <a:schemeClr val="tx1"/>
                          </a:solidFill>
                          <a:effectLst/>
                          <a:latin typeface="Arial" charset="0"/>
                        </a:rPr>
                        <a:t> or </a:t>
                      </a:r>
                      <a:r>
                        <a:rPr kumimoji="0" lang="en-US" sz="2000" b="0" i="0" u="none" strike="noStrike" cap="none" normalizeH="0" baseline="0" dirty="0">
                          <a:ln>
                            <a:noFill/>
                          </a:ln>
                          <a:solidFill>
                            <a:schemeClr val="tx1"/>
                          </a:solidFill>
                          <a:effectLst/>
                          <a:latin typeface="Courier New" pitchFamily="112" charset="0"/>
                        </a:rPr>
                        <a:t>hardfail</a:t>
                      </a:r>
                      <a:r>
                        <a:rPr kumimoji="0" lang="en-US" sz="2000" b="0" i="0" u="none" strike="noStrike" cap="none" normalizeH="0" baseline="0" dirty="0">
                          <a:ln>
                            <a:noFill/>
                          </a:ln>
                          <a:solidFill>
                            <a:schemeClr val="tx1"/>
                          </a:solidFill>
                          <a:effectLst/>
                          <a:latin typeface="Arial" charset="0"/>
                        </a:rPr>
                        <a:t> set, false otherwise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Courier New" pitchFamily="112" charset="0"/>
                        </a:rPr>
                        <a:t>bad()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true if </a:t>
                      </a:r>
                      <a:r>
                        <a:rPr kumimoji="0" lang="en-US" sz="2000" b="0" i="0" u="none" strike="noStrike" cap="none" normalizeH="0" baseline="0" dirty="0">
                          <a:ln>
                            <a:noFill/>
                          </a:ln>
                          <a:solidFill>
                            <a:schemeClr val="tx1"/>
                          </a:solidFill>
                          <a:effectLst/>
                          <a:latin typeface="Courier New" pitchFamily="112" charset="0"/>
                        </a:rPr>
                        <a:t>badbit</a:t>
                      </a:r>
                      <a:r>
                        <a:rPr kumimoji="0" lang="en-US" sz="2000" b="0" i="0" u="none" strike="noStrike" cap="none" normalizeH="0" baseline="0" dirty="0">
                          <a:ln>
                            <a:noFill/>
                          </a:ln>
                          <a:solidFill>
                            <a:schemeClr val="tx1"/>
                          </a:solidFill>
                          <a:effectLst/>
                          <a:latin typeface="Arial" charset="0"/>
                        </a:rPr>
                        <a:t> set, false otherwise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2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Courier New" pitchFamily="112" charset="0"/>
                        </a:rPr>
                        <a:t>good()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true if </a:t>
                      </a:r>
                      <a:r>
                        <a:rPr kumimoji="0" lang="en-US" sz="2000" b="0" i="0" u="none" strike="noStrike" cap="none" normalizeH="0" baseline="0" dirty="0">
                          <a:ln>
                            <a:noFill/>
                          </a:ln>
                          <a:solidFill>
                            <a:schemeClr val="tx1"/>
                          </a:solidFill>
                          <a:effectLst/>
                          <a:latin typeface="Courier New" pitchFamily="112" charset="0"/>
                        </a:rPr>
                        <a:t>goodbit</a:t>
                      </a:r>
                      <a:r>
                        <a:rPr kumimoji="0" lang="en-US" sz="2000" b="0" i="0" u="none" strike="noStrike" cap="none" normalizeH="0" baseline="0" dirty="0">
                          <a:ln>
                            <a:noFill/>
                          </a:ln>
                          <a:solidFill>
                            <a:schemeClr val="tx1"/>
                          </a:solidFill>
                          <a:effectLst/>
                          <a:latin typeface="Arial" charset="0"/>
                        </a:rPr>
                        <a:t> set, false otherwise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07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Courier New" pitchFamily="112" charset="0"/>
                        </a:rPr>
                        <a:t>clear()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clear all flags (no arguments), or clear a specific flag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893836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From Program 12-6</a:t>
            </a:r>
            <a:endParaRPr lang="en-US" dirty="0"/>
          </a:p>
        </p:txBody>
      </p:sp>
      <p:pic>
        <p:nvPicPr>
          <p:cNvPr id="4" name="Picture 3" descr="The screenshot displays the code for the function showState with the parameter fstream ampersand file. It prints the file status by using the functions eof bit, fail bit, bad bit, and good bit. The line, file.clear with an empty parameter list clears any bad bits.&#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81225"/>
            <a:ext cx="7924800" cy="267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5977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ctrTitle"/>
          </p:nvPr>
        </p:nvSpPr>
        <p:spPr/>
        <p:txBody>
          <a:bodyPr/>
          <a:lstStyle/>
          <a:p>
            <a:r>
              <a:rPr lang="en-US" altLang="en-US" dirty="0" smtClean="0"/>
              <a:t>12.5</a:t>
            </a:r>
          </a:p>
        </p:txBody>
      </p:sp>
      <p:sp>
        <p:nvSpPr>
          <p:cNvPr id="39939" name="Subtitle 2"/>
          <p:cNvSpPr>
            <a:spLocks noGrp="1" noChangeArrowheads="1"/>
          </p:cNvSpPr>
          <p:nvPr>
            <p:ph type="subTitle" idx="1"/>
          </p:nvPr>
        </p:nvSpPr>
        <p:spPr/>
        <p:txBody>
          <a:bodyPr/>
          <a:lstStyle/>
          <a:p>
            <a:r>
              <a:rPr lang="en-US" altLang="en-US" dirty="0" smtClean="0"/>
              <a:t>Member Functions for Reading and Writing Files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Member Functions for Reading and Writing Files</a:t>
            </a:r>
            <a:endParaRPr lang="en-US" dirty="0"/>
          </a:p>
        </p:txBody>
      </p:sp>
      <p:sp>
        <p:nvSpPr>
          <p:cNvPr id="3" name="Content Placeholder 2"/>
          <p:cNvSpPr>
            <a:spLocks noGrp="1"/>
          </p:cNvSpPr>
          <p:nvPr>
            <p:ph idx="1"/>
          </p:nvPr>
        </p:nvSpPr>
        <p:spPr>
          <a:xfrm>
            <a:off x="310550" y="1746849"/>
            <a:ext cx="8367623" cy="4525963"/>
          </a:xfrm>
        </p:spPr>
        <p:txBody>
          <a:bodyPr/>
          <a:lstStyle/>
          <a:p>
            <a:pPr lvl="0">
              <a:lnSpc>
                <a:spcPct val="90000"/>
              </a:lnSpc>
              <a:buFontTx/>
              <a:buChar char="•"/>
            </a:pPr>
            <a:r>
              <a:rPr lang="en-US" altLang="en-US" dirty="0">
                <a:solidFill>
                  <a:srgbClr val="000000"/>
                </a:solidFill>
              </a:rPr>
              <a:t>Functions that may be used for input with whitespace, to perform single character I/O, or to return to the beginning of an input file</a:t>
            </a:r>
          </a:p>
          <a:p>
            <a:pPr lvl="0">
              <a:lnSpc>
                <a:spcPct val="90000"/>
              </a:lnSpc>
              <a:buFontTx/>
              <a:buChar char="•"/>
            </a:pPr>
            <a:r>
              <a:rPr lang="en-US" altLang="en-US" dirty="0">
                <a:solidFill>
                  <a:srgbClr val="000000"/>
                </a:solidFill>
              </a:rPr>
              <a:t>Member functions:</a:t>
            </a:r>
          </a:p>
          <a:p>
            <a:pPr marL="740664" lvl="1" indent="0">
              <a:lnSpc>
                <a:spcPct val="90000"/>
              </a:lnSpc>
              <a:buNone/>
            </a:pPr>
            <a:r>
              <a:rPr lang="en-US" altLang="en-US" dirty="0" smtClean="0">
                <a:solidFill>
                  <a:srgbClr val="000000"/>
                </a:solidFill>
                <a:latin typeface="Courier New" panose="02070309020205020404" pitchFamily="49" charset="0"/>
              </a:rPr>
              <a:t>getline</a:t>
            </a:r>
            <a:r>
              <a:rPr lang="en-US" altLang="en-US" dirty="0">
                <a:solidFill>
                  <a:srgbClr val="000000"/>
                </a:solidFill>
              </a:rPr>
              <a:t>: reads input including whitespace</a:t>
            </a:r>
          </a:p>
          <a:p>
            <a:pPr marL="740664" lvl="1" indent="0">
              <a:lnSpc>
                <a:spcPct val="90000"/>
              </a:lnSpc>
              <a:buNone/>
            </a:pPr>
            <a:r>
              <a:rPr lang="en-US" altLang="en-US" dirty="0" smtClean="0">
                <a:solidFill>
                  <a:srgbClr val="000000"/>
                </a:solidFill>
                <a:latin typeface="Courier New" panose="02070309020205020404" pitchFamily="49" charset="0"/>
              </a:rPr>
              <a:t>get</a:t>
            </a:r>
            <a:r>
              <a:rPr lang="en-US" altLang="en-US" dirty="0">
                <a:solidFill>
                  <a:srgbClr val="000000"/>
                </a:solidFill>
              </a:rPr>
              <a:t>: reads a single character</a:t>
            </a:r>
          </a:p>
          <a:p>
            <a:pPr marL="740664" lvl="1" indent="0">
              <a:lnSpc>
                <a:spcPct val="90000"/>
              </a:lnSpc>
              <a:buNone/>
            </a:pPr>
            <a:r>
              <a:rPr lang="en-US" altLang="en-US" dirty="0" smtClean="0">
                <a:solidFill>
                  <a:srgbClr val="000000"/>
                </a:solidFill>
                <a:latin typeface="Courier New" panose="02070309020205020404" pitchFamily="49" charset="0"/>
              </a:rPr>
              <a:t>put</a:t>
            </a:r>
            <a:r>
              <a:rPr lang="en-US" altLang="en-US" dirty="0">
                <a:solidFill>
                  <a:srgbClr val="000000"/>
                </a:solidFill>
              </a:rPr>
              <a:t>: writes a single </a:t>
            </a:r>
            <a:r>
              <a:rPr lang="en-US" altLang="en-US" dirty="0" smtClean="0">
                <a:solidFill>
                  <a:srgbClr val="000000"/>
                </a:solidFill>
              </a:rPr>
              <a:t>character</a:t>
            </a:r>
            <a:endParaRPr lang="en-US" altLang="en-US" dirty="0">
              <a:solidFill>
                <a:srgbClr val="000000"/>
              </a:solidFill>
            </a:endParaRPr>
          </a:p>
        </p:txBody>
      </p:sp>
    </p:spTree>
    <p:extLst>
      <p:ext uri="{BB962C8B-B14F-4D97-AF65-F5344CB8AC3E}">
        <p14:creationId xmlns:p14="http://schemas.microsoft.com/office/powerpoint/2010/main" val="4192706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latin typeface="Courier New" pitchFamily="112" charset="0"/>
              </a:rPr>
              <a:t>getline</a:t>
            </a:r>
            <a:r>
              <a:rPr lang="en-US" dirty="0"/>
              <a:t> Function</a:t>
            </a:r>
          </a:p>
        </p:txBody>
      </p:sp>
      <p:sp>
        <p:nvSpPr>
          <p:cNvPr id="3" name="Content Placeholder 2"/>
          <p:cNvSpPr>
            <a:spLocks noGrp="1"/>
          </p:cNvSpPr>
          <p:nvPr>
            <p:ph idx="1"/>
          </p:nvPr>
        </p:nvSpPr>
        <p:spPr>
          <a:xfrm>
            <a:off x="457200" y="1600200"/>
            <a:ext cx="7979434" cy="4525963"/>
          </a:xfrm>
        </p:spPr>
        <p:txBody>
          <a:bodyPr/>
          <a:lstStyle/>
          <a:p>
            <a:pPr lvl="0">
              <a:lnSpc>
                <a:spcPct val="90000"/>
              </a:lnSpc>
              <a:buFontTx/>
              <a:buChar char="•"/>
            </a:pPr>
            <a:r>
              <a:rPr lang="en-US" altLang="en-US" sz="2800" dirty="0">
                <a:solidFill>
                  <a:srgbClr val="000000"/>
                </a:solidFill>
              </a:rPr>
              <a:t>Three arguments:</a:t>
            </a:r>
          </a:p>
          <a:p>
            <a:pPr lvl="1">
              <a:lnSpc>
                <a:spcPct val="90000"/>
              </a:lnSpc>
            </a:pPr>
            <a:r>
              <a:rPr lang="en-US" altLang="en-US" sz="2400" dirty="0">
                <a:solidFill>
                  <a:srgbClr val="000000"/>
                </a:solidFill>
              </a:rPr>
              <a:t>Name of a file stream object</a:t>
            </a:r>
          </a:p>
          <a:p>
            <a:pPr lvl="1">
              <a:lnSpc>
                <a:spcPct val="90000"/>
              </a:lnSpc>
            </a:pPr>
            <a:r>
              <a:rPr lang="en-US" altLang="en-US" sz="2400" dirty="0">
                <a:solidFill>
                  <a:srgbClr val="000000"/>
                </a:solidFill>
              </a:rPr>
              <a:t>Name of a </a:t>
            </a:r>
            <a:r>
              <a:rPr lang="en-US" altLang="en-US" sz="2400" dirty="0">
                <a:solidFill>
                  <a:srgbClr val="000000"/>
                </a:solidFill>
                <a:latin typeface="Courier New" panose="02070309020205020404" pitchFamily="49" charset="0"/>
                <a:cs typeface="Courier New" panose="02070309020205020404" pitchFamily="49" charset="0"/>
              </a:rPr>
              <a:t>string</a:t>
            </a:r>
            <a:r>
              <a:rPr lang="en-US" altLang="en-US" sz="2400" dirty="0">
                <a:solidFill>
                  <a:srgbClr val="000000"/>
                </a:solidFill>
              </a:rPr>
              <a:t> object</a:t>
            </a:r>
          </a:p>
          <a:p>
            <a:pPr lvl="1">
              <a:lnSpc>
                <a:spcPct val="90000"/>
              </a:lnSpc>
            </a:pPr>
            <a:r>
              <a:rPr lang="en-US" altLang="en-US" sz="2400" dirty="0">
                <a:solidFill>
                  <a:srgbClr val="000000"/>
                </a:solidFill>
              </a:rPr>
              <a:t>Delimiter character of your choice</a:t>
            </a:r>
          </a:p>
          <a:p>
            <a:pPr lvl="1">
              <a:lnSpc>
                <a:spcPct val="90000"/>
              </a:lnSpc>
            </a:pPr>
            <a:r>
              <a:rPr lang="en-US" altLang="en-US" sz="2400" dirty="0">
                <a:solidFill>
                  <a:srgbClr val="000000"/>
                </a:solidFill>
              </a:rPr>
              <a:t>Examples, using the file stream object </a:t>
            </a:r>
            <a:r>
              <a:rPr lang="en-US" altLang="en-US" sz="2400" dirty="0">
                <a:solidFill>
                  <a:srgbClr val="000000"/>
                </a:solidFill>
                <a:latin typeface="Courier New" panose="02070309020205020404" pitchFamily="49" charset="0"/>
              </a:rPr>
              <a:t>myFile</a:t>
            </a:r>
            <a:r>
              <a:rPr lang="en-US" altLang="en-US" sz="2400" dirty="0">
                <a:solidFill>
                  <a:srgbClr val="000000"/>
                </a:solidFill>
              </a:rPr>
              <a:t>,</a:t>
            </a:r>
            <a:r>
              <a:rPr lang="en-US" altLang="en-US" sz="2400" dirty="0">
                <a:solidFill>
                  <a:srgbClr val="000000"/>
                </a:solidFill>
                <a:latin typeface="Courier New" panose="02070309020205020404" pitchFamily="49" charset="0"/>
              </a:rPr>
              <a:t> </a:t>
            </a:r>
            <a:r>
              <a:rPr lang="en-US" altLang="en-US" sz="2400" dirty="0">
                <a:solidFill>
                  <a:srgbClr val="000000"/>
                </a:solidFill>
              </a:rPr>
              <a:t>and the </a:t>
            </a:r>
            <a:r>
              <a:rPr lang="en-US" altLang="en-US" sz="2400" dirty="0">
                <a:solidFill>
                  <a:srgbClr val="000000"/>
                </a:solidFill>
                <a:latin typeface="Courier New" panose="02070309020205020404" pitchFamily="49" charset="0"/>
                <a:cs typeface="Courier New" panose="02070309020205020404" pitchFamily="49" charset="0"/>
              </a:rPr>
              <a:t>string</a:t>
            </a:r>
            <a:r>
              <a:rPr lang="en-US" altLang="en-US" sz="2400" dirty="0">
                <a:solidFill>
                  <a:srgbClr val="000000"/>
                </a:solidFill>
              </a:rPr>
              <a:t> objects </a:t>
            </a:r>
            <a:r>
              <a:rPr lang="en-US" altLang="en-US" sz="2400" dirty="0">
                <a:solidFill>
                  <a:srgbClr val="000000"/>
                </a:solidFill>
                <a:latin typeface="Courier New" panose="02070309020205020404" pitchFamily="49" charset="0"/>
              </a:rPr>
              <a:t>name</a:t>
            </a:r>
            <a:r>
              <a:rPr lang="en-US" altLang="en-US" sz="2400" dirty="0">
                <a:solidFill>
                  <a:srgbClr val="000000"/>
                </a:solidFill>
              </a:rPr>
              <a:t> and </a:t>
            </a:r>
            <a:r>
              <a:rPr lang="en-US" altLang="en-US" sz="2400" dirty="0">
                <a:solidFill>
                  <a:srgbClr val="000000"/>
                </a:solidFill>
                <a:latin typeface="Courier New" panose="02070309020205020404" pitchFamily="49" charset="0"/>
              </a:rPr>
              <a:t>address:</a:t>
            </a:r>
            <a:endParaRPr lang="en-US" altLang="en-US" sz="2400" dirty="0">
              <a:solidFill>
                <a:srgbClr val="000000"/>
              </a:solidFill>
            </a:endParaRPr>
          </a:p>
          <a:p>
            <a:pPr lvl="1" indent="0">
              <a:lnSpc>
                <a:spcPct val="90000"/>
              </a:lnSpc>
              <a:buNone/>
            </a:pPr>
            <a:r>
              <a:rPr lang="en-US" altLang="en-US" sz="2400" dirty="0" smtClean="0">
                <a:solidFill>
                  <a:srgbClr val="000000"/>
                </a:solidFill>
                <a:latin typeface="Courier New" panose="02070309020205020404" pitchFamily="49" charset="0"/>
              </a:rPr>
              <a:t>getline(myFile</a:t>
            </a:r>
            <a:r>
              <a:rPr lang="en-US" altLang="en-US" sz="2400" dirty="0">
                <a:solidFill>
                  <a:srgbClr val="000000"/>
                </a:solidFill>
                <a:latin typeface="Courier New" panose="02070309020205020404" pitchFamily="49" charset="0"/>
              </a:rPr>
              <a:t>, name);</a:t>
            </a:r>
          </a:p>
          <a:p>
            <a:pPr lvl="1" indent="0">
              <a:lnSpc>
                <a:spcPct val="90000"/>
              </a:lnSpc>
              <a:buNone/>
            </a:pPr>
            <a:r>
              <a:rPr lang="en-US" altLang="en-US" sz="2400" dirty="0" smtClean="0">
                <a:solidFill>
                  <a:srgbClr val="000000"/>
                </a:solidFill>
                <a:latin typeface="Courier New" panose="02070309020205020404" pitchFamily="49" charset="0"/>
              </a:rPr>
              <a:t>getline(myFile</a:t>
            </a:r>
            <a:r>
              <a:rPr lang="en-US" altLang="en-US" sz="2400" dirty="0">
                <a:solidFill>
                  <a:srgbClr val="000000"/>
                </a:solidFill>
                <a:latin typeface="Courier New" panose="02070309020205020404" pitchFamily="49" charset="0"/>
              </a:rPr>
              <a:t>, address, '\t</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lvl="1">
              <a:lnSpc>
                <a:spcPct val="90000"/>
              </a:lnSpc>
              <a:spcBef>
                <a:spcPts val="3800"/>
              </a:spcBef>
            </a:pPr>
            <a:r>
              <a:rPr lang="en-US" altLang="en-US" sz="2400" dirty="0" smtClean="0">
                <a:solidFill>
                  <a:srgbClr val="000000"/>
                </a:solidFill>
              </a:rPr>
              <a:t>If </a:t>
            </a:r>
            <a:r>
              <a:rPr lang="en-US" altLang="en-US" sz="2400" dirty="0">
                <a:solidFill>
                  <a:srgbClr val="000000"/>
                </a:solidFill>
              </a:rPr>
              <a:t>left out, </a:t>
            </a:r>
            <a:r>
              <a:rPr lang="en-US" altLang="en-US" sz="2400" dirty="0">
                <a:solidFill>
                  <a:srgbClr val="000000"/>
                </a:solidFill>
                <a:latin typeface="Courier New" panose="02070309020205020404" pitchFamily="49" charset="0"/>
              </a:rPr>
              <a:t>'\n'</a:t>
            </a:r>
            <a:r>
              <a:rPr lang="en-US" altLang="en-US" sz="2400" dirty="0">
                <a:solidFill>
                  <a:srgbClr val="000000"/>
                </a:solidFill>
              </a:rPr>
              <a:t> is default for third </a:t>
            </a:r>
            <a:r>
              <a:rPr lang="en-US" altLang="en-US" sz="2400" dirty="0" smtClean="0">
                <a:solidFill>
                  <a:srgbClr val="000000"/>
                </a:solidFill>
              </a:rPr>
              <a:t>argument</a:t>
            </a:r>
            <a:endParaRPr lang="en-US" altLang="en-US" sz="2400" dirty="0">
              <a:solidFill>
                <a:srgbClr val="000000"/>
              </a:solidFill>
            </a:endParaRPr>
          </a:p>
        </p:txBody>
      </p:sp>
    </p:spTree>
    <p:extLst>
      <p:ext uri="{BB962C8B-B14F-4D97-AF65-F5344CB8AC3E}">
        <p14:creationId xmlns:p14="http://schemas.microsoft.com/office/powerpoint/2010/main" val="27007904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368457"/>
          </a:xfrm>
        </p:spPr>
        <p:txBody>
          <a:bodyPr/>
          <a:lstStyle/>
          <a:p>
            <a:r>
              <a:rPr lang="en-US" dirty="0" smtClean="0"/>
              <a:t>          </a:t>
            </a:r>
            <a:endParaRPr lang="en-US" dirty="0"/>
          </a:p>
        </p:txBody>
      </p:sp>
      <p:pic>
        <p:nvPicPr>
          <p:cNvPr id="45058" name="Picture 1" descr="The screenshot shows the program that uses the getline function to read a line of data from the file. The main statement displays the string input to hold a file input and fstream nameFile for the filestream object. The program opens the file in input mode, and continues if successful. The program uses the if-else statement to read an item from the file.&#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57200"/>
            <a:ext cx="7766050" cy="554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246853" cy="406849"/>
          </a:xfrm>
        </p:spPr>
        <p:txBody>
          <a:bodyPr/>
          <a:lstStyle/>
          <a:p>
            <a:r>
              <a:rPr lang="en-US" dirty="0" smtClean="0"/>
              <a:t>      </a:t>
            </a:r>
            <a:endParaRPr lang="en-US" dirty="0"/>
          </a:p>
        </p:txBody>
      </p:sp>
      <p:pic>
        <p:nvPicPr>
          <p:cNvPr id="46082" name="Picture 1" descr="The screenshot shows the program that uses the getline function to read a line of data from the file. The main statement displays the string input to hold a file input and fstream nameFile for the filestream object. The program opens the file in input mode, and continues if successful. The program uses the if-else statement to read an item from the file and the getline function to read a line of data from the file. The while loop displays the last item read, reads the next item and closes the file. Else it returns the error message, &quot;Cannot open file.&quot; The program output reads, &quot;Jayne Murphy, 47 Jones Circle, Almond, NC 28702.&#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2400"/>
            <a:ext cx="6111875" cy="585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Single Character I/O</a:t>
            </a:r>
            <a:endParaRPr lang="en-US"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latin typeface="Courier New" panose="02070309020205020404" pitchFamily="49" charset="0"/>
              </a:rPr>
              <a:t>get</a:t>
            </a:r>
            <a:r>
              <a:rPr lang="en-US" altLang="en-US" dirty="0">
                <a:solidFill>
                  <a:srgbClr val="000000"/>
                </a:solidFill>
              </a:rPr>
              <a:t>: read a single character from a file</a:t>
            </a:r>
          </a:p>
          <a:p>
            <a:pPr lvl="1" indent="0">
              <a:buClr>
                <a:srgbClr val="3333CC"/>
              </a:buClr>
              <a:buNone/>
            </a:pPr>
            <a:r>
              <a:rPr lang="en-US" altLang="en-US" dirty="0" smtClean="0">
                <a:solidFill>
                  <a:srgbClr val="000000"/>
                </a:solidFill>
                <a:latin typeface="Courier New" panose="02070309020205020404" pitchFamily="49" charset="0"/>
              </a:rPr>
              <a:t>char </a:t>
            </a:r>
            <a:r>
              <a:rPr lang="en-US" altLang="en-US" dirty="0">
                <a:solidFill>
                  <a:srgbClr val="000000"/>
                </a:solidFill>
                <a:latin typeface="Courier New" panose="02070309020205020404" pitchFamily="49" charset="0"/>
              </a:rPr>
              <a:t>letterGrade;</a:t>
            </a:r>
          </a:p>
          <a:p>
            <a:pPr lvl="1" indent="0">
              <a:buClr>
                <a:srgbClr val="3333CC"/>
              </a:buClr>
              <a:buNone/>
            </a:pPr>
            <a:r>
              <a:rPr lang="en-US" altLang="en-US" dirty="0" smtClean="0">
                <a:solidFill>
                  <a:srgbClr val="000000"/>
                </a:solidFill>
                <a:latin typeface="Courier New" panose="02070309020205020404" pitchFamily="49" charset="0"/>
              </a:rPr>
              <a:t>gradeFile.get(letterGrade</a:t>
            </a:r>
            <a:r>
              <a:rPr lang="en-US" altLang="en-US" dirty="0">
                <a:solidFill>
                  <a:srgbClr val="000000"/>
                </a:solidFill>
                <a:latin typeface="Courier New" panose="02070309020205020404" pitchFamily="49" charset="0"/>
              </a:rPr>
              <a:t>);</a:t>
            </a:r>
          </a:p>
          <a:p>
            <a:pPr lvl="1">
              <a:buClr>
                <a:srgbClr val="3333CC"/>
              </a:buClr>
              <a:buNone/>
            </a:pPr>
            <a:r>
              <a:rPr lang="en-US" altLang="en-US" dirty="0">
                <a:solidFill>
                  <a:srgbClr val="000000"/>
                </a:solidFill>
              </a:rPr>
              <a:t>Will read any character, including </a:t>
            </a:r>
            <a:r>
              <a:rPr lang="en-US" altLang="en-US" dirty="0" smtClean="0">
                <a:solidFill>
                  <a:srgbClr val="000000"/>
                </a:solidFill>
              </a:rPr>
              <a:t>whitespace</a:t>
            </a:r>
            <a:endParaRPr lang="en-US" altLang="en-US" dirty="0">
              <a:solidFill>
                <a:srgbClr val="000000"/>
              </a:solidFill>
            </a:endParaRPr>
          </a:p>
          <a:p>
            <a:pPr lvl="0">
              <a:spcBef>
                <a:spcPts val="4100"/>
              </a:spcBef>
              <a:buFontTx/>
              <a:buChar char="•"/>
            </a:pPr>
            <a:r>
              <a:rPr lang="en-US" altLang="en-US" dirty="0">
                <a:solidFill>
                  <a:srgbClr val="000000"/>
                </a:solidFill>
                <a:latin typeface="Courier New" panose="02070309020205020404" pitchFamily="49" charset="0"/>
              </a:rPr>
              <a:t>put</a:t>
            </a:r>
            <a:r>
              <a:rPr lang="en-US" altLang="en-US" dirty="0">
                <a:solidFill>
                  <a:srgbClr val="000000"/>
                </a:solidFill>
              </a:rPr>
              <a:t>: write a single character to a file</a:t>
            </a:r>
          </a:p>
          <a:p>
            <a:pPr lvl="1" indent="0">
              <a:buClr>
                <a:srgbClr val="3333CC"/>
              </a:buClr>
              <a:buNone/>
            </a:pPr>
            <a:r>
              <a:rPr lang="en-US" altLang="en-US" dirty="0" smtClean="0">
                <a:solidFill>
                  <a:srgbClr val="000000"/>
                </a:solidFill>
                <a:latin typeface="Courier New" panose="02070309020205020404" pitchFamily="49" charset="0"/>
              </a:rPr>
              <a:t>reportFile.put(letterGrade);</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6119129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noChangeArrowheads="1"/>
          </p:cNvSpPr>
          <p:nvPr>
            <p:ph type="ctrTitle"/>
          </p:nvPr>
        </p:nvSpPr>
        <p:spPr/>
        <p:txBody>
          <a:bodyPr/>
          <a:lstStyle/>
          <a:p>
            <a:r>
              <a:rPr lang="en-US" altLang="en-US" dirty="0" smtClean="0"/>
              <a:t>12.6</a:t>
            </a:r>
          </a:p>
        </p:txBody>
      </p:sp>
      <p:sp>
        <p:nvSpPr>
          <p:cNvPr id="49155" name="Subtitle 2"/>
          <p:cNvSpPr>
            <a:spLocks noGrp="1" noChangeArrowheads="1"/>
          </p:cNvSpPr>
          <p:nvPr>
            <p:ph type="subTitle" idx="1"/>
          </p:nvPr>
        </p:nvSpPr>
        <p:spPr/>
        <p:txBody>
          <a:bodyPr/>
          <a:lstStyle/>
          <a:p>
            <a:r>
              <a:rPr lang="en-US" altLang="en-US" dirty="0" smtClean="0"/>
              <a:t>Working with Multiple Files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Working with Multiple Files</a:t>
            </a:r>
            <a:endParaRPr lang="en-US" dirty="0"/>
          </a:p>
        </p:txBody>
      </p:sp>
      <p:sp>
        <p:nvSpPr>
          <p:cNvPr id="3" name="Content Placeholder 2"/>
          <p:cNvSpPr>
            <a:spLocks noGrp="1"/>
          </p:cNvSpPr>
          <p:nvPr>
            <p:ph idx="1"/>
          </p:nvPr>
        </p:nvSpPr>
        <p:spPr/>
        <p:txBody>
          <a:bodyPr/>
          <a:lstStyle/>
          <a:p>
            <a:pPr lvl="0">
              <a:spcBef>
                <a:spcPct val="50000"/>
              </a:spcBef>
              <a:buFontTx/>
              <a:buChar char="•"/>
            </a:pPr>
            <a:r>
              <a:rPr lang="en-US" altLang="en-US" dirty="0">
                <a:solidFill>
                  <a:srgbClr val="000000"/>
                </a:solidFill>
              </a:rPr>
              <a:t>Can have more than file open at a time in a </a:t>
            </a:r>
            <a:r>
              <a:rPr lang="en-US" altLang="en-US" dirty="0" smtClean="0">
                <a:solidFill>
                  <a:srgbClr val="000000"/>
                </a:solidFill>
              </a:rPr>
              <a:t>program</a:t>
            </a:r>
            <a:endParaRPr lang="en-US" altLang="en-US" dirty="0">
              <a:solidFill>
                <a:srgbClr val="000000"/>
              </a:solidFill>
            </a:endParaRPr>
          </a:p>
          <a:p>
            <a:pPr lvl="0">
              <a:spcBef>
                <a:spcPts val="5800"/>
              </a:spcBef>
              <a:buFontTx/>
              <a:buChar char="•"/>
            </a:pPr>
            <a:r>
              <a:rPr lang="en-US" altLang="en-US" dirty="0">
                <a:solidFill>
                  <a:srgbClr val="000000"/>
                </a:solidFill>
              </a:rPr>
              <a:t>Files may be open for input or </a:t>
            </a:r>
            <a:r>
              <a:rPr lang="en-US" altLang="en-US" dirty="0" smtClean="0">
                <a:solidFill>
                  <a:srgbClr val="000000"/>
                </a:solidFill>
              </a:rPr>
              <a:t>output</a:t>
            </a:r>
            <a:endParaRPr lang="en-US" altLang="en-US" dirty="0">
              <a:solidFill>
                <a:srgbClr val="000000"/>
              </a:solidFill>
            </a:endParaRPr>
          </a:p>
          <a:p>
            <a:pPr lvl="0">
              <a:spcBef>
                <a:spcPts val="5800"/>
              </a:spcBef>
              <a:buFontTx/>
              <a:buChar char="•"/>
            </a:pPr>
            <a:r>
              <a:rPr lang="en-US" altLang="en-US" dirty="0">
                <a:solidFill>
                  <a:srgbClr val="000000"/>
                </a:solidFill>
              </a:rPr>
              <a:t>Need to define file stream object for each </a:t>
            </a:r>
            <a:r>
              <a:rPr lang="en-US" altLang="en-US" dirty="0" smtClean="0">
                <a:solidFill>
                  <a:srgbClr val="000000"/>
                </a:solidFill>
              </a:rPr>
              <a:t>file</a:t>
            </a:r>
            <a:endParaRPr lang="en-US" altLang="en-US" dirty="0">
              <a:solidFill>
                <a:srgbClr val="000000"/>
              </a:solidFill>
            </a:endParaRPr>
          </a:p>
        </p:txBody>
      </p:sp>
    </p:spTree>
    <p:extLst>
      <p:ext uri="{BB962C8B-B14F-4D97-AF65-F5344CB8AC3E}">
        <p14:creationId xmlns:p14="http://schemas.microsoft.com/office/powerpoint/2010/main" val="968051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75860"/>
          </a:xfrm>
        </p:spPr>
        <p:txBody>
          <a:bodyPr/>
          <a:lstStyle/>
          <a:p>
            <a:r>
              <a:rPr lang="en-US" dirty="0" smtClean="0"/>
              <a:t>       </a:t>
            </a:r>
            <a:endParaRPr lang="en-US" dirty="0"/>
          </a:p>
        </p:txBody>
      </p:sp>
      <p:pic>
        <p:nvPicPr>
          <p:cNvPr id="52226" name="Picture 1" descr="The screenshot shows the program that demonstrates reading from one file and writing to a second file. The main statement declares the sting file name, character, and input file. The program open a file for output, gets the input file name, and opens the file for input. The line, ofstream outFile ('out.txt&quot;); is represented to open a file for output. The user enters the input file name. The line, inFile.open(filename); opens the file for inpu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938" y="152400"/>
            <a:ext cx="7604125"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80970"/>
          </a:xfrm>
        </p:spPr>
        <p:txBody>
          <a:bodyPr/>
          <a:lstStyle/>
          <a:p>
            <a:r>
              <a:rPr lang="en-US" dirty="0" smtClean="0"/>
              <a:t>        </a:t>
            </a:r>
            <a:endParaRPr lang="en-US" dirty="0"/>
          </a:p>
        </p:txBody>
      </p:sp>
      <p:pic>
        <p:nvPicPr>
          <p:cNvPr id="53250" name="Picture 1" descr="The screenshot shows the program that demonstrates reading the from one file and writing to a second file. The main statement declares the sting file name, character, and input file. The program open a file for output, gets the input file name, and opens the file for input. The line, ofstream outFile ('out.txt&quot;); is represented to open a file for output. The user enters the input file name. The line, inFile.open(filename); opens the file for input. If the input file is opened successfully, the program continues using the if-loop and reads a character from file 1. The while-loop check if the last read operation was successful and continues. The program writes the uppercase character to file 2 and reads another character from file 1. After the operation is complete, it closes the file. Else it returns to the operation again.&#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04800"/>
            <a:ext cx="6570663"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6796"/>
          </a:xfrm>
        </p:spPr>
        <p:txBody>
          <a:bodyPr/>
          <a:lstStyle/>
          <a:p>
            <a:r>
              <a:rPr lang="en-US" dirty="0"/>
              <a:t> </a:t>
            </a:r>
            <a:r>
              <a:rPr lang="en-US" dirty="0" smtClean="0"/>
              <a:t>        </a:t>
            </a:r>
            <a:endParaRPr lang="en-US" dirty="0"/>
          </a:p>
        </p:txBody>
      </p:sp>
      <p:pic>
        <p:nvPicPr>
          <p:cNvPr id="54274" name="Picture 1" descr="The program output with example inputs demonstrates the reading from one file and writing to a second file. The statement asks the user to enter a file name. It displays the output when the file conversion is done. The output displays the contents of the first file 'hownow.txt.' After file conversion the program output displays the contents of the second file in uppercase.&#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881188"/>
            <a:ext cx="835342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noChangeArrowheads="1"/>
          </p:cNvSpPr>
          <p:nvPr>
            <p:ph type="ctrTitle"/>
          </p:nvPr>
        </p:nvSpPr>
        <p:spPr/>
        <p:txBody>
          <a:bodyPr/>
          <a:lstStyle/>
          <a:p>
            <a:r>
              <a:rPr lang="en-US" altLang="en-US" dirty="0" smtClean="0"/>
              <a:t>12.7</a:t>
            </a:r>
          </a:p>
        </p:txBody>
      </p:sp>
      <p:sp>
        <p:nvSpPr>
          <p:cNvPr id="55299" name="Subtitle 2"/>
          <p:cNvSpPr>
            <a:spLocks noGrp="1" noChangeArrowheads="1"/>
          </p:cNvSpPr>
          <p:nvPr>
            <p:ph type="subTitle" idx="1"/>
          </p:nvPr>
        </p:nvSpPr>
        <p:spPr/>
        <p:txBody>
          <a:bodyPr/>
          <a:lstStyle/>
          <a:p>
            <a:r>
              <a:rPr lang="en-US" altLang="en-US" dirty="0" smtClean="0"/>
              <a:t>Binary Files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Binary </a:t>
            </a:r>
            <a:r>
              <a:rPr lang="en-US" altLang="en-US" dirty="0" smtClean="0"/>
              <a:t>Files </a:t>
            </a:r>
            <a:r>
              <a:rPr lang="en-US" altLang="en-US" sz="1200" dirty="0" smtClean="0"/>
              <a:t>(1 of 3)</a:t>
            </a:r>
            <a:endParaRPr lang="en-US" sz="1200" dirty="0"/>
          </a:p>
        </p:txBody>
      </p:sp>
      <p:sp>
        <p:nvSpPr>
          <p:cNvPr id="3" name="Content Placeholder 2"/>
          <p:cNvSpPr>
            <a:spLocks noGrp="1"/>
          </p:cNvSpPr>
          <p:nvPr>
            <p:ph idx="1"/>
          </p:nvPr>
        </p:nvSpPr>
        <p:spPr>
          <a:xfrm>
            <a:off x="310550" y="1979763"/>
            <a:ext cx="8333117" cy="3170208"/>
          </a:xfrm>
        </p:spPr>
        <p:txBody>
          <a:bodyPr/>
          <a:lstStyle/>
          <a:p>
            <a:pPr lvl="0">
              <a:spcBef>
                <a:spcPct val="50000"/>
              </a:spcBef>
              <a:buFontTx/>
              <a:buChar char="•"/>
            </a:pPr>
            <a:r>
              <a:rPr lang="en-US" altLang="en-US" u="sng" dirty="0">
                <a:solidFill>
                  <a:srgbClr val="000000"/>
                </a:solidFill>
              </a:rPr>
              <a:t>Binary file</a:t>
            </a:r>
            <a:r>
              <a:rPr lang="en-US" altLang="en-US" dirty="0">
                <a:solidFill>
                  <a:srgbClr val="000000"/>
                </a:solidFill>
              </a:rPr>
              <a:t> contains unformatted, non-ASCII data</a:t>
            </a:r>
          </a:p>
          <a:p>
            <a:pPr lvl="0">
              <a:spcBef>
                <a:spcPct val="50000"/>
              </a:spcBef>
              <a:buFontTx/>
              <a:buChar char="•"/>
            </a:pPr>
            <a:r>
              <a:rPr lang="en-US" altLang="en-US" dirty="0">
                <a:solidFill>
                  <a:srgbClr val="000000"/>
                </a:solidFill>
              </a:rPr>
              <a:t>Indicate by using </a:t>
            </a:r>
            <a:r>
              <a:rPr lang="en-US" altLang="en-US" dirty="0">
                <a:solidFill>
                  <a:srgbClr val="000000"/>
                </a:solidFill>
                <a:latin typeface="Courier New" panose="02070309020205020404" pitchFamily="49" charset="0"/>
              </a:rPr>
              <a:t>binary</a:t>
            </a:r>
            <a:r>
              <a:rPr lang="en-US" altLang="en-US" dirty="0">
                <a:solidFill>
                  <a:srgbClr val="000000"/>
                </a:solidFill>
              </a:rPr>
              <a:t> flag on open:</a:t>
            </a:r>
          </a:p>
          <a:p>
            <a:pPr lvl="1" indent="0">
              <a:spcBef>
                <a:spcPct val="50000"/>
              </a:spcBef>
              <a:buNone/>
            </a:pPr>
            <a:r>
              <a:rPr lang="en-US" altLang="en-US" dirty="0" smtClean="0">
                <a:solidFill>
                  <a:srgbClr val="000000"/>
                </a:solidFill>
                <a:latin typeface="Courier New" panose="02070309020205020404" pitchFamily="49" charset="0"/>
              </a:rPr>
              <a:t>inFile.open</a:t>
            </a:r>
            <a:r>
              <a:rPr lang="en-US" altLang="en-US" dirty="0">
                <a:solidFill>
                  <a:srgbClr val="000000"/>
                </a:solidFill>
                <a:latin typeface="Courier New" panose="02070309020205020404" pitchFamily="49" charset="0"/>
              </a:rPr>
              <a:t>("nums.dat", ios::in | ios::binary</a:t>
            </a:r>
            <a:r>
              <a:rPr lang="en-US" altLang="en-US" dirty="0" smtClean="0">
                <a:solidFill>
                  <a:srgbClr val="000000"/>
                </a:solidFill>
                <a:latin typeface="Courier New" panose="02070309020205020404" pitchFamily="49" charset="0"/>
              </a:rPr>
              <a:t>);</a:t>
            </a:r>
            <a:endParaRPr lang="en-US" altLang="en-US" dirty="0">
              <a:solidFill>
                <a:srgbClr val="000000"/>
              </a:solidFill>
            </a:endParaRPr>
          </a:p>
        </p:txBody>
      </p:sp>
    </p:spTree>
    <p:extLst>
      <p:ext uri="{BB962C8B-B14F-4D97-AF65-F5344CB8AC3E}">
        <p14:creationId xmlns:p14="http://schemas.microsoft.com/office/powerpoint/2010/main" val="2236307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Binary Files </a:t>
            </a:r>
            <a:r>
              <a:rPr lang="en-US" altLang="en-US" sz="1200" dirty="0" smtClean="0"/>
              <a:t>(2 </a:t>
            </a:r>
            <a:r>
              <a:rPr lang="en-US" altLang="en-US" sz="1200" dirty="0"/>
              <a:t>of 3)</a:t>
            </a:r>
            <a:endParaRPr lang="en-US" dirty="0"/>
          </a:p>
        </p:txBody>
      </p:sp>
      <p:sp>
        <p:nvSpPr>
          <p:cNvPr id="3" name="Content Placeholder 2"/>
          <p:cNvSpPr>
            <a:spLocks noGrp="1"/>
          </p:cNvSpPr>
          <p:nvPr>
            <p:ph sz="half" idx="1"/>
          </p:nvPr>
        </p:nvSpPr>
        <p:spPr>
          <a:xfrm>
            <a:off x="306474" y="1509765"/>
            <a:ext cx="7872884" cy="1394210"/>
          </a:xfrm>
        </p:spPr>
        <p:txBody>
          <a:bodyPr/>
          <a:lstStyle/>
          <a:p>
            <a:pPr lvl="0"/>
            <a:r>
              <a:rPr lang="en-US" altLang="en-US" dirty="0">
                <a:solidFill>
                  <a:srgbClr val="000000"/>
                </a:solidFill>
              </a:rPr>
              <a:t>Use </a:t>
            </a:r>
            <a:r>
              <a:rPr lang="en-US" altLang="en-US" dirty="0">
                <a:solidFill>
                  <a:srgbClr val="000000"/>
                </a:solidFill>
                <a:latin typeface="Courier New" panose="02070309020205020404" pitchFamily="49" charset="0"/>
              </a:rPr>
              <a:t>read</a:t>
            </a:r>
            <a:r>
              <a:rPr lang="en-US" altLang="en-US" dirty="0">
                <a:solidFill>
                  <a:srgbClr val="000000"/>
                </a:solidFill>
              </a:rPr>
              <a:t> and </a:t>
            </a:r>
            <a:r>
              <a:rPr lang="en-US" altLang="en-US" dirty="0">
                <a:solidFill>
                  <a:srgbClr val="000000"/>
                </a:solidFill>
                <a:latin typeface="Courier New" panose="02070309020205020404" pitchFamily="49" charset="0"/>
              </a:rPr>
              <a:t>write</a:t>
            </a:r>
            <a:r>
              <a:rPr lang="en-US" altLang="en-US" dirty="0">
                <a:solidFill>
                  <a:srgbClr val="000000"/>
                </a:solidFill>
              </a:rPr>
              <a:t> instead of </a:t>
            </a:r>
            <a:r>
              <a:rPr lang="en-US" altLang="en-US" dirty="0">
                <a:solidFill>
                  <a:srgbClr val="000000"/>
                </a:solidFill>
                <a:latin typeface="Courier New" panose="02070309020205020404" pitchFamily="49" charset="0"/>
              </a:rPr>
              <a:t>&lt;&lt;</a:t>
            </a:r>
            <a:r>
              <a:rPr lang="en-US" altLang="en-US" dirty="0">
                <a:solidFill>
                  <a:srgbClr val="000000"/>
                </a:solidFill>
              </a:rPr>
              <a:t>, </a:t>
            </a:r>
            <a:r>
              <a:rPr lang="en-US" altLang="en-US" dirty="0">
                <a:solidFill>
                  <a:srgbClr val="000000"/>
                </a:solidFill>
                <a:latin typeface="Courier New" panose="02070309020205020404" pitchFamily="49" charset="0"/>
              </a:rPr>
              <a:t>&gt;&gt;</a:t>
            </a:r>
          </a:p>
          <a:p>
            <a:pPr lvl="1">
              <a:buClr>
                <a:srgbClr val="000000"/>
              </a:buClr>
              <a:buNone/>
            </a:pPr>
            <a:r>
              <a:rPr lang="en-US" altLang="en-US" dirty="0">
                <a:solidFill>
                  <a:srgbClr val="000000"/>
                </a:solidFill>
                <a:latin typeface="Courier New" panose="02070309020205020404" pitchFamily="49" charset="0"/>
              </a:rPr>
              <a:t>char ch;</a:t>
            </a:r>
          </a:p>
          <a:p>
            <a:pPr lvl="1">
              <a:buClr>
                <a:srgbClr val="000000"/>
              </a:buClr>
              <a:buNone/>
            </a:pPr>
            <a:r>
              <a:rPr lang="en-US" altLang="en-US" dirty="0">
                <a:solidFill>
                  <a:srgbClr val="000000"/>
                </a:solidFill>
                <a:latin typeface="Courier New" panose="02070309020205020404" pitchFamily="49" charset="0"/>
              </a:rPr>
              <a:t>// read in a letter from </a:t>
            </a:r>
            <a:r>
              <a:rPr lang="en-US" altLang="en-US" dirty="0" smtClean="0">
                <a:solidFill>
                  <a:srgbClr val="000000"/>
                </a:solidFill>
                <a:latin typeface="Courier New" panose="02070309020205020404" pitchFamily="49" charset="0"/>
              </a:rPr>
              <a:t>file</a:t>
            </a:r>
            <a:endParaRPr lang="en-US" altLang="en-US" dirty="0">
              <a:solidFill>
                <a:srgbClr val="000000"/>
              </a:solidFill>
              <a:latin typeface="Courier New" panose="02070309020205020404" pitchFamily="49" charset="0"/>
            </a:endParaRPr>
          </a:p>
        </p:txBody>
      </p:sp>
      <p:pic>
        <p:nvPicPr>
          <p:cNvPr id="5" name="Picture 4" descr="The screenshot shows the binary files to read the input. The line, inFile.read (ampersand ch, sizeof (ch)); represents the statement to read the input. Here, ampersand ch represents the address of where to put the data being read in. The read function expects to read chars. The sizeof (ch) specifies how many bytes to read from the file.&#10;"/>
          <p:cNvPicPr>
            <a:picLocks noChangeAspect="1"/>
          </p:cNvPicPr>
          <p:nvPr/>
        </p:nvPicPr>
        <p:blipFill rotWithShape="1">
          <a:blip r:embed="rId2"/>
          <a:srcRect t="33009" b="23295"/>
          <a:stretch/>
        </p:blipFill>
        <p:spPr>
          <a:xfrm>
            <a:off x="191308" y="2977978"/>
            <a:ext cx="8266892" cy="2051222"/>
          </a:xfrm>
          <a:prstGeom prst="rect">
            <a:avLst/>
          </a:prstGeom>
        </p:spPr>
      </p:pic>
      <p:sp>
        <p:nvSpPr>
          <p:cNvPr id="4" name="Content Placeholder 3"/>
          <p:cNvSpPr>
            <a:spLocks noGrp="1"/>
          </p:cNvSpPr>
          <p:nvPr>
            <p:ph sz="half" idx="2"/>
          </p:nvPr>
        </p:nvSpPr>
        <p:spPr>
          <a:xfrm>
            <a:off x="307312" y="5094514"/>
            <a:ext cx="7540451" cy="944545"/>
          </a:xfrm>
        </p:spPr>
        <p:txBody>
          <a:bodyPr/>
          <a:lstStyle/>
          <a:p>
            <a:pPr lvl="1">
              <a:buClr>
                <a:srgbClr val="000000"/>
              </a:buClr>
              <a:buNone/>
            </a:pPr>
            <a:r>
              <a:rPr lang="en-US" altLang="en-US" dirty="0">
                <a:solidFill>
                  <a:srgbClr val="000000"/>
                </a:solidFill>
                <a:latin typeface="Courier New" panose="02070309020205020404" pitchFamily="49" charset="0"/>
              </a:rPr>
              <a:t>// send a character to a file</a:t>
            </a:r>
          </a:p>
          <a:p>
            <a:pPr lvl="1">
              <a:buClr>
                <a:srgbClr val="000000"/>
              </a:buClr>
              <a:buNone/>
            </a:pPr>
            <a:r>
              <a:rPr lang="en-US" altLang="en-US" dirty="0">
                <a:solidFill>
                  <a:srgbClr val="000000"/>
                </a:solidFill>
                <a:latin typeface="Courier New" panose="02070309020205020404" pitchFamily="49" charset="0"/>
              </a:rPr>
              <a:t>outFile.write(&amp;ch, sizeof(ch</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2050140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Binary Files </a:t>
            </a:r>
            <a:r>
              <a:rPr lang="en-US" altLang="en-US" sz="1200" dirty="0" smtClean="0"/>
              <a:t>(3 </a:t>
            </a:r>
            <a:r>
              <a:rPr lang="en-US" altLang="en-US" sz="1200" dirty="0"/>
              <a:t>of 3)</a:t>
            </a:r>
            <a:endParaRPr lang="en-US" dirty="0"/>
          </a:p>
        </p:txBody>
      </p:sp>
      <p:sp>
        <p:nvSpPr>
          <p:cNvPr id="3" name="Content Placeholder 2"/>
          <p:cNvSpPr>
            <a:spLocks noGrp="1"/>
          </p:cNvSpPr>
          <p:nvPr>
            <p:ph sz="half" idx="1"/>
          </p:nvPr>
        </p:nvSpPr>
        <p:spPr>
          <a:xfrm>
            <a:off x="306475" y="1750926"/>
            <a:ext cx="8244672" cy="2067448"/>
          </a:xfrm>
        </p:spPr>
        <p:txBody>
          <a:bodyPr/>
          <a:lstStyle/>
          <a:p>
            <a:pPr lvl="0">
              <a:lnSpc>
                <a:spcPct val="90000"/>
              </a:lnSpc>
            </a:pPr>
            <a:r>
              <a:rPr lang="en-US" altLang="en-US" dirty="0">
                <a:solidFill>
                  <a:srgbClr val="000000"/>
                </a:solidFill>
              </a:rPr>
              <a:t>To </a:t>
            </a:r>
            <a:r>
              <a:rPr lang="en-US" altLang="en-US" dirty="0">
                <a:solidFill>
                  <a:srgbClr val="000000"/>
                </a:solidFill>
                <a:latin typeface="Courier New" panose="02070309020205020404" pitchFamily="49" charset="0"/>
              </a:rPr>
              <a:t>read</a:t>
            </a:r>
            <a:r>
              <a:rPr lang="en-US" altLang="en-US" dirty="0">
                <a:solidFill>
                  <a:srgbClr val="000000"/>
                </a:solidFill>
              </a:rPr>
              <a:t>, </a:t>
            </a:r>
            <a:r>
              <a:rPr lang="en-US" altLang="en-US" dirty="0">
                <a:solidFill>
                  <a:srgbClr val="000000"/>
                </a:solidFill>
                <a:latin typeface="Courier New" panose="02070309020205020404" pitchFamily="49" charset="0"/>
              </a:rPr>
              <a:t>write</a:t>
            </a:r>
            <a:r>
              <a:rPr lang="en-US" altLang="en-US" dirty="0">
                <a:solidFill>
                  <a:srgbClr val="000000"/>
                </a:solidFill>
              </a:rPr>
              <a:t> non-character data, must use a typecast operator to treat the address of the data as a character address</a:t>
            </a:r>
            <a:endParaRPr lang="en-US" altLang="en-US" dirty="0">
              <a:solidFill>
                <a:srgbClr val="000000"/>
              </a:solidFill>
              <a:latin typeface="Courier New" panose="02070309020205020404" pitchFamily="49" charset="0"/>
            </a:endParaRPr>
          </a:p>
          <a:p>
            <a:pPr lvl="1">
              <a:lnSpc>
                <a:spcPct val="90000"/>
              </a:lnSpc>
              <a:buClr>
                <a:srgbClr val="000000"/>
              </a:buClr>
              <a:buNone/>
            </a:pPr>
            <a:r>
              <a:rPr lang="en-US" altLang="en-US" dirty="0">
                <a:solidFill>
                  <a:srgbClr val="000000"/>
                </a:solidFill>
                <a:latin typeface="Courier New" panose="02070309020205020404" pitchFamily="49" charset="0"/>
              </a:rPr>
              <a:t>int num;</a:t>
            </a:r>
          </a:p>
          <a:p>
            <a:pPr lvl="1">
              <a:lnSpc>
                <a:spcPct val="90000"/>
              </a:lnSpc>
              <a:buClr>
                <a:srgbClr val="000000"/>
              </a:buClr>
              <a:buNone/>
            </a:pPr>
            <a:r>
              <a:rPr lang="en-US" altLang="en-US" dirty="0">
                <a:solidFill>
                  <a:srgbClr val="000000"/>
                </a:solidFill>
                <a:latin typeface="Courier New" panose="02070309020205020404" pitchFamily="49" charset="0"/>
              </a:rPr>
              <a:t>// read in a binary number from a </a:t>
            </a:r>
            <a:r>
              <a:rPr lang="en-US" altLang="en-US" dirty="0" smtClean="0">
                <a:solidFill>
                  <a:srgbClr val="000000"/>
                </a:solidFill>
                <a:latin typeface="Courier New" panose="02070309020205020404" pitchFamily="49" charset="0"/>
              </a:rPr>
              <a:t>file</a:t>
            </a:r>
            <a:endParaRPr lang="en-US" altLang="en-US" dirty="0">
              <a:solidFill>
                <a:srgbClr val="000000"/>
              </a:solidFill>
              <a:latin typeface="Courier New" panose="02070309020205020404" pitchFamily="49" charset="0"/>
            </a:endParaRPr>
          </a:p>
        </p:txBody>
      </p:sp>
      <p:pic>
        <p:nvPicPr>
          <p:cNvPr id="9" name="Picture 8" descr="The screenshot shows the statement to read in a binary number from a file. The line, inFile.read (reinterpret underscore cast open bracket char asterisk close bracket ampersandnum, sizeof (num)); represents the non-character data. Here, the line reinterpret underscore cast open bracket char asterisk close bracket treats the address of num as the address of a char.&#10;"/>
          <p:cNvPicPr>
            <a:picLocks noChangeAspect="1"/>
          </p:cNvPicPr>
          <p:nvPr/>
        </p:nvPicPr>
        <p:blipFill rotWithShape="1">
          <a:blip r:embed="rId2"/>
          <a:srcRect l="7072" t="47189" r="2498" b="33342"/>
          <a:stretch/>
        </p:blipFill>
        <p:spPr>
          <a:xfrm>
            <a:off x="803869" y="3863092"/>
            <a:ext cx="7817617" cy="922209"/>
          </a:xfrm>
          <a:prstGeom prst="rect">
            <a:avLst/>
          </a:prstGeom>
        </p:spPr>
      </p:pic>
      <p:sp>
        <p:nvSpPr>
          <p:cNvPr id="4" name="Content Placeholder 3"/>
          <p:cNvSpPr>
            <a:spLocks noGrp="1"/>
          </p:cNvSpPr>
          <p:nvPr>
            <p:ph sz="half" idx="2"/>
          </p:nvPr>
        </p:nvSpPr>
        <p:spPr>
          <a:xfrm>
            <a:off x="297264" y="5002404"/>
            <a:ext cx="8384512" cy="1247671"/>
          </a:xfrm>
        </p:spPr>
        <p:txBody>
          <a:bodyPr/>
          <a:lstStyle/>
          <a:p>
            <a:pPr lvl="1">
              <a:lnSpc>
                <a:spcPct val="90000"/>
              </a:lnSpc>
              <a:buClr>
                <a:srgbClr val="000000"/>
              </a:buClr>
              <a:buNone/>
            </a:pPr>
            <a:r>
              <a:rPr lang="en-US" altLang="en-US" dirty="0">
                <a:solidFill>
                  <a:srgbClr val="000000"/>
                </a:solidFill>
                <a:latin typeface="Courier New" panose="02070309020205020404" pitchFamily="49" charset="0"/>
              </a:rPr>
              <a:t>// send a binary value to a file</a:t>
            </a:r>
          </a:p>
          <a:p>
            <a:pPr lvl="1">
              <a:lnSpc>
                <a:spcPct val="90000"/>
              </a:lnSpc>
              <a:buClr>
                <a:srgbClr val="000000"/>
              </a:buClr>
              <a:buNone/>
            </a:pPr>
            <a:r>
              <a:rPr lang="en-US" altLang="en-US" dirty="0">
                <a:solidFill>
                  <a:srgbClr val="000000"/>
                </a:solidFill>
                <a:latin typeface="Courier New" panose="02070309020205020404" pitchFamily="49" charset="0"/>
              </a:rPr>
              <a:t>outf.write(reinterpret_cast&lt;char *&gt;&amp;num</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marL="5806440" lvl="1">
              <a:lnSpc>
                <a:spcPct val="90000"/>
              </a:lnSpc>
              <a:buClr>
                <a:srgbClr val="000000"/>
              </a:buClr>
              <a:buNone/>
            </a:pPr>
            <a:r>
              <a:rPr lang="en-US" altLang="en-US" dirty="0" smtClean="0">
                <a:solidFill>
                  <a:srgbClr val="000000"/>
                </a:solidFill>
                <a:latin typeface="Courier New" panose="02070309020205020404" pitchFamily="49" charset="0"/>
              </a:rPr>
              <a:t>sizeof(num));</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114127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noChangeArrowheads="1"/>
          </p:cNvSpPr>
          <p:nvPr>
            <p:ph type="ctrTitle"/>
          </p:nvPr>
        </p:nvSpPr>
        <p:spPr/>
        <p:txBody>
          <a:bodyPr/>
          <a:lstStyle/>
          <a:p>
            <a:r>
              <a:rPr lang="en-US" altLang="en-US" dirty="0" smtClean="0"/>
              <a:t>12.8</a:t>
            </a:r>
          </a:p>
        </p:txBody>
      </p:sp>
      <p:sp>
        <p:nvSpPr>
          <p:cNvPr id="62467" name="Subtitle 2"/>
          <p:cNvSpPr>
            <a:spLocks noGrp="1" noChangeArrowheads="1"/>
          </p:cNvSpPr>
          <p:nvPr>
            <p:ph type="subTitle" idx="1"/>
          </p:nvPr>
        </p:nvSpPr>
        <p:spPr/>
        <p:txBody>
          <a:bodyPr/>
          <a:lstStyle/>
          <a:p>
            <a:r>
              <a:rPr lang="en-US" altLang="en-US" dirty="0" smtClean="0"/>
              <a:t>Creating Records with Structures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Creating Records with </a:t>
            </a:r>
            <a:r>
              <a:rPr lang="en-US" altLang="en-US" dirty="0" smtClean="0"/>
              <a:t>Structures </a:t>
            </a:r>
            <a:r>
              <a:rPr lang="en-US" altLang="en-US" sz="1200" dirty="0" smtClean="0"/>
              <a:t>(1 of 2)</a:t>
            </a:r>
            <a:endParaRPr lang="en-US" sz="1200" dirty="0"/>
          </a:p>
        </p:txBody>
      </p:sp>
      <p:sp>
        <p:nvSpPr>
          <p:cNvPr id="3" name="Content Placeholder 2"/>
          <p:cNvSpPr>
            <a:spLocks noGrp="1"/>
          </p:cNvSpPr>
          <p:nvPr>
            <p:ph idx="1"/>
          </p:nvPr>
        </p:nvSpPr>
        <p:spPr>
          <a:xfrm>
            <a:off x="457200" y="1600201"/>
            <a:ext cx="8229600" cy="3554604"/>
          </a:xfrm>
        </p:spPr>
        <p:txBody>
          <a:bodyPr/>
          <a:lstStyle/>
          <a:p>
            <a:pPr lvl="0">
              <a:buFontTx/>
              <a:buChar char="•"/>
            </a:pPr>
            <a:r>
              <a:rPr lang="en-US" altLang="en-US" dirty="0">
                <a:solidFill>
                  <a:srgbClr val="000000"/>
                </a:solidFill>
              </a:rPr>
              <a:t>Can write structures to, read structures from </a:t>
            </a:r>
            <a:r>
              <a:rPr lang="en-US" altLang="en-US" dirty="0" smtClean="0">
                <a:solidFill>
                  <a:srgbClr val="000000"/>
                </a:solidFill>
              </a:rPr>
              <a:t>files</a:t>
            </a:r>
            <a:endParaRPr lang="en-US" altLang="en-US" dirty="0">
              <a:solidFill>
                <a:srgbClr val="000000"/>
              </a:solidFill>
            </a:endParaRPr>
          </a:p>
          <a:p>
            <a:pPr lvl="0">
              <a:spcBef>
                <a:spcPts val="4600"/>
              </a:spcBef>
              <a:buFontTx/>
              <a:buChar char="•"/>
            </a:pPr>
            <a:r>
              <a:rPr lang="en-US" altLang="en-US" dirty="0">
                <a:solidFill>
                  <a:srgbClr val="000000"/>
                </a:solidFill>
              </a:rPr>
              <a:t>To work with structures and files</a:t>
            </a:r>
            <a:r>
              <a:rPr lang="en-US" altLang="en-US" dirty="0" smtClean="0">
                <a:solidFill>
                  <a:srgbClr val="000000"/>
                </a:solidFill>
              </a:rPr>
              <a:t>,</a:t>
            </a:r>
            <a:endParaRPr lang="en-US" altLang="en-US" dirty="0">
              <a:solidFill>
                <a:srgbClr val="000000"/>
              </a:solidFill>
            </a:endParaRPr>
          </a:p>
          <a:p>
            <a:pPr lvl="1"/>
            <a:r>
              <a:rPr lang="en-US" altLang="en-US" dirty="0">
                <a:solidFill>
                  <a:srgbClr val="000000"/>
                </a:solidFill>
              </a:rPr>
              <a:t>use </a:t>
            </a:r>
            <a:r>
              <a:rPr lang="en-US" altLang="en-US" dirty="0">
                <a:solidFill>
                  <a:srgbClr val="000000"/>
                </a:solidFill>
                <a:latin typeface="Courier New" panose="02070309020205020404" pitchFamily="49" charset="0"/>
              </a:rPr>
              <a:t>ios::binary</a:t>
            </a:r>
            <a:r>
              <a:rPr lang="en-US" altLang="en-US" dirty="0">
                <a:solidFill>
                  <a:srgbClr val="000000"/>
                </a:solidFill>
              </a:rPr>
              <a:t> file flag upon open</a:t>
            </a:r>
          </a:p>
          <a:p>
            <a:pPr lvl="1"/>
            <a:r>
              <a:rPr lang="en-US" altLang="en-US" dirty="0">
                <a:solidFill>
                  <a:srgbClr val="000000"/>
                </a:solidFill>
              </a:rPr>
              <a:t>use </a:t>
            </a:r>
            <a:r>
              <a:rPr lang="en-US" altLang="en-US" dirty="0">
                <a:solidFill>
                  <a:srgbClr val="000000"/>
                </a:solidFill>
                <a:latin typeface="Courier New" panose="02070309020205020404" pitchFamily="49" charset="0"/>
              </a:rPr>
              <a:t>read</a:t>
            </a:r>
            <a:r>
              <a:rPr lang="en-US" altLang="en-US" dirty="0">
                <a:solidFill>
                  <a:srgbClr val="000000"/>
                </a:solidFill>
              </a:rPr>
              <a:t>, </a:t>
            </a:r>
            <a:r>
              <a:rPr lang="en-US" altLang="en-US" dirty="0">
                <a:solidFill>
                  <a:srgbClr val="000000"/>
                </a:solidFill>
                <a:latin typeface="Courier New" panose="02070309020205020404" pitchFamily="49" charset="0"/>
              </a:rPr>
              <a:t>write</a:t>
            </a:r>
            <a:r>
              <a:rPr lang="en-US" altLang="en-US" dirty="0">
                <a:solidFill>
                  <a:srgbClr val="000000"/>
                </a:solidFill>
              </a:rPr>
              <a:t> member </a:t>
            </a:r>
            <a:r>
              <a:rPr lang="en-US" altLang="en-US" dirty="0" smtClean="0">
                <a:solidFill>
                  <a:srgbClr val="000000"/>
                </a:solidFill>
              </a:rPr>
              <a:t>functions</a:t>
            </a:r>
            <a:endParaRPr lang="en-US" altLang="en-US" dirty="0">
              <a:solidFill>
                <a:srgbClr val="000000"/>
              </a:solidFill>
            </a:endParaRPr>
          </a:p>
        </p:txBody>
      </p:sp>
    </p:spTree>
    <p:extLst>
      <p:ext uri="{BB962C8B-B14F-4D97-AF65-F5344CB8AC3E}">
        <p14:creationId xmlns:p14="http://schemas.microsoft.com/office/powerpoint/2010/main" val="29927722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Creating Records with </a:t>
            </a:r>
            <a:r>
              <a:rPr lang="en-US" altLang="en-US" dirty="0" smtClean="0"/>
              <a:t>Structures </a:t>
            </a:r>
            <a:r>
              <a:rPr lang="en-US" altLang="en-US" sz="1200" dirty="0" smtClean="0"/>
              <a:t>(2 of 2)</a:t>
            </a:r>
            <a:endParaRPr lang="en-US" sz="1200" dirty="0"/>
          </a:p>
        </p:txBody>
      </p:sp>
      <p:sp>
        <p:nvSpPr>
          <p:cNvPr id="3" name="Content Placeholder 2"/>
          <p:cNvSpPr>
            <a:spLocks noGrp="1"/>
          </p:cNvSpPr>
          <p:nvPr>
            <p:ph idx="1"/>
          </p:nvPr>
        </p:nvSpPr>
        <p:spPr>
          <a:xfrm>
            <a:off x="447152" y="1670540"/>
            <a:ext cx="8465736" cy="4479052"/>
          </a:xfrm>
        </p:spPr>
        <p:txBody>
          <a:bodyPr/>
          <a:lstStyle/>
          <a:p>
            <a:pPr lvl="1">
              <a:lnSpc>
                <a:spcPct val="85000"/>
              </a:lnSpc>
              <a:buNone/>
            </a:pPr>
            <a:r>
              <a:rPr lang="en-US" altLang="en-US" sz="2400" dirty="0">
                <a:solidFill>
                  <a:srgbClr val="000000"/>
                </a:solidFill>
                <a:latin typeface="Courier New" panose="02070309020205020404" pitchFamily="49" charset="0"/>
              </a:rPr>
              <a:t>struct TestScore</a:t>
            </a:r>
          </a:p>
          <a:p>
            <a:pPr lvl="1">
              <a:lnSpc>
                <a:spcPct val="85000"/>
              </a:lnSpc>
              <a:buNone/>
            </a:pPr>
            <a:r>
              <a:rPr lang="en-US" altLang="en-US" sz="2400" dirty="0">
                <a:solidFill>
                  <a:srgbClr val="000000"/>
                </a:solidFill>
                <a:latin typeface="Courier New" panose="02070309020205020404" pitchFamily="49" charset="0"/>
              </a:rPr>
              <a:t>{</a:t>
            </a:r>
          </a:p>
          <a:p>
            <a:pPr lvl="1" indent="0">
              <a:lnSpc>
                <a:spcPct val="85000"/>
              </a:lnSpc>
              <a:buNone/>
            </a:pPr>
            <a:r>
              <a:rPr lang="en-US" altLang="en-US" sz="2400" dirty="0" smtClean="0">
                <a:solidFill>
                  <a:srgbClr val="000000"/>
                </a:solidFill>
                <a:latin typeface="Courier New" panose="02070309020205020404" pitchFamily="49" charset="0"/>
              </a:rPr>
              <a:t>int </a:t>
            </a:r>
            <a:r>
              <a:rPr lang="en-US" altLang="en-US" sz="2400" dirty="0">
                <a:solidFill>
                  <a:srgbClr val="000000"/>
                </a:solidFill>
                <a:latin typeface="Courier New" panose="02070309020205020404" pitchFamily="49" charset="0"/>
              </a:rPr>
              <a:t>studentId;</a:t>
            </a:r>
          </a:p>
          <a:p>
            <a:pPr lvl="1" indent="0">
              <a:lnSpc>
                <a:spcPct val="85000"/>
              </a:lnSpc>
              <a:buNone/>
            </a:pPr>
            <a:r>
              <a:rPr lang="en-US" altLang="en-US" sz="2400" dirty="0" smtClean="0">
                <a:solidFill>
                  <a:srgbClr val="000000"/>
                </a:solidFill>
                <a:latin typeface="Courier New" panose="02070309020205020404" pitchFamily="49" charset="0"/>
              </a:rPr>
              <a:t>double </a:t>
            </a:r>
            <a:r>
              <a:rPr lang="en-US" altLang="en-US" sz="2400" dirty="0">
                <a:solidFill>
                  <a:srgbClr val="000000"/>
                </a:solidFill>
                <a:latin typeface="Courier New" panose="02070309020205020404" pitchFamily="49" charset="0"/>
              </a:rPr>
              <a:t>score;</a:t>
            </a:r>
          </a:p>
          <a:p>
            <a:pPr lvl="1" indent="0">
              <a:lnSpc>
                <a:spcPct val="85000"/>
              </a:lnSpc>
              <a:buNone/>
            </a:pPr>
            <a:r>
              <a:rPr lang="en-US" altLang="en-US" sz="2400" dirty="0" smtClean="0">
                <a:solidFill>
                  <a:srgbClr val="000000"/>
                </a:solidFill>
                <a:latin typeface="Courier New" panose="02070309020205020404" pitchFamily="49" charset="0"/>
              </a:rPr>
              <a:t>char </a:t>
            </a:r>
            <a:r>
              <a:rPr lang="en-US" altLang="en-US" sz="2400" dirty="0">
                <a:solidFill>
                  <a:srgbClr val="000000"/>
                </a:solidFill>
                <a:latin typeface="Courier New" panose="02070309020205020404" pitchFamily="49" charset="0"/>
              </a:rPr>
              <a:t>grade;</a:t>
            </a:r>
          </a:p>
          <a:p>
            <a:pPr lvl="1">
              <a:lnSpc>
                <a:spcPct val="85000"/>
              </a:lnSpc>
              <a:buNone/>
            </a:pPr>
            <a:r>
              <a:rPr lang="en-US" altLang="en-US" sz="2400" dirty="0">
                <a:solidFill>
                  <a:srgbClr val="000000"/>
                </a:solidFill>
                <a:latin typeface="Courier New" panose="02070309020205020404" pitchFamily="49" charset="0"/>
              </a:rPr>
              <a:t>};</a:t>
            </a:r>
          </a:p>
          <a:p>
            <a:pPr lvl="1">
              <a:lnSpc>
                <a:spcPct val="85000"/>
              </a:lnSpc>
              <a:buNone/>
            </a:pPr>
            <a:r>
              <a:rPr lang="en-US" altLang="en-US" sz="2400" dirty="0">
                <a:solidFill>
                  <a:srgbClr val="000000"/>
                </a:solidFill>
                <a:latin typeface="Courier New" panose="02070309020205020404" pitchFamily="49" charset="0"/>
              </a:rPr>
              <a:t>TestScore oneTest;</a:t>
            </a:r>
          </a:p>
          <a:p>
            <a:pPr lvl="1">
              <a:lnSpc>
                <a:spcPct val="85000"/>
              </a:lnSpc>
              <a:buNone/>
            </a:pPr>
            <a:r>
              <a:rPr lang="en-US" altLang="en-US" sz="2400" dirty="0">
                <a:solidFill>
                  <a:srgbClr val="000000"/>
                </a:solidFill>
                <a:latin typeface="Courier New" panose="02070309020205020404" pitchFamily="49" charset="0"/>
              </a:rPr>
              <a:t>...</a:t>
            </a:r>
          </a:p>
          <a:p>
            <a:pPr lvl="1">
              <a:lnSpc>
                <a:spcPct val="85000"/>
              </a:lnSpc>
              <a:buNone/>
            </a:pPr>
            <a:r>
              <a:rPr lang="en-US" altLang="en-US" sz="2400" dirty="0">
                <a:solidFill>
                  <a:srgbClr val="000000"/>
                </a:solidFill>
                <a:latin typeface="Courier New" panose="02070309020205020404" pitchFamily="49" charset="0"/>
              </a:rPr>
              <a:t>// write out oneTest to a file</a:t>
            </a:r>
          </a:p>
          <a:p>
            <a:pPr lvl="1">
              <a:lnSpc>
                <a:spcPct val="85000"/>
              </a:lnSpc>
              <a:buNone/>
            </a:pPr>
            <a:r>
              <a:rPr lang="en-US" altLang="en-US" sz="2400" dirty="0">
                <a:solidFill>
                  <a:srgbClr val="000000"/>
                </a:solidFill>
                <a:latin typeface="Courier New" panose="02070309020205020404" pitchFamily="49" charset="0"/>
              </a:rPr>
              <a:t>gradeFile.write(reinterpret_cast&lt;char *&gt; </a:t>
            </a:r>
            <a:r>
              <a:rPr lang="en-US" altLang="en-US" sz="2400" dirty="0" smtClean="0">
                <a:solidFill>
                  <a:srgbClr val="000000"/>
                </a:solidFill>
                <a:latin typeface="Courier New" panose="02070309020205020404" pitchFamily="49" charset="0"/>
              </a:rPr>
              <a:t>(&amp;</a:t>
            </a:r>
            <a:r>
              <a:rPr lang="en-US" altLang="en-US" sz="2400" dirty="0">
                <a:solidFill>
                  <a:srgbClr val="000000"/>
                </a:solidFill>
                <a:latin typeface="Courier New" panose="02070309020205020404" pitchFamily="49" charset="0"/>
              </a:rPr>
              <a:t>oneTest), sizeof(oneTest</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6685810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noChangeArrowheads="1"/>
          </p:cNvSpPr>
          <p:nvPr>
            <p:ph type="ctrTitle"/>
          </p:nvPr>
        </p:nvSpPr>
        <p:spPr/>
        <p:txBody>
          <a:bodyPr/>
          <a:lstStyle/>
          <a:p>
            <a:r>
              <a:rPr lang="en-US" altLang="en-US" dirty="0" smtClean="0"/>
              <a:t>12.9</a:t>
            </a:r>
          </a:p>
        </p:txBody>
      </p:sp>
      <p:sp>
        <p:nvSpPr>
          <p:cNvPr id="67587" name="Subtitle 2"/>
          <p:cNvSpPr>
            <a:spLocks noGrp="1" noChangeArrowheads="1"/>
          </p:cNvSpPr>
          <p:nvPr>
            <p:ph type="subTitle" idx="1"/>
          </p:nvPr>
        </p:nvSpPr>
        <p:spPr/>
        <p:txBody>
          <a:bodyPr/>
          <a:lstStyle/>
          <a:p>
            <a:r>
              <a:rPr lang="en-US" altLang="en-US" dirty="0" smtClean="0"/>
              <a:t>Random-Access Files</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Random-Access Files</a:t>
            </a:r>
            <a:endParaRPr lang="en-US" dirty="0"/>
          </a:p>
        </p:txBody>
      </p:sp>
      <p:sp>
        <p:nvSpPr>
          <p:cNvPr id="3" name="Content Placeholder 2"/>
          <p:cNvSpPr>
            <a:spLocks noGrp="1"/>
          </p:cNvSpPr>
          <p:nvPr>
            <p:ph idx="1"/>
          </p:nvPr>
        </p:nvSpPr>
        <p:spPr>
          <a:xfrm>
            <a:off x="457200" y="1871506"/>
            <a:ext cx="7973367" cy="3825910"/>
          </a:xfrm>
        </p:spPr>
        <p:txBody>
          <a:bodyPr/>
          <a:lstStyle/>
          <a:p>
            <a:pPr lvl="0">
              <a:lnSpc>
                <a:spcPct val="90000"/>
              </a:lnSpc>
              <a:buFontTx/>
              <a:buChar char="•"/>
            </a:pPr>
            <a:r>
              <a:rPr lang="en-US" altLang="en-US" u="sng" dirty="0">
                <a:solidFill>
                  <a:srgbClr val="000000"/>
                </a:solidFill>
              </a:rPr>
              <a:t>Sequential access</a:t>
            </a:r>
            <a:r>
              <a:rPr lang="en-US" altLang="en-US" dirty="0">
                <a:solidFill>
                  <a:srgbClr val="000000"/>
                </a:solidFill>
              </a:rPr>
              <a:t>: start at beginning of file and go through data in file, in order, to end</a:t>
            </a:r>
          </a:p>
          <a:p>
            <a:pPr lvl="1">
              <a:lnSpc>
                <a:spcPct val="90000"/>
              </a:lnSpc>
            </a:pPr>
            <a:r>
              <a:rPr lang="en-US" altLang="en-US" dirty="0">
                <a:solidFill>
                  <a:srgbClr val="000000"/>
                </a:solidFill>
              </a:rPr>
              <a:t>to access 100</a:t>
            </a:r>
            <a:r>
              <a:rPr lang="en-US" altLang="en-US" baseline="30000" dirty="0">
                <a:solidFill>
                  <a:srgbClr val="000000"/>
                </a:solidFill>
              </a:rPr>
              <a:t>th</a:t>
            </a:r>
            <a:r>
              <a:rPr lang="en-US" altLang="en-US" dirty="0">
                <a:solidFill>
                  <a:srgbClr val="000000"/>
                </a:solidFill>
              </a:rPr>
              <a:t> entry in file, go through 99 preceding entries first</a:t>
            </a:r>
          </a:p>
          <a:p>
            <a:pPr lvl="0">
              <a:lnSpc>
                <a:spcPct val="90000"/>
              </a:lnSpc>
              <a:buFontTx/>
              <a:buChar char="•"/>
            </a:pPr>
            <a:r>
              <a:rPr lang="en-US" altLang="en-US" u="sng" dirty="0">
                <a:solidFill>
                  <a:srgbClr val="000000"/>
                </a:solidFill>
              </a:rPr>
              <a:t>Random access</a:t>
            </a:r>
            <a:r>
              <a:rPr lang="en-US" altLang="en-US" dirty="0">
                <a:solidFill>
                  <a:srgbClr val="000000"/>
                </a:solidFill>
              </a:rPr>
              <a:t>: access data in a file in any order</a:t>
            </a:r>
          </a:p>
          <a:p>
            <a:pPr lvl="1">
              <a:lnSpc>
                <a:spcPct val="90000"/>
              </a:lnSpc>
            </a:pPr>
            <a:r>
              <a:rPr lang="en-US" altLang="en-US" dirty="0">
                <a:solidFill>
                  <a:srgbClr val="000000"/>
                </a:solidFill>
              </a:rPr>
              <a:t>can access 100</a:t>
            </a:r>
            <a:r>
              <a:rPr lang="en-US" altLang="en-US" baseline="30000" dirty="0">
                <a:solidFill>
                  <a:srgbClr val="000000"/>
                </a:solidFill>
              </a:rPr>
              <a:t>th</a:t>
            </a:r>
            <a:r>
              <a:rPr lang="en-US" altLang="en-US" dirty="0">
                <a:solidFill>
                  <a:srgbClr val="000000"/>
                </a:solidFill>
              </a:rPr>
              <a:t> entry </a:t>
            </a:r>
            <a:r>
              <a:rPr lang="en-US" altLang="en-US" dirty="0" smtClean="0">
                <a:solidFill>
                  <a:srgbClr val="000000"/>
                </a:solidFill>
              </a:rPr>
              <a:t>directly</a:t>
            </a:r>
            <a:endParaRPr lang="en-US" altLang="en-US" dirty="0">
              <a:solidFill>
                <a:srgbClr val="000000"/>
              </a:solidFill>
            </a:endParaRPr>
          </a:p>
        </p:txBody>
      </p:sp>
    </p:spTree>
    <p:extLst>
      <p:ext uri="{BB962C8B-B14F-4D97-AF65-F5344CB8AC3E}">
        <p14:creationId xmlns:p14="http://schemas.microsoft.com/office/powerpoint/2010/main" val="22996227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Random Access Member </a:t>
            </a:r>
            <a:r>
              <a:rPr lang="en-US" altLang="en-US" dirty="0" smtClean="0"/>
              <a:t>Functions </a:t>
            </a:r>
            <a:r>
              <a:rPr lang="en-US" altLang="en-US" sz="1200" dirty="0" smtClean="0"/>
              <a:t>(1 </a:t>
            </a:r>
            <a:r>
              <a:rPr lang="en-US" altLang="en-US" sz="1200" dirty="0"/>
              <a:t>of 2)</a:t>
            </a:r>
            <a:endParaRPr lang="en-US" dirty="0"/>
          </a:p>
        </p:txBody>
      </p:sp>
      <p:sp>
        <p:nvSpPr>
          <p:cNvPr id="3" name="Content Placeholder 2"/>
          <p:cNvSpPr>
            <a:spLocks noGrp="1"/>
          </p:cNvSpPr>
          <p:nvPr>
            <p:ph idx="1"/>
          </p:nvPr>
        </p:nvSpPr>
        <p:spPr>
          <a:xfrm>
            <a:off x="457200" y="1871507"/>
            <a:ext cx="8229600" cy="3042138"/>
          </a:xfrm>
        </p:spPr>
        <p:txBody>
          <a:bodyPr/>
          <a:lstStyle/>
          <a:p>
            <a:pPr lvl="0">
              <a:lnSpc>
                <a:spcPct val="80000"/>
              </a:lnSpc>
              <a:spcBef>
                <a:spcPct val="15000"/>
              </a:spcBef>
              <a:buFontTx/>
              <a:buChar char="•"/>
            </a:pPr>
            <a:r>
              <a:rPr lang="en-US" altLang="en-US" dirty="0">
                <a:solidFill>
                  <a:srgbClr val="000000"/>
                </a:solidFill>
                <a:latin typeface="Courier New" panose="02070309020205020404" pitchFamily="49" charset="0"/>
              </a:rPr>
              <a:t>seekg</a:t>
            </a:r>
            <a:r>
              <a:rPr lang="en-US" altLang="en-US" dirty="0">
                <a:solidFill>
                  <a:srgbClr val="000000"/>
                </a:solidFill>
              </a:rPr>
              <a:t> (seek get): used with files open for </a:t>
            </a:r>
            <a:r>
              <a:rPr lang="en-US" altLang="en-US" dirty="0" smtClean="0">
                <a:solidFill>
                  <a:srgbClr val="000000"/>
                </a:solidFill>
              </a:rPr>
              <a:t>input</a:t>
            </a:r>
            <a:endParaRPr lang="en-US" altLang="en-US" dirty="0">
              <a:solidFill>
                <a:srgbClr val="000000"/>
              </a:solidFill>
            </a:endParaRPr>
          </a:p>
          <a:p>
            <a:pPr lvl="0">
              <a:lnSpc>
                <a:spcPct val="80000"/>
              </a:lnSpc>
              <a:spcBef>
                <a:spcPts val="3600"/>
              </a:spcBef>
              <a:buFontTx/>
              <a:buChar char="•"/>
            </a:pPr>
            <a:r>
              <a:rPr lang="en-US" altLang="en-US" dirty="0">
                <a:solidFill>
                  <a:srgbClr val="000000"/>
                </a:solidFill>
                <a:latin typeface="Courier New" panose="02070309020205020404" pitchFamily="49" charset="0"/>
              </a:rPr>
              <a:t>seekp</a:t>
            </a:r>
            <a:r>
              <a:rPr lang="en-US" altLang="en-US" dirty="0">
                <a:solidFill>
                  <a:srgbClr val="000000"/>
                </a:solidFill>
              </a:rPr>
              <a:t> (seek put): used with files open for </a:t>
            </a:r>
            <a:r>
              <a:rPr lang="en-US" altLang="en-US" dirty="0" smtClean="0">
                <a:solidFill>
                  <a:srgbClr val="000000"/>
                </a:solidFill>
              </a:rPr>
              <a:t>output</a:t>
            </a:r>
          </a:p>
          <a:p>
            <a:pPr lvl="0">
              <a:lnSpc>
                <a:spcPct val="80000"/>
              </a:lnSpc>
              <a:spcBef>
                <a:spcPts val="3600"/>
              </a:spcBef>
              <a:buFontTx/>
              <a:buChar char="•"/>
            </a:pPr>
            <a:r>
              <a:rPr lang="en-US" altLang="en-US" dirty="0" smtClean="0">
                <a:solidFill>
                  <a:srgbClr val="000000"/>
                </a:solidFill>
              </a:rPr>
              <a:t>Used </a:t>
            </a:r>
            <a:r>
              <a:rPr lang="en-US" altLang="en-US" dirty="0">
                <a:solidFill>
                  <a:srgbClr val="000000"/>
                </a:solidFill>
              </a:rPr>
              <a:t>to go to a specific position in a </a:t>
            </a:r>
            <a:r>
              <a:rPr lang="en-US" altLang="en-US" dirty="0" smtClean="0">
                <a:solidFill>
                  <a:srgbClr val="000000"/>
                </a:solidFill>
              </a:rPr>
              <a:t>file</a:t>
            </a:r>
          </a:p>
        </p:txBody>
      </p:sp>
    </p:spTree>
    <p:extLst>
      <p:ext uri="{BB962C8B-B14F-4D97-AF65-F5344CB8AC3E}">
        <p14:creationId xmlns:p14="http://schemas.microsoft.com/office/powerpoint/2010/main" val="145720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Random Access Member </a:t>
            </a:r>
            <a:r>
              <a:rPr lang="en-US" altLang="en-US" dirty="0" smtClean="0"/>
              <a:t>Functions </a:t>
            </a:r>
            <a:r>
              <a:rPr lang="en-US" altLang="en-US" sz="1200" dirty="0" smtClean="0"/>
              <a:t>(2 of 2)</a:t>
            </a:r>
            <a:endParaRPr lang="en-US" sz="1200" dirty="0"/>
          </a:p>
        </p:txBody>
      </p:sp>
      <p:sp>
        <p:nvSpPr>
          <p:cNvPr id="3" name="Content Placeholder 2"/>
          <p:cNvSpPr>
            <a:spLocks noGrp="1"/>
          </p:cNvSpPr>
          <p:nvPr>
            <p:ph idx="1"/>
          </p:nvPr>
        </p:nvSpPr>
        <p:spPr>
          <a:xfrm>
            <a:off x="447152" y="1730829"/>
            <a:ext cx="8229600" cy="4525963"/>
          </a:xfrm>
        </p:spPr>
        <p:txBody>
          <a:bodyPr/>
          <a:lstStyle/>
          <a:p>
            <a:pPr lvl="0">
              <a:lnSpc>
                <a:spcPct val="80000"/>
              </a:lnSpc>
              <a:spcBef>
                <a:spcPct val="15000"/>
              </a:spcBef>
              <a:buFontTx/>
              <a:buChar char="•"/>
            </a:pPr>
            <a:r>
              <a:rPr lang="en-US" altLang="en-US" sz="2800" dirty="0">
                <a:solidFill>
                  <a:srgbClr val="000000"/>
                </a:solidFill>
                <a:latin typeface="Courier New" panose="02070309020205020404" pitchFamily="49" charset="0"/>
              </a:rPr>
              <a:t>seekg,seekp </a:t>
            </a:r>
            <a:r>
              <a:rPr lang="en-US" altLang="en-US" sz="2800" dirty="0">
                <a:solidFill>
                  <a:srgbClr val="000000"/>
                </a:solidFill>
              </a:rPr>
              <a:t>arguments:</a:t>
            </a:r>
          </a:p>
          <a:p>
            <a:pPr lvl="1">
              <a:lnSpc>
                <a:spcPct val="80000"/>
              </a:lnSpc>
              <a:spcBef>
                <a:spcPct val="15000"/>
              </a:spcBef>
              <a:buClr>
                <a:srgbClr val="3333CC"/>
              </a:buClr>
              <a:buNone/>
            </a:pPr>
            <a:r>
              <a:rPr lang="en-US" altLang="en-US" sz="2400" dirty="0">
                <a:solidFill>
                  <a:srgbClr val="000000"/>
                </a:solidFill>
              </a:rPr>
              <a:t>offset</a:t>
            </a:r>
            <a:r>
              <a:rPr lang="en-US" altLang="en-US" sz="2400" dirty="0">
                <a:solidFill>
                  <a:srgbClr val="000000"/>
                </a:solidFill>
                <a:latin typeface="Courier New" panose="02070309020205020404" pitchFamily="49" charset="0"/>
              </a:rPr>
              <a:t>: </a:t>
            </a:r>
            <a:r>
              <a:rPr lang="en-US" altLang="en-US" sz="2400" dirty="0">
                <a:solidFill>
                  <a:srgbClr val="000000"/>
                </a:solidFill>
              </a:rPr>
              <a:t>number of bytes, as a</a:t>
            </a:r>
            <a:r>
              <a:rPr lang="en-US" altLang="en-US" sz="2400" dirty="0">
                <a:solidFill>
                  <a:srgbClr val="000000"/>
                </a:solidFill>
                <a:latin typeface="Courier New" panose="02070309020205020404" pitchFamily="49" charset="0"/>
              </a:rPr>
              <a:t> long</a:t>
            </a:r>
          </a:p>
          <a:p>
            <a:pPr lvl="1">
              <a:lnSpc>
                <a:spcPct val="80000"/>
              </a:lnSpc>
              <a:spcBef>
                <a:spcPct val="15000"/>
              </a:spcBef>
              <a:buClr>
                <a:srgbClr val="3333CC"/>
              </a:buClr>
              <a:buNone/>
            </a:pPr>
            <a:r>
              <a:rPr lang="en-US" altLang="en-US" sz="2400" dirty="0">
                <a:solidFill>
                  <a:srgbClr val="000000"/>
                </a:solidFill>
              </a:rPr>
              <a:t>mode flag</a:t>
            </a:r>
            <a:r>
              <a:rPr lang="en-US" altLang="en-US" sz="2400" dirty="0">
                <a:solidFill>
                  <a:srgbClr val="000000"/>
                </a:solidFill>
                <a:latin typeface="Courier New" panose="02070309020205020404" pitchFamily="49" charset="0"/>
              </a:rPr>
              <a:t>: </a:t>
            </a:r>
            <a:r>
              <a:rPr lang="en-US" altLang="en-US" sz="2400" dirty="0">
                <a:solidFill>
                  <a:srgbClr val="000000"/>
                </a:solidFill>
              </a:rPr>
              <a:t>starting point to compute </a:t>
            </a:r>
            <a:r>
              <a:rPr lang="en-US" altLang="en-US" sz="2400" dirty="0" smtClean="0">
                <a:solidFill>
                  <a:srgbClr val="000000"/>
                </a:solidFill>
              </a:rPr>
              <a:t>offset</a:t>
            </a:r>
            <a:endParaRPr lang="en-US" altLang="en-US" sz="2400" dirty="0">
              <a:solidFill>
                <a:srgbClr val="000000"/>
              </a:solidFill>
            </a:endParaRPr>
          </a:p>
          <a:p>
            <a:pPr lvl="0">
              <a:lnSpc>
                <a:spcPct val="80000"/>
              </a:lnSpc>
              <a:spcBef>
                <a:spcPts val="2800"/>
              </a:spcBef>
              <a:buFontTx/>
              <a:buChar char="•"/>
            </a:pPr>
            <a:r>
              <a:rPr lang="en-US" altLang="en-US" sz="2800" dirty="0">
                <a:solidFill>
                  <a:srgbClr val="000000"/>
                </a:solidFill>
              </a:rPr>
              <a:t>Examples:</a:t>
            </a:r>
          </a:p>
          <a:p>
            <a:pPr lvl="1">
              <a:lnSpc>
                <a:spcPct val="80000"/>
              </a:lnSpc>
              <a:spcBef>
                <a:spcPct val="15000"/>
              </a:spcBef>
              <a:buClr>
                <a:srgbClr val="3333CC"/>
              </a:buClr>
              <a:buNone/>
            </a:pPr>
            <a:r>
              <a:rPr lang="en-US" altLang="en-US" sz="2400" dirty="0">
                <a:solidFill>
                  <a:srgbClr val="000000"/>
                </a:solidFill>
                <a:latin typeface="Courier New" panose="02070309020205020404" pitchFamily="49" charset="0"/>
              </a:rPr>
              <a:t>inData.seekg(25L, ios::beg</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lvl="1">
              <a:lnSpc>
                <a:spcPct val="80000"/>
              </a:lnSpc>
              <a:spcBef>
                <a:spcPct val="15000"/>
              </a:spcBef>
              <a:buClr>
                <a:srgbClr val="3333CC"/>
              </a:buClr>
              <a:buNone/>
            </a:pPr>
            <a:r>
              <a:rPr lang="en-US" altLang="en-US" sz="2400" dirty="0">
                <a:solidFill>
                  <a:srgbClr val="000000"/>
                </a:solidFill>
                <a:latin typeface="Courier New" panose="02070309020205020404" pitchFamily="49" charset="0"/>
              </a:rPr>
              <a:t>// set read position at 26th </a:t>
            </a:r>
            <a:r>
              <a:rPr lang="en-US" altLang="en-US" sz="2400" dirty="0" smtClean="0">
                <a:solidFill>
                  <a:srgbClr val="000000"/>
                </a:solidFill>
                <a:latin typeface="Courier New" panose="02070309020205020404" pitchFamily="49" charset="0"/>
              </a:rPr>
              <a:t>byte</a:t>
            </a:r>
            <a:endParaRPr lang="en-US" altLang="en-US" sz="2400" dirty="0">
              <a:solidFill>
                <a:srgbClr val="000000"/>
              </a:solidFill>
              <a:latin typeface="Courier New" panose="02070309020205020404" pitchFamily="49" charset="0"/>
            </a:endParaRPr>
          </a:p>
          <a:p>
            <a:pPr lvl="1">
              <a:lnSpc>
                <a:spcPct val="80000"/>
              </a:lnSpc>
              <a:spcBef>
                <a:spcPct val="15000"/>
              </a:spcBef>
              <a:buClr>
                <a:srgbClr val="3333CC"/>
              </a:buClr>
              <a:buNone/>
            </a:pPr>
            <a:r>
              <a:rPr lang="en-US" altLang="en-US" sz="2400" dirty="0">
                <a:solidFill>
                  <a:srgbClr val="000000"/>
                </a:solidFill>
                <a:latin typeface="Courier New" panose="02070309020205020404" pitchFamily="49" charset="0"/>
              </a:rPr>
              <a:t>// from beginning of file</a:t>
            </a:r>
          </a:p>
          <a:p>
            <a:pPr lvl="1">
              <a:lnSpc>
                <a:spcPct val="80000"/>
              </a:lnSpc>
              <a:spcBef>
                <a:spcPct val="15000"/>
              </a:spcBef>
              <a:buClr>
                <a:srgbClr val="3333CC"/>
              </a:buClr>
              <a:buNone/>
            </a:pPr>
            <a:r>
              <a:rPr lang="en-US" altLang="en-US" sz="2400" dirty="0">
                <a:solidFill>
                  <a:srgbClr val="000000"/>
                </a:solidFill>
                <a:latin typeface="Courier New" panose="02070309020205020404" pitchFamily="49" charset="0"/>
              </a:rPr>
              <a:t>outData.seekp(-10L, ios::cur);</a:t>
            </a:r>
          </a:p>
          <a:p>
            <a:pPr lvl="1">
              <a:lnSpc>
                <a:spcPct val="80000"/>
              </a:lnSpc>
              <a:spcBef>
                <a:spcPct val="15000"/>
              </a:spcBef>
              <a:buClr>
                <a:srgbClr val="3333CC"/>
              </a:buClr>
              <a:buNone/>
            </a:pPr>
            <a:r>
              <a:rPr lang="en-US" altLang="en-US" sz="2400" dirty="0">
                <a:solidFill>
                  <a:srgbClr val="000000"/>
                </a:solidFill>
                <a:latin typeface="Courier New" panose="02070309020205020404" pitchFamily="49" charset="0"/>
              </a:rPr>
              <a:t>// set write position 10 bytes</a:t>
            </a:r>
          </a:p>
          <a:p>
            <a:pPr lvl="1">
              <a:lnSpc>
                <a:spcPct val="80000"/>
              </a:lnSpc>
              <a:spcBef>
                <a:spcPct val="15000"/>
              </a:spcBef>
              <a:buClr>
                <a:srgbClr val="3333CC"/>
              </a:buClr>
              <a:buNone/>
            </a:pPr>
            <a:r>
              <a:rPr lang="en-US" altLang="en-US" sz="2400" dirty="0">
                <a:solidFill>
                  <a:srgbClr val="000000"/>
                </a:solidFill>
                <a:latin typeface="Courier New" panose="02070309020205020404" pitchFamily="49" charset="0"/>
              </a:rPr>
              <a:t>// before current </a:t>
            </a:r>
            <a:r>
              <a:rPr lang="en-US" altLang="en-US" sz="2400" dirty="0" smtClean="0">
                <a:solidFill>
                  <a:srgbClr val="000000"/>
                </a:solidFill>
                <a:latin typeface="Courier New" panose="02070309020205020404" pitchFamily="49" charset="0"/>
              </a:rPr>
              <a:t>position</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544672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Important Note on Random Access</a:t>
            </a:r>
            <a:endParaRPr lang="en-US" dirty="0"/>
          </a:p>
        </p:txBody>
      </p:sp>
      <p:sp>
        <p:nvSpPr>
          <p:cNvPr id="3" name="Content Placeholder 2"/>
          <p:cNvSpPr>
            <a:spLocks noGrp="1"/>
          </p:cNvSpPr>
          <p:nvPr>
            <p:ph idx="1"/>
          </p:nvPr>
        </p:nvSpPr>
        <p:spPr>
          <a:xfrm>
            <a:off x="447152" y="1801168"/>
            <a:ext cx="8355204" cy="3695280"/>
          </a:xfrm>
        </p:spPr>
        <p:txBody>
          <a:bodyPr/>
          <a:lstStyle/>
          <a:p>
            <a:pPr lvl="0">
              <a:spcBef>
                <a:spcPct val="15000"/>
              </a:spcBef>
              <a:buFontTx/>
              <a:buChar char="•"/>
            </a:pPr>
            <a:r>
              <a:rPr lang="en-US" altLang="en-US" dirty="0">
                <a:solidFill>
                  <a:srgbClr val="000000"/>
                </a:solidFill>
              </a:rPr>
              <a:t>If </a:t>
            </a:r>
            <a:r>
              <a:rPr lang="en-US" altLang="en-US" dirty="0">
                <a:solidFill>
                  <a:srgbClr val="000000"/>
                </a:solidFill>
                <a:latin typeface="Courier New" panose="02070309020205020404" pitchFamily="49" charset="0"/>
              </a:rPr>
              <a:t>eof</a:t>
            </a:r>
            <a:r>
              <a:rPr lang="en-US" altLang="en-US" dirty="0">
                <a:solidFill>
                  <a:srgbClr val="000000"/>
                </a:solidFill>
              </a:rPr>
              <a:t> is true, it must be cleared before </a:t>
            </a:r>
            <a:r>
              <a:rPr lang="en-US" altLang="en-US" dirty="0">
                <a:solidFill>
                  <a:srgbClr val="000000"/>
                </a:solidFill>
                <a:latin typeface="Courier New" panose="02070309020205020404" pitchFamily="49" charset="0"/>
              </a:rPr>
              <a:t>seekg</a:t>
            </a:r>
            <a:r>
              <a:rPr lang="en-US" altLang="en-US" dirty="0">
                <a:solidFill>
                  <a:srgbClr val="000000"/>
                </a:solidFill>
              </a:rPr>
              <a:t> or </a:t>
            </a:r>
            <a:r>
              <a:rPr lang="en-US" altLang="en-US" dirty="0">
                <a:solidFill>
                  <a:srgbClr val="000000"/>
                </a:solidFill>
                <a:latin typeface="Courier New" panose="02070309020205020404" pitchFamily="49" charset="0"/>
              </a:rPr>
              <a:t>seekp</a:t>
            </a:r>
            <a:r>
              <a:rPr lang="en-US" altLang="en-US" dirty="0">
                <a:solidFill>
                  <a:srgbClr val="000000"/>
                </a:solidFill>
              </a:rPr>
              <a:t>:</a:t>
            </a:r>
          </a:p>
          <a:p>
            <a:pPr lvl="1" indent="0">
              <a:spcBef>
                <a:spcPts val="5000"/>
              </a:spcBef>
              <a:buClr>
                <a:srgbClr val="3333CC"/>
              </a:buClr>
              <a:buNone/>
            </a:pPr>
            <a:r>
              <a:rPr lang="en-US" altLang="en-US" dirty="0" smtClean="0">
                <a:solidFill>
                  <a:srgbClr val="000000"/>
                </a:solidFill>
                <a:latin typeface="Courier New" panose="02070309020205020404" pitchFamily="49" charset="0"/>
              </a:rPr>
              <a:t>gradeFile.clear</a:t>
            </a:r>
            <a:r>
              <a:rPr lang="en-US" altLang="en-US" dirty="0">
                <a:solidFill>
                  <a:srgbClr val="000000"/>
                </a:solidFill>
                <a:latin typeface="Courier New" panose="02070309020205020404" pitchFamily="49" charset="0"/>
              </a:rPr>
              <a:t>();</a:t>
            </a:r>
          </a:p>
          <a:p>
            <a:pPr lvl="1" indent="0">
              <a:spcBef>
                <a:spcPct val="15000"/>
              </a:spcBef>
              <a:buClr>
                <a:srgbClr val="3333CC"/>
              </a:buClr>
              <a:buNone/>
            </a:pPr>
            <a:r>
              <a:rPr lang="en-US" altLang="en-US" dirty="0" smtClean="0">
                <a:solidFill>
                  <a:srgbClr val="000000"/>
                </a:solidFill>
                <a:latin typeface="Courier New" panose="02070309020205020404" pitchFamily="49" charset="0"/>
              </a:rPr>
              <a:t>gradeFile.seekg(0L</a:t>
            </a:r>
            <a:r>
              <a:rPr lang="en-US" altLang="en-US" dirty="0">
                <a:solidFill>
                  <a:srgbClr val="000000"/>
                </a:solidFill>
                <a:latin typeface="Courier New" panose="02070309020205020404" pitchFamily="49" charset="0"/>
              </a:rPr>
              <a:t>, ios::beg</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lvl="1" indent="0">
              <a:spcBef>
                <a:spcPct val="15000"/>
              </a:spcBef>
              <a:buClr>
                <a:srgbClr val="3333CC"/>
              </a:buClr>
              <a:buNone/>
            </a:pPr>
            <a:r>
              <a:rPr lang="en-US" altLang="en-US" dirty="0" smtClean="0">
                <a:solidFill>
                  <a:srgbClr val="000000"/>
                </a:solidFill>
                <a:latin typeface="Courier New" panose="02070309020205020404" pitchFamily="49" charset="0"/>
              </a:rPr>
              <a:t>// </a:t>
            </a:r>
            <a:r>
              <a:rPr lang="en-US" altLang="en-US" dirty="0">
                <a:solidFill>
                  <a:srgbClr val="000000"/>
                </a:solidFill>
                <a:latin typeface="Courier New" panose="02070309020205020404" pitchFamily="49" charset="0"/>
              </a:rPr>
              <a:t>go to the beginning of the </a:t>
            </a:r>
            <a:r>
              <a:rPr lang="en-US" altLang="en-US" dirty="0" smtClean="0">
                <a:solidFill>
                  <a:srgbClr val="000000"/>
                </a:solidFill>
                <a:latin typeface="Courier New" panose="02070309020205020404" pitchFamily="49" charset="0"/>
              </a:rPr>
              <a:t>file</a:t>
            </a:r>
            <a:endParaRPr lang="en-US" altLang="en-US" dirty="0">
              <a:solidFill>
                <a:srgbClr val="000000"/>
              </a:solidFill>
            </a:endParaRPr>
          </a:p>
        </p:txBody>
      </p:sp>
    </p:spTree>
    <p:extLst>
      <p:ext uri="{BB962C8B-B14F-4D97-AF65-F5344CB8AC3E}">
        <p14:creationId xmlns:p14="http://schemas.microsoft.com/office/powerpoint/2010/main" val="11074086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Random Access Information</a:t>
            </a:r>
            <a:endParaRPr lang="en-US"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latin typeface="Courier New" panose="02070309020205020404" pitchFamily="49" charset="0"/>
              </a:rPr>
              <a:t>tellg</a:t>
            </a:r>
            <a:r>
              <a:rPr lang="en-US" altLang="en-US" dirty="0">
                <a:solidFill>
                  <a:srgbClr val="000000"/>
                </a:solidFill>
              </a:rPr>
              <a:t> member function: return current byte position in input file</a:t>
            </a:r>
          </a:p>
          <a:p>
            <a:pPr lvl="1" indent="0">
              <a:buNone/>
            </a:pPr>
            <a:r>
              <a:rPr lang="en-US" altLang="en-US" dirty="0" smtClean="0">
                <a:solidFill>
                  <a:srgbClr val="000000"/>
                </a:solidFill>
                <a:latin typeface="Courier New" panose="02070309020205020404" pitchFamily="49" charset="0"/>
              </a:rPr>
              <a:t>long </a:t>
            </a:r>
            <a:r>
              <a:rPr lang="en-US" altLang="en-US" dirty="0">
                <a:solidFill>
                  <a:srgbClr val="000000"/>
                </a:solidFill>
                <a:latin typeface="Courier New" panose="02070309020205020404" pitchFamily="49" charset="0"/>
              </a:rPr>
              <a:t>int whereAmI;</a:t>
            </a:r>
          </a:p>
          <a:p>
            <a:pPr lvl="1" indent="0">
              <a:buNone/>
            </a:pPr>
            <a:r>
              <a:rPr lang="en-US" altLang="en-US" dirty="0" smtClean="0">
                <a:solidFill>
                  <a:srgbClr val="000000"/>
                </a:solidFill>
                <a:latin typeface="Courier New" panose="02070309020205020404" pitchFamily="49" charset="0"/>
              </a:rPr>
              <a:t>whereAmI </a:t>
            </a:r>
            <a:r>
              <a:rPr lang="en-US" altLang="en-US" dirty="0">
                <a:solidFill>
                  <a:srgbClr val="000000"/>
                </a:solidFill>
                <a:latin typeface="Courier New" panose="02070309020205020404" pitchFamily="49" charset="0"/>
              </a:rPr>
              <a:t>= inData.tellg</a:t>
            </a:r>
            <a:r>
              <a:rPr lang="en-US" altLang="en-US" dirty="0" smtClean="0">
                <a:solidFill>
                  <a:srgbClr val="000000"/>
                </a:solidFill>
                <a:latin typeface="Courier New" panose="02070309020205020404" pitchFamily="49" charset="0"/>
              </a:rPr>
              <a:t>();</a:t>
            </a:r>
            <a:endParaRPr lang="en-US" altLang="en-US" dirty="0" smtClean="0">
              <a:solidFill>
                <a:srgbClr val="000000"/>
              </a:solidFill>
            </a:endParaRPr>
          </a:p>
          <a:p>
            <a:pPr lvl="0">
              <a:spcBef>
                <a:spcPts val="4200"/>
              </a:spcBef>
              <a:buFontTx/>
              <a:buChar char="•"/>
            </a:pPr>
            <a:r>
              <a:rPr lang="en-US" altLang="en-US" dirty="0" smtClean="0">
                <a:solidFill>
                  <a:srgbClr val="000000"/>
                </a:solidFill>
                <a:latin typeface="Courier New" panose="02070309020205020404" pitchFamily="49" charset="0"/>
              </a:rPr>
              <a:t>tellp</a:t>
            </a:r>
            <a:r>
              <a:rPr lang="en-US" altLang="en-US" dirty="0" smtClean="0">
                <a:solidFill>
                  <a:srgbClr val="000000"/>
                </a:solidFill>
              </a:rPr>
              <a:t> member function: return current byte position in output file</a:t>
            </a:r>
          </a:p>
          <a:p>
            <a:pPr lvl="1" indent="0">
              <a:buNone/>
            </a:pPr>
            <a:r>
              <a:rPr lang="en-US" altLang="en-US" dirty="0" smtClean="0">
                <a:solidFill>
                  <a:srgbClr val="000000"/>
                </a:solidFill>
                <a:latin typeface="Courier New" panose="02070309020205020404" pitchFamily="49" charset="0"/>
              </a:rPr>
              <a:t>whereAmI </a:t>
            </a:r>
            <a:r>
              <a:rPr lang="en-US" altLang="en-US" dirty="0">
                <a:solidFill>
                  <a:srgbClr val="000000"/>
                </a:solidFill>
                <a:latin typeface="Courier New" panose="02070309020205020404" pitchFamily="49" charset="0"/>
              </a:rPr>
              <a:t>= outData.tellp</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41384826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noChangeArrowheads="1"/>
          </p:cNvSpPr>
          <p:nvPr>
            <p:ph type="ctrTitle"/>
          </p:nvPr>
        </p:nvSpPr>
        <p:spPr/>
        <p:txBody>
          <a:bodyPr/>
          <a:lstStyle/>
          <a:p>
            <a:r>
              <a:rPr lang="en-US" altLang="en-US" dirty="0" smtClean="0"/>
              <a:t>12.10</a:t>
            </a:r>
          </a:p>
        </p:txBody>
      </p:sp>
      <p:sp>
        <p:nvSpPr>
          <p:cNvPr id="78851" name="Subtitle 2"/>
          <p:cNvSpPr>
            <a:spLocks noGrp="1" noChangeArrowheads="1"/>
          </p:cNvSpPr>
          <p:nvPr>
            <p:ph type="subTitle" idx="1"/>
          </p:nvPr>
        </p:nvSpPr>
        <p:spPr/>
        <p:txBody>
          <a:bodyPr/>
          <a:lstStyle/>
          <a:p>
            <a:r>
              <a:rPr lang="en-US" altLang="en-US" dirty="0" smtClean="0"/>
              <a:t>Opening a File for</a:t>
            </a:r>
            <a:br>
              <a:rPr lang="en-US" altLang="en-US" dirty="0" smtClean="0"/>
            </a:br>
            <a:r>
              <a:rPr lang="en-US" altLang="en-US" dirty="0" smtClean="0"/>
              <a:t>Both Input and Output</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Opening a File for </a:t>
            </a:r>
            <a:br>
              <a:rPr lang="en-US" altLang="en-US" dirty="0"/>
            </a:br>
            <a:r>
              <a:rPr lang="en-US" altLang="en-US" dirty="0"/>
              <a:t>Both Input and Output</a:t>
            </a:r>
            <a:endParaRPr lang="en-US" dirty="0"/>
          </a:p>
        </p:txBody>
      </p:sp>
      <p:sp>
        <p:nvSpPr>
          <p:cNvPr id="3" name="Content Placeholder 2"/>
          <p:cNvSpPr>
            <a:spLocks noGrp="1"/>
          </p:cNvSpPr>
          <p:nvPr>
            <p:ph idx="1"/>
          </p:nvPr>
        </p:nvSpPr>
        <p:spPr>
          <a:xfrm>
            <a:off x="457200" y="1730829"/>
            <a:ext cx="8229600" cy="4525963"/>
          </a:xfrm>
        </p:spPr>
        <p:txBody>
          <a:bodyPr/>
          <a:lstStyle/>
          <a:p>
            <a:pPr lvl="0">
              <a:lnSpc>
                <a:spcPct val="90000"/>
              </a:lnSpc>
              <a:spcBef>
                <a:spcPct val="15000"/>
              </a:spcBef>
              <a:buFontTx/>
              <a:buChar char="•"/>
            </a:pPr>
            <a:r>
              <a:rPr lang="en-US" altLang="en-US" sz="2400" dirty="0">
                <a:solidFill>
                  <a:srgbClr val="000000"/>
                </a:solidFill>
              </a:rPr>
              <a:t>File can be open for input and output simultaneously</a:t>
            </a:r>
          </a:p>
          <a:p>
            <a:pPr lvl="0">
              <a:lnSpc>
                <a:spcPct val="90000"/>
              </a:lnSpc>
              <a:spcBef>
                <a:spcPct val="15000"/>
              </a:spcBef>
              <a:buFontTx/>
              <a:buChar char="•"/>
            </a:pPr>
            <a:r>
              <a:rPr lang="en-US" altLang="en-US" sz="2400" dirty="0">
                <a:solidFill>
                  <a:srgbClr val="000000"/>
                </a:solidFill>
              </a:rPr>
              <a:t>Supports updating a file:</a:t>
            </a:r>
          </a:p>
          <a:p>
            <a:pPr lvl="1">
              <a:lnSpc>
                <a:spcPct val="90000"/>
              </a:lnSpc>
              <a:spcBef>
                <a:spcPct val="15000"/>
              </a:spcBef>
            </a:pPr>
            <a:r>
              <a:rPr lang="en-US" altLang="en-US" sz="2000" dirty="0">
                <a:solidFill>
                  <a:srgbClr val="000000"/>
                </a:solidFill>
              </a:rPr>
              <a:t>read data from file into memory</a:t>
            </a:r>
          </a:p>
          <a:p>
            <a:pPr lvl="1">
              <a:lnSpc>
                <a:spcPct val="90000"/>
              </a:lnSpc>
              <a:spcBef>
                <a:spcPct val="15000"/>
              </a:spcBef>
            </a:pPr>
            <a:r>
              <a:rPr lang="en-US" altLang="en-US" sz="2000" dirty="0">
                <a:solidFill>
                  <a:srgbClr val="000000"/>
                </a:solidFill>
              </a:rPr>
              <a:t>update data</a:t>
            </a:r>
          </a:p>
          <a:p>
            <a:pPr lvl="1">
              <a:lnSpc>
                <a:spcPct val="90000"/>
              </a:lnSpc>
              <a:spcBef>
                <a:spcPct val="15000"/>
              </a:spcBef>
            </a:pPr>
            <a:r>
              <a:rPr lang="en-US" altLang="en-US" sz="2000" dirty="0">
                <a:solidFill>
                  <a:srgbClr val="000000"/>
                </a:solidFill>
              </a:rPr>
              <a:t>write data back to file</a:t>
            </a:r>
          </a:p>
          <a:p>
            <a:pPr lvl="0">
              <a:lnSpc>
                <a:spcPct val="90000"/>
              </a:lnSpc>
              <a:spcBef>
                <a:spcPct val="15000"/>
              </a:spcBef>
              <a:buFontTx/>
              <a:buChar char="•"/>
            </a:pPr>
            <a:r>
              <a:rPr lang="en-US" altLang="en-US" sz="2400" dirty="0">
                <a:solidFill>
                  <a:srgbClr val="000000"/>
                </a:solidFill>
              </a:rPr>
              <a:t>Use </a:t>
            </a:r>
            <a:r>
              <a:rPr lang="en-US" altLang="en-US" sz="2400" dirty="0">
                <a:solidFill>
                  <a:srgbClr val="000000"/>
                </a:solidFill>
                <a:latin typeface="Courier New" panose="02070309020205020404" pitchFamily="49" charset="0"/>
              </a:rPr>
              <a:t>fstream</a:t>
            </a:r>
            <a:r>
              <a:rPr lang="en-US" altLang="en-US" sz="2400" dirty="0">
                <a:solidFill>
                  <a:srgbClr val="000000"/>
                </a:solidFill>
              </a:rPr>
              <a:t> for file object definition:</a:t>
            </a:r>
          </a:p>
          <a:p>
            <a:pPr lvl="1" indent="0">
              <a:lnSpc>
                <a:spcPct val="90000"/>
              </a:lnSpc>
              <a:spcBef>
                <a:spcPct val="15000"/>
              </a:spcBef>
              <a:buNone/>
            </a:pPr>
            <a:r>
              <a:rPr lang="en-US" altLang="en-US" sz="2000" dirty="0" smtClean="0">
                <a:solidFill>
                  <a:srgbClr val="000000"/>
                </a:solidFill>
                <a:latin typeface="Courier New" panose="02070309020205020404" pitchFamily="49" charset="0"/>
              </a:rPr>
              <a:t>fstream </a:t>
            </a:r>
            <a:r>
              <a:rPr lang="en-US" altLang="en-US" sz="2000" dirty="0">
                <a:solidFill>
                  <a:srgbClr val="000000"/>
                </a:solidFill>
                <a:latin typeface="Courier New" panose="02070309020205020404" pitchFamily="49" charset="0"/>
              </a:rPr>
              <a:t>gradeList("grades.dat",</a:t>
            </a:r>
          </a:p>
          <a:p>
            <a:pPr marL="1828800" lvl="1" indent="0">
              <a:lnSpc>
                <a:spcPct val="90000"/>
              </a:lnSpc>
              <a:spcBef>
                <a:spcPct val="15000"/>
              </a:spcBef>
              <a:buNone/>
            </a:pPr>
            <a:r>
              <a:rPr lang="en-US" altLang="en-US" sz="2000" dirty="0" smtClean="0">
                <a:solidFill>
                  <a:srgbClr val="000000"/>
                </a:solidFill>
                <a:latin typeface="Courier New" panose="02070309020205020404" pitchFamily="49" charset="0"/>
              </a:rPr>
              <a:t>ios</a:t>
            </a:r>
            <a:r>
              <a:rPr lang="en-US" altLang="en-US" sz="2000" dirty="0">
                <a:solidFill>
                  <a:srgbClr val="000000"/>
                </a:solidFill>
                <a:latin typeface="Courier New" panose="02070309020205020404" pitchFamily="49" charset="0"/>
              </a:rPr>
              <a:t>::in | ios::out);</a:t>
            </a:r>
          </a:p>
          <a:p>
            <a:pPr lvl="0">
              <a:lnSpc>
                <a:spcPct val="90000"/>
              </a:lnSpc>
              <a:spcBef>
                <a:spcPct val="15000"/>
              </a:spcBef>
              <a:buClr>
                <a:srgbClr val="000000"/>
              </a:buClr>
              <a:buFontTx/>
              <a:buChar char="•"/>
            </a:pPr>
            <a:r>
              <a:rPr lang="en-US" altLang="en-US" sz="2400" dirty="0">
                <a:solidFill>
                  <a:srgbClr val="000000"/>
                </a:solidFill>
              </a:rPr>
              <a:t>Can also use </a:t>
            </a:r>
            <a:r>
              <a:rPr lang="en-US" altLang="en-US" sz="2400" dirty="0">
                <a:solidFill>
                  <a:srgbClr val="000000"/>
                </a:solidFill>
                <a:latin typeface="Courier New" panose="02070309020205020404" pitchFamily="49" charset="0"/>
              </a:rPr>
              <a:t>ios::binary</a:t>
            </a:r>
            <a:r>
              <a:rPr lang="en-US" altLang="en-US" sz="2400" dirty="0">
                <a:solidFill>
                  <a:srgbClr val="000000"/>
                </a:solidFill>
              </a:rPr>
              <a:t> flag for binary </a:t>
            </a:r>
            <a:r>
              <a:rPr lang="en-US" altLang="en-US" sz="2400" dirty="0" smtClean="0">
                <a:solidFill>
                  <a:srgbClr val="000000"/>
                </a:solidFill>
              </a:rPr>
              <a:t>data</a:t>
            </a:r>
            <a:endParaRPr lang="en-US" altLang="en-US" sz="2400" dirty="0">
              <a:solidFill>
                <a:srgbClr val="000000"/>
              </a:solidFill>
            </a:endParaRPr>
          </a:p>
        </p:txBody>
      </p:sp>
    </p:spTree>
    <p:extLst>
      <p:ext uri="{BB962C8B-B14F-4D97-AF65-F5344CB8AC3E}">
        <p14:creationId xmlns:p14="http://schemas.microsoft.com/office/powerpoint/2010/main" val="15337344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noChangeArrowheads="1"/>
          </p:cNvSpPr>
          <p:nvPr>
            <p:ph type="ctrTitle"/>
          </p:nvPr>
        </p:nvSpPr>
        <p:spPr/>
        <p:txBody>
          <a:bodyPr/>
          <a:lstStyle/>
          <a:p>
            <a:r>
              <a:rPr lang="en-US" altLang="en-US" dirty="0" smtClean="0"/>
              <a:t>12.11</a:t>
            </a:r>
          </a:p>
        </p:txBody>
      </p:sp>
      <p:sp>
        <p:nvSpPr>
          <p:cNvPr id="81923" name="Subtitle 2"/>
          <p:cNvSpPr>
            <a:spLocks noGrp="1" noChangeArrowheads="1"/>
          </p:cNvSpPr>
          <p:nvPr>
            <p:ph type="subTitle" idx="1"/>
          </p:nvPr>
        </p:nvSpPr>
        <p:spPr/>
        <p:txBody>
          <a:bodyPr/>
          <a:lstStyle/>
          <a:p>
            <a:r>
              <a:rPr lang="en-US" altLang="en-US" dirty="0" smtClean="0"/>
              <a:t>Working With the File System</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p:nvPr>
        </p:nvSpPr>
        <p:spPr/>
        <p:txBody>
          <a:bodyPr/>
          <a:lstStyle/>
          <a:p>
            <a:r>
              <a:rPr lang="en-US" altLang="en-US" dirty="0" smtClean="0"/>
              <a:t>Working With the File System </a:t>
            </a:r>
            <a:r>
              <a:rPr lang="en-US" altLang="en-US" sz="1200" dirty="0" smtClean="0"/>
              <a:t>(1 of 2)</a:t>
            </a:r>
          </a:p>
        </p:txBody>
      </p:sp>
      <p:sp>
        <p:nvSpPr>
          <p:cNvPr id="82947" name="Content Placeholder 2"/>
          <p:cNvSpPr>
            <a:spLocks noGrp="1" noChangeArrowheads="1"/>
          </p:cNvSpPr>
          <p:nvPr>
            <p:ph idx="1"/>
          </p:nvPr>
        </p:nvSpPr>
        <p:spPr/>
        <p:txBody>
          <a:bodyPr/>
          <a:lstStyle/>
          <a:p>
            <a:pPr>
              <a:buFontTx/>
              <a:buChar char="•"/>
            </a:pPr>
            <a:r>
              <a:rPr lang="en-US" altLang="en-US" sz="2800" dirty="0" smtClean="0"/>
              <a:t>In C++ 17 and later, the standard library provides numerous functions and types that you can use to work with the file system.</a:t>
            </a:r>
          </a:p>
          <a:p>
            <a:pPr>
              <a:spcBef>
                <a:spcPts val="4800"/>
              </a:spcBef>
              <a:buFontTx/>
              <a:buChar char="•"/>
            </a:pPr>
            <a:r>
              <a:rPr lang="en-US" altLang="en-US" sz="2800" dirty="0" smtClean="0"/>
              <a:t>Use the following </a:t>
            </a:r>
            <a:r>
              <a:rPr lang="en-US" altLang="en-US" sz="2800" dirty="0" smtClean="0">
                <a:latin typeface="Courier New" panose="02070309020205020404" pitchFamily="49" charset="0"/>
                <a:cs typeface="Courier New" panose="02070309020205020404" pitchFamily="49" charset="0"/>
              </a:rPr>
              <a:t>#include</a:t>
            </a:r>
            <a:r>
              <a:rPr lang="en-US" altLang="en-US" sz="2800" dirty="0" smtClean="0"/>
              <a:t> directive:</a:t>
            </a:r>
          </a:p>
          <a:p>
            <a:pPr marL="1908000" lvl="0" indent="0">
              <a:spcBef>
                <a:spcPts val="6400"/>
              </a:spcBef>
              <a:buNone/>
            </a:pPr>
            <a:r>
              <a:rPr lang="en-US" altLang="en-US" sz="2800" kern="1200" dirty="0">
                <a:solidFill>
                  <a:srgbClr val="000000"/>
                </a:solidFill>
                <a:latin typeface="Courier New" panose="02070309020205020404" pitchFamily="49" charset="0"/>
                <a:cs typeface="Calibri" panose="020F0502020204030204" pitchFamily="34" charset="0"/>
              </a:rPr>
              <a:t>#include &lt;filesystem</a:t>
            </a:r>
            <a:r>
              <a:rPr lang="en-US" altLang="en-US" sz="2800" kern="1200" dirty="0" smtClean="0">
                <a:solidFill>
                  <a:srgbClr val="000000"/>
                </a:solidFill>
                <a:latin typeface="Courier New" panose="02070309020205020404" pitchFamily="49" charset="0"/>
                <a:cs typeface="Calibri" panose="020F0502020204030204" pitchFamily="34" charset="0"/>
              </a:rPr>
              <a:t>&gt;</a:t>
            </a:r>
            <a:endParaRPr lang="en-US" altLang="en-US" sz="28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961926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noChangeArrowheads="1"/>
          </p:cNvSpPr>
          <p:nvPr>
            <p:ph type="title"/>
          </p:nvPr>
        </p:nvSpPr>
        <p:spPr/>
        <p:txBody>
          <a:bodyPr/>
          <a:lstStyle/>
          <a:p>
            <a:r>
              <a:rPr lang="en-US" altLang="en-US" dirty="0" smtClean="0"/>
              <a:t>Working With the File System </a:t>
            </a:r>
            <a:r>
              <a:rPr lang="en-US" altLang="en-US" sz="1200" dirty="0" smtClean="0"/>
              <a:t>(2 </a:t>
            </a:r>
            <a:r>
              <a:rPr lang="en-US" altLang="en-US" sz="1200" dirty="0"/>
              <a:t>of 2)</a:t>
            </a:r>
            <a:endParaRPr lang="en-US" altLang="en-US" dirty="0" smtClean="0"/>
          </a:p>
        </p:txBody>
      </p:sp>
      <p:sp>
        <p:nvSpPr>
          <p:cNvPr id="83971" name="Content Placeholder 2"/>
          <p:cNvSpPr>
            <a:spLocks noGrp="1" noChangeArrowheads="1"/>
          </p:cNvSpPr>
          <p:nvPr>
            <p:ph idx="1"/>
          </p:nvPr>
        </p:nvSpPr>
        <p:spPr/>
        <p:txBody>
          <a:bodyPr/>
          <a:lstStyle/>
          <a:p>
            <a:pPr>
              <a:buFontTx/>
              <a:buChar char="•"/>
            </a:pPr>
            <a:r>
              <a:rPr lang="en-US" altLang="en-US" sz="2800" dirty="0" smtClean="0"/>
              <a:t>All of the file system functions and types are in the </a:t>
            </a:r>
            <a:r>
              <a:rPr lang="en-US" altLang="en-US" sz="2800" dirty="0" smtClean="0">
                <a:latin typeface="Courier New" panose="02070309020205020404" pitchFamily="49" charset="0"/>
                <a:cs typeface="Courier New" panose="02070309020205020404" pitchFamily="49" charset="0"/>
              </a:rPr>
              <a:t>filesystem</a:t>
            </a:r>
            <a:r>
              <a:rPr lang="en-US" altLang="en-US" sz="2800" dirty="0" smtClean="0"/>
              <a:t> namespace, which is in the </a:t>
            </a:r>
            <a:r>
              <a:rPr lang="en-US" altLang="en-US" sz="2800" dirty="0" smtClean="0">
                <a:latin typeface="Courier New" panose="02070309020205020404" pitchFamily="49" charset="0"/>
                <a:cs typeface="Courier New" panose="02070309020205020404" pitchFamily="49" charset="0"/>
              </a:rPr>
              <a:t>std</a:t>
            </a:r>
            <a:r>
              <a:rPr lang="en-US" altLang="en-US" sz="2800" dirty="0" smtClean="0"/>
              <a:t> namespace</a:t>
            </a:r>
          </a:p>
          <a:p>
            <a:pPr>
              <a:spcBef>
                <a:spcPts val="4600"/>
              </a:spcBef>
              <a:buFontTx/>
              <a:buChar char="•"/>
            </a:pPr>
            <a:r>
              <a:rPr lang="en-US" altLang="en-US" sz="2800" dirty="0" smtClean="0"/>
              <a:t>In your code, the name of a file system function or type will be prefixed with </a:t>
            </a:r>
            <a:r>
              <a:rPr lang="en-US" altLang="en-US" sz="2800" dirty="0" smtClean="0">
                <a:latin typeface="Courier New" panose="02070309020205020404" pitchFamily="49" charset="0"/>
                <a:cs typeface="Courier New" panose="02070309020205020404" pitchFamily="49" charset="0"/>
              </a:rPr>
              <a:t>filesystem::</a:t>
            </a:r>
          </a:p>
        </p:txBody>
      </p:sp>
    </p:spTree>
    <p:extLst>
      <p:ext uri="{BB962C8B-B14F-4D97-AF65-F5344CB8AC3E}">
        <p14:creationId xmlns:p14="http://schemas.microsoft.com/office/powerpoint/2010/main" val="168422492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noChangeArrowheads="1"/>
          </p:cNvSpPr>
          <p:nvPr>
            <p:ph type="title"/>
          </p:nvPr>
        </p:nvSpPr>
        <p:spPr/>
        <p:txBody>
          <a:bodyPr/>
          <a:lstStyle/>
          <a:p>
            <a:r>
              <a:rPr lang="en-US" altLang="en-US" dirty="0" smtClean="0"/>
              <a:t>Directories and Paths </a:t>
            </a:r>
            <a:r>
              <a:rPr lang="en-US" altLang="en-US" sz="1200" dirty="0" smtClean="0"/>
              <a:t>(1 </a:t>
            </a:r>
            <a:r>
              <a:rPr lang="en-US" altLang="en-US" sz="1200" dirty="0"/>
              <a:t>of </a:t>
            </a:r>
            <a:r>
              <a:rPr lang="en-US" altLang="en-US" sz="1200" dirty="0" smtClean="0"/>
              <a:t>3)</a:t>
            </a:r>
            <a:endParaRPr lang="en-US" altLang="en-US" dirty="0" smtClean="0"/>
          </a:p>
        </p:txBody>
      </p:sp>
      <p:sp>
        <p:nvSpPr>
          <p:cNvPr id="84995" name="Content Placeholder 2"/>
          <p:cNvSpPr>
            <a:spLocks noGrp="1" noChangeArrowheads="1"/>
          </p:cNvSpPr>
          <p:nvPr>
            <p:ph idx="1"/>
          </p:nvPr>
        </p:nvSpPr>
        <p:spPr/>
        <p:txBody>
          <a:bodyPr/>
          <a:lstStyle/>
          <a:p>
            <a:pPr>
              <a:buFontTx/>
              <a:buChar char="•"/>
            </a:pPr>
            <a:r>
              <a:rPr lang="en-US" altLang="en-US" dirty="0" smtClean="0"/>
              <a:t>In your file system, files are stored in folders</a:t>
            </a:r>
          </a:p>
          <a:p>
            <a:pPr>
              <a:spcBef>
                <a:spcPts val="5400"/>
              </a:spcBef>
              <a:buFontTx/>
              <a:buChar char="•"/>
            </a:pPr>
            <a:r>
              <a:rPr lang="en-US" altLang="en-US" dirty="0" smtClean="0"/>
              <a:t>A </a:t>
            </a:r>
            <a:r>
              <a:rPr lang="en-US" altLang="en-US" i="1" dirty="0" smtClean="0"/>
              <a:t>directory</a:t>
            </a:r>
            <a:r>
              <a:rPr lang="en-US" altLang="en-US" dirty="0" smtClean="0"/>
              <a:t> is the same thing as a folder</a:t>
            </a:r>
          </a:p>
          <a:p>
            <a:pPr lvl="1"/>
            <a:r>
              <a:rPr lang="en-US" altLang="en-US" dirty="0" smtClean="0"/>
              <a:t>The two terms mean the same thing</a:t>
            </a:r>
          </a:p>
          <a:p>
            <a:pPr lvl="1"/>
            <a:r>
              <a:rPr lang="en-US" altLang="en-US" dirty="0" smtClean="0"/>
              <a:t>In C++ documentation, </a:t>
            </a:r>
            <a:r>
              <a:rPr lang="en-US" altLang="en-US" i="1" dirty="0" smtClean="0"/>
              <a:t>directory</a:t>
            </a:r>
            <a:r>
              <a:rPr lang="en-US" altLang="en-US" dirty="0" smtClean="0"/>
              <a:t> is typically used instead of </a:t>
            </a:r>
            <a:r>
              <a:rPr lang="en-US" altLang="en-US" i="1" dirty="0" smtClean="0"/>
              <a:t>folder</a:t>
            </a:r>
          </a:p>
        </p:txBody>
      </p:sp>
    </p:spTree>
    <p:extLst>
      <p:ext uri="{BB962C8B-B14F-4D97-AF65-F5344CB8AC3E}">
        <p14:creationId xmlns:p14="http://schemas.microsoft.com/office/powerpoint/2010/main" val="23595465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p:txBody>
          <a:bodyPr/>
          <a:lstStyle/>
          <a:p>
            <a:r>
              <a:rPr lang="en-US" altLang="en-US" dirty="0" smtClean="0"/>
              <a:t>Directories and Paths </a:t>
            </a:r>
            <a:r>
              <a:rPr lang="en-US" altLang="en-US" sz="1200" dirty="0" smtClean="0"/>
              <a:t>(2 </a:t>
            </a:r>
            <a:r>
              <a:rPr lang="en-US" altLang="en-US" sz="1200" dirty="0"/>
              <a:t>of 3)</a:t>
            </a:r>
            <a:endParaRPr lang="en-US" altLang="en-US" dirty="0" smtClean="0"/>
          </a:p>
        </p:txBody>
      </p:sp>
      <p:sp>
        <p:nvSpPr>
          <p:cNvPr id="86019" name="Content Placeholder 2"/>
          <p:cNvSpPr>
            <a:spLocks noGrp="1" noChangeArrowheads="1"/>
          </p:cNvSpPr>
          <p:nvPr>
            <p:ph idx="1"/>
          </p:nvPr>
        </p:nvSpPr>
        <p:spPr>
          <a:xfrm>
            <a:off x="457200" y="1600201"/>
            <a:ext cx="8229600" cy="1936820"/>
          </a:xfrm>
        </p:spPr>
        <p:txBody>
          <a:bodyPr/>
          <a:lstStyle/>
          <a:p>
            <a:pPr>
              <a:buFontTx/>
              <a:buChar char="•"/>
            </a:pPr>
            <a:r>
              <a:rPr lang="en-US" altLang="en-US" sz="2400" dirty="0" smtClean="0"/>
              <a:t>A </a:t>
            </a:r>
            <a:r>
              <a:rPr lang="en-US" altLang="en-US" sz="2400" i="1" dirty="0" smtClean="0"/>
              <a:t>path</a:t>
            </a:r>
            <a:r>
              <a:rPr lang="en-US" altLang="en-US" sz="2400" dirty="0" smtClean="0"/>
              <a:t>, or </a:t>
            </a:r>
            <a:r>
              <a:rPr lang="en-US" altLang="en-US" sz="2400" i="1" dirty="0" smtClean="0"/>
              <a:t>pathname</a:t>
            </a:r>
            <a:r>
              <a:rPr lang="en-US" altLang="en-US" sz="2400" dirty="0" smtClean="0"/>
              <a:t>, is a string that specifies the location of a file or a directory on a computer system</a:t>
            </a:r>
          </a:p>
          <a:p>
            <a:pPr>
              <a:buFontTx/>
              <a:buChar char="•"/>
            </a:pPr>
            <a:r>
              <a:rPr lang="en-US" altLang="en-US" sz="2400" dirty="0" smtClean="0"/>
              <a:t>Here is an example of a Windows pathname:</a:t>
            </a:r>
          </a:p>
          <a:p>
            <a:pPr marL="914400" lvl="0" indent="0">
              <a:spcBef>
                <a:spcPts val="1700"/>
              </a:spcBef>
              <a:buNone/>
            </a:pPr>
            <a:r>
              <a:rPr lang="en-US" altLang="en-US" sz="2400" kern="1200" dirty="0" smtClean="0">
                <a:solidFill>
                  <a:srgbClr val="000000"/>
                </a:solidFill>
                <a:latin typeface="Courier New" panose="02070309020205020404" pitchFamily="49" charset="0"/>
                <a:cs typeface="Calibri" panose="020F0502020204030204" pitchFamily="34" charset="0"/>
              </a:rPr>
              <a:t>C:\Users\Blake\temp\final_exam.txt</a:t>
            </a:r>
            <a:endParaRPr lang="en-US" altLang="en-US" sz="2400" dirty="0" smtClean="0"/>
          </a:p>
        </p:txBody>
      </p:sp>
      <p:pic>
        <p:nvPicPr>
          <p:cNvPr id="2" name="Picture 1" descr="A screenshot displays the example of a windows path in three dimensional structure. Here, the C directory is the root directory. The 'users' folder is present inside the root directory. The 'Blake' folder is located inside the users folder in the root directory. The 'temp' folder is located inside the 'Blake' folder. The 'final_exam.txt' file is located inside 'temp' folder. The folders are represented one below the other by connected lines.&#10;"/>
          <p:cNvPicPr>
            <a:picLocks noChangeAspect="1"/>
          </p:cNvPicPr>
          <p:nvPr/>
        </p:nvPicPr>
        <p:blipFill>
          <a:blip r:embed="rId2"/>
          <a:stretch>
            <a:fillRect/>
          </a:stretch>
        </p:blipFill>
        <p:spPr>
          <a:xfrm>
            <a:off x="2497373" y="3872071"/>
            <a:ext cx="4109060" cy="2188654"/>
          </a:xfrm>
          <a:prstGeom prst="rect">
            <a:avLst/>
          </a:prstGeom>
        </p:spPr>
      </p:pic>
    </p:spTree>
    <p:extLst>
      <p:ext uri="{BB962C8B-B14F-4D97-AF65-F5344CB8AC3E}">
        <p14:creationId xmlns:p14="http://schemas.microsoft.com/office/powerpoint/2010/main" val="211728352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Directories and Paths </a:t>
            </a:r>
            <a:r>
              <a:rPr lang="en-US" altLang="en-US" sz="1200" dirty="0"/>
              <a:t>(3 of 3)</a:t>
            </a:r>
            <a:endParaRPr lang="en-US" dirty="0"/>
          </a:p>
        </p:txBody>
      </p:sp>
      <p:sp>
        <p:nvSpPr>
          <p:cNvPr id="3" name="Content Placeholder 2"/>
          <p:cNvSpPr>
            <a:spLocks noGrp="1"/>
          </p:cNvSpPr>
          <p:nvPr>
            <p:ph sz="half" idx="1"/>
          </p:nvPr>
        </p:nvSpPr>
        <p:spPr>
          <a:xfrm>
            <a:off x="457199" y="1600200"/>
            <a:ext cx="8586317" cy="1219200"/>
          </a:xfrm>
        </p:spPr>
        <p:txBody>
          <a:bodyPr/>
          <a:lstStyle/>
          <a:p>
            <a:pPr lvl="0"/>
            <a:r>
              <a:rPr lang="en-US" altLang="en-US" sz="2400" dirty="0">
                <a:solidFill>
                  <a:srgbClr val="000000"/>
                </a:solidFill>
              </a:rPr>
              <a:t>Here is an example of a Unix or Linux style pathname</a:t>
            </a:r>
            <a:r>
              <a:rPr lang="en-US" altLang="en-US" sz="2400" dirty="0" smtClean="0">
                <a:solidFill>
                  <a:srgbClr val="000000"/>
                </a:solidFill>
              </a:rPr>
              <a:t>:</a:t>
            </a:r>
          </a:p>
          <a:p>
            <a:pPr marL="1188720" lvl="0" indent="0">
              <a:spcBef>
                <a:spcPts val="2600"/>
              </a:spcBef>
              <a:buNone/>
            </a:pPr>
            <a:r>
              <a:rPr lang="en-US" altLang="en-US" sz="2400" kern="1200" dirty="0">
                <a:solidFill>
                  <a:srgbClr val="000000"/>
                </a:solidFill>
                <a:latin typeface="Courier New" panose="02070309020205020404" pitchFamily="49" charset="0"/>
                <a:cs typeface="Calibri" panose="020F0502020204030204" pitchFamily="34" charset="0"/>
              </a:rPr>
              <a:t>/home/blake/temp/final_exam.txt</a:t>
            </a:r>
            <a:endParaRPr lang="en-US" altLang="en-US" sz="2400" dirty="0">
              <a:solidFill>
                <a:srgbClr val="000000"/>
              </a:solidFill>
            </a:endParaRPr>
          </a:p>
        </p:txBody>
      </p:sp>
      <p:pic>
        <p:nvPicPr>
          <p:cNvPr id="9" name="Picture 8" descr="A screenshot displays the example of a Unix or Linux path in three dimensional structure. Here, the directory is displayed at the top. The 'home' folder is present inside the root directory. The 'Blake' folder is located inside the 'home' folder in the root directory. The 'temp' folder is located inside the 'Blake' folder. The 'final_exam.txt' file is located inside 'temp' folder. The folders are represented one below the other by connected lines.&#10;"/>
          <p:cNvPicPr>
            <a:picLocks noChangeAspect="1"/>
          </p:cNvPicPr>
          <p:nvPr/>
        </p:nvPicPr>
        <p:blipFill>
          <a:blip r:embed="rId2"/>
          <a:stretch>
            <a:fillRect/>
          </a:stretch>
        </p:blipFill>
        <p:spPr>
          <a:xfrm>
            <a:off x="2582387" y="2953044"/>
            <a:ext cx="3999323" cy="2298391"/>
          </a:xfrm>
          <a:prstGeom prst="rect">
            <a:avLst/>
          </a:prstGeom>
        </p:spPr>
      </p:pic>
      <p:sp>
        <p:nvSpPr>
          <p:cNvPr id="4" name="Content Placeholder 3"/>
          <p:cNvSpPr>
            <a:spLocks noGrp="1"/>
          </p:cNvSpPr>
          <p:nvPr>
            <p:ph sz="half" idx="2"/>
          </p:nvPr>
        </p:nvSpPr>
        <p:spPr>
          <a:xfrm>
            <a:off x="1768511" y="5617028"/>
            <a:ext cx="5144756" cy="391886"/>
          </a:xfrm>
        </p:spPr>
        <p:txBody>
          <a:bodyPr/>
          <a:lstStyle/>
          <a:p>
            <a:pPr marL="0" lvl="0" indent="0">
              <a:spcBef>
                <a:spcPct val="0"/>
              </a:spcBef>
              <a:buNone/>
            </a:pPr>
            <a:r>
              <a:rPr lang="en-US" altLang="en-US" sz="2000" i="1" kern="1200" dirty="0">
                <a:solidFill>
                  <a:srgbClr val="000000"/>
                </a:solidFill>
                <a:latin typeface="Arial" panose="020B0604020202020204" pitchFamily="34" charset="0"/>
                <a:cs typeface="Arial" panose="020B0604020202020204" pitchFamily="34" charset="0"/>
              </a:rPr>
              <a:t>NOTE: macOS uses Unix style pathnames</a:t>
            </a:r>
            <a:r>
              <a:rPr lang="en-US" altLang="en-US" sz="2000" i="1" kern="1200" dirty="0" smtClean="0">
                <a:solidFill>
                  <a:srgbClr val="000000"/>
                </a:solidFill>
                <a:latin typeface="Arial" panose="020B0604020202020204" pitchFamily="34" charset="0"/>
                <a:cs typeface="Arial" panose="020B0604020202020204" pitchFamily="34" charset="0"/>
              </a:rPr>
              <a:t>.</a:t>
            </a:r>
            <a:endParaRPr lang="en-US" altLang="en-US" sz="2000" i="1"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50747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p:txBody>
          <a:bodyPr/>
          <a:lstStyle/>
          <a:p>
            <a:r>
              <a:rPr lang="en-US" altLang="en-US" dirty="0" smtClean="0"/>
              <a:t>Absolute Paths </a:t>
            </a:r>
            <a:r>
              <a:rPr lang="en-US" altLang="en-US" sz="1200" dirty="0" smtClean="0"/>
              <a:t>(1 of 2)</a:t>
            </a:r>
          </a:p>
        </p:txBody>
      </p:sp>
      <p:sp>
        <p:nvSpPr>
          <p:cNvPr id="88067" name="Content Placeholder 2"/>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An </a:t>
            </a:r>
            <a:r>
              <a:rPr lang="en-US" altLang="en-US" sz="2400" i="1" dirty="0" smtClean="0">
                <a:latin typeface="Calibri" panose="020F0502020204030204" pitchFamily="34" charset="0"/>
                <a:ea typeface="Calibri" panose="020F0502020204030204" pitchFamily="34" charset="0"/>
                <a:cs typeface="Times New Roman" panose="02020603050405020304" pitchFamily="18" charset="0"/>
              </a:rPr>
              <a:t>absolute</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a:t>
            </a:r>
            <a:r>
              <a:rPr lang="en-US" altLang="en-US" sz="2400" i="1" dirty="0" smtClean="0">
                <a:latin typeface="Calibri" panose="020F0502020204030204" pitchFamily="34" charset="0"/>
                <a:ea typeface="Calibri" panose="020F0502020204030204" pitchFamily="34" charset="0"/>
                <a:cs typeface="Times New Roman" panose="02020603050405020304" pitchFamily="18" charset="0"/>
              </a:rPr>
              <a:t>path</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is a path that fully specifies a file or directory's location, starting at the root directory.</a:t>
            </a:r>
          </a:p>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Windows example:</a:t>
            </a:r>
          </a:p>
          <a:p>
            <a:pPr marL="1371600" lvl="0" indent="0">
              <a:spcBef>
                <a:spcPts val="2200"/>
              </a:spcBef>
              <a:buNone/>
            </a:pPr>
            <a:r>
              <a:rPr lang="en-US" altLang="en-US" sz="1800" kern="1200" dirty="0">
                <a:solidFill>
                  <a:srgbClr val="000000"/>
                </a:solidFill>
                <a:latin typeface="Courier New" panose="02070309020205020404" pitchFamily="49" charset="0"/>
                <a:cs typeface="Calibri" panose="020F0502020204030204" pitchFamily="34" charset="0"/>
              </a:rPr>
              <a:t>C:\</a:t>
            </a:r>
            <a:r>
              <a:rPr lang="en-US" altLang="en-US" sz="1800" kern="1200" dirty="0" smtClean="0">
                <a:solidFill>
                  <a:srgbClr val="000000"/>
                </a:solidFill>
                <a:latin typeface="Courier New" panose="02070309020205020404" pitchFamily="49" charset="0"/>
                <a:cs typeface="Calibri" panose="020F0502020204030204" pitchFamily="34" charset="0"/>
              </a:rPr>
              <a:t>Users\Stacey\Desktop\sheepdog.jpg</a:t>
            </a:r>
            <a:endParaRPr lang="en-US" altLang="en-US" sz="1800" dirty="0" smtClean="0">
              <a:latin typeface="Calibri" panose="020F0502020204030204" pitchFamily="34" charset="0"/>
              <a:ea typeface="Calibri" panose="020F0502020204030204" pitchFamily="34" charset="0"/>
              <a:cs typeface="Times New Roman" panose="02020603050405020304" pitchFamily="18" charset="0"/>
            </a:endParaRPr>
          </a:p>
          <a:p>
            <a:pPr>
              <a:spcBef>
                <a:spcPts val="220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Starting at the root directory of drive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C:</a:t>
            </a:r>
            <a:endParaRPr lang="en-US" altLang="en-US" sz="2400" dirty="0" smtClean="0">
              <a:latin typeface="Calibri" panose="020F0502020204030204" pitchFamily="34" charset="0"/>
              <a:ea typeface="Calibri" panose="020F0502020204030204" pitchFamily="34" charset="0"/>
              <a:cs typeface="Times New Roman" panose="02020603050405020304" pitchFamily="18" charset="0"/>
            </a:endParaRPr>
          </a:p>
          <a:p>
            <a:pPr lvl="1"/>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We go to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Users</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directory,</a:t>
            </a:r>
          </a:p>
          <a:p>
            <a:pPr lvl="2">
              <a:buFontTx/>
              <a:buChar char="•"/>
            </a:pPr>
            <a:r>
              <a:rPr lang="en-US" altLang="en-US" dirty="0" smtClean="0">
                <a:latin typeface="Calibri" panose="020F0502020204030204" pitchFamily="34" charset="0"/>
                <a:ea typeface="Calibri" panose="020F0502020204030204" pitchFamily="34" charset="0"/>
                <a:cs typeface="Times New Roman" panose="02020603050405020304" pitchFamily="18" charset="0"/>
              </a:rPr>
              <a:t>Then we go to the </a:t>
            </a:r>
            <a:r>
              <a:rPr lang="en-US" altLang="en-US" dirty="0" smtClean="0">
                <a:latin typeface="Courier New" panose="02070309020205020404" pitchFamily="49" charset="0"/>
                <a:ea typeface="Calibri" panose="020F0502020204030204" pitchFamily="34" charset="0"/>
                <a:cs typeface="Times New Roman" panose="02020603050405020304" pitchFamily="18" charset="0"/>
              </a:rPr>
              <a:t>Stacey</a:t>
            </a:r>
            <a:r>
              <a:rPr lang="en-US" altLang="en-US" dirty="0" smtClean="0">
                <a:latin typeface="Calibri" panose="020F0502020204030204" pitchFamily="34" charset="0"/>
                <a:ea typeface="Calibri" panose="020F0502020204030204" pitchFamily="34" charset="0"/>
                <a:cs typeface="Times New Roman" panose="02020603050405020304" pitchFamily="18" charset="0"/>
              </a:rPr>
              <a:t> directory,</a:t>
            </a:r>
          </a:p>
          <a:p>
            <a:pPr lvl="3"/>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Then we go to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Desktop</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directory,</a:t>
            </a:r>
          </a:p>
          <a:p>
            <a:pPr lvl="4"/>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There we will find the file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sheepdog.jpg</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US" altLang="en-US" sz="2400" dirty="0" smtClean="0">
              <a:cs typeface="Calibri" panose="020F0502020204030204" pitchFamily="34" charset="0"/>
            </a:endParaRPr>
          </a:p>
        </p:txBody>
      </p:sp>
    </p:spTree>
    <p:extLst>
      <p:ext uri="{BB962C8B-B14F-4D97-AF65-F5344CB8AC3E}">
        <p14:creationId xmlns:p14="http://schemas.microsoft.com/office/powerpoint/2010/main" val="17377257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noChangeArrowheads="1"/>
          </p:cNvSpPr>
          <p:nvPr>
            <p:ph type="title"/>
          </p:nvPr>
        </p:nvSpPr>
        <p:spPr/>
        <p:txBody>
          <a:bodyPr/>
          <a:lstStyle/>
          <a:p>
            <a:r>
              <a:rPr lang="en-US" altLang="en-US" dirty="0"/>
              <a:t>Absolute Paths </a:t>
            </a:r>
            <a:r>
              <a:rPr lang="en-US" altLang="en-US" sz="1200" dirty="0" smtClean="0"/>
              <a:t>(2 </a:t>
            </a:r>
            <a:r>
              <a:rPr lang="en-US" altLang="en-US" sz="1200" dirty="0"/>
              <a:t>of 2)</a:t>
            </a:r>
            <a:endParaRPr lang="en-US" altLang="en-US" dirty="0" smtClean="0"/>
          </a:p>
        </p:txBody>
      </p:sp>
      <p:sp>
        <p:nvSpPr>
          <p:cNvPr id="89091" name="Content Placeholder 2"/>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Unix and Linux example:</a:t>
            </a:r>
          </a:p>
          <a:p>
            <a:pPr marL="1143000" lvl="0" indent="0">
              <a:spcBef>
                <a:spcPts val="2000"/>
              </a:spcBef>
              <a:buNone/>
            </a:pPr>
            <a:r>
              <a:rPr lang="en-US" altLang="en-US" sz="1800" kern="1200" dirty="0">
                <a:solidFill>
                  <a:srgbClr val="000000"/>
                </a:solidFill>
                <a:latin typeface="Courier New" panose="02070309020205020404" pitchFamily="49" charset="0"/>
                <a:cs typeface="Calibri" panose="020F0502020204030204" pitchFamily="34" charset="0"/>
              </a:rPr>
              <a:t>/home/stacey/images/sheepdog.jpg</a:t>
            </a:r>
            <a:endParaRPr lang="en-US" altLang="en-US" sz="1800" kern="1200" dirty="0">
              <a:solidFill>
                <a:srgbClr val="000000"/>
              </a:solidFill>
              <a:latin typeface="Arial" panose="020B0604020202020204" pitchFamily="34" charset="0"/>
              <a:cs typeface="Arial" panose="020B0604020202020204" pitchFamily="34" charset="0"/>
            </a:endParaRPr>
          </a:p>
          <a:p>
            <a:pPr>
              <a:spcBef>
                <a:spcPts val="240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Starting at the root directory,</a:t>
            </a:r>
          </a:p>
          <a:p>
            <a:pPr lvl="1"/>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We go to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home</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directory,</a:t>
            </a:r>
          </a:p>
          <a:p>
            <a:pPr lvl="2">
              <a:buFontTx/>
              <a:buChar char="•"/>
            </a:pPr>
            <a:r>
              <a:rPr lang="en-US" altLang="en-US" dirty="0" smtClean="0">
                <a:latin typeface="Calibri" panose="020F0502020204030204" pitchFamily="34" charset="0"/>
                <a:ea typeface="Calibri" panose="020F0502020204030204" pitchFamily="34" charset="0"/>
                <a:cs typeface="Times New Roman" panose="02020603050405020304" pitchFamily="18" charset="0"/>
              </a:rPr>
              <a:t>Then we go to the </a:t>
            </a:r>
            <a:r>
              <a:rPr lang="en-US" altLang="en-US" dirty="0" smtClean="0">
                <a:latin typeface="Courier New" panose="02070309020205020404" pitchFamily="49" charset="0"/>
                <a:ea typeface="Calibri" panose="020F0502020204030204" pitchFamily="34" charset="0"/>
                <a:cs typeface="Times New Roman" panose="02020603050405020304" pitchFamily="18" charset="0"/>
              </a:rPr>
              <a:t>stacey</a:t>
            </a:r>
            <a:r>
              <a:rPr lang="en-US" altLang="en-US" dirty="0" smtClean="0">
                <a:latin typeface="Calibri" panose="020F0502020204030204" pitchFamily="34" charset="0"/>
                <a:ea typeface="Calibri" panose="020F0502020204030204" pitchFamily="34" charset="0"/>
                <a:cs typeface="Times New Roman" panose="02020603050405020304" pitchFamily="18" charset="0"/>
              </a:rPr>
              <a:t> directory,</a:t>
            </a:r>
          </a:p>
          <a:p>
            <a:pPr lvl="3"/>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Then we go to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images</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directory,</a:t>
            </a:r>
          </a:p>
          <a:p>
            <a:pPr lvl="4"/>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There we will find the file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sheepdog.jpg</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US" altLang="en-US" sz="2400" dirty="0" smtClean="0">
              <a:ea typeface="Calibri" panose="020F0502020204030204" pitchFamily="34" charset="0"/>
            </a:endParaRPr>
          </a:p>
        </p:txBody>
      </p:sp>
    </p:spTree>
    <p:extLst>
      <p:ext uri="{BB962C8B-B14F-4D97-AF65-F5344CB8AC3E}">
        <p14:creationId xmlns:p14="http://schemas.microsoft.com/office/powerpoint/2010/main" val="305700917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p:txBody>
          <a:bodyPr/>
          <a:lstStyle/>
          <a:p>
            <a:r>
              <a:rPr lang="en-US" altLang="en-US" sz="3600" dirty="0" smtClean="0"/>
              <a:t>The Current Working Directory and Relative Paths </a:t>
            </a:r>
            <a:r>
              <a:rPr lang="en-US" altLang="en-US" sz="1200" dirty="0" smtClean="0"/>
              <a:t>(1 of 3)</a:t>
            </a:r>
          </a:p>
        </p:txBody>
      </p:sp>
      <p:sp>
        <p:nvSpPr>
          <p:cNvPr id="3" name="Content Placeholder 2"/>
          <p:cNvSpPr>
            <a:spLocks noGrp="1"/>
          </p:cNvSpPr>
          <p:nvPr>
            <p:ph idx="1"/>
          </p:nvPr>
        </p:nvSpPr>
        <p:spPr/>
        <p:txBody>
          <a:bodyPr/>
          <a:lstStyle/>
          <a:p>
            <a:pPr>
              <a:defRPr/>
            </a:pPr>
            <a:r>
              <a:rPr lang="en-US" sz="2400" dirty="0">
                <a:latin typeface="Calibri" panose="020F0502020204030204" pitchFamily="34" charset="0"/>
                <a:ea typeface="Calibri" panose="020F0502020204030204" pitchFamily="34" charset="0"/>
                <a:cs typeface="Times New Roman" panose="02020603050405020304" pitchFamily="18" charset="0"/>
              </a:rPr>
              <a:t>When a program is running it has a </a:t>
            </a:r>
            <a:r>
              <a:rPr lang="en-US" sz="2400" i="1" dirty="0">
                <a:latin typeface="Calibri" panose="020F0502020204030204" pitchFamily="34" charset="0"/>
                <a:ea typeface="Calibri" panose="020F0502020204030204" pitchFamily="34" charset="0"/>
                <a:cs typeface="Times New Roman" panose="02020603050405020304" pitchFamily="18" charset="0"/>
              </a:rPr>
              <a:t>current working directory</a:t>
            </a:r>
            <a:r>
              <a:rPr 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spcBef>
                <a:spcPts val="4000"/>
              </a:spcBef>
              <a:defRPr/>
            </a:pPr>
            <a:r>
              <a:rPr lang="en-US" sz="2400" dirty="0">
                <a:latin typeface="Calibri" panose="020F0502020204030204" pitchFamily="34" charset="0"/>
                <a:ea typeface="Calibri" panose="020F0502020204030204" pitchFamily="34" charset="0"/>
                <a:cs typeface="Times New Roman" panose="02020603050405020304" pitchFamily="18" charset="0"/>
              </a:rPr>
              <a:t>When the program creates a file, the file will be created in the current working directory unless a path to some other location is given</a:t>
            </a:r>
            <a:r>
              <a:rPr 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US" sz="2400" dirty="0"/>
          </a:p>
          <a:p>
            <a:pPr>
              <a:spcBef>
                <a:spcPts val="4000"/>
              </a:spcBef>
              <a:defRPr/>
            </a:pPr>
            <a:r>
              <a:rPr lang="en-US" sz="2400" dirty="0">
                <a:latin typeface="Calibri" panose="020F0502020204030204" pitchFamily="34" charset="0"/>
                <a:ea typeface="Calibri" panose="020F0502020204030204" pitchFamily="34" charset="0"/>
                <a:cs typeface="Times New Roman" panose="02020603050405020304" pitchFamily="18" charset="0"/>
              </a:rPr>
              <a:t>If we know the current working directory, we can use relative paths to specify locations on the disk</a:t>
            </a:r>
            <a:r>
              <a:rPr 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spcBef>
                <a:spcPts val="3600"/>
              </a:spcBef>
              <a:defRPr/>
            </a:pPr>
            <a:r>
              <a:rPr lang="en-US" sz="2400" dirty="0">
                <a:latin typeface="Calibri" panose="020F0502020204030204" pitchFamily="34" charset="0"/>
                <a:ea typeface="Calibri" panose="020F0502020204030204" pitchFamily="34" charset="0"/>
                <a:cs typeface="Times New Roman" panose="02020603050405020304" pitchFamily="18" charset="0"/>
              </a:rPr>
              <a:t>A relative path specifies a file or directory's location relative to the current working directory</a:t>
            </a:r>
            <a:r>
              <a:rPr 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US" sz="2400" dirty="0"/>
          </a:p>
        </p:txBody>
      </p:sp>
    </p:spTree>
    <p:extLst>
      <p:ext uri="{BB962C8B-B14F-4D97-AF65-F5344CB8AC3E}">
        <p14:creationId xmlns:p14="http://schemas.microsoft.com/office/powerpoint/2010/main" val="406720816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noChangeArrowheads="1"/>
          </p:cNvSpPr>
          <p:nvPr>
            <p:ph type="title"/>
          </p:nvPr>
        </p:nvSpPr>
        <p:spPr/>
        <p:txBody>
          <a:bodyPr/>
          <a:lstStyle/>
          <a:p>
            <a:r>
              <a:rPr lang="en-US" altLang="en-US" sz="3600" dirty="0" smtClean="0"/>
              <a:t>The Current Working Directory and Relative Paths </a:t>
            </a:r>
            <a:r>
              <a:rPr lang="en-US" altLang="en-US" sz="1200" dirty="0" smtClean="0"/>
              <a:t>(2 </a:t>
            </a:r>
            <a:r>
              <a:rPr lang="en-US" altLang="en-US" sz="1200" dirty="0"/>
              <a:t>of 3)</a:t>
            </a:r>
            <a:endParaRPr lang="en-US" altLang="en-US" dirty="0" smtClean="0"/>
          </a:p>
        </p:txBody>
      </p:sp>
      <p:sp>
        <p:nvSpPr>
          <p:cNvPr id="91139" name="Content Placeholder 2"/>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Example of a relative path on Windows:</a:t>
            </a:r>
          </a:p>
          <a:p>
            <a:pPr marL="1143000" lvl="0" indent="0">
              <a:spcBef>
                <a:spcPts val="1800"/>
              </a:spcBef>
              <a:buNone/>
            </a:pPr>
            <a:r>
              <a:rPr lang="en-US" altLang="en-US" sz="1800" kern="1200" dirty="0">
                <a:solidFill>
                  <a:srgbClr val="000000"/>
                </a:solidFill>
                <a:latin typeface="Courier New" panose="02070309020205020404" pitchFamily="49" charset="0"/>
                <a:cs typeface="Calibri" panose="020F0502020204030204" pitchFamily="34" charset="0"/>
              </a:rPr>
              <a:t>Stacey\Desktop\sheepdog.jpg</a:t>
            </a:r>
            <a:endParaRPr lang="en-US" altLang="en-US" sz="1800" kern="1200" dirty="0">
              <a:solidFill>
                <a:srgbClr val="000000"/>
              </a:solidFill>
              <a:latin typeface="Arial" panose="020B0604020202020204" pitchFamily="34" charset="0"/>
              <a:cs typeface="Arial" panose="020B0604020202020204" pitchFamily="34" charset="0"/>
            </a:endParaRPr>
          </a:p>
          <a:p>
            <a:pPr>
              <a:spcBef>
                <a:spcPts val="260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Starting at the current working directory,</a:t>
            </a:r>
          </a:p>
          <a:p>
            <a:pPr lvl="1"/>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We go to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Stacey</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directory,</a:t>
            </a:r>
          </a:p>
          <a:p>
            <a:pPr lvl="2">
              <a:buFontTx/>
              <a:buChar char="•"/>
            </a:pPr>
            <a:r>
              <a:rPr lang="en-US" altLang="en-US" dirty="0" smtClean="0">
                <a:latin typeface="Calibri" panose="020F0502020204030204" pitchFamily="34" charset="0"/>
                <a:ea typeface="Calibri" panose="020F0502020204030204" pitchFamily="34" charset="0"/>
                <a:cs typeface="Times New Roman" panose="02020603050405020304" pitchFamily="18" charset="0"/>
              </a:rPr>
              <a:t>Then we go to the </a:t>
            </a:r>
            <a:r>
              <a:rPr lang="en-US" altLang="en-US" dirty="0" smtClean="0">
                <a:latin typeface="Courier New" panose="02070309020205020404" pitchFamily="49" charset="0"/>
                <a:ea typeface="Calibri" panose="020F0502020204030204" pitchFamily="34" charset="0"/>
                <a:cs typeface="Times New Roman" panose="02020603050405020304" pitchFamily="18" charset="0"/>
              </a:rPr>
              <a:t>Desktop</a:t>
            </a:r>
            <a:r>
              <a:rPr lang="en-US" altLang="en-US" dirty="0" smtClean="0">
                <a:latin typeface="Calibri" panose="020F0502020204030204" pitchFamily="34" charset="0"/>
                <a:ea typeface="Calibri" panose="020F0502020204030204" pitchFamily="34" charset="0"/>
                <a:cs typeface="Times New Roman" panose="02020603050405020304" pitchFamily="18" charset="0"/>
              </a:rPr>
              <a:t> directory,</a:t>
            </a:r>
          </a:p>
          <a:p>
            <a:pPr lvl="3"/>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There we will find the file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sheepdog.jpg</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171246375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p:txBody>
          <a:bodyPr/>
          <a:lstStyle/>
          <a:p>
            <a:r>
              <a:rPr lang="en-US" altLang="en-US" sz="3600" dirty="0" smtClean="0"/>
              <a:t>The Current Working Directory and Relative Paths </a:t>
            </a:r>
            <a:r>
              <a:rPr lang="en-US" altLang="en-US" sz="1200" dirty="0" smtClean="0"/>
              <a:t>(3 </a:t>
            </a:r>
            <a:r>
              <a:rPr lang="en-US" altLang="en-US" sz="1200" dirty="0"/>
              <a:t>of 3)</a:t>
            </a:r>
            <a:endParaRPr lang="en-US" altLang="en-US" dirty="0" smtClean="0"/>
          </a:p>
        </p:txBody>
      </p:sp>
      <p:sp>
        <p:nvSpPr>
          <p:cNvPr id="92163" name="Content Placeholder 2"/>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Example of a relative path on a Unix or Linux system:</a:t>
            </a:r>
          </a:p>
          <a:p>
            <a:pPr marL="1143000" lvl="0" indent="0">
              <a:spcBef>
                <a:spcPts val="1800"/>
              </a:spcBef>
              <a:buNone/>
            </a:pPr>
            <a:r>
              <a:rPr lang="en-US" altLang="en-US" sz="1800" kern="1200" dirty="0">
                <a:solidFill>
                  <a:srgbClr val="000000"/>
                </a:solidFill>
                <a:latin typeface="Courier New" panose="02070309020205020404" pitchFamily="49" charset="0"/>
                <a:cs typeface="Calibri" panose="020F0502020204030204" pitchFamily="34" charset="0"/>
              </a:rPr>
              <a:t>stacey/images/sheepdog.jpg</a:t>
            </a:r>
            <a:endParaRPr lang="en-US" altLang="en-US" sz="1800" kern="1200" dirty="0">
              <a:solidFill>
                <a:srgbClr val="000000"/>
              </a:solidFill>
              <a:latin typeface="Arial" panose="020B0604020202020204" pitchFamily="34" charset="0"/>
              <a:cs typeface="Arial" panose="020B0604020202020204" pitchFamily="34" charset="0"/>
            </a:endParaRPr>
          </a:p>
          <a:p>
            <a:pPr>
              <a:spcBef>
                <a:spcPts val="260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Starting at the current working directory,</a:t>
            </a:r>
          </a:p>
          <a:p>
            <a:pPr lvl="1"/>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We go to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stacey</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directory,</a:t>
            </a:r>
          </a:p>
          <a:p>
            <a:pPr lvl="2">
              <a:buFontTx/>
              <a:buChar char="•"/>
            </a:pPr>
            <a:r>
              <a:rPr lang="en-US" altLang="en-US" dirty="0" smtClean="0">
                <a:latin typeface="Calibri" panose="020F0502020204030204" pitchFamily="34" charset="0"/>
                <a:ea typeface="Calibri" panose="020F0502020204030204" pitchFamily="34" charset="0"/>
                <a:cs typeface="Times New Roman" panose="02020603050405020304" pitchFamily="18" charset="0"/>
              </a:rPr>
              <a:t>Then we go to the </a:t>
            </a:r>
            <a:r>
              <a:rPr lang="en-US" altLang="en-US" dirty="0" smtClean="0">
                <a:latin typeface="Courier New" panose="02070309020205020404" pitchFamily="49" charset="0"/>
                <a:ea typeface="Calibri" panose="020F0502020204030204" pitchFamily="34" charset="0"/>
                <a:cs typeface="Times New Roman" panose="02020603050405020304" pitchFamily="18" charset="0"/>
              </a:rPr>
              <a:t>iamges</a:t>
            </a:r>
            <a:r>
              <a:rPr lang="en-US" altLang="en-US" dirty="0" smtClean="0">
                <a:latin typeface="Calibri" panose="020F0502020204030204" pitchFamily="34" charset="0"/>
                <a:ea typeface="Calibri" panose="020F0502020204030204" pitchFamily="34" charset="0"/>
                <a:cs typeface="Times New Roman" panose="02020603050405020304" pitchFamily="18" charset="0"/>
              </a:rPr>
              <a:t> directory,</a:t>
            </a:r>
          </a:p>
          <a:p>
            <a:pPr lvl="3"/>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There we will find the file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sheepdog.jpg</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144804084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noChangeArrowheads="1"/>
          </p:cNvSpPr>
          <p:nvPr>
            <p:ph type="title"/>
          </p:nvPr>
        </p:nvSpPr>
        <p:spPr/>
        <p:txBody>
          <a:bodyPr/>
          <a:lstStyle/>
          <a:p>
            <a:r>
              <a:rPr lang="en-US" altLang="en-US" dirty="0" smtClean="0"/>
              <a:t>Working with </a:t>
            </a:r>
            <a:r>
              <a:rPr lang="en-US" altLang="en-US" dirty="0" smtClean="0">
                <a:latin typeface="Courier New" panose="02070309020205020404" pitchFamily="49" charset="0"/>
                <a:cs typeface="Courier New" panose="02070309020205020404" pitchFamily="49" charset="0"/>
              </a:rPr>
              <a:t>path</a:t>
            </a:r>
            <a:r>
              <a:rPr lang="en-US" altLang="en-US" dirty="0" smtClean="0"/>
              <a:t> Objects </a:t>
            </a:r>
            <a:r>
              <a:rPr lang="en-US" altLang="en-US" sz="1200" dirty="0" smtClean="0"/>
              <a:t>(1 of 4)</a:t>
            </a:r>
          </a:p>
        </p:txBody>
      </p:sp>
      <p:sp>
        <p:nvSpPr>
          <p:cNvPr id="93187" name="Content Placeholder 2"/>
          <p:cNvSpPr>
            <a:spLocks noGrp="1" noChangeArrowheads="1"/>
          </p:cNvSpPr>
          <p:nvPr>
            <p:ph idx="1"/>
          </p:nvPr>
        </p:nvSpPr>
        <p:spPr/>
        <p:txBody>
          <a:bodyPr/>
          <a:lstStyle/>
          <a:p>
            <a:pPr>
              <a:buFontTx/>
              <a:buChar char="•"/>
            </a:pPr>
            <a:r>
              <a:rPr lang="en-US" altLang="en-US" sz="2400" dirty="0" smtClean="0"/>
              <a:t>You can use the </a:t>
            </a:r>
            <a:r>
              <a:rPr lang="en-US" altLang="en-US" sz="2400" dirty="0" smtClean="0">
                <a:latin typeface="Courier New" panose="02070309020205020404" pitchFamily="49" charset="0"/>
                <a:cs typeface="Courier New" panose="02070309020205020404" pitchFamily="49" charset="0"/>
              </a:rPr>
              <a:t>path</a:t>
            </a:r>
            <a:r>
              <a:rPr lang="en-US" altLang="en-US" sz="2400" dirty="0" smtClean="0"/>
              <a:t> data type to create objects that represent the path of a file or directory</a:t>
            </a:r>
          </a:p>
          <a:p>
            <a:pPr>
              <a:spcBef>
                <a:spcPts val="3500"/>
              </a:spcBef>
              <a:buFontTx/>
              <a:buChar char="•"/>
            </a:pPr>
            <a:r>
              <a:rPr lang="en-US" altLang="en-US" sz="2400" dirty="0" smtClean="0"/>
              <a:t>The following statement creates a </a:t>
            </a:r>
            <a:r>
              <a:rPr lang="en-US" altLang="en-US" sz="2400" dirty="0" smtClean="0">
                <a:latin typeface="Courier New" panose="02070309020205020404" pitchFamily="49" charset="0"/>
                <a:cs typeface="Courier New" panose="02070309020205020404" pitchFamily="49" charset="0"/>
              </a:rPr>
              <a:t>path</a:t>
            </a:r>
            <a:r>
              <a:rPr lang="en-US" altLang="en-US" sz="2400" dirty="0" smtClean="0"/>
              <a:t> object named </a:t>
            </a:r>
            <a:r>
              <a:rPr lang="en-US" altLang="en-US" sz="2400" dirty="0" smtClean="0">
                <a:latin typeface="Courier New" panose="02070309020205020404" pitchFamily="49" charset="0"/>
                <a:cs typeface="Courier New" panose="02070309020205020404" pitchFamily="49" charset="0"/>
              </a:rPr>
              <a:t>myPath</a:t>
            </a:r>
            <a:r>
              <a:rPr lang="en-US" altLang="en-US" sz="2400" dirty="0" smtClean="0"/>
              <a:t>:</a:t>
            </a:r>
          </a:p>
          <a:p>
            <a:pPr marL="740664" lvl="0" indent="0">
              <a:spcBef>
                <a:spcPts val="1700"/>
              </a:spcBef>
              <a:buNone/>
            </a:pPr>
            <a:r>
              <a:rPr lang="en-US" altLang="en-US" sz="2400" kern="1200" dirty="0" smtClean="0">
                <a:solidFill>
                  <a:srgbClr val="000000"/>
                </a:solidFill>
                <a:latin typeface="Courier New" panose="02070309020205020404" pitchFamily="49" charset="0"/>
                <a:cs typeface="Calibri" panose="020F0502020204030204" pitchFamily="34" charset="0"/>
              </a:rPr>
              <a:t>filesystem</a:t>
            </a:r>
            <a:r>
              <a:rPr lang="en-US" altLang="en-US" sz="2400" kern="1200" dirty="0">
                <a:solidFill>
                  <a:srgbClr val="000000"/>
                </a:solidFill>
                <a:latin typeface="Courier New" panose="02070309020205020404" pitchFamily="49" charset="0"/>
                <a:cs typeface="Calibri" panose="020F0502020204030204" pitchFamily="34" charset="0"/>
              </a:rPr>
              <a:t>::path myPath;</a:t>
            </a:r>
          </a:p>
          <a:p>
            <a:pPr>
              <a:spcBef>
                <a:spcPts val="2200"/>
              </a:spcBef>
              <a:buFontTx/>
              <a:buChar char="•"/>
            </a:pPr>
            <a:r>
              <a:rPr lang="en-US" altLang="en-US" sz="2400" dirty="0" smtClean="0"/>
              <a:t>Then, the following statement assigns a string containing a pathname to the object:</a:t>
            </a:r>
          </a:p>
          <a:p>
            <a:pPr marL="777240" lvl="0" indent="0">
              <a:spcBef>
                <a:spcPts val="2800"/>
              </a:spcBef>
              <a:buNone/>
            </a:pPr>
            <a:r>
              <a:rPr lang="en-US" altLang="en-US" sz="2400" kern="1200" dirty="0">
                <a:solidFill>
                  <a:srgbClr val="000000"/>
                </a:solidFill>
                <a:latin typeface="Courier New" panose="02070309020205020404" pitchFamily="49" charset="0"/>
                <a:cs typeface="Arial" panose="020B0604020202020204" pitchFamily="34" charset="0"/>
              </a:rPr>
              <a:t>myPath = </a:t>
            </a:r>
            <a:r>
              <a:rPr lang="en-US" altLang="en-US" sz="2400" kern="1200" dirty="0">
                <a:solidFill>
                  <a:srgbClr val="000000"/>
                </a:solidFill>
                <a:latin typeface="Courier New" panose="02070309020205020404" pitchFamily="49" charset="0"/>
                <a:cs typeface="Calibri" panose="020F0502020204030204" pitchFamily="34" charset="0"/>
              </a:rPr>
              <a:t>"stacey/images/sheepdog.jpg</a:t>
            </a:r>
            <a:r>
              <a:rPr lang="en-US" altLang="en-US" sz="2400" kern="1200" dirty="0" smtClean="0">
                <a:solidFill>
                  <a:srgbClr val="000000"/>
                </a:solidFill>
                <a:latin typeface="Courier New" panose="02070309020205020404" pitchFamily="49" charset="0"/>
                <a:cs typeface="Calibri" panose="020F0502020204030204" pitchFamily="34" charset="0"/>
              </a:rPr>
              <a:t>";</a:t>
            </a:r>
            <a:endParaRPr lang="en-US" altLang="en-US" sz="2400" dirty="0" smtClean="0"/>
          </a:p>
        </p:txBody>
      </p:sp>
    </p:spTree>
    <p:extLst>
      <p:ext uri="{BB962C8B-B14F-4D97-AF65-F5344CB8AC3E}">
        <p14:creationId xmlns:p14="http://schemas.microsoft.com/office/powerpoint/2010/main" val="335081679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p:txBody>
          <a:bodyPr/>
          <a:lstStyle/>
          <a:p>
            <a:r>
              <a:rPr lang="en-US" altLang="en-US" dirty="0" smtClean="0"/>
              <a:t>Working with </a:t>
            </a:r>
            <a:r>
              <a:rPr lang="en-US" altLang="en-US" dirty="0" smtClean="0">
                <a:latin typeface="Courier New" panose="02070309020205020404" pitchFamily="49" charset="0"/>
                <a:cs typeface="Courier New" panose="02070309020205020404" pitchFamily="49" charset="0"/>
              </a:rPr>
              <a:t>path</a:t>
            </a:r>
            <a:r>
              <a:rPr lang="en-US" altLang="en-US" dirty="0" smtClean="0"/>
              <a:t> Objects </a:t>
            </a:r>
            <a:r>
              <a:rPr lang="en-US" altLang="en-US" sz="1200" dirty="0"/>
              <a:t>(2 of 4)</a:t>
            </a:r>
            <a:endParaRPr lang="en-US" altLang="en-US" dirty="0" smtClean="0"/>
          </a:p>
        </p:txBody>
      </p:sp>
      <p:sp>
        <p:nvSpPr>
          <p:cNvPr id="94211" name="Content Placeholder 2"/>
          <p:cNvSpPr>
            <a:spLocks noGrp="1" noChangeArrowheads="1"/>
          </p:cNvSpPr>
          <p:nvPr>
            <p:ph idx="1"/>
          </p:nvPr>
        </p:nvSpPr>
        <p:spPr/>
        <p:txBody>
          <a:bodyPr/>
          <a:lstStyle/>
          <a:p>
            <a:pPr>
              <a:spcBef>
                <a:spcPts val="1200"/>
              </a:spcBef>
              <a:buFontTx/>
              <a:buChar char="•"/>
            </a:pPr>
            <a:r>
              <a:rPr lang="en-US" altLang="en-US" sz="2400" dirty="0" smtClean="0"/>
              <a:t>Windows example:</a:t>
            </a:r>
          </a:p>
          <a:p>
            <a:pPr marL="457200" indent="0">
              <a:spcBef>
                <a:spcPts val="2500"/>
              </a:spcBef>
              <a:buNone/>
            </a:pPr>
            <a:r>
              <a:rPr lang="en-US" altLang="en-US" sz="2000" kern="1200" dirty="0" smtClean="0">
                <a:solidFill>
                  <a:srgbClr val="000000"/>
                </a:solidFill>
                <a:latin typeface="Courier New" panose="02070309020205020404" pitchFamily="49" charset="0"/>
                <a:cs typeface="Calibri" panose="020F0502020204030204" pitchFamily="34" charset="0"/>
              </a:rPr>
              <a:t>filesystem</a:t>
            </a:r>
            <a:r>
              <a:rPr lang="en-US" altLang="en-US" sz="2000" kern="1200" dirty="0">
                <a:solidFill>
                  <a:srgbClr val="000000"/>
                </a:solidFill>
                <a:latin typeface="Courier New" panose="02070309020205020404" pitchFamily="49" charset="0"/>
                <a:cs typeface="Calibri" panose="020F0502020204030204" pitchFamily="34" charset="0"/>
              </a:rPr>
              <a:t>::path myPath;</a:t>
            </a:r>
          </a:p>
          <a:p>
            <a:pPr marL="457200" lvl="0" indent="0">
              <a:spcBef>
                <a:spcPct val="0"/>
              </a:spcBef>
              <a:buNone/>
            </a:pPr>
            <a:r>
              <a:rPr lang="en-US" altLang="en-US" sz="2000" kern="1200" dirty="0">
                <a:solidFill>
                  <a:srgbClr val="000000"/>
                </a:solidFill>
                <a:latin typeface="Courier New" panose="02070309020205020404" pitchFamily="49" charset="0"/>
                <a:cs typeface="Arial" panose="020B0604020202020204" pitchFamily="34" charset="0"/>
              </a:rPr>
              <a:t>myPath = "</a:t>
            </a:r>
            <a:r>
              <a:rPr lang="en-US" altLang="en-US" sz="1800" kern="1200" dirty="0">
                <a:solidFill>
                  <a:srgbClr val="000000"/>
                </a:solidFill>
                <a:latin typeface="Courier New" panose="02070309020205020404" pitchFamily="49" charset="0"/>
                <a:cs typeface="Calibri" panose="020F0502020204030204" pitchFamily="34" charset="0"/>
              </a:rPr>
              <a:t>C:\\Users\\Blake\\temp\\final_exam.txt</a:t>
            </a:r>
            <a:r>
              <a:rPr lang="en-US" altLang="en-US" sz="1800" kern="1200" dirty="0" smtClean="0">
                <a:solidFill>
                  <a:srgbClr val="000000"/>
                </a:solidFill>
                <a:latin typeface="Courier New" panose="02070309020205020404" pitchFamily="49" charset="0"/>
                <a:cs typeface="Calibri" panose="020F0502020204030204" pitchFamily="34" charset="0"/>
              </a:rPr>
              <a:t>"</a:t>
            </a:r>
            <a:r>
              <a:rPr lang="en-US" altLang="en-US" sz="2000" kern="1200" dirty="0" smtClean="0">
                <a:solidFill>
                  <a:srgbClr val="000000"/>
                </a:solidFill>
                <a:latin typeface="Courier New" panose="02070309020205020404" pitchFamily="49" charset="0"/>
                <a:cs typeface="Calibri" panose="020F0502020204030204" pitchFamily="34" charset="0"/>
              </a:rPr>
              <a:t>;</a:t>
            </a:r>
            <a:endParaRPr lang="en-US" altLang="en-US" sz="2400" dirty="0" smtClean="0"/>
          </a:p>
          <a:p>
            <a:pPr>
              <a:spcBef>
                <a:spcPts val="2500"/>
              </a:spcBef>
              <a:buFontTx/>
              <a:buChar char="•"/>
            </a:pPr>
            <a:r>
              <a:rPr lang="en-US" altLang="en-US" sz="2400" dirty="0" smtClean="0"/>
              <a:t>Or, using a raw string:</a:t>
            </a:r>
          </a:p>
          <a:p>
            <a:pPr marL="457200" lvl="0" indent="0">
              <a:spcBef>
                <a:spcPts val="2400"/>
              </a:spcBef>
              <a:buNone/>
            </a:pPr>
            <a:r>
              <a:rPr lang="en-US" altLang="en-US" sz="2000" kern="1200" dirty="0">
                <a:solidFill>
                  <a:srgbClr val="000000"/>
                </a:solidFill>
                <a:latin typeface="Courier New" panose="02070309020205020404" pitchFamily="49" charset="0"/>
                <a:cs typeface="Calibri" panose="020F0502020204030204" pitchFamily="34" charset="0"/>
              </a:rPr>
              <a:t>filesystem::path myPath;</a:t>
            </a:r>
          </a:p>
          <a:p>
            <a:pPr marL="457200" lvl="0" indent="0">
              <a:spcBef>
                <a:spcPct val="0"/>
              </a:spcBef>
              <a:buNone/>
            </a:pPr>
            <a:r>
              <a:rPr lang="en-US" altLang="en-US" sz="2000" kern="1200" dirty="0">
                <a:solidFill>
                  <a:srgbClr val="000000"/>
                </a:solidFill>
                <a:latin typeface="Courier New" panose="02070309020205020404" pitchFamily="49" charset="0"/>
                <a:cs typeface="Arial" panose="020B0604020202020204" pitchFamily="34" charset="0"/>
              </a:rPr>
              <a:t>myPath = R"(</a:t>
            </a:r>
            <a:r>
              <a:rPr lang="en-US" altLang="en-US" sz="1800" kern="1200" dirty="0">
                <a:solidFill>
                  <a:srgbClr val="000000"/>
                </a:solidFill>
                <a:latin typeface="Courier New" panose="02070309020205020404" pitchFamily="49" charset="0"/>
                <a:cs typeface="Calibri" panose="020F0502020204030204" pitchFamily="34" charset="0"/>
              </a:rPr>
              <a:t>C:\Users\Blake\temp\final_exam.txt</a:t>
            </a:r>
            <a:r>
              <a:rPr lang="en-US" altLang="en-US" sz="1800" kern="1200" dirty="0" smtClean="0">
                <a:solidFill>
                  <a:srgbClr val="000000"/>
                </a:solidFill>
                <a:latin typeface="Courier New" panose="02070309020205020404" pitchFamily="49" charset="0"/>
                <a:cs typeface="Calibri" panose="020F0502020204030204" pitchFamily="34" charset="0"/>
              </a:rPr>
              <a:t>)"</a:t>
            </a:r>
            <a:r>
              <a:rPr lang="en-US" altLang="en-US" sz="2000" kern="1200" dirty="0" smtClean="0">
                <a:solidFill>
                  <a:srgbClr val="000000"/>
                </a:solidFill>
                <a:latin typeface="Courier New" panose="02070309020205020404" pitchFamily="49" charset="0"/>
                <a:cs typeface="Calibri" panose="020F0502020204030204" pitchFamily="34" charset="0"/>
              </a:rPr>
              <a:t>;</a:t>
            </a:r>
            <a:endParaRPr lang="en-US" altLang="en-US" sz="2000" kern="1200" dirty="0">
              <a:solidFill>
                <a:srgbClr val="00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p:txBody>
          <a:bodyPr/>
          <a:lstStyle/>
          <a:p>
            <a:r>
              <a:rPr lang="en-US" altLang="en-US" dirty="0" smtClean="0"/>
              <a:t>Working with </a:t>
            </a:r>
            <a:r>
              <a:rPr lang="en-US" altLang="en-US" dirty="0" smtClean="0">
                <a:latin typeface="Courier New" panose="02070309020205020404" pitchFamily="49" charset="0"/>
                <a:cs typeface="Courier New" panose="02070309020205020404" pitchFamily="49" charset="0"/>
              </a:rPr>
              <a:t>path</a:t>
            </a:r>
            <a:r>
              <a:rPr lang="en-US" altLang="en-US" dirty="0" smtClean="0"/>
              <a:t> Objects </a:t>
            </a:r>
            <a:r>
              <a:rPr lang="en-US" altLang="en-US" sz="1200" dirty="0" smtClean="0"/>
              <a:t>(3 </a:t>
            </a:r>
            <a:r>
              <a:rPr lang="en-US" altLang="en-US" sz="1200" dirty="0"/>
              <a:t>of 4)</a:t>
            </a:r>
            <a:endParaRPr lang="en-US" altLang="en-US" dirty="0" smtClean="0"/>
          </a:p>
        </p:txBody>
      </p:sp>
      <p:sp>
        <p:nvSpPr>
          <p:cNvPr id="95235" name="Content Placeholder 2"/>
          <p:cNvSpPr>
            <a:spLocks noGrp="1" noChangeArrowheads="1"/>
          </p:cNvSpPr>
          <p:nvPr>
            <p:ph idx="1"/>
          </p:nvPr>
        </p:nvSpPr>
        <p:spPr/>
        <p:txBody>
          <a:bodyPr/>
          <a:lstStyle/>
          <a:p>
            <a:pPr>
              <a:buFontTx/>
              <a:buChar char="•"/>
            </a:pPr>
            <a:r>
              <a:rPr lang="en-US" altLang="en-US" sz="2400" dirty="0" smtClean="0"/>
              <a:t>Declaring and initializing a </a:t>
            </a:r>
            <a:r>
              <a:rPr lang="en-US" altLang="en-US" sz="2400" dirty="0" smtClean="0">
                <a:latin typeface="Courier New" panose="02070309020205020404" pitchFamily="49" charset="0"/>
                <a:cs typeface="Courier New" panose="02070309020205020404" pitchFamily="49" charset="0"/>
              </a:rPr>
              <a:t>path</a:t>
            </a:r>
            <a:r>
              <a:rPr lang="en-US" altLang="en-US" sz="2400" dirty="0" smtClean="0"/>
              <a:t> object in Windows:</a:t>
            </a:r>
          </a:p>
          <a:p>
            <a:pPr marL="228600" lvl="0" indent="0">
              <a:spcBef>
                <a:spcPts val="2600"/>
              </a:spcBef>
              <a:buNone/>
            </a:pPr>
            <a:r>
              <a:rPr lang="en-US" altLang="en-US" sz="2000" kern="1200" dirty="0">
                <a:solidFill>
                  <a:srgbClr val="000000"/>
                </a:solidFill>
                <a:latin typeface="Courier New" panose="02070309020205020404" pitchFamily="49" charset="0"/>
                <a:cs typeface="Calibri" panose="020F0502020204030204" pitchFamily="34" charset="0"/>
              </a:rPr>
              <a:t>filesystem::path myPath </a:t>
            </a:r>
            <a:r>
              <a:rPr lang="en-US" altLang="en-US" sz="2000" kern="1200" dirty="0">
                <a:solidFill>
                  <a:srgbClr val="000000"/>
                </a:solidFill>
                <a:latin typeface="Courier New" panose="02070309020205020404" pitchFamily="49" charset="0"/>
                <a:cs typeface="Arial" panose="020B0604020202020204" pitchFamily="34" charset="0"/>
              </a:rPr>
              <a:t>{"</a:t>
            </a:r>
            <a:r>
              <a:rPr lang="en-US" altLang="en-US" sz="1800" kern="1200" dirty="0">
                <a:solidFill>
                  <a:srgbClr val="000000"/>
                </a:solidFill>
                <a:latin typeface="Courier New" panose="02070309020205020404" pitchFamily="49" charset="0"/>
                <a:cs typeface="Calibri" panose="020F0502020204030204" pitchFamily="34" charset="0"/>
              </a:rPr>
              <a:t>C:\\Images\\Sunset.jpg"}</a:t>
            </a:r>
            <a:r>
              <a:rPr lang="en-US" altLang="en-US" sz="2000" kern="1200" dirty="0">
                <a:solidFill>
                  <a:srgbClr val="000000"/>
                </a:solidFill>
                <a:latin typeface="Courier New" panose="02070309020205020404" pitchFamily="49" charset="0"/>
                <a:cs typeface="Calibri" panose="020F0502020204030204" pitchFamily="34" charset="0"/>
              </a:rPr>
              <a:t>;</a:t>
            </a:r>
            <a:endParaRPr lang="en-US" altLang="en-US" sz="2000" kern="1200" dirty="0">
              <a:solidFill>
                <a:srgbClr val="000000"/>
              </a:solidFill>
              <a:latin typeface="Arial" panose="020B0604020202020204" pitchFamily="34" charset="0"/>
              <a:cs typeface="Arial" panose="020B0604020202020204" pitchFamily="34" charset="0"/>
            </a:endParaRPr>
          </a:p>
          <a:p>
            <a:pPr marL="228600" lvl="0" indent="0">
              <a:lnSpc>
                <a:spcPct val="150000"/>
              </a:lnSpc>
              <a:spcBef>
                <a:spcPct val="0"/>
              </a:spcBef>
              <a:buNone/>
            </a:pPr>
            <a:r>
              <a:rPr lang="en-US" altLang="en-US" sz="2000" kern="1200" dirty="0">
                <a:solidFill>
                  <a:srgbClr val="000000"/>
                </a:solidFill>
                <a:latin typeface="Courier New" panose="02070309020205020404" pitchFamily="49" charset="0"/>
                <a:cs typeface="Calibri" panose="020F0502020204030204" pitchFamily="34" charset="0"/>
              </a:rPr>
              <a:t>filesystem::path myPath </a:t>
            </a:r>
            <a:r>
              <a:rPr lang="en-US" altLang="en-US" sz="2000" kern="1200" dirty="0">
                <a:solidFill>
                  <a:srgbClr val="000000"/>
                </a:solidFill>
                <a:latin typeface="Courier New" panose="02070309020205020404" pitchFamily="49" charset="0"/>
                <a:cs typeface="Arial" panose="020B0604020202020204" pitchFamily="34" charset="0"/>
              </a:rPr>
              <a:t>{R"(</a:t>
            </a:r>
            <a:r>
              <a:rPr lang="en-US" altLang="en-US" sz="1800" kern="1200" dirty="0">
                <a:solidFill>
                  <a:srgbClr val="000000"/>
                </a:solidFill>
                <a:latin typeface="Courier New" panose="02070309020205020404" pitchFamily="49" charset="0"/>
                <a:cs typeface="Calibri" panose="020F0502020204030204" pitchFamily="34" charset="0"/>
              </a:rPr>
              <a:t>C:\Notes\meeting.txt</a:t>
            </a:r>
            <a:r>
              <a:rPr lang="en-US" altLang="en-US" sz="1800" kern="1200" dirty="0" smtClean="0">
                <a:solidFill>
                  <a:srgbClr val="000000"/>
                </a:solidFill>
                <a:latin typeface="Courier New" panose="02070309020205020404" pitchFamily="49" charset="0"/>
                <a:cs typeface="Calibri" panose="020F0502020204030204" pitchFamily="34" charset="0"/>
              </a:rPr>
              <a:t>)"}</a:t>
            </a:r>
            <a:r>
              <a:rPr lang="en-US" altLang="en-US" sz="2000" kern="1200" dirty="0" smtClean="0">
                <a:solidFill>
                  <a:srgbClr val="000000"/>
                </a:solidFill>
                <a:latin typeface="Courier New" panose="02070309020205020404" pitchFamily="49" charset="0"/>
                <a:cs typeface="Calibri" panose="020F0502020204030204" pitchFamily="34" charset="0"/>
              </a:rPr>
              <a:t>;</a:t>
            </a:r>
            <a:endParaRPr lang="en-US" altLang="en-US" sz="2400" dirty="0" smtClean="0"/>
          </a:p>
          <a:p>
            <a:pPr>
              <a:spcBef>
                <a:spcPts val="4600"/>
              </a:spcBef>
              <a:buFontTx/>
              <a:buChar char="•"/>
            </a:pPr>
            <a:r>
              <a:rPr lang="en-US" altLang="en-US" sz="2400" dirty="0" smtClean="0"/>
              <a:t>In Unix and Linux:</a:t>
            </a:r>
          </a:p>
          <a:p>
            <a:pPr marL="45720" lvl="0" indent="0">
              <a:spcBef>
                <a:spcPts val="3400"/>
              </a:spcBef>
              <a:buNone/>
            </a:pPr>
            <a:r>
              <a:rPr lang="en-US" altLang="en-US" sz="2000" kern="1200" dirty="0">
                <a:solidFill>
                  <a:srgbClr val="000000"/>
                </a:solidFill>
                <a:latin typeface="Courier New" panose="02070309020205020404" pitchFamily="49" charset="0"/>
                <a:cs typeface="Calibri" panose="020F0502020204030204" pitchFamily="34" charset="0"/>
              </a:rPr>
              <a:t>filesystem::path myPath </a:t>
            </a:r>
            <a:r>
              <a:rPr lang="en-US" altLang="en-US" sz="2000" kern="1200" dirty="0">
                <a:solidFill>
                  <a:srgbClr val="000000"/>
                </a:solidFill>
                <a:latin typeface="Courier New" panose="02070309020205020404" pitchFamily="49" charset="0"/>
                <a:cs typeface="Arial" panose="020B0604020202020204" pitchFamily="34" charset="0"/>
              </a:rPr>
              <a:t>{"</a:t>
            </a:r>
            <a:r>
              <a:rPr lang="en-US" altLang="en-US" sz="1800" kern="1200" dirty="0">
                <a:solidFill>
                  <a:srgbClr val="000000"/>
                </a:solidFill>
                <a:latin typeface="Courier New" panose="02070309020205020404" pitchFamily="49" charset="0"/>
                <a:cs typeface="Calibri" panose="020F0502020204030204" pitchFamily="34" charset="0"/>
              </a:rPr>
              <a:t>/home/jim/captains_log.txt</a:t>
            </a:r>
            <a:r>
              <a:rPr lang="en-US" altLang="en-US" sz="1800" kern="1200" dirty="0" smtClean="0">
                <a:solidFill>
                  <a:srgbClr val="000000"/>
                </a:solidFill>
                <a:latin typeface="Courier New" panose="02070309020205020404" pitchFamily="49" charset="0"/>
                <a:cs typeface="Calibri" panose="020F0502020204030204" pitchFamily="34" charset="0"/>
              </a:rPr>
              <a:t>"}</a:t>
            </a:r>
            <a:r>
              <a:rPr lang="en-US" altLang="en-US" sz="2000" kern="1200" dirty="0" smtClean="0">
                <a:solidFill>
                  <a:srgbClr val="000000"/>
                </a:solidFill>
                <a:latin typeface="Courier New" panose="02070309020205020404" pitchFamily="49" charset="0"/>
                <a:cs typeface="Calibri" panose="020F0502020204030204" pitchFamily="34" charset="0"/>
              </a:rPr>
              <a:t>;</a:t>
            </a:r>
            <a:endParaRPr lang="en-US" altLang="en-US" sz="2400" dirty="0" smtClean="0"/>
          </a:p>
        </p:txBody>
      </p:sp>
    </p:spTree>
    <p:extLst>
      <p:ext uri="{BB962C8B-B14F-4D97-AF65-F5344CB8AC3E}">
        <p14:creationId xmlns:p14="http://schemas.microsoft.com/office/powerpoint/2010/main" val="107492246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noChangeArrowheads="1"/>
          </p:cNvSpPr>
          <p:nvPr>
            <p:ph type="title"/>
          </p:nvPr>
        </p:nvSpPr>
        <p:spPr/>
        <p:txBody>
          <a:bodyPr/>
          <a:lstStyle/>
          <a:p>
            <a:r>
              <a:rPr lang="en-US" altLang="en-US" dirty="0" smtClean="0"/>
              <a:t>Working with </a:t>
            </a:r>
            <a:r>
              <a:rPr lang="en-US" altLang="en-US" dirty="0" smtClean="0">
                <a:latin typeface="Courier New" panose="02070309020205020404" pitchFamily="49" charset="0"/>
                <a:cs typeface="Courier New" panose="02070309020205020404" pitchFamily="49" charset="0"/>
              </a:rPr>
              <a:t>path</a:t>
            </a:r>
            <a:r>
              <a:rPr lang="en-US" altLang="en-US" dirty="0" smtClean="0"/>
              <a:t> Objects </a:t>
            </a:r>
            <a:r>
              <a:rPr lang="en-US" altLang="en-US" sz="1200" dirty="0" smtClean="0"/>
              <a:t>(4 </a:t>
            </a:r>
            <a:r>
              <a:rPr lang="en-US" altLang="en-US" sz="1200" dirty="0"/>
              <a:t>of 4)</a:t>
            </a:r>
            <a:endParaRPr lang="en-US" altLang="en-US" dirty="0" smtClean="0"/>
          </a:p>
        </p:txBody>
      </p:sp>
      <p:sp>
        <p:nvSpPr>
          <p:cNvPr id="96259" name="Content Placeholder 2"/>
          <p:cNvSpPr>
            <a:spLocks noGrp="1" noChangeArrowheads="1"/>
          </p:cNvSpPr>
          <p:nvPr>
            <p:ph idx="1"/>
          </p:nvPr>
        </p:nvSpPr>
        <p:spPr/>
        <p:txBody>
          <a:bodyPr/>
          <a:lstStyle/>
          <a:p>
            <a:pPr>
              <a:buFontTx/>
              <a:buChar char="•"/>
            </a:pPr>
            <a:r>
              <a:rPr lang="en-US" altLang="en-US" sz="2400" dirty="0" smtClean="0"/>
              <a:t>To display a pathname, use the </a:t>
            </a:r>
            <a:r>
              <a:rPr lang="en-US" altLang="en-US" sz="2400" dirty="0" smtClean="0">
                <a:latin typeface="Courier New" panose="02070309020205020404" pitchFamily="49" charset="0"/>
                <a:cs typeface="Courier New" panose="02070309020205020404" pitchFamily="49" charset="0"/>
              </a:rPr>
              <a:t>path</a:t>
            </a:r>
            <a:r>
              <a:rPr lang="en-US" altLang="en-US" sz="2400" dirty="0" smtClean="0"/>
              <a:t> object's </a:t>
            </a:r>
            <a:r>
              <a:rPr lang="en-US" altLang="en-US" sz="2400" dirty="0" smtClean="0">
                <a:latin typeface="Courier New" panose="02070309020205020404" pitchFamily="49" charset="0"/>
                <a:cs typeface="Courier New" panose="02070309020205020404" pitchFamily="49" charset="0"/>
              </a:rPr>
              <a:t>string()</a:t>
            </a:r>
            <a:r>
              <a:rPr lang="en-US" altLang="en-US" sz="2400" dirty="0" smtClean="0"/>
              <a:t> method:</a:t>
            </a:r>
          </a:p>
          <a:p>
            <a:pPr marL="274320" lvl="0" indent="0">
              <a:spcBef>
                <a:spcPts val="3800"/>
              </a:spcBef>
              <a:buNone/>
            </a:pPr>
            <a:r>
              <a:rPr lang="en-US" altLang="en-US" sz="2000" kern="1200" dirty="0">
                <a:solidFill>
                  <a:srgbClr val="000000"/>
                </a:solidFill>
                <a:latin typeface="Courier New" panose="02070309020205020404" pitchFamily="49" charset="0"/>
                <a:cs typeface="Calibri" panose="020F0502020204030204" pitchFamily="34" charset="0"/>
              </a:rPr>
              <a:t>filesystem::path myPath </a:t>
            </a:r>
            <a:r>
              <a:rPr lang="en-US" altLang="en-US" sz="2000" kern="1200" dirty="0">
                <a:solidFill>
                  <a:srgbClr val="000000"/>
                </a:solidFill>
                <a:latin typeface="Courier New" panose="02070309020205020404" pitchFamily="49" charset="0"/>
                <a:cs typeface="Arial" panose="020B0604020202020204" pitchFamily="34" charset="0"/>
              </a:rPr>
              <a:t>{"</a:t>
            </a:r>
            <a:r>
              <a:rPr lang="en-US" altLang="en-US" sz="1800" kern="1200" dirty="0">
                <a:solidFill>
                  <a:srgbClr val="000000"/>
                </a:solidFill>
                <a:latin typeface="Courier New" panose="02070309020205020404" pitchFamily="49" charset="0"/>
                <a:cs typeface="Calibri" panose="020F0502020204030204" pitchFamily="34" charset="0"/>
              </a:rPr>
              <a:t>C:\\Images\\Sunset.jpg"}</a:t>
            </a:r>
            <a:r>
              <a:rPr lang="en-US" altLang="en-US" sz="2000" kern="1200" dirty="0">
                <a:solidFill>
                  <a:srgbClr val="000000"/>
                </a:solidFill>
                <a:latin typeface="Courier New" panose="02070309020205020404" pitchFamily="49" charset="0"/>
                <a:cs typeface="Calibri" panose="020F0502020204030204" pitchFamily="34" charset="0"/>
              </a:rPr>
              <a:t>;</a:t>
            </a:r>
          </a:p>
          <a:p>
            <a:pPr marL="274320" lvl="0" indent="0">
              <a:spcBef>
                <a:spcPct val="0"/>
              </a:spcBef>
              <a:buNone/>
            </a:pPr>
            <a:r>
              <a:rPr lang="en-US" altLang="en-US" sz="2000" kern="1200" dirty="0">
                <a:solidFill>
                  <a:srgbClr val="000000"/>
                </a:solidFill>
                <a:latin typeface="Courier New" panose="02070309020205020404" pitchFamily="49" charset="0"/>
                <a:cs typeface="Calibri" panose="020F0502020204030204" pitchFamily="34" charset="0"/>
              </a:rPr>
              <a:t>cout &lt;&lt; myPath.string() &lt;&lt; endl</a:t>
            </a:r>
            <a:r>
              <a:rPr lang="en-US" altLang="en-US" sz="2000" kern="1200" dirty="0" smtClean="0">
                <a:solidFill>
                  <a:srgbClr val="000000"/>
                </a:solidFill>
                <a:latin typeface="Courier New" panose="02070309020205020404" pitchFamily="49" charset="0"/>
                <a:cs typeface="Calibri" panose="020F0502020204030204" pitchFamily="34" charset="0"/>
              </a:rPr>
              <a:t>;</a:t>
            </a:r>
          </a:p>
          <a:p>
            <a:pPr marL="292608" lvl="0" indent="0">
              <a:spcBef>
                <a:spcPts val="2000"/>
              </a:spcBef>
              <a:buNone/>
            </a:pPr>
            <a:r>
              <a:rPr lang="en-US" altLang="en-US" sz="1800" kern="1200" dirty="0">
                <a:solidFill>
                  <a:srgbClr val="000000"/>
                </a:solidFill>
                <a:latin typeface="Arial" panose="020B0604020202020204" pitchFamily="34" charset="0"/>
                <a:cs typeface="Arial" panose="020B0604020202020204" pitchFamily="34" charset="0"/>
              </a:rPr>
              <a:t>This code displays:</a:t>
            </a:r>
          </a:p>
          <a:p>
            <a:pPr marL="292608" lvl="0" indent="0">
              <a:spcBef>
                <a:spcPts val="2200"/>
              </a:spcBef>
              <a:buNone/>
            </a:pPr>
            <a:r>
              <a:rPr lang="en-US" altLang="en-US" sz="1800" kern="1200" dirty="0" smtClean="0">
                <a:solidFill>
                  <a:srgbClr val="000000"/>
                </a:solidFill>
                <a:latin typeface="Courier New" panose="02070309020205020404" pitchFamily="49" charset="0"/>
                <a:cs typeface="Calibri" panose="020F0502020204030204" pitchFamily="34" charset="0"/>
              </a:rPr>
              <a:t>C</a:t>
            </a:r>
            <a:r>
              <a:rPr lang="en-US" altLang="en-US" sz="1800" kern="1200" dirty="0">
                <a:solidFill>
                  <a:srgbClr val="000000"/>
                </a:solidFill>
                <a:latin typeface="Courier New" panose="02070309020205020404" pitchFamily="49" charset="0"/>
                <a:cs typeface="Calibri" panose="020F0502020204030204" pitchFamily="34" charset="0"/>
              </a:rPr>
              <a:t>:\</a:t>
            </a:r>
            <a:r>
              <a:rPr lang="en-US" altLang="en-US" sz="1800" kern="1200" dirty="0" smtClean="0">
                <a:solidFill>
                  <a:srgbClr val="000000"/>
                </a:solidFill>
                <a:latin typeface="Courier New" panose="02070309020205020404" pitchFamily="49" charset="0"/>
                <a:cs typeface="Calibri" panose="020F0502020204030204" pitchFamily="34" charset="0"/>
              </a:rPr>
              <a:t>Images\Sunset.jpg</a:t>
            </a:r>
            <a:endParaRPr lang="en-US" altLang="en-US" sz="18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843828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p:txBody>
          <a:bodyPr/>
          <a:lstStyle/>
          <a:p>
            <a:r>
              <a:rPr lang="en-US" altLang="en-US" sz="3600" dirty="0" smtClean="0"/>
              <a:t>Determining Whether a File or Directory Exists</a:t>
            </a:r>
          </a:p>
        </p:txBody>
      </p:sp>
      <p:sp>
        <p:nvSpPr>
          <p:cNvPr id="97283" name="Content Placeholder 1"/>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You can use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exists</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 to determine whether the file or directory specified by a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path</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object exists. Here is the general format:</a:t>
            </a:r>
          </a:p>
          <a:p>
            <a:pPr marL="2286000" lvl="0" indent="0">
              <a:spcBef>
                <a:spcPts val="2300"/>
              </a:spcBef>
              <a:buNone/>
            </a:pPr>
            <a:r>
              <a:rPr lang="en-US" altLang="en-US" sz="1800" kern="1200" dirty="0">
                <a:solidFill>
                  <a:srgbClr val="000000"/>
                </a:solidFill>
                <a:latin typeface="Courier New" panose="02070309020205020404" pitchFamily="49" charset="0"/>
                <a:cs typeface="Calibri" panose="020F0502020204030204" pitchFamily="34" charset="0"/>
              </a:rPr>
              <a:t>filesystem::exists(</a:t>
            </a:r>
            <a:r>
              <a:rPr lang="en-US" altLang="en-US" sz="1800" i="1" kern="1200" dirty="0">
                <a:solidFill>
                  <a:srgbClr val="000000"/>
                </a:solidFill>
                <a:latin typeface="Courier New" panose="02070309020205020404" pitchFamily="49" charset="0"/>
                <a:cs typeface="Calibri" panose="020F0502020204030204" pitchFamily="34" charset="0"/>
              </a:rPr>
              <a:t>path</a:t>
            </a:r>
            <a:r>
              <a:rPr lang="en-US" altLang="en-US" sz="1800" kern="1200" dirty="0">
                <a:solidFill>
                  <a:srgbClr val="000000"/>
                </a:solidFill>
                <a:latin typeface="Courier New" panose="02070309020205020404" pitchFamily="49" charset="0"/>
                <a:cs typeface="Calibri" panose="020F0502020204030204" pitchFamily="34" charset="0"/>
              </a:rPr>
              <a:t>)</a:t>
            </a:r>
            <a:endParaRPr lang="en-US" altLang="en-US" sz="1800" kern="1200" dirty="0">
              <a:solidFill>
                <a:srgbClr val="000000"/>
              </a:solidFill>
              <a:latin typeface="Arial" panose="020B0604020202020204" pitchFamily="34" charset="0"/>
              <a:cs typeface="Arial" panose="020B0604020202020204" pitchFamily="34" charset="0"/>
            </a:endParaRPr>
          </a:p>
          <a:p>
            <a:pPr>
              <a:spcBef>
                <a:spcPts val="3600"/>
              </a:spcBef>
              <a:buFontTx/>
              <a:buChar char="•"/>
            </a:pPr>
            <a:r>
              <a:rPr lang="en-US" altLang="en-US" sz="2400" dirty="0" smtClean="0">
                <a:ea typeface="Calibri" panose="020F0502020204030204" pitchFamily="34" charset="0"/>
                <a:cs typeface="Times New Roman" panose="02020603050405020304" pitchFamily="18" charset="0"/>
              </a:rPr>
              <a:t>Example:</a:t>
            </a:r>
          </a:p>
          <a:p>
            <a:pPr marL="548640" lvl="0" indent="0">
              <a:spcBef>
                <a:spcPts val="150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targetPath { "C:\\data\\stats.csv</a:t>
            </a:r>
            <a:r>
              <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548640" lvl="0" indent="0">
              <a:spcBef>
                <a:spcPts val="220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if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(filesystem::exists(targetPath))</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960120" lvl="0" indent="0">
              <a:spcBef>
                <a:spcPts val="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"That item exists." &lt;&lt; endl;</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548640" lvl="0" indent="0">
              <a:spcBef>
                <a:spcPts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else</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960120" lvl="0" indent="0">
              <a:spcBef>
                <a:spcPts val="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"That item does not exist." &lt;&lt; endl</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2000" kern="1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1545249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noChangeArrowheads="1"/>
          </p:cNvSpPr>
          <p:nvPr>
            <p:ph type="title"/>
          </p:nvPr>
        </p:nvSpPr>
        <p:spPr/>
        <p:txBody>
          <a:bodyPr/>
          <a:lstStyle/>
          <a:p>
            <a:r>
              <a:rPr lang="en-US" altLang="en-US" sz="3600" dirty="0" smtClean="0"/>
              <a:t>Copying a File </a:t>
            </a:r>
            <a:r>
              <a:rPr lang="en-US" altLang="en-US" sz="1200" dirty="0" smtClean="0"/>
              <a:t>(1 of 2)</a:t>
            </a:r>
          </a:p>
        </p:txBody>
      </p:sp>
      <p:sp>
        <p:nvSpPr>
          <p:cNvPr id="98307" name="Content Placeholder 1"/>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You can use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copy_file</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 to copy an existing file. </a:t>
            </a:r>
          </a:p>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General format:</a:t>
            </a:r>
          </a:p>
          <a:p>
            <a:pPr marL="1234440" lvl="0" indent="0">
              <a:spcBef>
                <a:spcPts val="4000"/>
              </a:spcBef>
              <a:buNone/>
            </a:pPr>
            <a:r>
              <a:rPr lang="en-US" altLang="en-US" sz="1800" kern="1200" dirty="0">
                <a:solidFill>
                  <a:srgbClr val="000000"/>
                </a:solidFill>
                <a:latin typeface="Courier New" panose="02070309020205020404" pitchFamily="49" charset="0"/>
                <a:cs typeface="Calibri" panose="020F0502020204030204" pitchFamily="34" charset="0"/>
              </a:rPr>
              <a:t>filesystem::copy_file(</a:t>
            </a:r>
            <a:r>
              <a:rPr lang="en-US" altLang="en-US" sz="1800" i="1" kern="1200" dirty="0">
                <a:solidFill>
                  <a:srgbClr val="000000"/>
                </a:solidFill>
                <a:latin typeface="Courier New" panose="02070309020205020404" pitchFamily="49" charset="0"/>
                <a:cs typeface="Calibri" panose="020F0502020204030204" pitchFamily="34" charset="0"/>
              </a:rPr>
              <a:t>pathFrom</a:t>
            </a:r>
            <a:r>
              <a:rPr lang="en-US" altLang="en-US" sz="1800" kern="1200" dirty="0">
                <a:solidFill>
                  <a:srgbClr val="000000"/>
                </a:solidFill>
                <a:latin typeface="Courier New" panose="02070309020205020404" pitchFamily="49" charset="0"/>
                <a:cs typeface="Calibri" panose="020F0502020204030204" pitchFamily="34" charset="0"/>
              </a:rPr>
              <a:t>, </a:t>
            </a:r>
            <a:r>
              <a:rPr lang="en-US" altLang="en-US" sz="1800" i="1" kern="1200" dirty="0">
                <a:solidFill>
                  <a:srgbClr val="000000"/>
                </a:solidFill>
                <a:latin typeface="Courier New" panose="02070309020205020404" pitchFamily="49" charset="0"/>
                <a:cs typeface="Calibri" panose="020F0502020204030204" pitchFamily="34" charset="0"/>
              </a:rPr>
              <a:t>pathTo</a:t>
            </a:r>
            <a:r>
              <a:rPr lang="en-US" altLang="en-US" sz="1800" kern="1200" dirty="0">
                <a:solidFill>
                  <a:srgbClr val="000000"/>
                </a:solidFill>
                <a:latin typeface="Courier New" panose="02070309020205020404" pitchFamily="49" charset="0"/>
                <a:cs typeface="Calibri" panose="020F0502020204030204" pitchFamily="34" charset="0"/>
              </a:rPr>
              <a:t>);</a:t>
            </a:r>
            <a:endParaRPr lang="en-US" altLang="en-US" sz="1800" kern="1200" dirty="0">
              <a:solidFill>
                <a:srgbClr val="000000"/>
              </a:solidFill>
              <a:latin typeface="Arial" panose="020B0604020202020204" pitchFamily="34" charset="0"/>
              <a:cs typeface="Arial" panose="020B0604020202020204" pitchFamily="34" charset="0"/>
            </a:endParaRPr>
          </a:p>
          <a:p>
            <a:pPr lvl="1">
              <a:spcBef>
                <a:spcPts val="3000"/>
              </a:spcBef>
            </a:pPr>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The file specified by </a:t>
            </a:r>
            <a:r>
              <a:rPr lang="en-US" altLang="en-US" sz="2000" i="1" dirty="0" smtClean="0">
                <a:latin typeface="Courier New" panose="02070309020205020404" pitchFamily="49" charset="0"/>
                <a:ea typeface="Calibri" panose="020F0502020204030204" pitchFamily="34" charset="0"/>
                <a:cs typeface="Times New Roman" panose="02020603050405020304" pitchFamily="18" charset="0"/>
              </a:rPr>
              <a:t>pathFrom</a:t>
            </a:r>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 must exist</a:t>
            </a:r>
          </a:p>
          <a:p>
            <a:pPr lvl="1"/>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The file specified by </a:t>
            </a:r>
            <a:r>
              <a:rPr lang="en-US" altLang="en-US" sz="2000" i="1" dirty="0" smtClean="0">
                <a:latin typeface="Courier New" panose="02070309020205020404" pitchFamily="49" charset="0"/>
                <a:ea typeface="Calibri" panose="020F0502020204030204" pitchFamily="34" charset="0"/>
                <a:cs typeface="Times New Roman" panose="02020603050405020304" pitchFamily="18" charset="0"/>
              </a:rPr>
              <a:t>pathTo</a:t>
            </a:r>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 must not exist</a:t>
            </a:r>
          </a:p>
          <a:p>
            <a:pPr lvl="1"/>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Otherwise, an exception (a critical error) will occur</a:t>
            </a:r>
            <a:endParaRPr lang="en-US" altLang="en-US" sz="4000" dirty="0" smtClean="0">
              <a:ea typeface="Calibri" panose="020F0502020204030204" pitchFamily="34" charset="0"/>
            </a:endParaRPr>
          </a:p>
        </p:txBody>
      </p:sp>
    </p:spTree>
    <p:extLst>
      <p:ext uri="{BB962C8B-B14F-4D97-AF65-F5344CB8AC3E}">
        <p14:creationId xmlns:p14="http://schemas.microsoft.com/office/powerpoint/2010/main" val="80489293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248" y="231111"/>
            <a:ext cx="8229600" cy="814737"/>
          </a:xfrm>
        </p:spPr>
        <p:txBody>
          <a:bodyPr/>
          <a:lstStyle/>
          <a:p>
            <a:r>
              <a:rPr lang="en-US" altLang="en-US" sz="3600" dirty="0"/>
              <a:t>Copying a File </a:t>
            </a:r>
            <a:r>
              <a:rPr lang="en-US" altLang="en-US" sz="1200" dirty="0" smtClean="0"/>
              <a:t>(2 </a:t>
            </a:r>
            <a:r>
              <a:rPr lang="en-US" altLang="en-US" sz="1200" dirty="0"/>
              <a:t>of 2)</a:t>
            </a:r>
            <a:endParaRPr lang="en-US" dirty="0"/>
          </a:p>
        </p:txBody>
      </p:sp>
      <p:sp>
        <p:nvSpPr>
          <p:cNvPr id="3" name="Content Placeholder 2"/>
          <p:cNvSpPr>
            <a:spLocks noGrp="1"/>
          </p:cNvSpPr>
          <p:nvPr>
            <p:ph idx="1"/>
          </p:nvPr>
        </p:nvSpPr>
        <p:spPr>
          <a:xfrm>
            <a:off x="1311310" y="987250"/>
            <a:ext cx="6868048" cy="5041761"/>
          </a:xfrm>
        </p:spPr>
        <p:txBody>
          <a:bodyPr/>
          <a:lstStyle/>
          <a:p>
            <a:pPr marL="0" lvl="0" indent="0">
              <a:spcBef>
                <a:spcPct val="0"/>
              </a:spcBef>
              <a:buNone/>
            </a:pP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original { "C:\\data\\stats.csv</a:t>
            </a:r>
            <a:r>
              <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p>
          <a:p>
            <a:pPr marL="0" lvl="0" indent="0">
              <a:spcBef>
                <a:spcPct val="0"/>
              </a:spcBef>
              <a:buNone/>
            </a:pP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duplicate { "C:\\backup\\stats.csv</a:t>
            </a:r>
            <a:r>
              <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ts val="1800"/>
              </a:spcBef>
              <a:buNone/>
            </a:pP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Make sure the original file exists.</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if (filesystem::exists(original))</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Make sure the destination file does NOT exist.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if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(!filesystem::exists(duplicate))</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40080"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Copy the file.</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40080"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::copy_file(original, duplicate);</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else</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40080"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"The destination file " &lt;&lt; duplicate.string()</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1188720"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already exists." &lt;&lt; endl;</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else</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"The file " &lt;&lt; original.string()</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822960"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1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does not exist." &lt;&lt; endl;</a:t>
            </a:r>
            <a:endParaRPr lang="en-US" altLang="en-US" sz="1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400" kern="1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828013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p:nvPr>
        </p:nvSpPr>
        <p:spPr/>
        <p:txBody>
          <a:bodyPr/>
          <a:lstStyle/>
          <a:p>
            <a:r>
              <a:rPr lang="en-US" altLang="en-US" sz="3600" dirty="0" smtClean="0"/>
              <a:t>Deleting a File or Empty Directory </a:t>
            </a:r>
            <a:r>
              <a:rPr lang="en-US" altLang="en-US" sz="1200" dirty="0" smtClean="0"/>
              <a:t>(1 of 2)</a:t>
            </a:r>
          </a:p>
        </p:txBody>
      </p:sp>
      <p:sp>
        <p:nvSpPr>
          <p:cNvPr id="100355" name="Content Placeholder 1"/>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You can use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remove</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 to delete an existing file, or an empty directory.</a:t>
            </a:r>
          </a:p>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General format:</a:t>
            </a:r>
          </a:p>
          <a:p>
            <a:pPr marL="2240280" lvl="0" indent="0">
              <a:spcBef>
                <a:spcPts val="3800"/>
              </a:spcBef>
              <a:buNone/>
            </a:pPr>
            <a:r>
              <a:rPr lang="en-US" altLang="en-US" sz="1800" kern="1200" dirty="0">
                <a:solidFill>
                  <a:srgbClr val="000000"/>
                </a:solidFill>
                <a:latin typeface="Courier New" panose="02070309020205020404" pitchFamily="49" charset="0"/>
                <a:cs typeface="Calibri" panose="020F0502020204030204" pitchFamily="34" charset="0"/>
              </a:rPr>
              <a:t>filesystem::remove(</a:t>
            </a:r>
            <a:r>
              <a:rPr lang="en-US" altLang="en-US" sz="1800" i="1" kern="1200" dirty="0">
                <a:solidFill>
                  <a:srgbClr val="000000"/>
                </a:solidFill>
                <a:latin typeface="Courier New" panose="02070309020205020404" pitchFamily="49" charset="0"/>
                <a:cs typeface="Calibri" panose="020F0502020204030204" pitchFamily="34" charset="0"/>
              </a:rPr>
              <a:t>path</a:t>
            </a:r>
            <a:r>
              <a:rPr lang="en-US" altLang="en-US" sz="1800" kern="1200" dirty="0">
                <a:solidFill>
                  <a:srgbClr val="000000"/>
                </a:solidFill>
                <a:latin typeface="Courier New" panose="02070309020205020404" pitchFamily="49" charset="0"/>
                <a:cs typeface="Calibri" panose="020F0502020204030204" pitchFamily="34" charset="0"/>
              </a:rPr>
              <a:t>);</a:t>
            </a:r>
            <a:endParaRPr lang="en-US" altLang="en-US" sz="1800" kern="1200" dirty="0">
              <a:solidFill>
                <a:srgbClr val="000000"/>
              </a:solidFill>
              <a:latin typeface="Arial" panose="020B0604020202020204" pitchFamily="34" charset="0"/>
              <a:cs typeface="Arial" panose="020B0604020202020204" pitchFamily="34" charset="0"/>
            </a:endParaRPr>
          </a:p>
          <a:p>
            <a:pPr lvl="1">
              <a:spcBef>
                <a:spcPts val="3200"/>
              </a:spcBef>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If the file or directory is successfully deleted, the function returns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true</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Otherwise the function returns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false</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a:t>
            </a:r>
          </a:p>
          <a:p>
            <a:pPr lvl="1"/>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If the specified path refers to a nonempty directory, an exception (a critical error that aborts the program) will occur.</a:t>
            </a:r>
          </a:p>
        </p:txBody>
      </p:sp>
    </p:spTree>
    <p:extLst>
      <p:ext uri="{BB962C8B-B14F-4D97-AF65-F5344CB8AC3E}">
        <p14:creationId xmlns:p14="http://schemas.microsoft.com/office/powerpoint/2010/main" val="40946833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6299"/>
            <a:ext cx="8229600" cy="744398"/>
          </a:xfrm>
        </p:spPr>
        <p:txBody>
          <a:bodyPr/>
          <a:lstStyle/>
          <a:p>
            <a:r>
              <a:rPr lang="en-US" altLang="en-US" sz="3600" dirty="0"/>
              <a:t>Deleting a File or Empty </a:t>
            </a:r>
            <a:r>
              <a:rPr lang="en-US" altLang="en-US" sz="3600" dirty="0" smtClean="0"/>
              <a:t>Directory </a:t>
            </a:r>
            <a:r>
              <a:rPr lang="en-US" altLang="en-US" sz="1200" dirty="0" smtClean="0"/>
              <a:t>(2 </a:t>
            </a:r>
            <a:r>
              <a:rPr lang="en-US" altLang="en-US" sz="1200" dirty="0"/>
              <a:t>of 2)</a:t>
            </a:r>
            <a:endParaRPr lang="en-US" dirty="0"/>
          </a:p>
        </p:txBody>
      </p:sp>
      <p:sp>
        <p:nvSpPr>
          <p:cNvPr id="3" name="Content Placeholder 2"/>
          <p:cNvSpPr>
            <a:spLocks noGrp="1"/>
          </p:cNvSpPr>
          <p:nvPr>
            <p:ph idx="1"/>
          </p:nvPr>
        </p:nvSpPr>
        <p:spPr>
          <a:xfrm>
            <a:off x="628022" y="1288701"/>
            <a:ext cx="8229600" cy="4525963"/>
          </a:xfrm>
        </p:spPr>
        <p:txBody>
          <a:bodyPr/>
          <a:lstStyle/>
          <a:p>
            <a:pPr marL="0" lvl="0" indent="0">
              <a:spcBef>
                <a:spcPct val="0"/>
              </a:spcBef>
              <a:buNone/>
            </a:pP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target { "C:\\data\\stats.csv</a:t>
            </a:r>
            <a:r>
              <a:rPr lang="en-US" altLang="en-US" sz="20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a:t>
            </a: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p>
          <a:p>
            <a:pPr marL="0" lvl="0" indent="0">
              <a:spcBef>
                <a:spcPts val="2400"/>
              </a:spcBef>
              <a:buNone/>
            </a:pPr>
            <a:r>
              <a:rPr lang="en-US" altLang="en-US" sz="20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Delete the file.</a:t>
            </a:r>
          </a:p>
          <a:p>
            <a:pPr marL="0" lvl="0" indent="0">
              <a:spcBef>
                <a:spcPct val="0"/>
              </a:spcBef>
              <a:buNone/>
            </a:pP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if (filesystem::remove(targetPath))</a:t>
            </a:r>
          </a:p>
          <a:p>
            <a:pPr marL="0" lvl="0" indent="0">
              <a:spcBef>
                <a:spcPct val="0"/>
              </a:spcBef>
              <a:buNone/>
            </a:pP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p>
          <a:p>
            <a:pPr marL="457200" lvl="0" indent="0">
              <a:spcBef>
                <a:spcPct val="0"/>
              </a:spcBef>
              <a:buNone/>
            </a:pPr>
            <a:r>
              <a:rPr lang="en-US" altLang="en-US" sz="20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target.string()</a:t>
            </a:r>
          </a:p>
          <a:p>
            <a:pPr marL="1234440" lvl="0" indent="0">
              <a:spcBef>
                <a:spcPct val="0"/>
              </a:spcBef>
              <a:buNone/>
            </a:pPr>
            <a:r>
              <a:rPr lang="en-US" altLang="en-US" sz="20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deleted." &lt;&lt; endl;</a:t>
            </a:r>
          </a:p>
          <a:p>
            <a:pPr marL="0" lvl="0" indent="0">
              <a:spcBef>
                <a:spcPct val="0"/>
              </a:spcBef>
              <a:buNone/>
            </a:pP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p>
          <a:p>
            <a:pPr marL="0" lvl="0" indent="0">
              <a:spcBef>
                <a:spcPct val="0"/>
              </a:spcBef>
              <a:buNone/>
            </a:pP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else</a:t>
            </a:r>
          </a:p>
          <a:p>
            <a:pPr marL="0" lvl="0" indent="0">
              <a:spcBef>
                <a:spcPct val="0"/>
              </a:spcBef>
              <a:buNone/>
            </a:pP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p>
          <a:p>
            <a:pPr marL="457200" lvl="0" indent="0">
              <a:spcBef>
                <a:spcPct val="0"/>
              </a:spcBef>
              <a:buNone/>
            </a:pPr>
            <a:r>
              <a:rPr lang="en-US" altLang="en-US" sz="20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"Error deleting </a:t>
            </a:r>
            <a:r>
              <a:rPr lang="en-US" altLang="en-US" sz="20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endParaRPr>
          </a:p>
          <a:p>
            <a:pPr marL="1234440" lvl="0" indent="0">
              <a:spcBef>
                <a:spcPct val="0"/>
              </a:spcBef>
              <a:buNone/>
            </a:pPr>
            <a:r>
              <a:rPr lang="en-US" altLang="en-US" sz="20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target.string() &lt;&lt; endl;</a:t>
            </a:r>
          </a:p>
          <a:p>
            <a:pPr marL="0" lvl="0" indent="0">
              <a:spcBef>
                <a:spcPct val="0"/>
              </a:spcBef>
              <a:buNone/>
            </a:pPr>
            <a:r>
              <a:rPr lang="en-US" altLang="en-US" sz="20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20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911504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noChangeArrowheads="1"/>
          </p:cNvSpPr>
          <p:nvPr>
            <p:ph type="title"/>
          </p:nvPr>
        </p:nvSpPr>
        <p:spPr/>
        <p:txBody>
          <a:bodyPr/>
          <a:lstStyle/>
          <a:p>
            <a:r>
              <a:rPr lang="en-US" altLang="en-US" dirty="0" smtClean="0"/>
              <a:t>Renaming a File or Directory </a:t>
            </a:r>
            <a:r>
              <a:rPr lang="en-US" altLang="en-US" sz="1200" dirty="0" smtClean="0"/>
              <a:t>(1 of 4)</a:t>
            </a:r>
          </a:p>
        </p:txBody>
      </p:sp>
      <p:sp>
        <p:nvSpPr>
          <p:cNvPr id="102403" name="Content Placeholder 2"/>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You can use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rename</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 to rename an existing file or directory</a:t>
            </a:r>
          </a:p>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General format:</a:t>
            </a:r>
          </a:p>
          <a:p>
            <a:pPr marL="731520" lvl="0" indent="0">
              <a:spcBef>
                <a:spcPts val="3400"/>
              </a:spcBef>
              <a:buNone/>
            </a:pPr>
            <a:r>
              <a:rPr lang="en-US" altLang="en-US" sz="1800" kern="1200" dirty="0">
                <a:solidFill>
                  <a:srgbClr val="000000"/>
                </a:solidFill>
                <a:latin typeface="Courier New" panose="02070309020205020404" pitchFamily="49" charset="0"/>
                <a:cs typeface="Calibri" panose="020F0502020204030204" pitchFamily="34" charset="0"/>
              </a:rPr>
              <a:t>filesystem::rename(</a:t>
            </a:r>
            <a:r>
              <a:rPr lang="en-US" altLang="en-US" sz="1800" i="1" kern="1200" dirty="0">
                <a:solidFill>
                  <a:srgbClr val="000000"/>
                </a:solidFill>
                <a:latin typeface="Courier New" panose="02070309020205020404" pitchFamily="49" charset="0"/>
                <a:cs typeface="Calibri" panose="020F0502020204030204" pitchFamily="34" charset="0"/>
              </a:rPr>
              <a:t>sourcePath</a:t>
            </a:r>
            <a:r>
              <a:rPr lang="en-US" altLang="en-US" sz="1800" kern="1200" dirty="0">
                <a:solidFill>
                  <a:srgbClr val="000000"/>
                </a:solidFill>
                <a:latin typeface="Courier New" panose="02070309020205020404" pitchFamily="49" charset="0"/>
                <a:cs typeface="Calibri" panose="020F0502020204030204" pitchFamily="34" charset="0"/>
              </a:rPr>
              <a:t>, </a:t>
            </a:r>
            <a:r>
              <a:rPr lang="en-US" altLang="en-US" sz="1800" i="1" kern="1200" dirty="0">
                <a:solidFill>
                  <a:srgbClr val="000000"/>
                </a:solidFill>
                <a:latin typeface="Courier New" panose="02070309020205020404" pitchFamily="49" charset="0"/>
                <a:cs typeface="Calibri" panose="020F0502020204030204" pitchFamily="34" charset="0"/>
              </a:rPr>
              <a:t>destinationPath</a:t>
            </a:r>
            <a:r>
              <a:rPr lang="en-US" altLang="en-US" sz="1800" kern="1200" dirty="0">
                <a:solidFill>
                  <a:srgbClr val="000000"/>
                </a:solidFill>
                <a:latin typeface="Courier New" panose="02070309020205020404" pitchFamily="49" charset="0"/>
                <a:cs typeface="Calibri" panose="020F0502020204030204" pitchFamily="34" charset="0"/>
              </a:rPr>
              <a:t>);</a:t>
            </a:r>
            <a:endParaRPr lang="en-US" altLang="en-US" sz="1800" kern="1200" dirty="0">
              <a:solidFill>
                <a:srgbClr val="000000"/>
              </a:solidFill>
              <a:latin typeface="Arial" panose="020B0604020202020204" pitchFamily="34" charset="0"/>
              <a:cs typeface="Arial" panose="020B0604020202020204" pitchFamily="34" charset="0"/>
            </a:endParaRPr>
          </a:p>
          <a:p>
            <a:pPr lvl="1">
              <a:spcBef>
                <a:spcPts val="3600"/>
              </a:spcBef>
            </a:pPr>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The file or directory specified by </a:t>
            </a:r>
            <a:r>
              <a:rPr lang="en-US" altLang="en-US" sz="2000" i="1" dirty="0" smtClean="0">
                <a:latin typeface="Courier New" panose="02070309020205020404" pitchFamily="49" charset="0"/>
                <a:cs typeface="Calibri" panose="020F0502020204030204" pitchFamily="34" charset="0"/>
              </a:rPr>
              <a:t>sourcePath</a:t>
            </a:r>
            <a:r>
              <a:rPr lang="en-US" altLang="en-US" sz="2000" dirty="0" smtClean="0">
                <a:latin typeface="Calibri" panose="020F0502020204030204" pitchFamily="34" charset="0"/>
                <a:cs typeface="Calibri" panose="020F0502020204030204" pitchFamily="34" charset="0"/>
              </a:rPr>
              <a:t> must exist</a:t>
            </a:r>
          </a:p>
          <a:p>
            <a:pPr lvl="1"/>
            <a:r>
              <a:rPr lang="en-US" altLang="en-US" sz="2000" dirty="0" smtClean="0">
                <a:latin typeface="Calibri" panose="020F0502020204030204" pitchFamily="34" charset="0"/>
                <a:cs typeface="Calibri" panose="020F0502020204030204" pitchFamily="34" charset="0"/>
              </a:rPr>
              <a:t>Otherwise, an exception (a critical error) will occur</a:t>
            </a:r>
            <a:endParaRPr lang="en-US" altLang="en-US" sz="2000" dirty="0" smtClean="0"/>
          </a:p>
        </p:txBody>
      </p:sp>
    </p:spTree>
    <p:extLst>
      <p:ext uri="{BB962C8B-B14F-4D97-AF65-F5344CB8AC3E}">
        <p14:creationId xmlns:p14="http://schemas.microsoft.com/office/powerpoint/2010/main" val="136152391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Renaming a File or </a:t>
            </a:r>
            <a:r>
              <a:rPr lang="en-US" altLang="en-US" dirty="0" smtClean="0"/>
              <a:t>Directory </a:t>
            </a:r>
            <a:r>
              <a:rPr lang="en-US" altLang="en-US" sz="1200" dirty="0" smtClean="0"/>
              <a:t>(2 </a:t>
            </a:r>
            <a:r>
              <a:rPr lang="en-US" altLang="en-US" sz="1200" dirty="0"/>
              <a:t>of </a:t>
            </a:r>
            <a:r>
              <a:rPr lang="en-US" altLang="en-US" sz="1200" dirty="0" smtClean="0"/>
              <a:t>4)</a:t>
            </a:r>
            <a:endParaRPr lang="en-US" dirty="0"/>
          </a:p>
        </p:txBody>
      </p:sp>
      <p:sp>
        <p:nvSpPr>
          <p:cNvPr id="3" name="Content Placeholder 2"/>
          <p:cNvSpPr>
            <a:spLocks noGrp="1"/>
          </p:cNvSpPr>
          <p:nvPr>
            <p:ph idx="1"/>
          </p:nvPr>
        </p:nvSpPr>
        <p:spPr>
          <a:xfrm>
            <a:off x="607926" y="1218363"/>
            <a:ext cx="8355204" cy="5192485"/>
          </a:xfrm>
        </p:spPr>
        <p:txBody>
          <a:bodyPr/>
          <a:lstStyle/>
          <a:p>
            <a:pPr marL="0" lvl="0" indent="0">
              <a:spcBef>
                <a:spcPct val="0"/>
              </a:spcBef>
              <a:buNone/>
            </a:pP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sourcePath{ "C:\\temp\\old_file.txt" };</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destinationPath{"C:\\temp\\new_file.txt" };</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ts val="140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Make sure the file exists.</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if (filesystem::exists(sourcePath))</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Make sure the destination file does NOT exist.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if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(!filesystem::exists(destinationPath))</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83464"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54864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Rename the file.</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54864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::rename(sourcePath, destinationPath);</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54864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sourcePath.string() &lt;&lt; " renamed to "</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100584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destinationPath.string() &lt;&lt; endl;</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74320" lvl="0" indent="0">
              <a:spcBef>
                <a:spcPts val="150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7432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else</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7432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54864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"The destination file </a:t>
            </a: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100584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destinationPath.string()</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100584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already exists." &lt;&lt; endl;</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7432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else</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27432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"The file " &lt;&lt; sourcePath.string()</a:t>
            </a:r>
            <a:endParaRPr lang="en-US" altLang="en-US" sz="12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73152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12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does not exist." &lt;&lt; endl</a:t>
            </a: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smtClean="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2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200" kern="1200" dirty="0">
              <a:solidFill>
                <a:srgbClr val="000000"/>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153309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noChangeArrowheads="1"/>
          </p:cNvSpPr>
          <p:nvPr>
            <p:ph type="title"/>
          </p:nvPr>
        </p:nvSpPr>
        <p:spPr/>
        <p:txBody>
          <a:bodyPr/>
          <a:lstStyle/>
          <a:p>
            <a:r>
              <a:rPr lang="en-US" altLang="en-US" dirty="0" smtClean="0"/>
              <a:t>Renaming a File or Directory </a:t>
            </a:r>
            <a:r>
              <a:rPr lang="en-US" altLang="en-US" sz="1200" dirty="0" smtClean="0"/>
              <a:t>(3 </a:t>
            </a:r>
            <a:r>
              <a:rPr lang="en-US" altLang="en-US" sz="1200" dirty="0"/>
              <a:t>of </a:t>
            </a:r>
            <a:r>
              <a:rPr lang="en-US" altLang="en-US" sz="1200" dirty="0" smtClean="0"/>
              <a:t>4)</a:t>
            </a:r>
            <a:endParaRPr lang="en-US" altLang="en-US" dirty="0" smtClean="0"/>
          </a:p>
        </p:txBody>
      </p:sp>
      <p:sp>
        <p:nvSpPr>
          <p:cNvPr id="3" name="Content Placeholder 2"/>
          <p:cNvSpPr>
            <a:spLocks noGrp="1"/>
          </p:cNvSpPr>
          <p:nvPr>
            <p:ph idx="1"/>
          </p:nvPr>
        </p:nvSpPr>
        <p:spPr/>
        <p:txBody>
          <a:bodyPr/>
          <a:lstStyle/>
          <a:p>
            <a:pPr>
              <a:defRPr/>
            </a:pPr>
            <a:r>
              <a:rPr lang="en-US" sz="2400" dirty="0">
                <a:latin typeface="Calibri" panose="020F0502020204030204" pitchFamily="34" charset="0"/>
                <a:ea typeface="Calibri" panose="020F0502020204030204" pitchFamily="34" charset="0"/>
                <a:cs typeface="Times New Roman" panose="02020603050405020304" pitchFamily="18" charset="0"/>
              </a:rPr>
              <a:t>When using the </a:t>
            </a:r>
            <a:r>
              <a:rPr lang="en-US" sz="2400" dirty="0">
                <a:latin typeface="Courier New" panose="02070309020205020404" pitchFamily="49" charset="0"/>
                <a:ea typeface="Calibri" panose="020F0502020204030204" pitchFamily="34" charset="0"/>
                <a:cs typeface="Courier New" panose="02070309020205020404" pitchFamily="49" charset="0"/>
              </a:rPr>
              <a:t>rename</a:t>
            </a:r>
            <a:r>
              <a:rPr lang="en-US" sz="2400" dirty="0">
                <a:latin typeface="Calibri" panose="020F0502020204030204" pitchFamily="34" charset="0"/>
                <a:ea typeface="Calibri" panose="020F0502020204030204" pitchFamily="34" charset="0"/>
                <a:cs typeface="Times New Roman" panose="02020603050405020304" pitchFamily="18" charset="0"/>
              </a:rPr>
              <a:t> function to rename a </a:t>
            </a:r>
            <a:r>
              <a:rPr lang="en-US" sz="2400" b="1" dirty="0">
                <a:latin typeface="Calibri" panose="020F0502020204030204" pitchFamily="34" charset="0"/>
                <a:ea typeface="Calibri" panose="020F0502020204030204" pitchFamily="34" charset="0"/>
                <a:cs typeface="Times New Roman" panose="02020603050405020304" pitchFamily="18" charset="0"/>
              </a:rPr>
              <a:t>file</a:t>
            </a:r>
            <a:r>
              <a:rPr 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1" indent="-342900">
              <a:spcBef>
                <a:spcPts val="2800"/>
              </a:spcBef>
              <a:spcAft>
                <a:spcPts val="0"/>
              </a:spcAft>
              <a:buFont typeface="Symbol" panose="05050102010706020507" pitchFamily="18" charset="2"/>
              <a:buChar char=""/>
              <a:defRPr/>
            </a:pPr>
            <a:r>
              <a:rPr lang="en-US" sz="1800" dirty="0">
                <a:latin typeface="Calibri" panose="020F0502020204030204" pitchFamily="34" charset="0"/>
                <a:ea typeface="Calibri" panose="020F0502020204030204" pitchFamily="34" charset="0"/>
                <a:cs typeface="Times New Roman" panose="02020603050405020304" pitchFamily="18" charset="0"/>
              </a:rPr>
              <a:t>If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is an existing file and </a:t>
            </a:r>
            <a:r>
              <a:rPr lang="en-US" sz="1800" i="1" dirty="0">
                <a:latin typeface="Courier New" panose="02070309020205020404" pitchFamily="49" charset="0"/>
                <a:ea typeface="Calibri" panose="020F0502020204030204" pitchFamily="34" charset="0"/>
                <a:cs typeface="Times New Roman" panose="02020603050405020304" pitchFamily="18" charset="0"/>
              </a:rPr>
              <a:t>destinationPath</a:t>
            </a:r>
            <a:r>
              <a:rPr lang="en-US" sz="1800" dirty="0">
                <a:latin typeface="Calibri" panose="020F0502020204030204" pitchFamily="34" charset="0"/>
                <a:ea typeface="Calibri" panose="020F0502020204030204" pitchFamily="34" charset="0"/>
                <a:cs typeface="Times New Roman" panose="02020603050405020304" pitchFamily="18" charset="0"/>
              </a:rPr>
              <a:t> is a nonexistent file, then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will be renamed to </a:t>
            </a:r>
            <a:r>
              <a:rPr lang="en-US" sz="1800" i="1" dirty="0" smtClean="0">
                <a:latin typeface="Courier New" panose="02070309020205020404" pitchFamily="49" charset="0"/>
                <a:ea typeface="Calibri" panose="020F0502020204030204" pitchFamily="34" charset="0"/>
                <a:cs typeface="Times New Roman" panose="02020603050405020304" pitchFamily="18" charset="0"/>
              </a:rPr>
              <a:t>destinationPath</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lvl="1" indent="-342900">
              <a:spcBef>
                <a:spcPts val="2200"/>
              </a:spcBef>
              <a:spcAft>
                <a:spcPts val="0"/>
              </a:spcAft>
              <a:buFont typeface="Symbol" panose="05050102010706020507" pitchFamily="18" charset="2"/>
              <a:buChar char=""/>
              <a:defRPr/>
            </a:pPr>
            <a:r>
              <a:rPr lang="en-US" sz="1800" dirty="0">
                <a:latin typeface="Calibri" panose="020F0502020204030204" pitchFamily="34" charset="0"/>
                <a:ea typeface="Calibri" panose="020F0502020204030204" pitchFamily="34" charset="0"/>
                <a:cs typeface="Times New Roman" panose="02020603050405020304" pitchFamily="18" charset="0"/>
              </a:rPr>
              <a:t>If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is an existing file and </a:t>
            </a:r>
            <a:r>
              <a:rPr lang="en-US" sz="1800" i="1" dirty="0">
                <a:latin typeface="Courier New" panose="02070309020205020404" pitchFamily="49" charset="0"/>
                <a:ea typeface="Calibri" panose="020F0502020204030204" pitchFamily="34" charset="0"/>
                <a:cs typeface="Times New Roman" panose="02020603050405020304" pitchFamily="18" charset="0"/>
              </a:rPr>
              <a:t>destinationPath</a:t>
            </a:r>
            <a:r>
              <a:rPr lang="en-US" sz="1800" dirty="0">
                <a:latin typeface="Calibri" panose="020F0502020204030204" pitchFamily="34" charset="0"/>
                <a:ea typeface="Calibri" panose="020F0502020204030204" pitchFamily="34" charset="0"/>
                <a:cs typeface="Times New Roman" panose="02020603050405020304" pitchFamily="18" charset="0"/>
              </a:rPr>
              <a:t> is also an existing file, then </a:t>
            </a:r>
            <a:r>
              <a:rPr lang="en-US" sz="1800" i="1" dirty="0">
                <a:latin typeface="Courier New" panose="02070309020205020404" pitchFamily="49" charset="0"/>
                <a:ea typeface="Calibri" panose="020F0502020204030204" pitchFamily="34" charset="0"/>
                <a:cs typeface="Times New Roman" panose="02020603050405020304" pitchFamily="18" charset="0"/>
              </a:rPr>
              <a:t>destinationPath</a:t>
            </a:r>
            <a:r>
              <a:rPr lang="en-US" sz="1800" dirty="0">
                <a:latin typeface="Calibri" panose="020F0502020204030204" pitchFamily="34" charset="0"/>
                <a:ea typeface="Calibri" panose="020F0502020204030204" pitchFamily="34" charset="0"/>
                <a:cs typeface="Times New Roman" panose="02020603050405020304" pitchFamily="18" charset="0"/>
              </a:rPr>
              <a:t> will be deleted and then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will be given the new name specified by </a:t>
            </a:r>
            <a:r>
              <a:rPr lang="en-US" sz="1800" i="1" dirty="0" smtClean="0">
                <a:latin typeface="Courier New" panose="02070309020205020404" pitchFamily="49" charset="0"/>
                <a:ea typeface="Calibri" panose="020F0502020204030204" pitchFamily="34" charset="0"/>
                <a:cs typeface="Times New Roman" panose="02020603050405020304" pitchFamily="18" charset="0"/>
              </a:rPr>
              <a:t>destinationPath</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lvl="1" indent="-342900">
              <a:spcBef>
                <a:spcPts val="2200"/>
              </a:spcBef>
              <a:spcAft>
                <a:spcPts val="0"/>
              </a:spcAft>
              <a:buFont typeface="Symbol" panose="05050102010706020507" pitchFamily="18" charset="2"/>
              <a:buChar char=""/>
              <a:defRPr/>
            </a:pPr>
            <a:r>
              <a:rPr lang="en-US" sz="1800" dirty="0">
                <a:latin typeface="Calibri" panose="020F0502020204030204" pitchFamily="34" charset="0"/>
                <a:ea typeface="Calibri" panose="020F0502020204030204" pitchFamily="34" charset="0"/>
                <a:cs typeface="Times New Roman" panose="02020603050405020304" pitchFamily="18" charset="0"/>
              </a:rPr>
              <a:t>The </a:t>
            </a:r>
            <a:r>
              <a:rPr lang="en-US" sz="1800" dirty="0">
                <a:latin typeface="Courier New" panose="02070309020205020404" pitchFamily="49" charset="0"/>
                <a:ea typeface="Calibri" panose="020F0502020204030204" pitchFamily="34" charset="0"/>
                <a:cs typeface="Times New Roman" panose="02020603050405020304" pitchFamily="18" charset="0"/>
              </a:rPr>
              <a:t>rename</a:t>
            </a:r>
            <a:r>
              <a:rPr lang="en-US" sz="1800" dirty="0">
                <a:latin typeface="Calibri" panose="020F0502020204030204" pitchFamily="34" charset="0"/>
                <a:ea typeface="Calibri" panose="020F0502020204030204" pitchFamily="34" charset="0"/>
                <a:cs typeface="Times New Roman" panose="02020603050405020304" pitchFamily="18" charset="0"/>
              </a:rPr>
              <a:t> function can be used to move a file or directory. If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is an existing file or directory and </a:t>
            </a:r>
            <a:r>
              <a:rPr lang="en-US" sz="1800" i="1" dirty="0">
                <a:latin typeface="Courier New" panose="02070309020205020404" pitchFamily="49" charset="0"/>
                <a:ea typeface="Calibri" panose="020F0502020204030204" pitchFamily="34" charset="0"/>
                <a:cs typeface="Times New Roman" panose="02020603050405020304" pitchFamily="18" charset="0"/>
              </a:rPr>
              <a:t>destinationPath</a:t>
            </a:r>
            <a:r>
              <a:rPr lang="en-US" sz="1800" dirty="0">
                <a:latin typeface="Calibri" panose="020F0502020204030204" pitchFamily="34" charset="0"/>
                <a:ea typeface="Calibri" panose="020F0502020204030204" pitchFamily="34" charset="0"/>
                <a:cs typeface="Times New Roman" panose="02020603050405020304" pitchFamily="18" charset="0"/>
              </a:rPr>
              <a:t> specifies a nonexistent file or directory that is in a different location than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then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will be moved to the location specified by </a:t>
            </a:r>
            <a:r>
              <a:rPr lang="en-US" sz="1800" i="1" dirty="0" smtClean="0">
                <a:latin typeface="Courier New" panose="02070309020205020404" pitchFamily="49" charset="0"/>
                <a:ea typeface="Calibri" panose="020F0502020204030204" pitchFamily="34" charset="0"/>
                <a:cs typeface="Times New Roman" panose="02020603050405020304" pitchFamily="18" charset="0"/>
              </a:rPr>
              <a:t>destinationPath</a:t>
            </a:r>
            <a:endParaRPr lang="en-US" sz="1600" dirty="0"/>
          </a:p>
        </p:txBody>
      </p:sp>
    </p:spTree>
    <p:extLst>
      <p:ext uri="{BB962C8B-B14F-4D97-AF65-F5344CB8AC3E}">
        <p14:creationId xmlns:p14="http://schemas.microsoft.com/office/powerpoint/2010/main" val="131514027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noChangeArrowheads="1"/>
          </p:cNvSpPr>
          <p:nvPr>
            <p:ph type="title"/>
          </p:nvPr>
        </p:nvSpPr>
        <p:spPr/>
        <p:txBody>
          <a:bodyPr/>
          <a:lstStyle/>
          <a:p>
            <a:r>
              <a:rPr lang="en-US" altLang="en-US" dirty="0" smtClean="0"/>
              <a:t>Renaming a File or Directory </a:t>
            </a:r>
            <a:r>
              <a:rPr lang="en-US" altLang="en-US" sz="1200" dirty="0" smtClean="0"/>
              <a:t>(4 </a:t>
            </a:r>
            <a:r>
              <a:rPr lang="en-US" altLang="en-US" sz="1200" dirty="0"/>
              <a:t>of </a:t>
            </a:r>
            <a:r>
              <a:rPr lang="en-US" altLang="en-US" sz="1200" dirty="0" smtClean="0"/>
              <a:t>4)</a:t>
            </a:r>
            <a:endParaRPr lang="en-US" altLang="en-US" dirty="0" smtClean="0"/>
          </a:p>
        </p:txBody>
      </p:sp>
      <p:sp>
        <p:nvSpPr>
          <p:cNvPr id="3" name="Content Placeholder 2"/>
          <p:cNvSpPr>
            <a:spLocks noGrp="1"/>
          </p:cNvSpPr>
          <p:nvPr>
            <p:ph idx="1"/>
          </p:nvPr>
        </p:nvSpPr>
        <p:spPr>
          <a:xfrm>
            <a:off x="457200" y="1428750"/>
            <a:ext cx="8229600" cy="4525963"/>
          </a:xfrm>
        </p:spPr>
        <p:txBody>
          <a:bodyPr/>
          <a:lstStyle/>
          <a:p>
            <a:pPr>
              <a:defRPr/>
            </a:pPr>
            <a:r>
              <a:rPr lang="en-US" sz="2400" dirty="0">
                <a:latin typeface="Calibri" panose="020F0502020204030204" pitchFamily="34" charset="0"/>
                <a:ea typeface="Calibri" panose="020F0502020204030204" pitchFamily="34" charset="0"/>
                <a:cs typeface="Times New Roman" panose="02020603050405020304" pitchFamily="18" charset="0"/>
              </a:rPr>
              <a:t>When using the </a:t>
            </a:r>
            <a:r>
              <a:rPr lang="en-US" sz="2400" dirty="0">
                <a:latin typeface="Courier New" panose="02070309020205020404" pitchFamily="49" charset="0"/>
                <a:ea typeface="Calibri" panose="020F0502020204030204" pitchFamily="34" charset="0"/>
                <a:cs typeface="Courier New" panose="02070309020205020404" pitchFamily="49" charset="0"/>
              </a:rPr>
              <a:t>rename</a:t>
            </a:r>
            <a:r>
              <a:rPr lang="en-US" sz="2400" dirty="0">
                <a:latin typeface="Calibri" panose="020F0502020204030204" pitchFamily="34" charset="0"/>
                <a:ea typeface="Calibri" panose="020F0502020204030204" pitchFamily="34" charset="0"/>
                <a:cs typeface="Times New Roman" panose="02020603050405020304" pitchFamily="18" charset="0"/>
              </a:rPr>
              <a:t> function to rename a </a:t>
            </a:r>
            <a:r>
              <a:rPr lang="en-US" sz="2400" b="1" dirty="0">
                <a:latin typeface="Calibri" panose="020F0502020204030204" pitchFamily="34" charset="0"/>
                <a:ea typeface="Calibri" panose="020F0502020204030204" pitchFamily="34" charset="0"/>
                <a:cs typeface="Times New Roman" panose="02020603050405020304" pitchFamily="18" charset="0"/>
              </a:rPr>
              <a:t>directory</a:t>
            </a:r>
            <a:r>
              <a:rPr lang="en-US" sz="2400" dirty="0" smtClean="0">
                <a:latin typeface="Calibri" panose="020F0502020204030204" pitchFamily="34" charset="0"/>
                <a:ea typeface="Calibri" panose="020F0502020204030204" pitchFamily="34" charset="0"/>
                <a:cs typeface="Times New Roman" panose="02020603050405020304" pitchFamily="18" charset="0"/>
              </a:rPr>
              <a:t>:</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1" indent="-342900">
              <a:spcBef>
                <a:spcPts val="3000"/>
              </a:spcBef>
              <a:spcAft>
                <a:spcPts val="0"/>
              </a:spcAft>
              <a:buFont typeface="Symbol" panose="05050102010706020507" pitchFamily="18" charset="2"/>
              <a:buChar char=""/>
              <a:defRPr/>
            </a:pPr>
            <a:r>
              <a:rPr lang="en-US" sz="1800" dirty="0">
                <a:latin typeface="Calibri" panose="020F0502020204030204" pitchFamily="34" charset="0"/>
                <a:ea typeface="Calibri" panose="020F0502020204030204" pitchFamily="34" charset="0"/>
                <a:cs typeface="Times New Roman" panose="02020603050405020304" pitchFamily="18" charset="0"/>
              </a:rPr>
              <a:t>If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is an existing directory and </a:t>
            </a:r>
            <a:r>
              <a:rPr lang="en-US" sz="1800" i="1" dirty="0">
                <a:latin typeface="Courier New" panose="02070309020205020404" pitchFamily="49" charset="0"/>
                <a:ea typeface="Calibri" panose="020F0502020204030204" pitchFamily="34" charset="0"/>
                <a:cs typeface="Times New Roman" panose="02020603050405020304" pitchFamily="18" charset="0"/>
              </a:rPr>
              <a:t>destinationPath</a:t>
            </a:r>
            <a:r>
              <a:rPr lang="en-US" sz="1800" dirty="0">
                <a:latin typeface="Calibri" panose="020F0502020204030204" pitchFamily="34" charset="0"/>
                <a:ea typeface="Calibri" panose="020F0502020204030204" pitchFamily="34" charset="0"/>
                <a:cs typeface="Times New Roman" panose="02020603050405020304" pitchFamily="18" charset="0"/>
              </a:rPr>
              <a:t> does not exist, then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will be renamed to </a:t>
            </a:r>
            <a:r>
              <a:rPr lang="en-US" sz="1800" i="1" dirty="0" smtClean="0">
                <a:latin typeface="Courier New" panose="02070309020205020404" pitchFamily="49" charset="0"/>
                <a:ea typeface="Calibri" panose="020F0502020204030204" pitchFamily="34" charset="0"/>
                <a:cs typeface="Times New Roman" panose="02020603050405020304" pitchFamily="18" charset="0"/>
              </a:rPr>
              <a:t>destinationPath</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lvl="1" indent="-342900">
              <a:spcBef>
                <a:spcPts val="2000"/>
              </a:spcBef>
              <a:spcAft>
                <a:spcPts val="0"/>
              </a:spcAft>
              <a:buFont typeface="Symbol" panose="05050102010706020507" pitchFamily="18" charset="2"/>
              <a:buChar char=""/>
              <a:defRPr/>
            </a:pPr>
            <a:r>
              <a:rPr lang="en-US" sz="1800" dirty="0">
                <a:latin typeface="Calibri" panose="020F0502020204030204" pitchFamily="34" charset="0"/>
                <a:ea typeface="Calibri" panose="020F0502020204030204" pitchFamily="34" charset="0"/>
                <a:cs typeface="Times New Roman" panose="02020603050405020304" pitchFamily="18" charset="0"/>
              </a:rPr>
              <a:t>If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is an existing directory and </a:t>
            </a:r>
            <a:r>
              <a:rPr lang="en-US" sz="1800" i="1" dirty="0">
                <a:latin typeface="Courier New" panose="02070309020205020404" pitchFamily="49" charset="0"/>
                <a:ea typeface="Calibri" panose="020F0502020204030204" pitchFamily="34" charset="0"/>
                <a:cs typeface="Times New Roman" panose="02020603050405020304" pitchFamily="18" charset="0"/>
              </a:rPr>
              <a:t>destinationPath</a:t>
            </a:r>
            <a:r>
              <a:rPr lang="en-US" sz="1800" dirty="0">
                <a:latin typeface="Calibri" panose="020F0502020204030204" pitchFamily="34" charset="0"/>
                <a:ea typeface="Calibri" panose="020F0502020204030204" pitchFamily="34" charset="0"/>
                <a:cs typeface="Times New Roman" panose="02020603050405020304" pitchFamily="18" charset="0"/>
              </a:rPr>
              <a:t> is also an existing directory, the result is system dependent. On some systems, an exception (critical error) will occur, but on other systems the </a:t>
            </a:r>
            <a:r>
              <a:rPr lang="en-US" sz="1800" i="1" dirty="0">
                <a:latin typeface="Courier New" panose="02070309020205020404" pitchFamily="49" charset="0"/>
                <a:ea typeface="Calibri" panose="020F0502020204030204" pitchFamily="34" charset="0"/>
                <a:cs typeface="Times New Roman" panose="02020603050405020304" pitchFamily="18" charset="0"/>
              </a:rPr>
              <a:t>destinationPath</a:t>
            </a:r>
            <a:r>
              <a:rPr lang="en-US" sz="1800" dirty="0">
                <a:latin typeface="Calibri" panose="020F0502020204030204" pitchFamily="34" charset="0"/>
                <a:ea typeface="Calibri" panose="020F0502020204030204" pitchFamily="34" charset="0"/>
                <a:cs typeface="Times New Roman" panose="02020603050405020304" pitchFamily="18" charset="0"/>
              </a:rPr>
              <a:t> will be deleted and then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will be given the new name specified by </a:t>
            </a:r>
            <a:r>
              <a:rPr lang="en-US" sz="1800" i="1" dirty="0" smtClean="0">
                <a:latin typeface="Courier New" panose="02070309020205020404" pitchFamily="49" charset="0"/>
                <a:ea typeface="Calibri" panose="020F0502020204030204" pitchFamily="34" charset="0"/>
                <a:cs typeface="Times New Roman" panose="02020603050405020304" pitchFamily="18" charset="0"/>
              </a:rPr>
              <a:t>destinationPath</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lvl="1" indent="-342900">
              <a:spcBef>
                <a:spcPts val="2200"/>
              </a:spcBef>
              <a:spcAft>
                <a:spcPts val="0"/>
              </a:spcAft>
              <a:buFont typeface="Symbol" panose="05050102010706020507" pitchFamily="18" charset="2"/>
              <a:buChar char=""/>
              <a:defRPr/>
            </a:pPr>
            <a:r>
              <a:rPr lang="en-US" sz="1800" dirty="0">
                <a:latin typeface="Calibri" panose="020F0502020204030204" pitchFamily="34" charset="0"/>
                <a:ea typeface="Calibri" panose="020F0502020204030204" pitchFamily="34" charset="0"/>
                <a:cs typeface="Times New Roman" panose="02020603050405020304" pitchFamily="18" charset="0"/>
              </a:rPr>
              <a:t>The </a:t>
            </a:r>
            <a:r>
              <a:rPr lang="en-US" sz="1800" dirty="0">
                <a:latin typeface="Courier New" panose="02070309020205020404" pitchFamily="49" charset="0"/>
                <a:ea typeface="Calibri" panose="020F0502020204030204" pitchFamily="34" charset="0"/>
                <a:cs typeface="Times New Roman" panose="02020603050405020304" pitchFamily="18" charset="0"/>
              </a:rPr>
              <a:t>rename</a:t>
            </a:r>
            <a:r>
              <a:rPr lang="en-US" sz="1800" dirty="0">
                <a:latin typeface="Calibri" panose="020F0502020204030204" pitchFamily="34" charset="0"/>
                <a:ea typeface="Calibri" panose="020F0502020204030204" pitchFamily="34" charset="0"/>
                <a:cs typeface="Times New Roman" panose="02020603050405020304" pitchFamily="18" charset="0"/>
              </a:rPr>
              <a:t> function can be used to move a directory. If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is an existing directory and </a:t>
            </a:r>
            <a:r>
              <a:rPr lang="en-US" sz="1800" i="1" dirty="0">
                <a:latin typeface="Courier New" panose="02070309020205020404" pitchFamily="49" charset="0"/>
                <a:ea typeface="Calibri" panose="020F0502020204030204" pitchFamily="34" charset="0"/>
                <a:cs typeface="Times New Roman" panose="02020603050405020304" pitchFamily="18" charset="0"/>
              </a:rPr>
              <a:t>destinationPath</a:t>
            </a:r>
            <a:r>
              <a:rPr lang="en-US" sz="1800" dirty="0">
                <a:latin typeface="Calibri" panose="020F0502020204030204" pitchFamily="34" charset="0"/>
                <a:ea typeface="Calibri" panose="020F0502020204030204" pitchFamily="34" charset="0"/>
                <a:cs typeface="Times New Roman" panose="02020603050405020304" pitchFamily="18" charset="0"/>
              </a:rPr>
              <a:t> specifies a nonexistent directory that is in a different location than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then </a:t>
            </a:r>
            <a:r>
              <a:rPr lang="en-US" sz="1800" i="1" dirty="0">
                <a:latin typeface="Courier New" panose="02070309020205020404" pitchFamily="49" charset="0"/>
                <a:ea typeface="Calibri" panose="020F0502020204030204" pitchFamily="34" charset="0"/>
                <a:cs typeface="Times New Roman" panose="02020603050405020304" pitchFamily="18" charset="0"/>
              </a:rPr>
              <a:t>sourcePath</a:t>
            </a:r>
            <a:r>
              <a:rPr lang="en-US" sz="1800" dirty="0">
                <a:latin typeface="Calibri" panose="020F0502020204030204" pitchFamily="34" charset="0"/>
                <a:ea typeface="Calibri" panose="020F0502020204030204" pitchFamily="34" charset="0"/>
                <a:cs typeface="Times New Roman" panose="02020603050405020304" pitchFamily="18" charset="0"/>
              </a:rPr>
              <a:t> will be moved to the location specified by </a:t>
            </a:r>
            <a:r>
              <a:rPr lang="en-US" sz="1800" i="1" dirty="0" smtClean="0">
                <a:latin typeface="Courier New" panose="02070309020205020404" pitchFamily="49" charset="0"/>
                <a:ea typeface="Calibri" panose="020F0502020204030204" pitchFamily="34" charset="0"/>
                <a:cs typeface="Times New Roman" panose="02020603050405020304" pitchFamily="18" charset="0"/>
              </a:rPr>
              <a:t>destinationPath</a:t>
            </a:r>
            <a:endParaRPr lang="en-US" sz="1600" dirty="0"/>
          </a:p>
        </p:txBody>
      </p:sp>
    </p:spTree>
    <p:extLst>
      <p:ext uri="{BB962C8B-B14F-4D97-AF65-F5344CB8AC3E}">
        <p14:creationId xmlns:p14="http://schemas.microsoft.com/office/powerpoint/2010/main" val="309600122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noChangeArrowheads="1"/>
          </p:cNvSpPr>
          <p:nvPr>
            <p:ph type="title"/>
          </p:nvPr>
        </p:nvSpPr>
        <p:spPr/>
        <p:txBody>
          <a:bodyPr/>
          <a:lstStyle/>
          <a:p>
            <a:r>
              <a:rPr lang="en-US" altLang="en-US" dirty="0" smtClean="0"/>
              <a:t>Getting and Setting the Path of the Current Working Directory </a:t>
            </a:r>
            <a:r>
              <a:rPr lang="en-US" altLang="en-US" sz="1200" dirty="0" smtClean="0"/>
              <a:t>(1 of 2)</a:t>
            </a:r>
          </a:p>
        </p:txBody>
      </p:sp>
      <p:sp>
        <p:nvSpPr>
          <p:cNvPr id="106499" name="Content Placeholder 2"/>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current_path</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 returns a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path</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object that contains the path of the current working directory</a:t>
            </a:r>
          </a:p>
          <a:p>
            <a:pPr marL="457200" lvl="0" indent="0">
              <a:spcBef>
                <a:spcPts val="500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 Get the path of the current working directory.</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cwd = filesystem::current_path();</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0" lvl="0" indent="0">
              <a:spcBef>
                <a:spcPts val="220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Display the current working directory.</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&lt;&lt; "The current working directory is:\n"</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1143000" lvl="0" indent="0">
              <a:spcBef>
                <a:spcPct val="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cwd.string() &lt;&lt; endl</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800" kern="1200" dirty="0">
              <a:solidFill>
                <a:srgbClr val="000000"/>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7142787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noChangeArrowheads="1"/>
          </p:cNvSpPr>
          <p:nvPr>
            <p:ph type="title"/>
          </p:nvPr>
        </p:nvSpPr>
        <p:spPr/>
        <p:txBody>
          <a:bodyPr/>
          <a:lstStyle/>
          <a:p>
            <a:r>
              <a:rPr lang="en-US" altLang="en-US" dirty="0" smtClean="0"/>
              <a:t>Getting and Setting the Path of the Current Working Directory </a:t>
            </a:r>
            <a:r>
              <a:rPr lang="en-US" altLang="en-US" sz="1200" dirty="0" smtClean="0"/>
              <a:t>(2 </a:t>
            </a:r>
            <a:r>
              <a:rPr lang="en-US" altLang="en-US" sz="1200" dirty="0"/>
              <a:t>of 2)</a:t>
            </a:r>
            <a:endParaRPr lang="en-US" altLang="en-US" dirty="0" smtClean="0"/>
          </a:p>
        </p:txBody>
      </p:sp>
      <p:sp>
        <p:nvSpPr>
          <p:cNvPr id="107523" name="Content Placeholder 2"/>
          <p:cNvSpPr>
            <a:spLocks noGrp="1" noChangeArrowheads="1"/>
          </p:cNvSpPr>
          <p:nvPr>
            <p:ph idx="1"/>
          </p:nvPr>
        </p:nvSpPr>
        <p:spPr/>
        <p:txBody>
          <a:bodyPr/>
          <a:lstStyle/>
          <a:p>
            <a:pPr>
              <a:spcBef>
                <a:spcPct val="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You can also use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current_path</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 to set the current working directory</a:t>
            </a:r>
          </a:p>
          <a:p>
            <a:pPr>
              <a:spcBef>
                <a:spcPct val="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General format:</a:t>
            </a:r>
          </a:p>
          <a:p>
            <a:pPr marL="1737360" lvl="0" indent="0">
              <a:spcBef>
                <a:spcPts val="3000"/>
              </a:spcBef>
              <a:buNone/>
            </a:pPr>
            <a:r>
              <a:rPr lang="en-US" altLang="en-US" sz="1800" kern="1200" dirty="0">
                <a:solidFill>
                  <a:srgbClr val="000000"/>
                </a:solidFill>
                <a:latin typeface="Courier New" panose="02070309020205020404" pitchFamily="49" charset="0"/>
                <a:cs typeface="Calibri" panose="020F0502020204030204" pitchFamily="34" charset="0"/>
              </a:rPr>
              <a:t>filesystem::current_path(</a:t>
            </a:r>
            <a:r>
              <a:rPr lang="en-US" altLang="en-US" sz="1800" i="1" kern="1200" dirty="0">
                <a:solidFill>
                  <a:srgbClr val="000000"/>
                </a:solidFill>
                <a:latin typeface="Courier New" panose="02070309020205020404" pitchFamily="49" charset="0"/>
                <a:cs typeface="Calibri" panose="020F0502020204030204" pitchFamily="34" charset="0"/>
              </a:rPr>
              <a:t>path</a:t>
            </a:r>
            <a:r>
              <a:rPr lang="en-US" altLang="en-US" sz="1800" kern="1200" dirty="0">
                <a:solidFill>
                  <a:srgbClr val="000000"/>
                </a:solidFill>
                <a:latin typeface="Courier New" panose="02070309020205020404" pitchFamily="49" charset="0"/>
                <a:cs typeface="Calibri" panose="020F0502020204030204" pitchFamily="34" charset="0"/>
              </a:rPr>
              <a:t>);</a:t>
            </a:r>
            <a:endParaRPr lang="en-US" altLang="en-US" sz="1800" kern="1200" dirty="0">
              <a:solidFill>
                <a:srgbClr val="000000"/>
              </a:solidFill>
              <a:latin typeface="Arial" panose="020B0604020202020204" pitchFamily="34" charset="0"/>
              <a:cs typeface="Arial" panose="020B0604020202020204" pitchFamily="34" charset="0"/>
            </a:endParaRPr>
          </a:p>
          <a:p>
            <a:pPr>
              <a:spcBef>
                <a:spcPts val="60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Example:</a:t>
            </a:r>
          </a:p>
          <a:p>
            <a:pPr marL="457200" lvl="0" indent="0">
              <a:spcBef>
                <a:spcPts val="330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homePath = "/home/jess";</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5720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filesystem::current_path(homePath</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800" kern="12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4288722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noChangeArrowheads="1"/>
          </p:cNvSpPr>
          <p:nvPr>
            <p:ph type="title"/>
          </p:nvPr>
        </p:nvSpPr>
        <p:spPr/>
        <p:txBody>
          <a:bodyPr/>
          <a:lstStyle/>
          <a:p>
            <a:r>
              <a:rPr lang="en-US" altLang="en-US" dirty="0" smtClean="0"/>
              <a:t>Creating a Directory </a:t>
            </a:r>
            <a:r>
              <a:rPr lang="en-US" altLang="en-US" sz="1200" dirty="0" smtClean="0"/>
              <a:t>(1 </a:t>
            </a:r>
            <a:r>
              <a:rPr lang="en-US" altLang="en-US" sz="1200" dirty="0"/>
              <a:t>of 2)</a:t>
            </a:r>
            <a:endParaRPr lang="en-US" altLang="en-US" dirty="0" smtClean="0"/>
          </a:p>
        </p:txBody>
      </p:sp>
      <p:sp>
        <p:nvSpPr>
          <p:cNvPr id="108547" name="Content Placeholder 2"/>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You can use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create_directory</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 to create a directory</a:t>
            </a:r>
          </a:p>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General format:</a:t>
            </a:r>
          </a:p>
          <a:p>
            <a:pPr marL="1554480" lvl="0" indent="0">
              <a:spcBef>
                <a:spcPts val="2400"/>
              </a:spcBef>
              <a:buNone/>
            </a:pPr>
            <a:r>
              <a:rPr lang="en-US" altLang="en-US" sz="1800" kern="1200" dirty="0">
                <a:solidFill>
                  <a:srgbClr val="000000"/>
                </a:solidFill>
                <a:latin typeface="Courier New" panose="02070309020205020404" pitchFamily="49" charset="0"/>
                <a:cs typeface="Calibri" panose="020F0502020204030204" pitchFamily="34" charset="0"/>
              </a:rPr>
              <a:t>filesystem::create_directory(</a:t>
            </a:r>
            <a:r>
              <a:rPr lang="en-US" altLang="en-US" sz="1800" i="1" kern="1200" dirty="0">
                <a:solidFill>
                  <a:srgbClr val="000000"/>
                </a:solidFill>
                <a:latin typeface="Courier New" panose="02070309020205020404" pitchFamily="49" charset="0"/>
                <a:cs typeface="Calibri" panose="020F0502020204030204" pitchFamily="34" charset="0"/>
              </a:rPr>
              <a:t>path</a:t>
            </a:r>
            <a:r>
              <a:rPr lang="en-US" altLang="en-US" sz="1800" kern="1200" dirty="0">
                <a:solidFill>
                  <a:srgbClr val="000000"/>
                </a:solidFill>
                <a:latin typeface="Courier New" panose="02070309020205020404" pitchFamily="49" charset="0"/>
                <a:cs typeface="Calibri" panose="020F0502020204030204" pitchFamily="34" charset="0"/>
              </a:rPr>
              <a:t>);</a:t>
            </a:r>
            <a:endParaRPr lang="en-US" altLang="en-US" sz="1800" kern="1200" dirty="0">
              <a:solidFill>
                <a:srgbClr val="000000"/>
              </a:solidFill>
              <a:latin typeface="Arial" panose="020B0604020202020204" pitchFamily="34" charset="0"/>
              <a:cs typeface="Arial" panose="020B0604020202020204" pitchFamily="34" charset="0"/>
            </a:endParaRPr>
          </a:p>
          <a:p>
            <a:pPr lvl="1">
              <a:spcBef>
                <a:spcPts val="4600"/>
              </a:spcBef>
            </a:pPr>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The function returns </a:t>
            </a:r>
            <a:r>
              <a:rPr lang="en-US" altLang="en-US" sz="2000" dirty="0" smtClean="0">
                <a:latin typeface="Courier New" panose="02070309020205020404" pitchFamily="49" charset="0"/>
                <a:ea typeface="Calibri" panose="020F0502020204030204" pitchFamily="34" charset="0"/>
                <a:cs typeface="Courier New" panose="02070309020205020404" pitchFamily="49" charset="0"/>
              </a:rPr>
              <a:t>true</a:t>
            </a:r>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 if the directory is successfully created, or </a:t>
            </a:r>
            <a:r>
              <a:rPr lang="en-US" altLang="en-US" sz="2000" dirty="0" smtClean="0">
                <a:latin typeface="Courier New" panose="02070309020205020404" pitchFamily="49" charset="0"/>
                <a:ea typeface="Calibri" panose="020F0502020204030204" pitchFamily="34" charset="0"/>
                <a:cs typeface="Courier New" panose="02070309020205020404" pitchFamily="49" charset="0"/>
              </a:rPr>
              <a:t>false</a:t>
            </a:r>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 otherwise</a:t>
            </a:r>
            <a:endParaRPr lang="en-US" altLang="en-US" sz="2000" dirty="0" smtClean="0"/>
          </a:p>
        </p:txBody>
      </p:sp>
    </p:spTree>
    <p:extLst>
      <p:ext uri="{BB962C8B-B14F-4D97-AF65-F5344CB8AC3E}">
        <p14:creationId xmlns:p14="http://schemas.microsoft.com/office/powerpoint/2010/main" val="568398892"/>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Creating a </a:t>
            </a:r>
            <a:r>
              <a:rPr lang="en-US" altLang="en-US" dirty="0" smtClean="0"/>
              <a:t>Directory </a:t>
            </a:r>
            <a:r>
              <a:rPr lang="en-US" altLang="en-US" sz="1200" dirty="0" smtClean="0"/>
              <a:t>(2 </a:t>
            </a:r>
            <a:r>
              <a:rPr lang="en-US" altLang="en-US" sz="1200" dirty="0"/>
              <a:t>of 2)</a:t>
            </a:r>
            <a:endParaRPr lang="en-US" dirty="0"/>
          </a:p>
        </p:txBody>
      </p:sp>
      <p:sp>
        <p:nvSpPr>
          <p:cNvPr id="3" name="Content Placeholder 2"/>
          <p:cNvSpPr>
            <a:spLocks noGrp="1"/>
          </p:cNvSpPr>
          <p:nvPr>
            <p:ph idx="1"/>
          </p:nvPr>
        </p:nvSpPr>
        <p:spPr>
          <a:xfrm>
            <a:off x="748601" y="1901650"/>
            <a:ext cx="7913077" cy="1906675"/>
          </a:xfrm>
        </p:spPr>
        <p:txBody>
          <a:bodyPr/>
          <a:lstStyle/>
          <a:p>
            <a:pPr marL="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newDir { "C:\\temp\\stuff" };</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ts val="220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if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(filesystem::create_directory(newDir))</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11480" lvl="0" indent="0">
              <a:spcBef>
                <a:spcPct val="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"Directory created." &lt;&lt; endl;</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else</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411480" lvl="0" indent="0">
              <a:spcBef>
                <a:spcPct val="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"Directory not created." &lt;&lt; endl</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800" kern="1200" dirty="0">
              <a:solidFill>
                <a:srgbClr val="000000"/>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614383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2"/>
          <p:cNvSpPr>
            <a:spLocks noGrp="1" noChangeArrowheads="1"/>
          </p:cNvSpPr>
          <p:nvPr>
            <p:ph type="title"/>
          </p:nvPr>
        </p:nvSpPr>
        <p:spPr>
          <a:xfrm>
            <a:off x="457199" y="274638"/>
            <a:ext cx="8435591" cy="1143000"/>
          </a:xfrm>
        </p:spPr>
        <p:txBody>
          <a:bodyPr/>
          <a:lstStyle/>
          <a:p>
            <a:r>
              <a:rPr lang="en-US" altLang="en-US" dirty="0" smtClean="0"/>
              <a:t>Deleting a Nonempty Directory </a:t>
            </a:r>
            <a:r>
              <a:rPr lang="en-US" altLang="en-US" sz="1200" dirty="0" smtClean="0"/>
              <a:t>(1 </a:t>
            </a:r>
            <a:r>
              <a:rPr lang="en-US" altLang="en-US" sz="1200" dirty="0"/>
              <a:t>of 2)</a:t>
            </a:r>
            <a:endParaRPr lang="en-US" altLang="en-US" dirty="0" smtClean="0"/>
          </a:p>
        </p:txBody>
      </p:sp>
      <p:sp>
        <p:nvSpPr>
          <p:cNvPr id="110595" name="Content Placeholder 3"/>
          <p:cNvSpPr>
            <a:spLocks noGrp="1" noChangeArrowheads="1"/>
          </p:cNvSpPr>
          <p:nvPr>
            <p:ph idx="1"/>
          </p:nvPr>
        </p:nvSpPr>
        <p:spPr/>
        <p:txBody>
          <a:bodyPr/>
          <a:lstStyle/>
          <a:p>
            <a:pPr>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remove</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 cannot be used to delete a directory that contains files or other directories</a:t>
            </a:r>
          </a:p>
          <a:p>
            <a:pPr>
              <a:spcBef>
                <a:spcPts val="350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To delete a directory that has contents, you must use the </a:t>
            </a:r>
            <a:r>
              <a:rPr lang="en-US" altLang="en-US" sz="2400" dirty="0" smtClean="0">
                <a:latin typeface="Courier New" panose="02070309020205020404" pitchFamily="49" charset="0"/>
                <a:ea typeface="Calibri" panose="020F0502020204030204" pitchFamily="34" charset="0"/>
                <a:cs typeface="Times New Roman" panose="02020603050405020304" pitchFamily="18" charset="0"/>
              </a:rPr>
              <a:t>remove_all</a:t>
            </a: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 function</a:t>
            </a:r>
          </a:p>
          <a:p>
            <a:pPr>
              <a:spcBef>
                <a:spcPts val="3300"/>
              </a:spcBef>
              <a:buFontTx/>
              <a:buChar char="•"/>
            </a:pPr>
            <a:r>
              <a:rPr lang="en-US" altLang="en-US" sz="2400" dirty="0" smtClean="0">
                <a:latin typeface="Calibri" panose="020F0502020204030204" pitchFamily="34" charset="0"/>
                <a:ea typeface="Calibri" panose="020F0502020204030204" pitchFamily="34" charset="0"/>
                <a:cs typeface="Times New Roman" panose="02020603050405020304" pitchFamily="18" charset="0"/>
              </a:rPr>
              <a:t>General format:</a:t>
            </a:r>
          </a:p>
          <a:p>
            <a:pPr marL="1828800" lvl="0" indent="0">
              <a:spcBef>
                <a:spcPts val="3600"/>
              </a:spcBef>
              <a:buNone/>
            </a:pPr>
            <a:r>
              <a:rPr lang="en-US" altLang="en-US" sz="1800" kern="1200" dirty="0">
                <a:solidFill>
                  <a:srgbClr val="000000"/>
                </a:solidFill>
                <a:latin typeface="Courier New" panose="02070309020205020404" pitchFamily="49" charset="0"/>
                <a:cs typeface="Calibri" panose="020F0502020204030204" pitchFamily="34" charset="0"/>
              </a:rPr>
              <a:t>filesystem::remove_all(</a:t>
            </a:r>
            <a:r>
              <a:rPr lang="en-US" altLang="en-US" sz="1800" i="1" kern="1200" dirty="0">
                <a:solidFill>
                  <a:srgbClr val="000000"/>
                </a:solidFill>
                <a:latin typeface="Courier New" panose="02070309020205020404" pitchFamily="49" charset="0"/>
                <a:cs typeface="Calibri" panose="020F0502020204030204" pitchFamily="34" charset="0"/>
              </a:rPr>
              <a:t>path</a:t>
            </a:r>
            <a:r>
              <a:rPr lang="en-US" altLang="en-US" sz="1800" kern="1200" dirty="0">
                <a:solidFill>
                  <a:srgbClr val="000000"/>
                </a:solidFill>
                <a:latin typeface="Courier New" panose="02070309020205020404" pitchFamily="49" charset="0"/>
                <a:cs typeface="Calibri" panose="020F0502020204030204" pitchFamily="34" charset="0"/>
              </a:rPr>
              <a:t>);</a:t>
            </a:r>
            <a:endParaRPr lang="en-US" altLang="en-US" sz="1800" kern="1200" dirty="0">
              <a:solidFill>
                <a:srgbClr val="000000"/>
              </a:solidFill>
              <a:latin typeface="Arial" panose="020B0604020202020204" pitchFamily="34" charset="0"/>
              <a:cs typeface="Arial" panose="020B0604020202020204" pitchFamily="34" charset="0"/>
            </a:endParaRPr>
          </a:p>
          <a:p>
            <a:pPr lvl="1">
              <a:spcBef>
                <a:spcPts val="3400"/>
              </a:spcBef>
            </a:pPr>
            <a:r>
              <a:rPr lang="en-US" altLang="en-US" sz="2000" dirty="0" smtClean="0">
                <a:latin typeface="Calibri" panose="020F0502020204030204" pitchFamily="34" charset="0"/>
                <a:ea typeface="Calibri" panose="020F0502020204030204" pitchFamily="34" charset="0"/>
                <a:cs typeface="Times New Roman" panose="02020603050405020304" pitchFamily="18" charset="0"/>
              </a:rPr>
              <a:t>The function returns the number of files and directories that were deleted, as an integer</a:t>
            </a:r>
            <a:endParaRPr lang="en-US" altLang="en-US" sz="4400" dirty="0" smtClean="0">
              <a:ea typeface="Calibri" panose="020F0502020204030204" pitchFamily="34" charset="0"/>
            </a:endParaRPr>
          </a:p>
        </p:txBody>
      </p:sp>
    </p:spTree>
    <p:extLst>
      <p:ext uri="{BB962C8B-B14F-4D97-AF65-F5344CB8AC3E}">
        <p14:creationId xmlns:p14="http://schemas.microsoft.com/office/powerpoint/2010/main" val="10399914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8435591" cy="1143000"/>
          </a:xfrm>
        </p:spPr>
        <p:txBody>
          <a:bodyPr/>
          <a:lstStyle/>
          <a:p>
            <a:r>
              <a:rPr lang="en-US" altLang="en-US" dirty="0"/>
              <a:t>Deleting a Nonempty </a:t>
            </a:r>
            <a:r>
              <a:rPr lang="en-US" altLang="en-US" dirty="0" smtClean="0"/>
              <a:t>Directory </a:t>
            </a:r>
            <a:r>
              <a:rPr lang="en-US" altLang="en-US" sz="1200" dirty="0" smtClean="0"/>
              <a:t>(2 </a:t>
            </a:r>
            <a:r>
              <a:rPr lang="en-US" altLang="en-US" sz="1200" dirty="0"/>
              <a:t>of 2)</a:t>
            </a:r>
            <a:endParaRPr lang="en-US" dirty="0"/>
          </a:p>
        </p:txBody>
      </p:sp>
      <p:sp>
        <p:nvSpPr>
          <p:cNvPr id="3" name="Content Placeholder 2"/>
          <p:cNvSpPr>
            <a:spLocks noGrp="1"/>
          </p:cNvSpPr>
          <p:nvPr>
            <p:ph idx="1"/>
          </p:nvPr>
        </p:nvSpPr>
        <p:spPr>
          <a:xfrm>
            <a:off x="688312" y="1821264"/>
            <a:ext cx="8229600" cy="1394209"/>
          </a:xfrm>
        </p:spPr>
        <p:txBody>
          <a:bodyPr/>
          <a:lstStyle/>
          <a:p>
            <a:pPr marL="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filesystem::path targetPath{ "C:\\temp\\junk" </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ts val="230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int numDeleted = filesystem::remove_all(targetPath);</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&lt;&lt; numDeleted &lt;&lt; " items were deleted." &lt;&lt; endl</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800" kern="1200" dirty="0">
              <a:solidFill>
                <a:srgbClr val="000000"/>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46664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noChangeArrowheads="1"/>
          </p:cNvSpPr>
          <p:nvPr>
            <p:ph type="title"/>
          </p:nvPr>
        </p:nvSpPr>
        <p:spPr>
          <a:xfrm>
            <a:off x="457200" y="274638"/>
            <a:ext cx="8636558" cy="1143000"/>
          </a:xfrm>
        </p:spPr>
        <p:txBody>
          <a:bodyPr/>
          <a:lstStyle/>
          <a:p>
            <a:r>
              <a:rPr lang="en-US" altLang="en-US" sz="4000" dirty="0" smtClean="0"/>
              <a:t>Getting the Contents of a Directory </a:t>
            </a:r>
            <a:r>
              <a:rPr lang="en-US" altLang="en-US" sz="1200" dirty="0" smtClean="0"/>
              <a:t>(1 </a:t>
            </a:r>
            <a:r>
              <a:rPr lang="en-US" altLang="en-US" sz="1200" dirty="0"/>
              <a:t>of 2)</a:t>
            </a:r>
            <a:endParaRPr lang="en-US" altLang="en-US" sz="4000" dirty="0" smtClean="0"/>
          </a:p>
        </p:txBody>
      </p:sp>
      <p:sp>
        <p:nvSpPr>
          <p:cNvPr id="112643" name="Content Placeholder 2"/>
          <p:cNvSpPr>
            <a:spLocks noGrp="1" noChangeArrowheads="1"/>
          </p:cNvSpPr>
          <p:nvPr>
            <p:ph idx="1"/>
          </p:nvPr>
        </p:nvSpPr>
        <p:spPr/>
        <p:txBody>
          <a:bodyPr/>
          <a:lstStyle/>
          <a:p>
            <a:pPr>
              <a:buFontTx/>
              <a:buChar char="•"/>
            </a:pPr>
            <a:r>
              <a:rPr lang="en-US" altLang="en-US" sz="2400" dirty="0" smtClean="0"/>
              <a:t>To iterate over the items in a directory, use a range-based </a:t>
            </a:r>
            <a:r>
              <a:rPr lang="en-US" altLang="en-US" sz="2400" dirty="0" smtClean="0">
                <a:latin typeface="Courier New" panose="02070309020205020404" pitchFamily="49" charset="0"/>
                <a:cs typeface="Courier New" panose="02070309020205020404" pitchFamily="49" charset="0"/>
              </a:rPr>
              <a:t>for</a:t>
            </a:r>
            <a:r>
              <a:rPr lang="en-US" altLang="en-US" sz="2400" dirty="0" smtClean="0"/>
              <a:t> loop along with the </a:t>
            </a:r>
            <a:r>
              <a:rPr lang="en-US" altLang="en-US" sz="2400" dirty="0" smtClean="0">
                <a:latin typeface="Courier New" panose="02070309020205020404" pitchFamily="49" charset="0"/>
                <a:cs typeface="Courier New" panose="02070309020205020404" pitchFamily="49" charset="0"/>
              </a:rPr>
              <a:t>directory_iterator</a:t>
            </a:r>
            <a:r>
              <a:rPr lang="en-US" altLang="en-US" sz="2400" dirty="0" smtClean="0"/>
              <a:t> function</a:t>
            </a:r>
          </a:p>
          <a:p>
            <a:pPr>
              <a:buFontTx/>
              <a:buChar char="•"/>
            </a:pPr>
            <a:r>
              <a:rPr lang="en-US" altLang="en-US" sz="2400" dirty="0" smtClean="0"/>
              <a:t>General format:</a:t>
            </a:r>
          </a:p>
          <a:p>
            <a:pPr marL="137160" lvl="0" indent="0">
              <a:spcBef>
                <a:spcPts val="2200"/>
              </a:spcBef>
              <a:buNone/>
            </a:pPr>
            <a:r>
              <a:rPr lang="en-US" altLang="en-US" sz="16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for (const auto &amp;entry : filesystem::directory_iterator(</a:t>
            </a:r>
            <a:r>
              <a:rPr lang="en-US" altLang="en-US" sz="1600" i="1"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path</a:t>
            </a:r>
            <a:r>
              <a:rPr lang="en-US" altLang="en-US" sz="16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6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137160" lvl="0" indent="0">
              <a:spcBef>
                <a:spcPct val="0"/>
              </a:spcBef>
              <a:buNone/>
            </a:pPr>
            <a:r>
              <a:rPr lang="en-US" altLang="en-US" sz="16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6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40080" lvl="0" indent="0">
              <a:spcBef>
                <a:spcPct val="0"/>
              </a:spcBef>
              <a:buNone/>
            </a:pPr>
            <a:r>
              <a:rPr lang="en-US" altLang="en-US" sz="16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 </a:t>
            </a:r>
            <a:r>
              <a:rPr lang="en-US" altLang="en-US" sz="16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Insert code here to work with directory entries.</a:t>
            </a:r>
            <a:endParaRPr lang="en-US" altLang="en-US" sz="16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137160" lvl="0" indent="0">
              <a:spcBef>
                <a:spcPct val="0"/>
              </a:spcBef>
              <a:buNone/>
            </a:pPr>
            <a:r>
              <a:rPr lang="en-US" altLang="en-US" sz="16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600" kern="1200" dirty="0">
              <a:solidFill>
                <a:srgbClr val="000000"/>
              </a:solidFill>
              <a:latin typeface="Arial" panose="020B0604020202020204" pitchFamily="34" charset="0"/>
              <a:ea typeface="Calibri" panose="020F0502020204030204" pitchFamily="34" charset="0"/>
              <a:cs typeface="Times New Roman" panose="02020603050405020304" pitchFamily="18" charset="0"/>
            </a:endParaRPr>
          </a:p>
          <a:p>
            <a:pPr>
              <a:spcBef>
                <a:spcPts val="2200"/>
              </a:spcBef>
              <a:buFontTx/>
              <a:buChar char="•"/>
            </a:pPr>
            <a:r>
              <a:rPr lang="en-US" altLang="en-US" sz="2400" dirty="0" smtClean="0">
                <a:latin typeface="Courier New" panose="02070309020205020404" pitchFamily="49" charset="0"/>
                <a:cs typeface="Courier New" panose="02070309020205020404" pitchFamily="49" charset="0"/>
              </a:rPr>
              <a:t>entry</a:t>
            </a:r>
            <a:r>
              <a:rPr lang="en-US" altLang="en-US" sz="2400" dirty="0" smtClean="0"/>
              <a:t> is a </a:t>
            </a:r>
            <a:r>
              <a:rPr lang="en-US" altLang="en-US" sz="2400" dirty="0" smtClean="0">
                <a:latin typeface="Courier New" panose="02070309020205020404" pitchFamily="49" charset="0"/>
                <a:cs typeface="Courier New" panose="02070309020205020404" pitchFamily="49" charset="0"/>
              </a:rPr>
              <a:t>directory_entry</a:t>
            </a:r>
            <a:r>
              <a:rPr lang="en-US" altLang="en-US" sz="2400" dirty="0" smtClean="0"/>
              <a:t> object and </a:t>
            </a:r>
            <a:r>
              <a:rPr lang="en-US" altLang="en-US" sz="2400" i="1" dirty="0" smtClean="0">
                <a:latin typeface="Courier New" panose="02070309020205020404" pitchFamily="49" charset="0"/>
                <a:cs typeface="Courier New" panose="02070309020205020404" pitchFamily="49" charset="0"/>
              </a:rPr>
              <a:t>path</a:t>
            </a:r>
            <a:r>
              <a:rPr lang="en-US" altLang="en-US" sz="2400" dirty="0" smtClean="0"/>
              <a:t> is a </a:t>
            </a:r>
            <a:r>
              <a:rPr lang="en-US" altLang="en-US" sz="2400" dirty="0" smtClean="0">
                <a:latin typeface="Courier New" panose="02070309020205020404" pitchFamily="49" charset="0"/>
                <a:cs typeface="Courier New" panose="02070309020205020404" pitchFamily="49" charset="0"/>
              </a:rPr>
              <a:t>path</a:t>
            </a:r>
            <a:r>
              <a:rPr lang="en-US" altLang="en-US" sz="2400" dirty="0" smtClean="0"/>
              <a:t> object</a:t>
            </a:r>
          </a:p>
        </p:txBody>
      </p:sp>
    </p:spTree>
    <p:extLst>
      <p:ext uri="{BB962C8B-B14F-4D97-AF65-F5344CB8AC3E}">
        <p14:creationId xmlns:p14="http://schemas.microsoft.com/office/powerpoint/2010/main" val="224742066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63802" cy="478988"/>
          </a:xfrm>
        </p:spPr>
        <p:txBody>
          <a:bodyPr/>
          <a:lstStyle/>
          <a:p>
            <a:r>
              <a:rPr lang="en-US" dirty="0" smtClean="0"/>
              <a:t>           </a:t>
            </a:r>
            <a:endParaRPr lang="en-US" dirty="0"/>
          </a:p>
        </p:txBody>
      </p:sp>
      <p:pic>
        <p:nvPicPr>
          <p:cNvPr id="113666" name="Picture 3" descr="The screenshot shows the program to get the contents from the directory. The main statement gets the path of the current working directory, iterate over the items in the current working directory, get a path object for the current item, and displays the path for the current item. The output displays the path of the current item.&#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8600"/>
            <a:ext cx="6096000" cy="596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noChangeArrowheads="1"/>
          </p:cNvSpPr>
          <p:nvPr>
            <p:ph type="title"/>
          </p:nvPr>
        </p:nvSpPr>
        <p:spPr>
          <a:xfrm>
            <a:off x="457200" y="274638"/>
            <a:ext cx="8636558" cy="1143000"/>
          </a:xfrm>
        </p:spPr>
        <p:txBody>
          <a:bodyPr/>
          <a:lstStyle/>
          <a:p>
            <a:r>
              <a:rPr lang="en-US" altLang="en-US" sz="4000" dirty="0" smtClean="0"/>
              <a:t>Getting the Contents of a Directory </a:t>
            </a:r>
            <a:r>
              <a:rPr lang="en-US" altLang="en-US" sz="1200" dirty="0" smtClean="0"/>
              <a:t>(2 </a:t>
            </a:r>
            <a:r>
              <a:rPr lang="en-US" altLang="en-US" sz="1200" dirty="0"/>
              <a:t>of 2)</a:t>
            </a:r>
            <a:endParaRPr lang="en-US" altLang="en-US" sz="4000" dirty="0" smtClean="0"/>
          </a:p>
        </p:txBody>
      </p:sp>
      <p:sp>
        <p:nvSpPr>
          <p:cNvPr id="114691" name="Content Placeholder 2"/>
          <p:cNvSpPr>
            <a:spLocks noGrp="1" noChangeArrowheads="1"/>
          </p:cNvSpPr>
          <p:nvPr>
            <p:ph idx="1"/>
          </p:nvPr>
        </p:nvSpPr>
        <p:spPr>
          <a:xfrm>
            <a:off x="457200" y="1600200"/>
            <a:ext cx="4953000" cy="4525963"/>
          </a:xfrm>
        </p:spPr>
        <p:txBody>
          <a:bodyPr/>
          <a:lstStyle/>
          <a:p>
            <a:pPr>
              <a:buFontTx/>
              <a:buChar char="•"/>
            </a:pPr>
            <a:r>
              <a:rPr lang="en-US" altLang="en-US" sz="2000" dirty="0" smtClean="0"/>
              <a:t>The </a:t>
            </a:r>
            <a:r>
              <a:rPr lang="en-US" altLang="en-US" sz="2000" dirty="0" smtClean="0">
                <a:latin typeface="Courier New" panose="02070309020205020404" pitchFamily="49" charset="0"/>
                <a:cs typeface="Courier New" panose="02070309020205020404" pitchFamily="49" charset="0"/>
              </a:rPr>
              <a:t>directory_iterator</a:t>
            </a:r>
            <a:r>
              <a:rPr lang="en-US" altLang="en-US" sz="2000" dirty="0" smtClean="0"/>
              <a:t> function allows you to iterate over the items in a single directory</a:t>
            </a:r>
          </a:p>
          <a:p>
            <a:pPr>
              <a:spcBef>
                <a:spcPts val="2900"/>
              </a:spcBef>
              <a:buFontTx/>
              <a:buChar char="•"/>
            </a:pPr>
            <a:r>
              <a:rPr lang="en-US" altLang="en-US" sz="2000" dirty="0" smtClean="0"/>
              <a:t>If you want to get the contents of a directory and the contents of all its subdirectories, use the </a:t>
            </a:r>
            <a:r>
              <a:rPr lang="en-US" altLang="en-US" sz="2000" dirty="0" smtClean="0">
                <a:latin typeface="Courier New" panose="02070309020205020404" pitchFamily="49" charset="0"/>
                <a:cs typeface="Courier New" panose="02070309020205020404" pitchFamily="49" charset="0"/>
              </a:rPr>
              <a:t>recursive_directory_iterator </a:t>
            </a:r>
            <a:r>
              <a:rPr lang="en-US" altLang="en-US" sz="2000" dirty="0" smtClean="0"/>
              <a:t>function</a:t>
            </a:r>
          </a:p>
        </p:txBody>
      </p:sp>
      <p:pic>
        <p:nvPicPr>
          <p:cNvPr id="114692" name="Picture 3" descr="A screenshot displays the directories and sub directories. Here, the C directory is the root directory. The 'users' folder is present inside the root directory. The 'Blake' folder is located inside the users folder in the root directory. The 'Blake' folder consists of sub folders such as exams and Labs. The folder also contains files such as 'assignments.docs' and 'schedule.pdf.' The 'exam' subfolder under the 'Blake' folder consists of three files 'exam1.docx', 'exam2.docx', and 'exam3.docx.' The 'labs' subfolder consists of three files  'lab1.txt', 'lab2.txt', and 'lab3.txt.'&#10;"/>
          <p:cNvPicPr>
            <a:picLocks noChangeAspect="1" noChangeArrowheads="1"/>
          </p:cNvPicPr>
          <p:nvPr/>
        </p:nvPicPr>
        <p:blipFill rotWithShape="1">
          <a:blip r:embed="rId2">
            <a:extLst>
              <a:ext uri="{28A0092B-C50C-407E-A947-70E740481C1C}">
                <a14:useLocalDpi xmlns:a14="http://schemas.microsoft.com/office/drawing/2010/main" val="0"/>
              </a:ext>
            </a:extLst>
          </a:blip>
          <a:srcRect l="1308"/>
          <a:stretch/>
        </p:blipFill>
        <p:spPr bwMode="auto">
          <a:xfrm>
            <a:off x="5469924" y="1676400"/>
            <a:ext cx="3069239"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928741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78988"/>
          </a:xfrm>
        </p:spPr>
        <p:txBody>
          <a:bodyPr/>
          <a:lstStyle/>
          <a:p>
            <a:r>
              <a:rPr lang="en-US" dirty="0" smtClean="0"/>
              <a:t>            </a:t>
            </a:r>
            <a:endParaRPr lang="en-US" dirty="0"/>
          </a:p>
        </p:txBody>
      </p:sp>
      <p:pic>
        <p:nvPicPr>
          <p:cNvPr id="115714" name="Picture 3" descr="The screenshot shows the program to get the contents from the directory and all its sub-directories. The main statement gets the path of the current working directory, iterate over the items in the current working directory, get a path object for the current item, and displays the path for the current item.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457200"/>
            <a:ext cx="7921625" cy="504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pic>
        <p:nvPicPr>
          <p:cNvPr id="116738" name="Picture 1" descr="The program output displays the path of the contents from the directory and all its subdirectories.&#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75" y="1776413"/>
            <a:ext cx="7639050"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noChangeArrowheads="1"/>
          </p:cNvSpPr>
          <p:nvPr>
            <p:ph type="title"/>
          </p:nvPr>
        </p:nvSpPr>
        <p:spPr/>
        <p:txBody>
          <a:bodyPr/>
          <a:lstStyle/>
          <a:p>
            <a:r>
              <a:rPr lang="en-US" altLang="en-US" sz="4000" dirty="0" smtClean="0"/>
              <a:t>More About </a:t>
            </a:r>
            <a:r>
              <a:rPr lang="en-US" altLang="en-US" sz="4000" dirty="0" smtClean="0">
                <a:latin typeface="Courier New" panose="02070309020205020404" pitchFamily="49" charset="0"/>
                <a:cs typeface="Courier New" panose="02070309020205020404" pitchFamily="49" charset="0"/>
              </a:rPr>
              <a:t>directory_entry</a:t>
            </a:r>
            <a:r>
              <a:rPr lang="en-US" altLang="en-US" sz="4000" dirty="0" smtClean="0"/>
              <a:t> Objects</a:t>
            </a:r>
          </a:p>
        </p:txBody>
      </p:sp>
      <p:graphicFrame>
        <p:nvGraphicFramePr>
          <p:cNvPr id="3" name="Table 2" descr="The table displays the directory underscore entry objects. The member functions along with its description are as follows. Path () function returns a path object for the item. Exists () function returns true if the item exists, or false otherwise; is underscore regular underscore file() function returns true if the item exists and is a regular file, or false otherwise; The is underscore directory() function returns true if the item exists and is a directory, or false otherwise. The is underscore symlink() function returns true if the item exists and is a symbolic link, or false otherwise. The is underscore other() returns true if the item exists and is not a regular file, not a directory, and not a symbolic link. It returns false otherwise. The file underscore size() function checks if the item is a file, returns the size of the file as an integer, measured in bytes. If the item is a directory, returns zero.&#10;"/>
          <p:cNvGraphicFramePr>
            <a:graphicFrameLocks noGrp="1"/>
          </p:cNvGraphicFramePr>
          <p:nvPr>
            <p:extLst>
              <p:ext uri="{D42A27DB-BD31-4B8C-83A1-F6EECF244321}">
                <p14:modId xmlns:p14="http://schemas.microsoft.com/office/powerpoint/2010/main" val="3579838212"/>
              </p:ext>
            </p:extLst>
          </p:nvPr>
        </p:nvGraphicFramePr>
        <p:xfrm>
          <a:off x="457200" y="1828800"/>
          <a:ext cx="7772400" cy="4114800"/>
        </p:xfrm>
        <a:graphic>
          <a:graphicData uri="http://schemas.openxmlformats.org/drawingml/2006/table">
            <a:tbl>
              <a:tblPr firstRow="1" firstCol="1">
                <a:tableStyleId>{EB344D84-9AFB-497E-A393-DC336BA19D2E}</a:tableStyleId>
              </a:tblPr>
              <a:tblGrid>
                <a:gridCol w="2514600"/>
                <a:gridCol w="5257800"/>
              </a:tblGrid>
              <a:tr h="254000">
                <a:tc>
                  <a:txBody>
                    <a:bodyPr/>
                    <a:lstStyle/>
                    <a:p>
                      <a:pPr marL="0" marR="0">
                        <a:spcBef>
                          <a:spcPts val="0"/>
                        </a:spcBef>
                        <a:spcAft>
                          <a:spcPts val="0"/>
                        </a:spcAft>
                      </a:pPr>
                      <a:r>
                        <a:rPr lang="en-US" sz="1800" dirty="0">
                          <a:solidFill>
                            <a:schemeClr val="tx1"/>
                          </a:solidFill>
                          <a:effectLst/>
                        </a:rPr>
                        <a:t>Member Function</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solidFill>
                            <a:schemeClr val="tx1"/>
                          </a:solidFill>
                          <a:effectLst/>
                        </a:rPr>
                        <a:t>Description</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54000">
                <a:tc>
                  <a:txBody>
                    <a:bodyPr/>
                    <a:lstStyle/>
                    <a:p>
                      <a:pPr marL="0" marR="0">
                        <a:spcBef>
                          <a:spcPts val="0"/>
                        </a:spcBef>
                        <a:spcAft>
                          <a:spcPts val="0"/>
                        </a:spcAft>
                      </a:pPr>
                      <a:r>
                        <a:rPr lang="en-US" sz="1800" dirty="0">
                          <a:solidFill>
                            <a:schemeClr val="tx1"/>
                          </a:solidFill>
                          <a:effectLst/>
                          <a:latin typeface="Courier New" panose="02070309020205020404" pitchFamily="49" charset="0"/>
                          <a:cs typeface="Courier New" panose="02070309020205020404" pitchFamily="49" charset="0"/>
                        </a:rPr>
                        <a:t>path()</a:t>
                      </a:r>
                      <a:endParaRPr lang="en-US" sz="18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800" dirty="0">
                          <a:effectLst/>
                        </a:rPr>
                        <a:t>Returns a path object for the item.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E7E7E7"/>
                    </a:solidFill>
                  </a:tcPr>
                </a:tc>
              </a:tr>
              <a:tr h="254000">
                <a:tc>
                  <a:txBody>
                    <a:bodyPr/>
                    <a:lstStyle/>
                    <a:p>
                      <a:pPr marL="0" marR="0">
                        <a:spcBef>
                          <a:spcPts val="0"/>
                        </a:spcBef>
                        <a:spcAft>
                          <a:spcPts val="0"/>
                        </a:spcAft>
                      </a:pPr>
                      <a:r>
                        <a:rPr lang="en-US" sz="1800" dirty="0">
                          <a:solidFill>
                            <a:schemeClr val="tx1"/>
                          </a:solidFill>
                          <a:effectLst/>
                          <a:latin typeface="Courier New" panose="02070309020205020404" pitchFamily="49" charset="0"/>
                          <a:cs typeface="Courier New" panose="02070309020205020404" pitchFamily="49" charset="0"/>
                        </a:rPr>
                        <a:t>exists()</a:t>
                      </a:r>
                      <a:endParaRPr lang="en-US" sz="18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800" dirty="0">
                          <a:effectLst/>
                        </a:rPr>
                        <a:t>Returns true if the item exists, or false otherwise.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08000">
                <a:tc>
                  <a:txBody>
                    <a:bodyPr/>
                    <a:lstStyle/>
                    <a:p>
                      <a:pPr marL="0" marR="0">
                        <a:spcBef>
                          <a:spcPts val="0"/>
                        </a:spcBef>
                        <a:spcAft>
                          <a:spcPts val="0"/>
                        </a:spcAft>
                      </a:pPr>
                      <a:r>
                        <a:rPr lang="en-US" sz="1800" dirty="0">
                          <a:solidFill>
                            <a:schemeClr val="tx1"/>
                          </a:solidFill>
                          <a:effectLst/>
                          <a:latin typeface="Courier New" panose="02070309020205020404" pitchFamily="49" charset="0"/>
                          <a:cs typeface="Courier New" panose="02070309020205020404" pitchFamily="49" charset="0"/>
                        </a:rPr>
                        <a:t>is_regular_file()</a:t>
                      </a:r>
                      <a:endParaRPr lang="en-US" sz="18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800" dirty="0">
                          <a:effectLst/>
                        </a:rPr>
                        <a:t>Returns true if the item exists and is a regular file, or false otherwise.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E7E7E7"/>
                    </a:solidFill>
                  </a:tcPr>
                </a:tc>
              </a:tr>
              <a:tr h="254000">
                <a:tc>
                  <a:txBody>
                    <a:bodyPr/>
                    <a:lstStyle/>
                    <a:p>
                      <a:pPr marL="0" marR="0">
                        <a:spcBef>
                          <a:spcPts val="0"/>
                        </a:spcBef>
                        <a:spcAft>
                          <a:spcPts val="0"/>
                        </a:spcAft>
                      </a:pPr>
                      <a:r>
                        <a:rPr lang="en-US" sz="1800" dirty="0">
                          <a:solidFill>
                            <a:schemeClr val="tx1"/>
                          </a:solidFill>
                          <a:effectLst/>
                          <a:latin typeface="Courier New" panose="02070309020205020404" pitchFamily="49" charset="0"/>
                          <a:cs typeface="Courier New" panose="02070309020205020404" pitchFamily="49" charset="0"/>
                        </a:rPr>
                        <a:t>is_directory()</a:t>
                      </a:r>
                      <a:endParaRPr lang="en-US" sz="18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800" dirty="0">
                          <a:effectLst/>
                        </a:rPr>
                        <a:t>Returns true if the item exists and is a directory, or false otherwise.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08000">
                <a:tc>
                  <a:txBody>
                    <a:bodyPr/>
                    <a:lstStyle/>
                    <a:p>
                      <a:pPr marL="0" marR="0">
                        <a:spcBef>
                          <a:spcPts val="0"/>
                        </a:spcBef>
                        <a:spcAft>
                          <a:spcPts val="0"/>
                        </a:spcAft>
                      </a:pPr>
                      <a:r>
                        <a:rPr lang="en-US" sz="1800" dirty="0">
                          <a:solidFill>
                            <a:schemeClr val="tx1"/>
                          </a:solidFill>
                          <a:effectLst/>
                          <a:latin typeface="Courier New" panose="02070309020205020404" pitchFamily="49" charset="0"/>
                          <a:cs typeface="Courier New" panose="02070309020205020404" pitchFamily="49" charset="0"/>
                        </a:rPr>
                        <a:t>is_symlink()</a:t>
                      </a:r>
                      <a:endParaRPr lang="en-US" sz="18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800" dirty="0">
                          <a:effectLst/>
                        </a:rPr>
                        <a:t>Returns true if the item exists and is a symbolic link, or false otherwise.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E7E7E7"/>
                    </a:solidFill>
                  </a:tcPr>
                </a:tc>
              </a:tr>
              <a:tr h="508000">
                <a:tc>
                  <a:txBody>
                    <a:bodyPr/>
                    <a:lstStyle/>
                    <a:p>
                      <a:pPr marL="0" marR="0">
                        <a:spcBef>
                          <a:spcPts val="0"/>
                        </a:spcBef>
                        <a:spcAft>
                          <a:spcPts val="0"/>
                        </a:spcAft>
                      </a:pPr>
                      <a:r>
                        <a:rPr lang="en-US" sz="1800" dirty="0">
                          <a:solidFill>
                            <a:schemeClr val="tx1"/>
                          </a:solidFill>
                          <a:effectLst/>
                          <a:latin typeface="Courier New" panose="02070309020205020404" pitchFamily="49" charset="0"/>
                          <a:cs typeface="Courier New" panose="02070309020205020404" pitchFamily="49" charset="0"/>
                        </a:rPr>
                        <a:t>is_other()</a:t>
                      </a:r>
                      <a:endParaRPr lang="en-US" sz="18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800" dirty="0">
                          <a:effectLst/>
                        </a:rPr>
                        <a:t>Returns true if the item exists and is not a regular file, not a directory, and not a symbolic link. Returns false otherwise.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08000">
                <a:tc>
                  <a:txBody>
                    <a:bodyPr/>
                    <a:lstStyle/>
                    <a:p>
                      <a:pPr marL="0" marR="0">
                        <a:spcBef>
                          <a:spcPts val="0"/>
                        </a:spcBef>
                        <a:spcAft>
                          <a:spcPts val="0"/>
                        </a:spcAft>
                      </a:pPr>
                      <a:r>
                        <a:rPr lang="en-US" sz="1800" dirty="0">
                          <a:solidFill>
                            <a:schemeClr val="tx1"/>
                          </a:solidFill>
                          <a:effectLst/>
                          <a:latin typeface="Courier New" panose="02070309020205020404" pitchFamily="49" charset="0"/>
                          <a:cs typeface="Courier New" panose="02070309020205020404" pitchFamily="49" charset="0"/>
                        </a:rPr>
                        <a:t>file_size()</a:t>
                      </a:r>
                      <a:endParaRPr lang="en-US" sz="18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800" dirty="0">
                          <a:effectLst/>
                        </a:rPr>
                        <a:t>If the item is a file, returns the size of the file as an integer, measured in bytes. If the item is a directory, returns 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E7E7E7"/>
                    </a:solidFill>
                  </a:tcPr>
                </a:tc>
              </a:tr>
            </a:tbl>
          </a:graphicData>
        </a:graphic>
      </p:graphicFrame>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p:cNvSpPr>
            <a:spLocks noGrp="1" noChangeArrowheads="1"/>
          </p:cNvSpPr>
          <p:nvPr>
            <p:ph type="title"/>
          </p:nvPr>
        </p:nvSpPr>
        <p:spPr>
          <a:xfrm>
            <a:off x="457200" y="545944"/>
            <a:ext cx="8229600" cy="619665"/>
          </a:xfrm>
        </p:spPr>
        <p:txBody>
          <a:bodyPr/>
          <a:lstStyle/>
          <a:p>
            <a:r>
              <a:rPr lang="en-US" altLang="en-US" dirty="0" smtClean="0"/>
              <a:t>More About </a:t>
            </a:r>
            <a:r>
              <a:rPr lang="en-US" altLang="en-US" dirty="0" smtClean="0">
                <a:latin typeface="Courier New" panose="02070309020205020404" pitchFamily="49" charset="0"/>
                <a:cs typeface="Courier New" panose="02070309020205020404" pitchFamily="49" charset="0"/>
              </a:rPr>
              <a:t>path</a:t>
            </a:r>
            <a:r>
              <a:rPr lang="en-US" altLang="en-US" dirty="0" smtClean="0"/>
              <a:t> Objects</a:t>
            </a:r>
          </a:p>
        </p:txBody>
      </p:sp>
      <p:graphicFrame>
        <p:nvGraphicFramePr>
          <p:cNvPr id="3" name="Table 2" descr="The table displays the path objects. The member functions along with its description are as follows. The root underscore name() function checks if the  path object contains a windows-style path, returns a path object containing the drive name (such as C:). If the path object contains a Unix or Linux-style path, returns an empty path object. The root underscore directory() function - If the path is an absolute path, this member function returns a path object&quot; containing double backslash for a Windows style path, or a forward slash for a Unix or Linux-style path. If the path is a relative path that does not include the root directory, this member function returns an empty path object. The descriptions of root underscore  path(), relative underscore  path(), parent underscore  path(), filename(), stem(), and extension() are presented.&#10;"/>
          <p:cNvGraphicFramePr>
            <a:graphicFrameLocks noGrp="1"/>
          </p:cNvGraphicFramePr>
          <p:nvPr>
            <p:extLst>
              <p:ext uri="{D42A27DB-BD31-4B8C-83A1-F6EECF244321}">
                <p14:modId xmlns:p14="http://schemas.microsoft.com/office/powerpoint/2010/main" val="2188450491"/>
              </p:ext>
            </p:extLst>
          </p:nvPr>
        </p:nvGraphicFramePr>
        <p:xfrm>
          <a:off x="609600" y="1219200"/>
          <a:ext cx="8077200" cy="4907280"/>
        </p:xfrm>
        <a:graphic>
          <a:graphicData uri="http://schemas.openxmlformats.org/drawingml/2006/table">
            <a:tbl>
              <a:tblPr firstRow="1" firstCol="1">
                <a:tableStyleId>{EB344D84-9AFB-497E-A393-DC336BA19D2E}</a:tableStyleId>
              </a:tblPr>
              <a:tblGrid>
                <a:gridCol w="2057400"/>
                <a:gridCol w="6019800"/>
              </a:tblGrid>
              <a:tr h="213346">
                <a:tc>
                  <a:txBody>
                    <a:bodyPr/>
                    <a:lstStyle/>
                    <a:p>
                      <a:pPr marL="0" marR="0">
                        <a:spcBef>
                          <a:spcPts val="0"/>
                        </a:spcBef>
                        <a:spcAft>
                          <a:spcPts val="0"/>
                        </a:spcAft>
                      </a:pPr>
                      <a:r>
                        <a:rPr lang="en-US" sz="1400" dirty="0">
                          <a:solidFill>
                            <a:schemeClr val="tx1"/>
                          </a:solidFill>
                          <a:effectLst/>
                        </a:rPr>
                        <a:t>Member Function</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dirty="0">
                          <a:solidFill>
                            <a:schemeClr val="tx1"/>
                          </a:solidFill>
                          <a:effectLst/>
                        </a:rPr>
                        <a:t>Description</a:t>
                      </a:r>
                      <a:endParaRPr lang="en-U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40039">
                <a:tc>
                  <a:txBody>
                    <a:bodyPr/>
                    <a:lstStyle/>
                    <a:p>
                      <a:pPr marL="0" marR="0">
                        <a:spcBef>
                          <a:spcPts val="0"/>
                        </a:spcBef>
                        <a:spcAft>
                          <a:spcPts val="0"/>
                        </a:spcAft>
                      </a:pPr>
                      <a:r>
                        <a:rPr lang="en-US" sz="1400" dirty="0">
                          <a:solidFill>
                            <a:schemeClr val="tx1"/>
                          </a:solidFill>
                          <a:effectLst/>
                          <a:latin typeface="Courier New" panose="02070309020205020404" pitchFamily="49" charset="0"/>
                          <a:cs typeface="Courier New" panose="02070309020205020404" pitchFamily="49" charset="0"/>
                        </a:rPr>
                        <a:t>root_name()</a:t>
                      </a:r>
                      <a:endParaRPr lang="en-US" sz="14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400" dirty="0">
                          <a:effectLst/>
                        </a:rPr>
                        <a:t>If the path object contains a Windows-style path, returns a path object containing the drive name (such as C:) If the path object contains a Unix or Linux-style path, returns an empty path object.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E7E7E7"/>
                    </a:solidFill>
                  </a:tcPr>
                </a:tc>
              </a:tr>
              <a:tr h="853385">
                <a:tc>
                  <a:txBody>
                    <a:bodyPr/>
                    <a:lstStyle/>
                    <a:p>
                      <a:pPr marL="0" marR="0">
                        <a:spcBef>
                          <a:spcPts val="0"/>
                        </a:spcBef>
                        <a:spcAft>
                          <a:spcPts val="0"/>
                        </a:spcAft>
                      </a:pPr>
                      <a:r>
                        <a:rPr lang="en-US" sz="1400" dirty="0">
                          <a:solidFill>
                            <a:schemeClr val="tx1"/>
                          </a:solidFill>
                          <a:effectLst/>
                          <a:latin typeface="Courier New" panose="02070309020205020404" pitchFamily="49" charset="0"/>
                          <a:cs typeface="Courier New" panose="02070309020205020404" pitchFamily="49" charset="0"/>
                        </a:rPr>
                        <a:t>root_directory()</a:t>
                      </a:r>
                      <a:endParaRPr lang="en-US" sz="14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400" dirty="0">
                          <a:effectLst/>
                        </a:rPr>
                        <a:t>If the path is an absolute path, this member function returns a path object containing "\\" for a Windows-style path, or "/" for a Unix or Linux-style path. If the path is a relative path that does not include the root directory, this member function returns an empty path object.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280077">
                <a:tc>
                  <a:txBody>
                    <a:bodyPr/>
                    <a:lstStyle/>
                    <a:p>
                      <a:pPr marL="0" marR="0">
                        <a:spcBef>
                          <a:spcPts val="0"/>
                        </a:spcBef>
                        <a:spcAft>
                          <a:spcPts val="0"/>
                        </a:spcAft>
                      </a:pPr>
                      <a:r>
                        <a:rPr lang="en-US" sz="1400" dirty="0">
                          <a:solidFill>
                            <a:schemeClr val="tx1"/>
                          </a:solidFill>
                          <a:effectLst/>
                          <a:latin typeface="Courier New" panose="02070309020205020404" pitchFamily="49" charset="0"/>
                          <a:cs typeface="Courier New" panose="02070309020205020404" pitchFamily="49" charset="0"/>
                        </a:rPr>
                        <a:t>root_path()</a:t>
                      </a:r>
                      <a:endParaRPr lang="en-US" sz="14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400" dirty="0">
                          <a:effectLst/>
                        </a:rPr>
                        <a:t>If the path is an absolute Windows-style path, this member function returns a path object containing the drive name followed by the root symbol, such as "C:\\". If the path is an absolute Unix or Linux-style path, this member function returns a path object containing the root symbol, "/". If the path is a relative path that does not include the root directory, this member function returns an empty a path object.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E7E7E7"/>
                    </a:solidFill>
                  </a:tcPr>
                </a:tc>
              </a:tr>
              <a:tr h="426692">
                <a:tc>
                  <a:txBody>
                    <a:bodyPr/>
                    <a:lstStyle/>
                    <a:p>
                      <a:pPr marL="0" marR="0">
                        <a:spcBef>
                          <a:spcPts val="0"/>
                        </a:spcBef>
                        <a:spcAft>
                          <a:spcPts val="0"/>
                        </a:spcAft>
                      </a:pPr>
                      <a:r>
                        <a:rPr lang="en-US" sz="1400" dirty="0">
                          <a:solidFill>
                            <a:schemeClr val="tx1"/>
                          </a:solidFill>
                          <a:effectLst/>
                          <a:latin typeface="Courier New" panose="02070309020205020404" pitchFamily="49" charset="0"/>
                          <a:cs typeface="Courier New" panose="02070309020205020404" pitchFamily="49" charset="0"/>
                        </a:rPr>
                        <a:t>relative_path()</a:t>
                      </a:r>
                      <a:endParaRPr lang="en-US" sz="14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400" dirty="0">
                          <a:effectLst/>
                        </a:rPr>
                        <a:t>This member function returns a path object containing the part of the path that is relative to the root directory.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26692">
                <a:tc>
                  <a:txBody>
                    <a:bodyPr/>
                    <a:lstStyle/>
                    <a:p>
                      <a:pPr marL="0" marR="0">
                        <a:spcBef>
                          <a:spcPts val="0"/>
                        </a:spcBef>
                        <a:spcAft>
                          <a:spcPts val="0"/>
                        </a:spcAft>
                      </a:pPr>
                      <a:r>
                        <a:rPr lang="en-US" sz="1400" dirty="0">
                          <a:solidFill>
                            <a:schemeClr val="tx1"/>
                          </a:solidFill>
                          <a:effectLst/>
                          <a:latin typeface="Courier New" panose="02070309020205020404" pitchFamily="49" charset="0"/>
                          <a:cs typeface="Courier New" panose="02070309020205020404" pitchFamily="49" charset="0"/>
                        </a:rPr>
                        <a:t>parent_path()</a:t>
                      </a:r>
                      <a:endParaRPr lang="en-US" sz="14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400" dirty="0">
                          <a:effectLst/>
                        </a:rPr>
                        <a:t>This member function returns a path object containing the path without the filename.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E7E7E7"/>
                    </a:solidFill>
                  </a:tcPr>
                </a:tc>
              </a:tr>
              <a:tr h="426692">
                <a:tc>
                  <a:txBody>
                    <a:bodyPr/>
                    <a:lstStyle/>
                    <a:p>
                      <a:pPr marL="0" marR="0">
                        <a:spcBef>
                          <a:spcPts val="0"/>
                        </a:spcBef>
                        <a:spcAft>
                          <a:spcPts val="0"/>
                        </a:spcAft>
                      </a:pPr>
                      <a:r>
                        <a:rPr lang="en-US" sz="1400" dirty="0">
                          <a:solidFill>
                            <a:schemeClr val="tx1"/>
                          </a:solidFill>
                          <a:effectLst/>
                          <a:latin typeface="Courier New" panose="02070309020205020404" pitchFamily="49" charset="0"/>
                          <a:cs typeface="Courier New" panose="02070309020205020404" pitchFamily="49" charset="0"/>
                        </a:rPr>
                        <a:t>filename()</a:t>
                      </a:r>
                      <a:endParaRPr lang="en-US" sz="14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400" dirty="0">
                          <a:effectLst/>
                        </a:rPr>
                        <a:t>This member function returns a path object containing only the filename without the parent path.</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26692">
                <a:tc>
                  <a:txBody>
                    <a:bodyPr/>
                    <a:lstStyle/>
                    <a:p>
                      <a:pPr marL="0" marR="0">
                        <a:spcBef>
                          <a:spcPts val="0"/>
                        </a:spcBef>
                        <a:spcAft>
                          <a:spcPts val="0"/>
                        </a:spcAft>
                      </a:pPr>
                      <a:r>
                        <a:rPr lang="en-US" sz="1400" dirty="0">
                          <a:solidFill>
                            <a:schemeClr val="tx1"/>
                          </a:solidFill>
                          <a:effectLst/>
                          <a:latin typeface="Courier New" panose="02070309020205020404" pitchFamily="49" charset="0"/>
                          <a:cs typeface="Courier New" panose="02070309020205020404" pitchFamily="49" charset="0"/>
                        </a:rPr>
                        <a:t>stem()</a:t>
                      </a:r>
                      <a:endParaRPr lang="en-US" sz="14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400" dirty="0">
                          <a:effectLst/>
                        </a:rPr>
                        <a:t>This member function returns a path object containing only the filename without any extension that the filename might have.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E7E7E7"/>
                    </a:solidFill>
                  </a:tcPr>
                </a:tc>
              </a:tr>
              <a:tr h="213346">
                <a:tc>
                  <a:txBody>
                    <a:bodyPr/>
                    <a:lstStyle/>
                    <a:p>
                      <a:pPr marL="0" marR="0">
                        <a:spcBef>
                          <a:spcPts val="0"/>
                        </a:spcBef>
                        <a:spcAft>
                          <a:spcPts val="0"/>
                        </a:spcAft>
                      </a:pPr>
                      <a:r>
                        <a:rPr lang="en-US" sz="1400" dirty="0">
                          <a:solidFill>
                            <a:schemeClr val="tx1"/>
                          </a:solidFill>
                          <a:effectLst/>
                          <a:latin typeface="Courier New" panose="02070309020205020404" pitchFamily="49" charset="0"/>
                          <a:cs typeface="Courier New" panose="02070309020205020404" pitchFamily="49" charset="0"/>
                        </a:rPr>
                        <a:t>extension()</a:t>
                      </a:r>
                      <a:endParaRPr lang="en-US" sz="1400" dirty="0">
                        <a:solidFill>
                          <a:schemeClr val="tx1"/>
                        </a:solidFill>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spcBef>
                          <a:spcPts val="0"/>
                        </a:spcBef>
                        <a:spcAft>
                          <a:spcPts val="0"/>
                        </a:spcAft>
                      </a:pPr>
                      <a:r>
                        <a:rPr lang="en-US" sz="1400" dirty="0">
                          <a:effectLst/>
                        </a:rPr>
                        <a:t>This member function returns a path object containing only the extension.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p:cNvSpPr>
            <a:spLocks noGrp="1" noChangeArrowheads="1"/>
          </p:cNvSpPr>
          <p:nvPr>
            <p:ph type="title"/>
          </p:nvPr>
        </p:nvSpPr>
        <p:spPr/>
        <p:txBody>
          <a:bodyPr/>
          <a:lstStyle/>
          <a:p>
            <a:r>
              <a:rPr lang="en-US" altLang="en-US" dirty="0" smtClean="0"/>
              <a:t>Function Call Chaining </a:t>
            </a:r>
            <a:r>
              <a:rPr lang="en-US" altLang="en-US" sz="1200" dirty="0" smtClean="0"/>
              <a:t>(1 of 2)</a:t>
            </a:r>
          </a:p>
        </p:txBody>
      </p:sp>
      <p:sp>
        <p:nvSpPr>
          <p:cNvPr id="119811" name="Content Placeholder 2"/>
          <p:cNvSpPr>
            <a:spLocks noGrp="1" noChangeArrowheads="1"/>
          </p:cNvSpPr>
          <p:nvPr>
            <p:ph idx="1"/>
          </p:nvPr>
        </p:nvSpPr>
        <p:spPr>
          <a:xfrm>
            <a:off x="457200" y="1295400"/>
            <a:ext cx="8234624" cy="4924530"/>
          </a:xfrm>
        </p:spPr>
        <p:txBody>
          <a:bodyPr/>
          <a:lstStyle/>
          <a:p>
            <a:pPr>
              <a:buFontTx/>
              <a:buChar char="•"/>
            </a:pPr>
            <a:r>
              <a:rPr lang="en-US" altLang="en-US" sz="2000" dirty="0" smtClean="0"/>
              <a:t>Look at the following code:</a:t>
            </a:r>
          </a:p>
          <a:p>
            <a:pPr marL="365760" lvl="0" indent="0">
              <a:spcBef>
                <a:spcPts val="1400"/>
              </a:spcBef>
              <a:buNone/>
            </a:pPr>
            <a:r>
              <a:rPr lang="en-US" altLang="en-US" sz="1800" kern="1200" dirty="0" smtClean="0">
                <a:solidFill>
                  <a:srgbClr val="787878"/>
                </a:solidFill>
                <a:latin typeface="Courier New" panose="02070309020205020404" pitchFamily="49" charset="0"/>
                <a:ea typeface="Calibri" panose="020F0502020204030204" pitchFamily="34" charset="0"/>
                <a:cs typeface="Times New Roman" panose="02020603050405020304" pitchFamily="18" charset="0"/>
              </a:rPr>
              <a:t>1 </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::path cwd = filesystem::current_path();</a:t>
            </a:r>
            <a:b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800" kern="1200" dirty="0" smtClean="0">
                <a:solidFill>
                  <a:srgbClr val="787878"/>
                </a:solidFill>
                <a:latin typeface="Courier New" panose="02070309020205020404" pitchFamily="49" charset="0"/>
                <a:ea typeface="Calibri" panose="020F0502020204030204" pitchFamily="34" charset="0"/>
                <a:cs typeface="Times New Roman" panose="02020603050405020304" pitchFamily="18" charset="0"/>
              </a:rPr>
              <a:t>2 </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::path filenamePath = cwd.filename();</a:t>
            </a:r>
            <a:b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br>
            <a:r>
              <a:rPr lang="en-US" altLang="en-US" sz="1800" kern="1200" dirty="0" smtClean="0">
                <a:solidFill>
                  <a:srgbClr val="787878"/>
                </a:solidFill>
                <a:latin typeface="Courier New" panose="02070309020205020404" pitchFamily="49" charset="0"/>
                <a:ea typeface="Calibri" panose="020F0502020204030204" pitchFamily="34" charset="0"/>
                <a:cs typeface="Times New Roman" panose="02020603050405020304" pitchFamily="18" charset="0"/>
              </a:rPr>
              <a:t>3 </a:t>
            </a: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filenamePath.string() &lt;&lt; endl;</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lvl="1">
              <a:spcBef>
                <a:spcPts val="2200"/>
              </a:spcBef>
            </a:pPr>
            <a:r>
              <a:rPr lang="en-US" altLang="en-US" sz="1800" dirty="0" smtClean="0"/>
              <a:t>Line 1 gets a </a:t>
            </a:r>
            <a:r>
              <a:rPr lang="en-US" altLang="en-US" sz="1800" dirty="0" smtClean="0">
                <a:latin typeface="Courier New" panose="02070309020205020404" pitchFamily="49" charset="0"/>
                <a:cs typeface="Courier New" panose="02070309020205020404" pitchFamily="49" charset="0"/>
              </a:rPr>
              <a:t>path</a:t>
            </a:r>
            <a:r>
              <a:rPr lang="en-US" altLang="en-US" sz="1800" dirty="0" smtClean="0"/>
              <a:t> object for the current working directory and assigns that object to the </a:t>
            </a:r>
            <a:r>
              <a:rPr lang="en-US" altLang="en-US" sz="1800" dirty="0" smtClean="0">
                <a:latin typeface="Courier New" panose="02070309020205020404" pitchFamily="49" charset="0"/>
                <a:cs typeface="Courier New" panose="02070309020205020404" pitchFamily="49" charset="0"/>
              </a:rPr>
              <a:t>cwd</a:t>
            </a:r>
            <a:r>
              <a:rPr lang="en-US" altLang="en-US" sz="1800" dirty="0" smtClean="0"/>
              <a:t> variable</a:t>
            </a:r>
          </a:p>
          <a:p>
            <a:pPr lvl="1">
              <a:spcBef>
                <a:spcPts val="2600"/>
              </a:spcBef>
            </a:pPr>
            <a:r>
              <a:rPr lang="en-US" altLang="en-US" sz="1800" dirty="0" smtClean="0"/>
              <a:t>Line 2 calls the </a:t>
            </a:r>
            <a:r>
              <a:rPr lang="en-US" altLang="en-US" sz="1800" dirty="0" smtClean="0">
                <a:latin typeface="Courier New" panose="02070309020205020404" pitchFamily="49" charset="0"/>
                <a:cs typeface="Courier New" panose="02070309020205020404" pitchFamily="49" charset="0"/>
              </a:rPr>
              <a:t>cwd.filename()</a:t>
            </a:r>
            <a:r>
              <a:rPr lang="en-US" altLang="en-US" sz="1800" dirty="0" smtClean="0"/>
              <a:t> member function which returns another </a:t>
            </a:r>
            <a:r>
              <a:rPr lang="en-US" altLang="en-US" sz="1800" dirty="0" smtClean="0">
                <a:latin typeface="Courier New" panose="02070309020205020404" pitchFamily="49" charset="0"/>
                <a:cs typeface="Courier New" panose="02070309020205020404" pitchFamily="49" charset="0"/>
              </a:rPr>
              <a:t>path</a:t>
            </a:r>
            <a:r>
              <a:rPr lang="en-US" altLang="en-US" sz="1800" dirty="0" smtClean="0"/>
              <a:t> object containing only the filename portion of the </a:t>
            </a:r>
            <a:r>
              <a:rPr lang="en-US" altLang="en-US" sz="1800" dirty="0" smtClean="0">
                <a:latin typeface="Courier New" panose="02070309020205020404" pitchFamily="49" charset="0"/>
                <a:cs typeface="Courier New" panose="02070309020205020404" pitchFamily="49" charset="0"/>
              </a:rPr>
              <a:t>cwd</a:t>
            </a:r>
            <a:r>
              <a:rPr lang="en-US" altLang="en-US" sz="1800" dirty="0" smtClean="0"/>
              <a:t> object's path. This second </a:t>
            </a:r>
            <a:r>
              <a:rPr lang="en-US" altLang="en-US" sz="1800" dirty="0" smtClean="0">
                <a:latin typeface="Courier New" panose="02070309020205020404" pitchFamily="49" charset="0"/>
                <a:cs typeface="Courier New" panose="02070309020205020404" pitchFamily="49" charset="0"/>
              </a:rPr>
              <a:t>path</a:t>
            </a:r>
            <a:r>
              <a:rPr lang="en-US" altLang="en-US" sz="1800" dirty="0" smtClean="0"/>
              <a:t> object is assigned to the </a:t>
            </a:r>
            <a:r>
              <a:rPr lang="en-US" altLang="en-US" sz="1800" dirty="0" smtClean="0">
                <a:latin typeface="Courier New" panose="02070309020205020404" pitchFamily="49" charset="0"/>
                <a:cs typeface="Courier New" panose="02070309020205020404" pitchFamily="49" charset="0"/>
              </a:rPr>
              <a:t>filenamePath</a:t>
            </a:r>
            <a:r>
              <a:rPr lang="en-US" altLang="en-US" sz="1800" dirty="0" smtClean="0"/>
              <a:t> variable</a:t>
            </a:r>
          </a:p>
          <a:p>
            <a:pPr lvl="1">
              <a:spcBef>
                <a:spcPts val="2500"/>
              </a:spcBef>
            </a:pPr>
            <a:r>
              <a:rPr lang="en-US" altLang="en-US" sz="1800" dirty="0" smtClean="0"/>
              <a:t>Line 3 calls the </a:t>
            </a:r>
            <a:r>
              <a:rPr lang="en-US" altLang="en-US" sz="1800" dirty="0" smtClean="0">
                <a:latin typeface="Courier New" panose="02070309020205020404" pitchFamily="49" charset="0"/>
                <a:cs typeface="Courier New" panose="02070309020205020404" pitchFamily="49" charset="0"/>
              </a:rPr>
              <a:t>filenamePath.string()</a:t>
            </a:r>
            <a:r>
              <a:rPr lang="en-US" altLang="en-US" sz="1800" dirty="0" smtClean="0"/>
              <a:t> member function to get the </a:t>
            </a:r>
            <a:r>
              <a:rPr lang="en-US" altLang="en-US" sz="1800" dirty="0" smtClean="0">
                <a:latin typeface="Courier New" panose="02070309020205020404" pitchFamily="49" charset="0"/>
                <a:cs typeface="Courier New" panose="02070309020205020404" pitchFamily="49" charset="0"/>
              </a:rPr>
              <a:t>filenamePath</a:t>
            </a:r>
            <a:r>
              <a:rPr lang="en-US" altLang="en-US" sz="1800" dirty="0" smtClean="0"/>
              <a:t> object's path in its native format as a string. That string is sent to </a:t>
            </a:r>
            <a:r>
              <a:rPr lang="en-US" altLang="en-US" sz="1800" dirty="0" smtClean="0">
                <a:latin typeface="Courier New" panose="02070309020205020404" pitchFamily="49" charset="0"/>
                <a:cs typeface="Courier New" panose="02070309020205020404" pitchFamily="49" charset="0"/>
              </a:rPr>
              <a:t>cout</a:t>
            </a:r>
            <a:r>
              <a:rPr lang="en-US" altLang="en-US" sz="1800" dirty="0" smtClean="0"/>
              <a:t> to be displayed on the screen</a:t>
            </a:r>
          </a:p>
        </p:txBody>
      </p:sp>
    </p:spTree>
    <p:extLst>
      <p:ext uri="{BB962C8B-B14F-4D97-AF65-F5344CB8AC3E}">
        <p14:creationId xmlns:p14="http://schemas.microsoft.com/office/powerpoint/2010/main" val="335551634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p:cNvSpPr>
            <a:spLocks noGrp="1" noChangeArrowheads="1"/>
          </p:cNvSpPr>
          <p:nvPr>
            <p:ph type="title"/>
          </p:nvPr>
        </p:nvSpPr>
        <p:spPr>
          <a:xfrm>
            <a:off x="457199" y="505751"/>
            <a:ext cx="8229600" cy="679955"/>
          </a:xfrm>
        </p:spPr>
        <p:txBody>
          <a:bodyPr/>
          <a:lstStyle/>
          <a:p>
            <a:r>
              <a:rPr lang="en-US" altLang="en-US" dirty="0" smtClean="0"/>
              <a:t>Function Call Chaining </a:t>
            </a:r>
            <a:r>
              <a:rPr lang="en-US" altLang="en-US" sz="1200" dirty="0" smtClean="0"/>
              <a:t>(2 </a:t>
            </a:r>
            <a:r>
              <a:rPr lang="en-US" altLang="en-US" sz="1200" dirty="0"/>
              <a:t>of 2)</a:t>
            </a:r>
            <a:endParaRPr lang="en-US" altLang="en-US" dirty="0" smtClean="0"/>
          </a:p>
        </p:txBody>
      </p:sp>
      <p:sp>
        <p:nvSpPr>
          <p:cNvPr id="120835" name="Content Placeholder 2"/>
          <p:cNvSpPr>
            <a:spLocks noGrp="1" noChangeArrowheads="1"/>
          </p:cNvSpPr>
          <p:nvPr>
            <p:ph idx="1"/>
          </p:nvPr>
        </p:nvSpPr>
        <p:spPr>
          <a:xfrm>
            <a:off x="457200" y="1295400"/>
            <a:ext cx="8229600" cy="4525963"/>
          </a:xfrm>
        </p:spPr>
        <p:txBody>
          <a:bodyPr/>
          <a:lstStyle/>
          <a:p>
            <a:pPr>
              <a:buFontTx/>
              <a:buChar char="•"/>
            </a:pPr>
            <a:r>
              <a:rPr lang="en-US" altLang="en-US" sz="1800" dirty="0" smtClean="0"/>
              <a:t>The previously shown code can be simplified to one statement with function call chaining.</a:t>
            </a:r>
          </a:p>
          <a:p>
            <a:pPr>
              <a:buFontTx/>
              <a:buChar char="•"/>
            </a:pPr>
            <a:r>
              <a:rPr lang="en-US" altLang="en-US" sz="1800" dirty="0" smtClean="0"/>
              <a:t>Example:</a:t>
            </a:r>
          </a:p>
          <a:p>
            <a:pPr marL="155448" lvl="0" indent="0">
              <a:spcBef>
                <a:spcPts val="2700"/>
              </a:spcBef>
              <a:buNone/>
            </a:pPr>
            <a:r>
              <a:rPr lang="en-US" altLang="en-US" sz="1600" kern="1200" dirty="0">
                <a:solidFill>
                  <a:srgbClr val="000000"/>
                </a:solidFill>
                <a:latin typeface="Courier New" panose="02070309020205020404" pitchFamily="49" charset="0"/>
                <a:cs typeface="Calibri" panose="020F0502020204030204" pitchFamily="34" charset="0"/>
              </a:rPr>
              <a:t>cout &lt;&lt; filesystem::current_path().filename().string() &lt;&lt; endl</a:t>
            </a:r>
            <a:r>
              <a:rPr lang="en-US" altLang="en-US" sz="1600" kern="1200" dirty="0" smtClean="0">
                <a:solidFill>
                  <a:srgbClr val="000000"/>
                </a:solidFill>
                <a:latin typeface="Courier New" panose="02070309020205020404" pitchFamily="49" charset="0"/>
                <a:cs typeface="Calibri" panose="020F0502020204030204" pitchFamily="34" charset="0"/>
              </a:rPr>
              <a:t>;</a:t>
            </a:r>
            <a:endParaRPr lang="en-US" altLang="en-US" sz="1800" dirty="0" smtClean="0">
              <a:latin typeface="Calibri" panose="020F0502020204030204" pitchFamily="34" charset="0"/>
              <a:ea typeface="Calibri" panose="020F0502020204030204" pitchFamily="34" charset="0"/>
              <a:cs typeface="Times New Roman" panose="02020603050405020304" pitchFamily="18" charset="0"/>
            </a:endParaRPr>
          </a:p>
          <a:p>
            <a:pPr>
              <a:spcBef>
                <a:spcPts val="3500"/>
              </a:spcBef>
              <a:buFontTx/>
              <a:buChar char="•"/>
            </a:pPr>
            <a:r>
              <a:rPr lang="en-US" altLang="en-US" sz="1800" dirty="0" smtClean="0">
                <a:latin typeface="Calibri" panose="020F0502020204030204" pitchFamily="34" charset="0"/>
                <a:ea typeface="Calibri" panose="020F0502020204030204" pitchFamily="34" charset="0"/>
                <a:cs typeface="Times New Roman" panose="02020603050405020304" pitchFamily="18" charset="0"/>
              </a:rPr>
              <a:t>The expression first calls the </a:t>
            </a:r>
            <a:r>
              <a:rPr lang="en-US" altLang="en-US" sz="18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filesystem::current_path()</a:t>
            </a:r>
            <a:r>
              <a:rPr lang="en-US" altLang="en-US" sz="1800" dirty="0" smtClean="0">
                <a:latin typeface="Calibri" panose="020F0502020204030204" pitchFamily="34" charset="0"/>
                <a:cs typeface="Calibri" panose="020F0502020204030204" pitchFamily="34" charset="0"/>
              </a:rPr>
              <a:t>function, which returns a </a:t>
            </a:r>
            <a:r>
              <a:rPr lang="en-US" altLang="en-US" sz="1800" dirty="0" smtClean="0">
                <a:latin typeface="Courier New" panose="02070309020205020404" pitchFamily="49" charset="0"/>
                <a:cs typeface="Calibri" panose="020F0502020204030204" pitchFamily="34" charset="0"/>
              </a:rPr>
              <a:t>path</a:t>
            </a:r>
            <a:r>
              <a:rPr lang="en-US" altLang="en-US" sz="1800" dirty="0" smtClean="0">
                <a:latin typeface="Calibri" panose="020F0502020204030204" pitchFamily="34" charset="0"/>
                <a:cs typeface="Calibri" panose="020F0502020204030204" pitchFamily="34" charset="0"/>
              </a:rPr>
              <a:t> object</a:t>
            </a:r>
          </a:p>
          <a:p>
            <a:pPr lvl="1"/>
            <a:r>
              <a:rPr lang="en-US" altLang="en-US" sz="1800" dirty="0" smtClean="0">
                <a:latin typeface="Calibri" panose="020F0502020204030204" pitchFamily="34" charset="0"/>
                <a:cs typeface="Calibri" panose="020F0502020204030204" pitchFamily="34" charset="0"/>
              </a:rPr>
              <a:t>Then the expression calls that </a:t>
            </a:r>
            <a:r>
              <a:rPr lang="en-US" altLang="en-US" sz="1800" dirty="0" smtClean="0">
                <a:latin typeface="Courier New" panose="02070309020205020404" pitchFamily="49" charset="0"/>
                <a:cs typeface="Calibri" panose="020F0502020204030204" pitchFamily="34" charset="0"/>
              </a:rPr>
              <a:t>path</a:t>
            </a:r>
            <a:r>
              <a:rPr lang="en-US" altLang="en-US" sz="1800" dirty="0" smtClean="0">
                <a:latin typeface="Calibri" panose="020F0502020204030204" pitchFamily="34" charset="0"/>
                <a:cs typeface="Calibri" panose="020F0502020204030204" pitchFamily="34" charset="0"/>
              </a:rPr>
              <a:t> object's </a:t>
            </a:r>
            <a:r>
              <a:rPr lang="en-US" altLang="en-US" sz="1800" dirty="0" smtClean="0">
                <a:latin typeface="Courier New" panose="02070309020205020404" pitchFamily="49" charset="0"/>
                <a:cs typeface="Calibri" panose="020F0502020204030204" pitchFamily="34" charset="0"/>
              </a:rPr>
              <a:t>filename()</a:t>
            </a:r>
            <a:r>
              <a:rPr lang="en-US" altLang="en-US" sz="1800" dirty="0" smtClean="0">
                <a:latin typeface="Calibri" panose="020F0502020204030204" pitchFamily="34" charset="0"/>
                <a:cs typeface="Calibri" panose="020F0502020204030204" pitchFamily="34" charset="0"/>
              </a:rPr>
              <a:t> member function, which returns another </a:t>
            </a:r>
            <a:r>
              <a:rPr lang="en-US" altLang="en-US" sz="1800" dirty="0" smtClean="0">
                <a:latin typeface="Courier New" panose="02070309020205020404" pitchFamily="49" charset="0"/>
                <a:cs typeface="Calibri" panose="020F0502020204030204" pitchFamily="34" charset="0"/>
              </a:rPr>
              <a:t>path</a:t>
            </a:r>
            <a:r>
              <a:rPr lang="en-US" altLang="en-US" sz="1800" dirty="0" smtClean="0">
                <a:latin typeface="Calibri" panose="020F0502020204030204" pitchFamily="34" charset="0"/>
                <a:cs typeface="Calibri" panose="020F0502020204030204" pitchFamily="34" charset="0"/>
              </a:rPr>
              <a:t> object</a:t>
            </a:r>
          </a:p>
          <a:p>
            <a:pPr lvl="2">
              <a:buFontTx/>
              <a:buChar char="•"/>
            </a:pPr>
            <a:r>
              <a:rPr lang="en-US" altLang="en-US" sz="1800" dirty="0" smtClean="0">
                <a:latin typeface="Calibri" panose="020F0502020204030204" pitchFamily="34" charset="0"/>
                <a:cs typeface="Calibri" panose="020F0502020204030204" pitchFamily="34" charset="0"/>
              </a:rPr>
              <a:t>Then, the expression calls that </a:t>
            </a:r>
            <a:r>
              <a:rPr lang="en-US" altLang="en-US" sz="1800" dirty="0" smtClean="0">
                <a:latin typeface="Courier New" panose="02070309020205020404" pitchFamily="49" charset="0"/>
                <a:cs typeface="Calibri" panose="020F0502020204030204" pitchFamily="34" charset="0"/>
              </a:rPr>
              <a:t>path</a:t>
            </a:r>
            <a:r>
              <a:rPr lang="en-US" altLang="en-US" sz="1800" dirty="0" smtClean="0">
                <a:latin typeface="Calibri" panose="020F0502020204030204" pitchFamily="34" charset="0"/>
                <a:cs typeface="Calibri" panose="020F0502020204030204" pitchFamily="34" charset="0"/>
              </a:rPr>
              <a:t> object's </a:t>
            </a:r>
            <a:r>
              <a:rPr lang="en-US" altLang="en-US" sz="1800" dirty="0" smtClean="0">
                <a:latin typeface="Courier New" panose="02070309020205020404" pitchFamily="49" charset="0"/>
                <a:cs typeface="Calibri" panose="020F0502020204030204" pitchFamily="34" charset="0"/>
              </a:rPr>
              <a:t>string()</a:t>
            </a:r>
            <a:r>
              <a:rPr lang="en-US" altLang="en-US" sz="1800" dirty="0" smtClean="0">
                <a:latin typeface="Calibri" panose="020F0502020204030204" pitchFamily="34" charset="0"/>
                <a:cs typeface="Calibri" panose="020F0502020204030204" pitchFamily="34" charset="0"/>
              </a:rPr>
              <a:t> member function, which returns a string</a:t>
            </a:r>
          </a:p>
          <a:p>
            <a:pPr lvl="3"/>
            <a:r>
              <a:rPr lang="en-US" altLang="en-US" sz="1800" dirty="0" smtClean="0">
                <a:latin typeface="Calibri" panose="020F0502020204030204" pitchFamily="34" charset="0"/>
                <a:cs typeface="Calibri" panose="020F0502020204030204" pitchFamily="34" charset="0"/>
              </a:rPr>
              <a:t>The string is then sent to </a:t>
            </a:r>
            <a:r>
              <a:rPr lang="en-US" altLang="en-US" sz="1800" dirty="0" smtClean="0">
                <a:latin typeface="Courier New" panose="02070309020205020404" pitchFamily="49" charset="0"/>
                <a:cs typeface="Calibri" panose="020F0502020204030204" pitchFamily="34" charset="0"/>
              </a:rPr>
              <a:t>cout</a:t>
            </a:r>
            <a:endParaRPr lang="en-US" altLang="en-US" sz="1800" dirty="0" smtClean="0"/>
          </a:p>
        </p:txBody>
      </p:sp>
    </p:spTree>
    <p:extLst>
      <p:ext uri="{BB962C8B-B14F-4D97-AF65-F5344CB8AC3E}">
        <p14:creationId xmlns:p14="http://schemas.microsoft.com/office/powerpoint/2010/main" val="2715856322"/>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1EBBB41-3E00-4074-9F80-F9FDEA1F4C83}"/>
</file>

<file path=customXml/itemProps2.xml><?xml version="1.0" encoding="utf-8"?>
<ds:datastoreItem xmlns:ds="http://schemas.openxmlformats.org/officeDocument/2006/customXml" ds:itemID="{24004AA6-2AE8-4E43-B9A0-E1C91C2130B8}"/>
</file>

<file path=customXml/itemProps3.xml><?xml version="1.0" encoding="utf-8"?>
<ds:datastoreItem xmlns:ds="http://schemas.openxmlformats.org/officeDocument/2006/customXml" ds:itemID="{4DEC4190-267D-4E41-B3C9-A33AAB99EB99}"/>
</file>

<file path=docProps/app.xml><?xml version="1.0" encoding="utf-8"?>
<Properties xmlns="http://schemas.openxmlformats.org/officeDocument/2006/extended-properties" xmlns:vt="http://schemas.openxmlformats.org/officeDocument/2006/docPropsVTypes">
  <Template/>
  <TotalTime>2556</TotalTime>
  <Words>3803</Words>
  <Application>Microsoft Office PowerPoint</Application>
  <PresentationFormat>On-screen Show (4:3)</PresentationFormat>
  <Paragraphs>498</Paragraphs>
  <Slides>87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Arial</vt:lpstr>
      <vt:lpstr>Calibri</vt:lpstr>
      <vt:lpstr>Courier New</vt:lpstr>
      <vt:lpstr>Symbol</vt:lpstr>
      <vt:lpstr>Times New Roman</vt:lpstr>
      <vt:lpstr>Default Design</vt:lpstr>
      <vt:lpstr>Chapter 12: Advanced File Operations</vt:lpstr>
      <vt:lpstr>12.1</vt:lpstr>
      <vt:lpstr>File Operations</vt:lpstr>
      <vt:lpstr>Using Files</vt:lpstr>
      <vt:lpstr>fstream Object</vt:lpstr>
      <vt:lpstr>File Access Flags</vt:lpstr>
      <vt:lpstr>Using Files - Example</vt:lpstr>
      <vt:lpstr>Default File Open Modes</vt:lpstr>
      <vt:lpstr>More File Open Details</vt:lpstr>
      <vt:lpstr>12.2</vt:lpstr>
      <vt:lpstr>File Output Formatting</vt:lpstr>
      <vt:lpstr> </vt:lpstr>
      <vt:lpstr>  </vt:lpstr>
      <vt:lpstr>12.3</vt:lpstr>
      <vt:lpstr>Passing File Stream Objects to Functions</vt:lpstr>
      <vt:lpstr>   </vt:lpstr>
      <vt:lpstr>    </vt:lpstr>
      <vt:lpstr>     </vt:lpstr>
      <vt:lpstr>12.4</vt:lpstr>
      <vt:lpstr>More Detailed Error Testing</vt:lpstr>
      <vt:lpstr>Member Functions / Flags</vt:lpstr>
      <vt:lpstr>From Program 12-6</vt:lpstr>
      <vt:lpstr>12.5</vt:lpstr>
      <vt:lpstr>Member Functions for Reading and Writing Files</vt:lpstr>
      <vt:lpstr>The getline Function</vt:lpstr>
      <vt:lpstr>          </vt:lpstr>
      <vt:lpstr>      </vt:lpstr>
      <vt:lpstr>Single Character I/O</vt:lpstr>
      <vt:lpstr>12.6</vt:lpstr>
      <vt:lpstr>Working with Multiple Files</vt:lpstr>
      <vt:lpstr>       </vt:lpstr>
      <vt:lpstr>        </vt:lpstr>
      <vt:lpstr>         </vt:lpstr>
      <vt:lpstr>12.7</vt:lpstr>
      <vt:lpstr>Binary Files (1 of 3)</vt:lpstr>
      <vt:lpstr>Binary Files (2 of 3)</vt:lpstr>
      <vt:lpstr>Binary Files (3 of 3)</vt:lpstr>
      <vt:lpstr>12.8</vt:lpstr>
      <vt:lpstr>Creating Records with Structures (1 of 2)</vt:lpstr>
      <vt:lpstr>Creating Records with Structures (2 of 2)</vt:lpstr>
      <vt:lpstr>12.9</vt:lpstr>
      <vt:lpstr>Random-Access Files</vt:lpstr>
      <vt:lpstr>Random Access Member Functions (1 of 2)</vt:lpstr>
      <vt:lpstr>Random Access Member Functions (2 of 2)</vt:lpstr>
      <vt:lpstr>Important Note on Random Access</vt:lpstr>
      <vt:lpstr>Random Access Information</vt:lpstr>
      <vt:lpstr>12.10</vt:lpstr>
      <vt:lpstr>Opening a File for  Both Input and Output</vt:lpstr>
      <vt:lpstr>12.11</vt:lpstr>
      <vt:lpstr>Working With the File System (1 of 2)</vt:lpstr>
      <vt:lpstr>Working With the File System (2 of 2)</vt:lpstr>
      <vt:lpstr>Directories and Paths (1 of 3)</vt:lpstr>
      <vt:lpstr>Directories and Paths (2 of 3)</vt:lpstr>
      <vt:lpstr>Directories and Paths (3 of 3)</vt:lpstr>
      <vt:lpstr>Absolute Paths (1 of 2)</vt:lpstr>
      <vt:lpstr>Absolute Paths (2 of 2)</vt:lpstr>
      <vt:lpstr>The Current Working Directory and Relative Paths (1 of 3)</vt:lpstr>
      <vt:lpstr>The Current Working Directory and Relative Paths (2 of 3)</vt:lpstr>
      <vt:lpstr>The Current Working Directory and Relative Paths (3 of 3)</vt:lpstr>
      <vt:lpstr>Working with path Objects (1 of 4)</vt:lpstr>
      <vt:lpstr>Working with path Objects (2 of 4)</vt:lpstr>
      <vt:lpstr>Working with path Objects (3 of 4)</vt:lpstr>
      <vt:lpstr>Working with path Objects (4 of 4)</vt:lpstr>
      <vt:lpstr>Determining Whether a File or Directory Exists</vt:lpstr>
      <vt:lpstr>Copying a File (1 of 2)</vt:lpstr>
      <vt:lpstr>Copying a File (2 of 2)</vt:lpstr>
      <vt:lpstr>Deleting a File or Empty Directory (1 of 2)</vt:lpstr>
      <vt:lpstr>Deleting a File or Empty Directory (2 of 2)</vt:lpstr>
      <vt:lpstr>Renaming a File or Directory (1 of 4)</vt:lpstr>
      <vt:lpstr>Renaming a File or Directory (2 of 4)</vt:lpstr>
      <vt:lpstr>Renaming a File or Directory (3 of 4)</vt:lpstr>
      <vt:lpstr>Renaming a File or Directory (4 of 4)</vt:lpstr>
      <vt:lpstr>Getting and Setting the Path of the Current Working Directory (1 of 2)</vt:lpstr>
      <vt:lpstr>Getting and Setting the Path of the Current Working Directory (2 of 2)</vt:lpstr>
      <vt:lpstr>Creating a Directory (1 of 2)</vt:lpstr>
      <vt:lpstr>Creating a Directory (2 of 2)</vt:lpstr>
      <vt:lpstr>Deleting a Nonempty Directory (1 of 2)</vt:lpstr>
      <vt:lpstr>Deleting a Nonempty Directory (2 of 2)</vt:lpstr>
      <vt:lpstr>Getting the Contents of a Directory (1 of 2)</vt:lpstr>
      <vt:lpstr>           </vt:lpstr>
      <vt:lpstr>Getting the Contents of a Directory (2 of 2)</vt:lpstr>
      <vt:lpstr>            </vt:lpstr>
      <vt:lpstr>             </vt:lpstr>
      <vt:lpstr>More About directory_entry Objects</vt:lpstr>
      <vt:lpstr>More About path Objects</vt:lpstr>
      <vt:lpstr>Function Call Chaining (1 of 2)</vt:lpstr>
      <vt:lpstr>Function Call Chaining (2 of 2)</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Advanced File Operations</dc:title>
  <dc:subject>Introduction to C++</dc:subject>
  <dc:creator>Tony Gaddis</dc:creator>
  <cp:lastModifiedBy>codemantra</cp:lastModifiedBy>
  <cp:revision>380</cp:revision>
  <dcterms:created xsi:type="dcterms:W3CDTF">2011-02-16T20:47:20Z</dcterms:created>
  <dcterms:modified xsi:type="dcterms:W3CDTF">2021-08-19T10:09:37Z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