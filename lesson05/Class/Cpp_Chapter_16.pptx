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302"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277" r:id="rId18"/>
    <p:sldId id="278" r:id="rId19"/>
    <p:sldId id="334" r:id="rId20"/>
    <p:sldId id="280" r:id="rId21"/>
    <p:sldId id="281" r:id="rId22"/>
    <p:sldId id="282" r:id="rId23"/>
    <p:sldId id="318" r:id="rId24"/>
    <p:sldId id="319" r:id="rId25"/>
    <p:sldId id="320" r:id="rId26"/>
    <p:sldId id="321" r:id="rId27"/>
    <p:sldId id="285" r:id="rId28"/>
    <p:sldId id="322" r:id="rId29"/>
    <p:sldId id="323" r:id="rId30"/>
    <p:sldId id="324" r:id="rId31"/>
    <p:sldId id="325" r:id="rId32"/>
    <p:sldId id="326" r:id="rId33"/>
    <p:sldId id="327" r:id="rId34"/>
    <p:sldId id="328" r:id="rId35"/>
    <p:sldId id="293" r:id="rId36"/>
    <p:sldId id="329" r:id="rId37"/>
    <p:sldId id="295" r:id="rId38"/>
    <p:sldId id="330" r:id="rId39"/>
    <p:sldId id="331" r:id="rId40"/>
    <p:sldId id="332" r:id="rId41"/>
    <p:sldId id="333" r:id="rId4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3024" userDrawn="1">
          <p15:clr>
            <a:srgbClr val="A4A3A4"/>
          </p15:clr>
        </p15:guide>
        <p15:guide id="2" pos="81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707" autoAdjust="0"/>
  </p:normalViewPr>
  <p:slideViewPr>
    <p:cSldViewPr showGuides="1">
      <p:cViewPr varScale="1">
        <p:scale>
          <a:sx n="116" d="100"/>
          <a:sy n="116" d="100"/>
        </p:scale>
        <p:origin x="954" y="108"/>
      </p:cViewPr>
      <p:guideLst>
        <p:guide orient="horz" pos="3024"/>
        <p:guide pos="816"/>
      </p:guideLst>
    </p:cSldViewPr>
  </p:slideViewPr>
  <p:outlineViewPr>
    <p:cViewPr>
      <p:scale>
        <a:sx n="33" d="100"/>
        <a:sy n="33" d="100"/>
      </p:scale>
      <p:origin x="0" y="-36684"/>
    </p:cViewPr>
  </p:outlineViewPr>
  <p:notesTextViewPr>
    <p:cViewPr>
      <p:scale>
        <a:sx n="100" d="100"/>
        <a:sy n="100" d="100"/>
      </p:scale>
      <p:origin x="0" y="0"/>
    </p:cViewPr>
  </p:notesTextViewPr>
  <p:sorterViewPr>
    <p:cViewPr varScale="1">
      <p:scale>
        <a:sx n="100" d="100"/>
        <a:sy n="100" d="100"/>
      </p:scale>
      <p:origin x="0" y="-2796"/>
    </p:cViewPr>
  </p:sorter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468371BE-851C-4391-9A97-D29759FC1BAD}"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1A91C314-67A0-4294-875F-23A84DCA338A}" type="slidenum">
              <a:rPr lang="en-US" altLang="en-US"/>
              <a:pPr/>
              <a:t>‹#›</a:t>
            </a:fld>
            <a:endParaRPr lang="en-US" altLang="en-US" dirty="0"/>
          </a:p>
        </p:txBody>
      </p:sp>
    </p:spTree>
    <p:extLst>
      <p:ext uri="{BB962C8B-B14F-4D97-AF65-F5344CB8AC3E}">
        <p14:creationId xmlns:p14="http://schemas.microsoft.com/office/powerpoint/2010/main" val="785063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FA7E04B7-1FC8-4BAF-8F81-A94A45DEB04E}"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BFC5BE1C-E5F7-4006-AB40-31C1270DF5AF}" type="slidenum">
              <a:rPr lang="en-US" altLang="en-US"/>
              <a:pPr/>
              <a:t>‹#›</a:t>
            </a:fld>
            <a:endParaRPr lang="en-US" altLang="en-US" dirty="0"/>
          </a:p>
        </p:txBody>
      </p:sp>
    </p:spTree>
    <p:extLst>
      <p:ext uri="{BB962C8B-B14F-4D97-AF65-F5344CB8AC3E}">
        <p14:creationId xmlns:p14="http://schemas.microsoft.com/office/powerpoint/2010/main" val="29712444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37797"/>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6B98BF46-B7C5-44BD-8B51-635073A77FFD}" type="slidenum">
              <a:rPr lang="en-US" altLang="en-US"/>
              <a:pPr/>
              <a:t>‹#›</a:t>
            </a:fld>
            <a:endParaRPr lang="en-US" altLang="en-US" dirty="0"/>
          </a:p>
        </p:txBody>
      </p:sp>
    </p:spTree>
    <p:extLst>
      <p:ext uri="{BB962C8B-B14F-4D97-AF65-F5344CB8AC3E}">
        <p14:creationId xmlns:p14="http://schemas.microsoft.com/office/powerpoint/2010/main" val="709101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7C9E170B-1B61-4B22-9F74-C44481E016AB}" type="slidenum">
              <a:rPr lang="en-US" altLang="en-US"/>
              <a:pPr/>
              <a:t>‹#›</a:t>
            </a:fld>
            <a:endParaRPr lang="en-US" altLang="en-US" dirty="0"/>
          </a:p>
        </p:txBody>
      </p:sp>
    </p:spTree>
    <p:extLst>
      <p:ext uri="{BB962C8B-B14F-4D97-AF65-F5344CB8AC3E}">
        <p14:creationId xmlns:p14="http://schemas.microsoft.com/office/powerpoint/2010/main" val="374074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8288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7C9E170B-1B61-4B22-9F74-C44481E016AB}" type="slidenum">
              <a:rPr lang="en-US" altLang="en-US"/>
              <a:pPr/>
              <a:t>‹#›</a:t>
            </a:fld>
            <a:endParaRPr lang="en-US" altLang="en-US" dirty="0"/>
          </a:p>
        </p:txBody>
      </p:sp>
      <p:sp>
        <p:nvSpPr>
          <p:cNvPr id="6" name="Content Placeholder 5"/>
          <p:cNvSpPr>
            <a:spLocks noGrp="1"/>
          </p:cNvSpPr>
          <p:nvPr>
            <p:ph sz="quarter" idx="11"/>
          </p:nvPr>
        </p:nvSpPr>
        <p:spPr>
          <a:xfrm>
            <a:off x="457200" y="3810000"/>
            <a:ext cx="8229600" cy="190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144885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142999"/>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7C9E170B-1B61-4B22-9F74-C44481E016AB}" type="slidenum">
              <a:rPr lang="en-US" altLang="en-US"/>
              <a:pPr/>
              <a:t>‹#›</a:t>
            </a:fld>
            <a:endParaRPr lang="en-US" altLang="en-US" dirty="0"/>
          </a:p>
        </p:txBody>
      </p:sp>
      <p:sp>
        <p:nvSpPr>
          <p:cNvPr id="6" name="Content Placeholder 5"/>
          <p:cNvSpPr>
            <a:spLocks noGrp="1"/>
          </p:cNvSpPr>
          <p:nvPr>
            <p:ph sz="quarter" idx="11"/>
          </p:nvPr>
        </p:nvSpPr>
        <p:spPr>
          <a:xfrm>
            <a:off x="457200" y="3200400"/>
            <a:ext cx="8229600" cy="990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2"/>
          </p:nvPr>
        </p:nvSpPr>
        <p:spPr>
          <a:xfrm>
            <a:off x="457200" y="4495800"/>
            <a:ext cx="8305800" cy="106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70360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8112509C-8BD1-49D9-963F-3266FD0A71B4}" type="slidenum">
              <a:rPr lang="en-US" altLang="en-US"/>
              <a:pPr/>
              <a:t>‹#›</a:t>
            </a:fld>
            <a:endParaRPr lang="en-US" altLang="en-US" dirty="0"/>
          </a:p>
        </p:txBody>
      </p:sp>
    </p:spTree>
    <p:extLst>
      <p:ext uri="{BB962C8B-B14F-4D97-AF65-F5344CB8AC3E}">
        <p14:creationId xmlns:p14="http://schemas.microsoft.com/office/powerpoint/2010/main" val="295198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1AE9A1F8-5AD5-4CE2-974F-85E3133B9988}" type="slidenum">
              <a:rPr lang="en-US" altLang="en-US"/>
              <a:pPr/>
              <a:t>‹#›</a:t>
            </a:fld>
            <a:endParaRPr lang="en-US" altLang="en-US" dirty="0"/>
          </a:p>
        </p:txBody>
      </p:sp>
    </p:spTree>
    <p:extLst>
      <p:ext uri="{BB962C8B-B14F-4D97-AF65-F5344CB8AC3E}">
        <p14:creationId xmlns:p14="http://schemas.microsoft.com/office/powerpoint/2010/main" val="1622689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04A64994-4BC4-40D7-9DED-519CFE1DF62D}" type="slidenum">
              <a:rPr lang="en-US" altLang="en-US"/>
              <a:pPr/>
              <a:t>‹#›</a:t>
            </a:fld>
            <a:endParaRPr lang="en-US" altLang="en-US" dirty="0"/>
          </a:p>
        </p:txBody>
      </p:sp>
    </p:spTree>
    <p:extLst>
      <p:ext uri="{BB962C8B-B14F-4D97-AF65-F5344CB8AC3E}">
        <p14:creationId xmlns:p14="http://schemas.microsoft.com/office/powerpoint/2010/main" val="4183091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FA003BF3-B003-479B-A24B-CD35D9A48410}" type="slidenum">
              <a:rPr lang="en-US" altLang="en-US"/>
              <a:pPr/>
              <a:t>‹#›</a:t>
            </a:fld>
            <a:endParaRPr lang="en-US" altLang="en-US" dirty="0"/>
          </a:p>
        </p:txBody>
      </p:sp>
    </p:spTree>
    <p:extLst>
      <p:ext uri="{BB962C8B-B14F-4D97-AF65-F5344CB8AC3E}">
        <p14:creationId xmlns:p14="http://schemas.microsoft.com/office/powerpoint/2010/main" val="1452443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E125AF50-7C43-4920-9343-5E0A39DF2A93}" type="slidenum">
              <a:rPr lang="en-US" altLang="en-US"/>
              <a:pPr/>
              <a:t>‹#›</a:t>
            </a:fld>
            <a:endParaRPr lang="en-US" altLang="en-US" dirty="0"/>
          </a:p>
        </p:txBody>
      </p:sp>
    </p:spTree>
    <p:extLst>
      <p:ext uri="{BB962C8B-B14F-4D97-AF65-F5344CB8AC3E}">
        <p14:creationId xmlns:p14="http://schemas.microsoft.com/office/powerpoint/2010/main" val="421609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C8776E97-122B-4587-90CE-FFA01AD541A9}" type="slidenum">
              <a:rPr lang="en-US" altLang="en-US"/>
              <a:pPr/>
              <a:t>‹#›</a:t>
            </a:fld>
            <a:endParaRPr lang="en-US" altLang="en-US" dirty="0"/>
          </a:p>
        </p:txBody>
      </p:sp>
    </p:spTree>
    <p:extLst>
      <p:ext uri="{BB962C8B-B14F-4D97-AF65-F5344CB8AC3E}">
        <p14:creationId xmlns:p14="http://schemas.microsoft.com/office/powerpoint/2010/main" val="2024948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C4D23DBA-8DCC-457F-9F55-D9BA0AC2BE74}" type="slidenum">
              <a:rPr lang="en-US" altLang="en-US"/>
              <a:pPr/>
              <a:t>‹#›</a:t>
            </a:fld>
            <a:endParaRPr lang="en-US" altLang="en-US" dirty="0"/>
          </a:p>
        </p:txBody>
      </p:sp>
    </p:spTree>
    <p:extLst>
      <p:ext uri="{BB962C8B-B14F-4D97-AF65-F5344CB8AC3E}">
        <p14:creationId xmlns:p14="http://schemas.microsoft.com/office/powerpoint/2010/main" val="4225891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047930E3-CACD-4BDD-A030-9322E5C98EB2}" type="slidenum">
              <a:rPr lang="en-US" altLang="en-US"/>
              <a:pPr/>
              <a:t>‹#›</a:t>
            </a:fld>
            <a:endParaRPr lang="en-US" altLang="en-US" dirty="0"/>
          </a:p>
        </p:txBody>
      </p:sp>
    </p:spTree>
    <p:extLst>
      <p:ext uri="{BB962C8B-B14F-4D97-AF65-F5344CB8AC3E}">
        <p14:creationId xmlns:p14="http://schemas.microsoft.com/office/powerpoint/2010/main" val="651251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5199ABB3-ACB6-4A2B-97B0-5A2C5813119F}" type="slidenum">
              <a:rPr lang="en-US" altLang="en-US"/>
              <a:pPr/>
              <a:t>‹#›</a:t>
            </a:fld>
            <a:endParaRPr lang="en-US" altLang="en-US" dirty="0"/>
          </a:p>
        </p:txBody>
      </p:sp>
    </p:spTree>
    <p:extLst>
      <p:ext uri="{BB962C8B-B14F-4D97-AF65-F5344CB8AC3E}">
        <p14:creationId xmlns:p14="http://schemas.microsoft.com/office/powerpoint/2010/main" val="2337676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CAD44BD0-9192-4C7E-83B8-FF5785C5F86F}" type="slidenum">
              <a:rPr lang="en-US" altLang="en-US"/>
              <a:pPr/>
              <a:t>‹#›</a:t>
            </a:fld>
            <a:endParaRPr lang="en-US" altLang="en-US" dirty="0"/>
          </a:p>
        </p:txBody>
      </p:sp>
      <p:sp>
        <p:nvSpPr>
          <p:cNvPr id="1029" name="Text Box 14"/>
          <p:cNvSpPr txBox="1">
            <a:spLocks noChangeArrowheads="1"/>
          </p:cNvSpPr>
          <p:nvPr userDrawn="1"/>
        </p:nvSpPr>
        <p:spPr bwMode="auto">
          <a:xfrm>
            <a:off x="1173163" y="6411913"/>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3" r:id="rId1"/>
    <p:sldLayoutId id="2147483853" r:id="rId2"/>
    <p:sldLayoutId id="2147483864" r:id="rId3"/>
    <p:sldLayoutId id="2147483865"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37797"/>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7772400" cy="1470025"/>
          </a:xfrm>
        </p:spPr>
        <p:txBody>
          <a:bodyPr/>
          <a:lstStyle/>
          <a:p>
            <a:pPr lvl="0" eaLnBrk="1" hangingPunct="1">
              <a:lnSpc>
                <a:spcPct val="140000"/>
              </a:lnSpc>
              <a:spcBef>
                <a:spcPct val="50000"/>
              </a:spcBef>
            </a:pPr>
            <a:r>
              <a:rPr lang="en-US" altLang="en-US" sz="4400" b="1" kern="1200" dirty="0">
                <a:latin typeface="Arial" panose="020B0604020202020204" pitchFamily="34" charset="0"/>
                <a:ea typeface="+mn-ea"/>
                <a:cs typeface="Arial" panose="020B0604020202020204" pitchFamily="34" charset="0"/>
              </a:rPr>
              <a:t>Chapter 16:</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Exceptions and </a:t>
            </a:r>
            <a:r>
              <a:rPr lang="en-US" altLang="en-US" sz="2800" b="1" kern="1200" dirty="0" smtClean="0">
                <a:solidFill>
                  <a:srgbClr val="000000"/>
                </a:solidFill>
                <a:latin typeface="Arial" panose="020B0604020202020204" pitchFamily="34" charset="0"/>
                <a:ea typeface="+mn-ea"/>
                <a:cs typeface="Arial" panose="020B0604020202020204" pitchFamily="34" charset="0"/>
              </a:rPr>
              <a:t>Templates</a:t>
            </a:r>
            <a:endParaRPr lang="en-IN" dirty="0"/>
          </a:p>
        </p:txBody>
      </p:sp>
    </p:spTree>
    <p:extLst>
      <p:ext uri="{BB962C8B-B14F-4D97-AF65-F5344CB8AC3E}">
        <p14:creationId xmlns:p14="http://schemas.microsoft.com/office/powerpoint/2010/main" val="3871543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16.1</a:t>
            </a:r>
            <a:endParaRPr lang="en-IN" dirty="0"/>
          </a:p>
        </p:txBody>
      </p:sp>
      <p:sp>
        <p:nvSpPr>
          <p:cNvPr id="3" name="Subtitle 2"/>
          <p:cNvSpPr>
            <a:spLocks noGrp="1"/>
          </p:cNvSpPr>
          <p:nvPr>
            <p:ph type="subTitle" idx="1"/>
          </p:nvPr>
        </p:nvSpPr>
        <p:spPr/>
        <p:txBody>
          <a:bodyPr/>
          <a:lstStyle/>
          <a:p>
            <a:pPr lvl="0"/>
            <a:r>
              <a:rPr lang="en-US" altLang="en-US" dirty="0" smtClean="0">
                <a:solidFill>
                  <a:srgbClr val="000000"/>
                </a:solidFill>
              </a:rPr>
              <a:t>Exceptions</a:t>
            </a:r>
            <a:endParaRPr lang="en-US" altLang="en-US" dirty="0">
              <a:solidFill>
                <a:srgbClr val="000000"/>
              </a:solidFill>
            </a:endParaRPr>
          </a:p>
        </p:txBody>
      </p:sp>
    </p:spTree>
    <p:extLst>
      <p:ext uri="{BB962C8B-B14F-4D97-AF65-F5344CB8AC3E}">
        <p14:creationId xmlns:p14="http://schemas.microsoft.com/office/powerpoint/2010/main" val="19873068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Indicate that something unexpected has occurred or been </a:t>
            </a:r>
            <a:r>
              <a:rPr lang="en-US" altLang="en-US" dirty="0" smtClean="0">
                <a:solidFill>
                  <a:srgbClr val="000000"/>
                </a:solidFill>
              </a:rPr>
              <a:t>detected</a:t>
            </a:r>
            <a:endParaRPr lang="en-US" altLang="en-US" dirty="0">
              <a:solidFill>
                <a:srgbClr val="000000"/>
              </a:solidFill>
            </a:endParaRPr>
          </a:p>
          <a:p>
            <a:pPr lvl="0">
              <a:lnSpc>
                <a:spcPct val="91000"/>
              </a:lnSpc>
              <a:spcBef>
                <a:spcPts val="4200"/>
              </a:spcBef>
              <a:buFontTx/>
              <a:buChar char="•"/>
            </a:pPr>
            <a:r>
              <a:rPr lang="en-US" altLang="en-US" dirty="0">
                <a:solidFill>
                  <a:srgbClr val="000000"/>
                </a:solidFill>
              </a:rPr>
              <a:t>Allow program to deal with the problem in a controlled </a:t>
            </a:r>
            <a:r>
              <a:rPr lang="en-US" altLang="en-US" dirty="0" smtClean="0">
                <a:solidFill>
                  <a:srgbClr val="000000"/>
                </a:solidFill>
              </a:rPr>
              <a:t>manner</a:t>
            </a:r>
            <a:endParaRPr lang="en-US" altLang="en-US" dirty="0">
              <a:solidFill>
                <a:srgbClr val="000000"/>
              </a:solidFill>
            </a:endParaRPr>
          </a:p>
          <a:p>
            <a:pPr>
              <a:lnSpc>
                <a:spcPct val="91000"/>
              </a:lnSpc>
              <a:spcBef>
                <a:spcPts val="4100"/>
              </a:spcBef>
              <a:buFontTx/>
              <a:buChar char="•"/>
            </a:pPr>
            <a:r>
              <a:rPr lang="en-US" altLang="en-US" dirty="0">
                <a:solidFill>
                  <a:srgbClr val="000000"/>
                </a:solidFill>
              </a:rPr>
              <a:t>Can be as simple or complex as program design requires</a:t>
            </a:r>
          </a:p>
        </p:txBody>
      </p:sp>
    </p:spTree>
    <p:extLst>
      <p:ext uri="{BB962C8B-B14F-4D97-AF65-F5344CB8AC3E}">
        <p14:creationId xmlns:p14="http://schemas.microsoft.com/office/powerpoint/2010/main" val="42637032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Terminology</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u="sng" dirty="0">
                <a:solidFill>
                  <a:srgbClr val="000000"/>
                </a:solidFill>
              </a:rPr>
              <a:t>Exception</a:t>
            </a:r>
            <a:r>
              <a:rPr lang="en-US" altLang="en-US" dirty="0">
                <a:solidFill>
                  <a:srgbClr val="000000"/>
                </a:solidFill>
              </a:rPr>
              <a:t>: object or value that signals an </a:t>
            </a:r>
            <a:r>
              <a:rPr lang="en-US" altLang="en-US" dirty="0" smtClean="0">
                <a:solidFill>
                  <a:srgbClr val="000000"/>
                </a:solidFill>
              </a:rPr>
              <a:t>error</a:t>
            </a:r>
            <a:endParaRPr lang="en-US" altLang="en-US" dirty="0">
              <a:solidFill>
                <a:srgbClr val="000000"/>
              </a:solidFill>
            </a:endParaRPr>
          </a:p>
          <a:p>
            <a:pPr lvl="0">
              <a:lnSpc>
                <a:spcPct val="89000"/>
              </a:lnSpc>
              <a:spcBef>
                <a:spcPts val="4300"/>
              </a:spcBef>
              <a:buFontTx/>
              <a:buChar char="•"/>
            </a:pPr>
            <a:r>
              <a:rPr lang="en-US" altLang="en-US" u="sng" dirty="0">
                <a:solidFill>
                  <a:srgbClr val="000000"/>
                </a:solidFill>
              </a:rPr>
              <a:t>Throw an exception</a:t>
            </a:r>
            <a:r>
              <a:rPr lang="en-US" altLang="en-US" dirty="0">
                <a:solidFill>
                  <a:srgbClr val="000000"/>
                </a:solidFill>
              </a:rPr>
              <a:t>: send a signal that an error has </a:t>
            </a:r>
            <a:r>
              <a:rPr lang="en-US" altLang="en-US" dirty="0" smtClean="0">
                <a:solidFill>
                  <a:srgbClr val="000000"/>
                </a:solidFill>
              </a:rPr>
              <a:t>occurred</a:t>
            </a:r>
            <a:endParaRPr lang="en-US" altLang="en-US" dirty="0">
              <a:solidFill>
                <a:srgbClr val="000000"/>
              </a:solidFill>
            </a:endParaRPr>
          </a:p>
          <a:p>
            <a:pPr lvl="0">
              <a:lnSpc>
                <a:spcPct val="90000"/>
              </a:lnSpc>
              <a:spcBef>
                <a:spcPts val="4200"/>
              </a:spcBef>
              <a:buFontTx/>
              <a:buChar char="•"/>
            </a:pPr>
            <a:r>
              <a:rPr lang="en-US" altLang="en-US" u="sng" dirty="0">
                <a:solidFill>
                  <a:srgbClr val="000000"/>
                </a:solidFill>
              </a:rPr>
              <a:t>Catch/Handle an exception</a:t>
            </a:r>
            <a:r>
              <a:rPr lang="en-US" altLang="en-US" dirty="0">
                <a:solidFill>
                  <a:srgbClr val="000000"/>
                </a:solidFill>
              </a:rPr>
              <a:t>: process the exception; interpret the </a:t>
            </a:r>
            <a:r>
              <a:rPr lang="en-US" altLang="en-US" dirty="0" smtClean="0">
                <a:solidFill>
                  <a:srgbClr val="000000"/>
                </a:solidFill>
              </a:rPr>
              <a:t>signal</a:t>
            </a:r>
            <a:endParaRPr lang="en-US" altLang="en-US" u="sng" dirty="0">
              <a:solidFill>
                <a:srgbClr val="000000"/>
              </a:solidFill>
            </a:endParaRPr>
          </a:p>
        </p:txBody>
      </p:sp>
    </p:spTree>
    <p:extLst>
      <p:ext uri="{BB962C8B-B14F-4D97-AF65-F5344CB8AC3E}">
        <p14:creationId xmlns:p14="http://schemas.microsoft.com/office/powerpoint/2010/main" val="3889492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Key Words</a:t>
            </a:r>
            <a:endParaRPr lang="en-IN" dirty="0"/>
          </a:p>
        </p:txBody>
      </p:sp>
      <p:sp>
        <p:nvSpPr>
          <p:cNvPr id="3" name="Content Placeholder 2"/>
          <p:cNvSpPr>
            <a:spLocks noGrp="1"/>
          </p:cNvSpPr>
          <p:nvPr>
            <p:ph idx="1"/>
          </p:nvPr>
        </p:nvSpPr>
        <p:spPr>
          <a:xfrm>
            <a:off x="457200" y="1944000"/>
            <a:ext cx="8077200" cy="3429000"/>
          </a:xfrm>
        </p:spPr>
        <p:txBody>
          <a:bodyPr/>
          <a:lstStyle/>
          <a:p>
            <a:pPr lvl="0">
              <a:lnSpc>
                <a:spcPct val="90000"/>
              </a:lnSpc>
              <a:buFontTx/>
              <a:buChar char="•"/>
            </a:pPr>
            <a:r>
              <a:rPr lang="en-US" altLang="en-US" sz="2800" dirty="0">
                <a:solidFill>
                  <a:srgbClr val="000000"/>
                </a:solidFill>
                <a:latin typeface="Courier New" panose="02070309020205020404" pitchFamily="49" charset="0"/>
              </a:rPr>
              <a:t>throw</a:t>
            </a:r>
            <a:r>
              <a:rPr lang="en-US" altLang="en-US" sz="2800" dirty="0">
                <a:solidFill>
                  <a:srgbClr val="000000"/>
                </a:solidFill>
              </a:rPr>
              <a:t> – followed by an argument, is used to throw an exception</a:t>
            </a:r>
            <a:endParaRPr lang="en-US" altLang="en-US" sz="2800" dirty="0">
              <a:solidFill>
                <a:srgbClr val="000000"/>
              </a:solidFill>
              <a:latin typeface="Courier New" panose="02070309020205020404" pitchFamily="49" charset="0"/>
            </a:endParaRPr>
          </a:p>
          <a:p>
            <a:pPr lvl="0">
              <a:lnSpc>
                <a:spcPct val="90000"/>
              </a:lnSpc>
              <a:buFontTx/>
              <a:buChar char="•"/>
            </a:pPr>
            <a:r>
              <a:rPr lang="en-US" altLang="en-US" sz="2800" dirty="0">
                <a:solidFill>
                  <a:srgbClr val="000000"/>
                </a:solidFill>
                <a:latin typeface="Courier New" panose="02070309020205020404" pitchFamily="49" charset="0"/>
              </a:rPr>
              <a:t>try</a:t>
            </a:r>
            <a:r>
              <a:rPr lang="en-US" altLang="en-US" sz="2800" dirty="0">
                <a:solidFill>
                  <a:srgbClr val="000000"/>
                </a:solidFill>
              </a:rPr>
              <a:t> – followed by a block </a:t>
            </a:r>
            <a:r>
              <a:rPr lang="en-US" altLang="en-US" sz="2800" dirty="0">
                <a:solidFill>
                  <a:srgbClr val="000000"/>
                </a:solidFill>
                <a:latin typeface="Courier New" panose="02070309020205020404" pitchFamily="49" charset="0"/>
              </a:rPr>
              <a:t>{ }</a:t>
            </a:r>
            <a:r>
              <a:rPr lang="en-US" altLang="en-US" sz="2800" dirty="0">
                <a:solidFill>
                  <a:srgbClr val="000000"/>
                </a:solidFill>
              </a:rPr>
              <a:t>, is used to invoke code that throws an exception</a:t>
            </a:r>
            <a:endParaRPr lang="en-US" altLang="en-US" sz="2800" dirty="0">
              <a:solidFill>
                <a:srgbClr val="000000"/>
              </a:solidFill>
              <a:latin typeface="Courier New" panose="02070309020205020404" pitchFamily="49" charset="0"/>
            </a:endParaRPr>
          </a:p>
          <a:p>
            <a:pPr lvl="0">
              <a:lnSpc>
                <a:spcPct val="90000"/>
              </a:lnSpc>
              <a:buFontTx/>
              <a:buChar char="•"/>
            </a:pPr>
            <a:r>
              <a:rPr lang="en-US" altLang="en-US" sz="2800" dirty="0">
                <a:solidFill>
                  <a:srgbClr val="000000"/>
                </a:solidFill>
                <a:latin typeface="Courier New" panose="02070309020205020404" pitchFamily="49" charset="0"/>
              </a:rPr>
              <a:t>catch</a:t>
            </a:r>
            <a:r>
              <a:rPr lang="en-US" altLang="en-US" sz="2800" dirty="0">
                <a:solidFill>
                  <a:srgbClr val="000000"/>
                </a:solidFill>
              </a:rPr>
              <a:t> – followed by a block </a:t>
            </a:r>
            <a:r>
              <a:rPr lang="en-US" altLang="en-US" sz="2800" dirty="0">
                <a:solidFill>
                  <a:srgbClr val="000000"/>
                </a:solidFill>
                <a:latin typeface="Courier New" panose="02070309020205020404" pitchFamily="49" charset="0"/>
              </a:rPr>
              <a:t>{ }</a:t>
            </a:r>
            <a:r>
              <a:rPr lang="en-US" altLang="en-US" sz="2800" dirty="0">
                <a:solidFill>
                  <a:srgbClr val="000000"/>
                </a:solidFill>
              </a:rPr>
              <a:t>, is used to detect and process exceptions thrown in preceding </a:t>
            </a:r>
            <a:r>
              <a:rPr lang="en-US" altLang="en-US" sz="2800" dirty="0">
                <a:solidFill>
                  <a:srgbClr val="000000"/>
                </a:solidFill>
                <a:latin typeface="Courier New" panose="02070309020205020404" pitchFamily="49" charset="0"/>
              </a:rPr>
              <a:t>try</a:t>
            </a:r>
            <a:r>
              <a:rPr lang="en-US" altLang="en-US" sz="2800" dirty="0">
                <a:solidFill>
                  <a:srgbClr val="000000"/>
                </a:solidFill>
              </a:rPr>
              <a:t> block</a:t>
            </a:r>
            <a:r>
              <a:rPr lang="en-US" altLang="en-US" sz="2800" dirty="0" smtClean="0">
                <a:solidFill>
                  <a:srgbClr val="000000"/>
                </a:solidFill>
              </a:rPr>
              <a:t>. Takes </a:t>
            </a:r>
            <a:r>
              <a:rPr lang="en-US" altLang="en-US" sz="2800" dirty="0">
                <a:solidFill>
                  <a:srgbClr val="000000"/>
                </a:solidFill>
              </a:rPr>
              <a:t>a parameter that matches the type thrown</a:t>
            </a:r>
            <a:r>
              <a:rPr lang="en-US" altLang="en-US" sz="2800" dirty="0" smtClean="0">
                <a:solidFill>
                  <a:srgbClr val="000000"/>
                </a:solidFill>
              </a:rPr>
              <a:t>.</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8195088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Flow of Control</a:t>
            </a:r>
            <a:endParaRPr lang="en-IN" dirty="0"/>
          </a:p>
        </p:txBody>
      </p:sp>
      <p:sp>
        <p:nvSpPr>
          <p:cNvPr id="3" name="Content Placeholder 2"/>
          <p:cNvSpPr>
            <a:spLocks noGrp="1"/>
          </p:cNvSpPr>
          <p:nvPr>
            <p:ph idx="1"/>
          </p:nvPr>
        </p:nvSpPr>
        <p:spPr>
          <a:xfrm>
            <a:off x="457200" y="1940400"/>
            <a:ext cx="8229600" cy="3200400"/>
          </a:xfrm>
        </p:spPr>
        <p:txBody>
          <a:bodyPr/>
          <a:lstStyle/>
          <a:p>
            <a:pPr marL="609600" lvl="0" indent="-609600">
              <a:lnSpc>
                <a:spcPct val="85000"/>
              </a:lnSpc>
              <a:buClr>
                <a:srgbClr val="000000"/>
              </a:buClr>
              <a:buFontTx/>
              <a:buAutoNum type="arabicParenR"/>
            </a:pPr>
            <a:r>
              <a:rPr lang="en-US" altLang="en-US" sz="2400" dirty="0">
                <a:solidFill>
                  <a:srgbClr val="000000"/>
                </a:solidFill>
              </a:rPr>
              <a:t>A function that throws an exception is called from within a try block</a:t>
            </a:r>
          </a:p>
          <a:p>
            <a:pPr marL="609600" lvl="0" indent="-609600">
              <a:lnSpc>
                <a:spcPct val="85000"/>
              </a:lnSpc>
              <a:buClr>
                <a:srgbClr val="000000"/>
              </a:buClr>
              <a:buFontTx/>
              <a:buAutoNum type="arabicParenR"/>
            </a:pPr>
            <a:r>
              <a:rPr lang="en-US" altLang="en-US" sz="2400" dirty="0">
                <a:solidFill>
                  <a:srgbClr val="000000"/>
                </a:solidFill>
              </a:rPr>
              <a:t>If the function throws an exception, the function terminates and the try block is immediately exited</a:t>
            </a:r>
            <a:r>
              <a:rPr lang="en-US" altLang="en-US" sz="2400" dirty="0" smtClean="0">
                <a:solidFill>
                  <a:srgbClr val="000000"/>
                </a:solidFill>
              </a:rPr>
              <a:t>. A </a:t>
            </a:r>
            <a:r>
              <a:rPr lang="en-US" altLang="en-US" sz="2400" dirty="0">
                <a:solidFill>
                  <a:srgbClr val="000000"/>
                </a:solidFill>
              </a:rPr>
              <a:t>catch block to process the exception is searched for in the source code immediately following the try block.</a:t>
            </a:r>
          </a:p>
          <a:p>
            <a:pPr marL="609600" lvl="0" indent="-609600">
              <a:lnSpc>
                <a:spcPct val="85000"/>
              </a:lnSpc>
              <a:buClr>
                <a:srgbClr val="000000"/>
              </a:buClr>
              <a:buFontTx/>
              <a:buAutoNum type="arabicParenR"/>
            </a:pPr>
            <a:r>
              <a:rPr lang="en-US" altLang="en-US" sz="2400" dirty="0">
                <a:solidFill>
                  <a:srgbClr val="000000"/>
                </a:solidFill>
              </a:rPr>
              <a:t>If a catch block is found that matches the exception thrown, it is executed</a:t>
            </a:r>
            <a:r>
              <a:rPr lang="en-US" altLang="en-US" sz="2400" dirty="0" smtClean="0">
                <a:solidFill>
                  <a:srgbClr val="000000"/>
                </a:solidFill>
              </a:rPr>
              <a:t>. If </a:t>
            </a:r>
            <a:r>
              <a:rPr lang="en-US" altLang="en-US" sz="2400" dirty="0">
                <a:solidFill>
                  <a:srgbClr val="000000"/>
                </a:solidFill>
              </a:rPr>
              <a:t>no catch block that matches the exception is found, the program terminates</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22956890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Example (1)</a:t>
            </a:r>
            <a:endParaRPr lang="en-IN" dirty="0"/>
          </a:p>
        </p:txBody>
      </p:sp>
      <p:sp>
        <p:nvSpPr>
          <p:cNvPr id="3" name="Content Placeholder 2"/>
          <p:cNvSpPr>
            <a:spLocks noGrp="1"/>
          </p:cNvSpPr>
          <p:nvPr>
            <p:ph idx="1"/>
          </p:nvPr>
        </p:nvSpPr>
        <p:spPr>
          <a:xfrm>
            <a:off x="152400" y="1828800"/>
            <a:ext cx="8229600" cy="4525963"/>
          </a:xfrm>
        </p:spPr>
        <p:txBody>
          <a:bodyPr/>
          <a:lstStyle/>
          <a:p>
            <a:pPr marL="684000" lvl="0">
              <a:lnSpc>
                <a:spcPct val="85000"/>
              </a:lnSpc>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function that throws an exception</a:t>
            </a:r>
          </a:p>
          <a:p>
            <a:pPr marL="684000" lvl="0">
              <a:lnSpc>
                <a:spcPct val="85000"/>
              </a:lnSpc>
              <a:buNone/>
            </a:pPr>
            <a:r>
              <a:rPr lang="en-US" altLang="en-US" sz="2400" dirty="0" smtClean="0">
                <a:solidFill>
                  <a:srgbClr val="000000"/>
                </a:solidFill>
                <a:latin typeface="Courier New" panose="02070309020205020404" pitchFamily="49" charset="0"/>
              </a:rPr>
              <a:t>int </a:t>
            </a:r>
            <a:r>
              <a:rPr lang="en-US" altLang="en-US" sz="2400" dirty="0">
                <a:solidFill>
                  <a:srgbClr val="000000"/>
                </a:solidFill>
                <a:latin typeface="Courier New" panose="02070309020205020404" pitchFamily="49" charset="0"/>
              </a:rPr>
              <a:t>totalDays(int days, int </a:t>
            </a:r>
            <a:r>
              <a:rPr lang="en-US" altLang="en-US" sz="2400" dirty="0" smtClean="0">
                <a:solidFill>
                  <a:srgbClr val="000000"/>
                </a:solidFill>
                <a:latin typeface="Courier New" panose="02070309020205020404" pitchFamily="49" charset="0"/>
              </a:rPr>
              <a:t>weeks)</a:t>
            </a:r>
            <a:endParaRPr lang="en-US" altLang="en-US" sz="2400" dirty="0">
              <a:solidFill>
                <a:srgbClr val="000000"/>
              </a:solidFill>
              <a:latin typeface="Courier New" panose="02070309020205020404" pitchFamily="49" charset="0"/>
            </a:endParaRPr>
          </a:p>
          <a:p>
            <a:pPr marL="684000" lvl="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1260000" lvl="0">
              <a:lnSpc>
                <a:spcPct val="85000"/>
              </a:lnSpc>
              <a:buNone/>
            </a:pPr>
            <a:r>
              <a:rPr lang="en-US" altLang="en-US" sz="2400" dirty="0" smtClean="0">
                <a:solidFill>
                  <a:srgbClr val="000000"/>
                </a:solidFill>
                <a:latin typeface="Courier New" panose="02070309020205020404" pitchFamily="49" charset="0"/>
              </a:rPr>
              <a:t>if </a:t>
            </a:r>
            <a:r>
              <a:rPr lang="en-US" altLang="en-US" sz="2400" dirty="0">
                <a:solidFill>
                  <a:srgbClr val="000000"/>
                </a:solidFill>
                <a:latin typeface="Courier New" panose="02070309020205020404" pitchFamily="49" charset="0"/>
              </a:rPr>
              <a:t>((days &lt; 0) || (days &gt; 7))</a:t>
            </a:r>
          </a:p>
          <a:p>
            <a:pPr marL="1620000" lvl="0">
              <a:lnSpc>
                <a:spcPct val="85000"/>
              </a:lnSpc>
              <a:buNone/>
            </a:pPr>
            <a:r>
              <a:rPr lang="en-US" altLang="en-US" sz="2400" dirty="0" smtClean="0">
                <a:solidFill>
                  <a:srgbClr val="000000"/>
                </a:solidFill>
                <a:latin typeface="Courier New" panose="02070309020205020404" pitchFamily="49" charset="0"/>
              </a:rPr>
              <a:t>throw </a:t>
            </a:r>
            <a:r>
              <a:rPr lang="en-US" altLang="en-US" sz="2400" dirty="0">
                <a:solidFill>
                  <a:srgbClr val="000000"/>
                </a:solidFill>
                <a:latin typeface="Courier New" panose="02070309020205020404" pitchFamily="49" charset="0"/>
              </a:rPr>
              <a:t>"invalid number of days";</a:t>
            </a:r>
          </a:p>
          <a:p>
            <a:pPr marL="684000" lvl="0">
              <a:lnSpc>
                <a:spcPct val="85000"/>
              </a:lnSpc>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the argument to throw is the</a:t>
            </a:r>
          </a:p>
          <a:p>
            <a:pPr marL="684000" lvl="0">
              <a:lnSpc>
                <a:spcPct val="85000"/>
              </a:lnSpc>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character string</a:t>
            </a:r>
          </a:p>
          <a:p>
            <a:pPr marL="1080000" lvl="0">
              <a:lnSpc>
                <a:spcPct val="85000"/>
              </a:lnSpc>
              <a:buNone/>
            </a:pPr>
            <a:r>
              <a:rPr lang="en-US" altLang="en-US" sz="2400" dirty="0" smtClean="0">
                <a:solidFill>
                  <a:srgbClr val="000000"/>
                </a:solidFill>
                <a:latin typeface="Courier New" panose="02070309020205020404" pitchFamily="49" charset="0"/>
              </a:rPr>
              <a:t>else</a:t>
            </a:r>
            <a:endParaRPr lang="en-US" altLang="en-US" sz="2400" dirty="0">
              <a:solidFill>
                <a:srgbClr val="000000"/>
              </a:solidFill>
              <a:latin typeface="Courier New" panose="02070309020205020404" pitchFamily="49" charset="0"/>
            </a:endParaRPr>
          </a:p>
          <a:p>
            <a:pPr marL="1620000" lvl="0">
              <a:lnSpc>
                <a:spcPct val="85000"/>
              </a:lnSpc>
              <a:buNone/>
            </a:pPr>
            <a:r>
              <a:rPr lang="en-US" altLang="en-US" sz="2400" dirty="0" smtClean="0">
                <a:solidFill>
                  <a:srgbClr val="000000"/>
                </a:solidFill>
                <a:latin typeface="Courier New" panose="02070309020205020404" pitchFamily="49" charset="0"/>
              </a:rPr>
              <a:t>return </a:t>
            </a:r>
            <a:r>
              <a:rPr lang="en-US" altLang="en-US" sz="2400" dirty="0">
                <a:solidFill>
                  <a:srgbClr val="000000"/>
                </a:solidFill>
                <a:latin typeface="Courier New" panose="02070309020205020404" pitchFamily="49" charset="0"/>
              </a:rPr>
              <a:t>(7 * weeks + days);</a:t>
            </a:r>
          </a:p>
          <a:p>
            <a:pPr marL="684000" lvl="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0695210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Example (2)</a:t>
            </a:r>
            <a:endParaRPr lang="en-IN" dirty="0"/>
          </a:p>
        </p:txBody>
      </p:sp>
      <p:sp>
        <p:nvSpPr>
          <p:cNvPr id="3" name="Content Placeholder 2"/>
          <p:cNvSpPr>
            <a:spLocks noGrp="1"/>
          </p:cNvSpPr>
          <p:nvPr>
            <p:ph idx="1"/>
          </p:nvPr>
        </p:nvSpPr>
        <p:spPr>
          <a:xfrm>
            <a:off x="723600" y="1828800"/>
            <a:ext cx="7429800" cy="4525963"/>
          </a:xfrm>
        </p:spPr>
        <p:txBody>
          <a:bodyPr/>
          <a:lstStyle/>
          <a:p>
            <a:pPr lvl="0">
              <a:lnSpc>
                <a:spcPct val="85000"/>
              </a:lnSpc>
              <a:buNone/>
            </a:pPr>
            <a:r>
              <a:rPr lang="en-US" altLang="en-US" sz="2400" dirty="0" smtClean="0">
                <a:solidFill>
                  <a:srgbClr val="000000"/>
                </a:solidFill>
                <a:latin typeface="Courier New" panose="02070309020205020404" pitchFamily="49" charset="0"/>
              </a:rPr>
              <a:t>try </a:t>
            </a:r>
            <a:r>
              <a:rPr lang="en-US" altLang="en-US" sz="2400" dirty="0">
                <a:solidFill>
                  <a:srgbClr val="000000"/>
                </a:solidFill>
                <a:latin typeface="Courier New" panose="02070309020205020404" pitchFamily="49" charset="0"/>
              </a:rPr>
              <a:t>// block that calls function </a:t>
            </a:r>
          </a:p>
          <a:p>
            <a:pPr lvl="0">
              <a:lnSpc>
                <a:spcPct val="85000"/>
              </a:lnSpc>
              <a:buNone/>
            </a:pPr>
            <a:r>
              <a:rPr lang="en-US" altLang="en-US" sz="2400" dirty="0" smtClean="0">
                <a:solidFill>
                  <a:srgbClr val="000000"/>
                </a:solidFill>
                <a:latin typeface="Courier New" panose="02070309020205020404" pitchFamily="49" charset="0"/>
              </a:rPr>
              <a:t>{  </a:t>
            </a:r>
            <a:endParaRPr lang="en-US" altLang="en-US" sz="2400" dirty="0">
              <a:solidFill>
                <a:srgbClr val="000000"/>
              </a:solidFill>
              <a:latin typeface="Courier New" panose="02070309020205020404" pitchFamily="49" charset="0"/>
            </a:endParaRPr>
          </a:p>
          <a:p>
            <a:pPr marL="756000" lvl="0" indent="0">
              <a:lnSpc>
                <a:spcPct val="85000"/>
              </a:lnSpc>
              <a:buNone/>
            </a:pPr>
            <a:r>
              <a:rPr lang="en-US" altLang="en-US" sz="2400" dirty="0" smtClean="0">
                <a:solidFill>
                  <a:srgbClr val="000000"/>
                </a:solidFill>
                <a:latin typeface="Courier New" panose="02070309020205020404" pitchFamily="49" charset="0"/>
              </a:rPr>
              <a:t>totDays </a:t>
            </a:r>
            <a:r>
              <a:rPr lang="en-US" altLang="en-US" sz="2400" dirty="0">
                <a:solidFill>
                  <a:srgbClr val="000000"/>
                </a:solidFill>
                <a:latin typeface="Courier New" panose="02070309020205020404" pitchFamily="49" charset="0"/>
              </a:rPr>
              <a:t>= </a:t>
            </a:r>
            <a:r>
              <a:rPr lang="en-US" altLang="en-US" sz="2400" dirty="0" smtClean="0">
                <a:solidFill>
                  <a:srgbClr val="000000"/>
                </a:solidFill>
                <a:latin typeface="Courier New" panose="02070309020205020404" pitchFamily="49" charset="0"/>
              </a:rPr>
              <a:t>totalDays(days, weeks</a:t>
            </a:r>
            <a:r>
              <a:rPr lang="en-US" altLang="en-US" sz="2400" dirty="0">
                <a:solidFill>
                  <a:srgbClr val="000000"/>
                </a:solidFill>
                <a:latin typeface="Courier New" panose="02070309020205020404" pitchFamily="49" charset="0"/>
              </a:rPr>
              <a:t>);</a:t>
            </a:r>
          </a:p>
          <a:p>
            <a:pPr marL="914400" lvl="0">
              <a:lnSpc>
                <a:spcPct val="85000"/>
              </a:lnSpc>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"Total days: " &lt;&lt; days;</a:t>
            </a:r>
          </a:p>
          <a:p>
            <a:pPr marL="370800" lvl="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367200" lvl="0">
              <a:lnSpc>
                <a:spcPct val="85000"/>
              </a:lnSpc>
              <a:buNone/>
            </a:pPr>
            <a:r>
              <a:rPr lang="en-US" altLang="en-US" sz="2400" dirty="0" smtClean="0">
                <a:solidFill>
                  <a:srgbClr val="000000"/>
                </a:solidFill>
                <a:latin typeface="Courier New" panose="02070309020205020404" pitchFamily="49" charset="0"/>
              </a:rPr>
              <a:t>catch </a:t>
            </a:r>
            <a:r>
              <a:rPr lang="en-US" altLang="en-US" sz="2400" dirty="0">
                <a:solidFill>
                  <a:srgbClr val="000000"/>
                </a:solidFill>
                <a:latin typeface="Courier New" panose="02070309020205020404" pitchFamily="49" charset="0"/>
              </a:rPr>
              <a:t>(char *msg) // </a:t>
            </a:r>
            <a:r>
              <a:rPr lang="en-US" altLang="en-US" sz="2400" dirty="0" smtClean="0">
                <a:solidFill>
                  <a:srgbClr val="000000"/>
                </a:solidFill>
                <a:latin typeface="Courier New" panose="02070309020205020404" pitchFamily="49" charset="0"/>
              </a:rPr>
              <a:t>interpret</a:t>
            </a:r>
          </a:p>
          <a:p>
            <a:pPr marL="3193200" lvl="0">
              <a:lnSpc>
                <a:spcPct val="85000"/>
              </a:lnSpc>
              <a:spcBef>
                <a:spcPts val="0"/>
              </a:spcBef>
              <a:buNone/>
            </a:pPr>
            <a:r>
              <a:rPr lang="en-US" altLang="en-US" sz="2400" dirty="0" smtClean="0">
                <a:solidFill>
                  <a:srgbClr val="000000"/>
                </a:solidFill>
                <a:latin typeface="Courier New" panose="02070309020205020404" pitchFamily="49" charset="0"/>
              </a:rPr>
              <a:t>// </a:t>
            </a:r>
            <a:r>
              <a:rPr lang="en-US" altLang="en-US" sz="2400" dirty="0" smtClean="0">
                <a:solidFill>
                  <a:srgbClr val="000000"/>
                </a:solidFill>
              </a:rPr>
              <a:t> </a:t>
            </a:r>
            <a:r>
              <a:rPr lang="en-US" altLang="en-US" sz="2400" dirty="0">
                <a:solidFill>
                  <a:srgbClr val="000000"/>
                </a:solidFill>
                <a:latin typeface="Courier New" panose="02070309020205020404" pitchFamily="49" charset="0"/>
              </a:rPr>
              <a:t>exception</a:t>
            </a:r>
          </a:p>
          <a:p>
            <a:pPr marL="367200" lvl="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914400" lvl="0">
              <a:lnSpc>
                <a:spcPct val="85000"/>
              </a:lnSpc>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"Error: " &lt;&lt; msg;</a:t>
            </a:r>
          </a:p>
          <a:p>
            <a:pPr marL="367200" lvl="0">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4573998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What Happens</a:t>
            </a:r>
            <a:endParaRPr lang="en-IN" dirty="0"/>
          </a:p>
        </p:txBody>
      </p:sp>
      <p:sp>
        <p:nvSpPr>
          <p:cNvPr id="3" name="Content Placeholder 2"/>
          <p:cNvSpPr>
            <a:spLocks noGrp="1"/>
          </p:cNvSpPr>
          <p:nvPr>
            <p:ph idx="1"/>
          </p:nvPr>
        </p:nvSpPr>
        <p:spPr/>
        <p:txBody>
          <a:bodyPr/>
          <a:lstStyle/>
          <a:p>
            <a:pPr marL="609600" lvl="0" indent="-609600">
              <a:buClr>
                <a:srgbClr val="000000"/>
              </a:buClr>
              <a:buFontTx/>
              <a:buAutoNum type="arabicParenR"/>
            </a:pPr>
            <a:r>
              <a:rPr lang="en-US" altLang="en-US" sz="2800" dirty="0" smtClean="0">
                <a:solidFill>
                  <a:srgbClr val="000000"/>
                </a:solidFill>
                <a:latin typeface="Courier New" panose="02070309020205020404" pitchFamily="49" charset="0"/>
              </a:rPr>
              <a:t>try</a:t>
            </a:r>
            <a:r>
              <a:rPr lang="en-US" altLang="en-US" sz="2800" dirty="0" smtClean="0">
                <a:solidFill>
                  <a:srgbClr val="000000"/>
                </a:solidFill>
              </a:rPr>
              <a:t> </a:t>
            </a:r>
            <a:r>
              <a:rPr lang="en-US" altLang="en-US" sz="2800" dirty="0">
                <a:solidFill>
                  <a:srgbClr val="000000"/>
                </a:solidFill>
              </a:rPr>
              <a:t>block is entered</a:t>
            </a:r>
            <a:r>
              <a:rPr lang="en-US" altLang="en-US" sz="2800" dirty="0" smtClean="0">
                <a:solidFill>
                  <a:srgbClr val="000000"/>
                </a:solidFill>
              </a:rPr>
              <a:t>. </a:t>
            </a:r>
            <a:r>
              <a:rPr lang="en-US" altLang="en-US" sz="2800" dirty="0" smtClean="0">
                <a:solidFill>
                  <a:srgbClr val="000000"/>
                </a:solidFill>
                <a:latin typeface="Courier New" panose="02070309020205020404" pitchFamily="49" charset="0"/>
              </a:rPr>
              <a:t>totalDays</a:t>
            </a:r>
            <a:r>
              <a:rPr lang="en-US" altLang="en-US" sz="2800" dirty="0" smtClean="0">
                <a:solidFill>
                  <a:srgbClr val="000000"/>
                </a:solidFill>
              </a:rPr>
              <a:t> </a:t>
            </a:r>
            <a:r>
              <a:rPr lang="en-US" altLang="en-US" sz="2800" dirty="0">
                <a:solidFill>
                  <a:srgbClr val="000000"/>
                </a:solidFill>
              </a:rPr>
              <a:t>function is called</a:t>
            </a:r>
          </a:p>
          <a:p>
            <a:pPr marL="609600" lvl="0" indent="-609600">
              <a:buClr>
                <a:srgbClr val="000000"/>
              </a:buClr>
              <a:buFontTx/>
              <a:buAutoNum type="arabicParenR"/>
            </a:pPr>
            <a:r>
              <a:rPr lang="en-US" altLang="en-US" sz="2800" dirty="0">
                <a:solidFill>
                  <a:srgbClr val="000000"/>
                </a:solidFill>
              </a:rPr>
              <a:t>If 1st parameter is between 0 and 7, total number of days is returned and </a:t>
            </a:r>
            <a:r>
              <a:rPr lang="en-US" altLang="en-US" sz="2800" dirty="0">
                <a:solidFill>
                  <a:srgbClr val="000000"/>
                </a:solidFill>
                <a:latin typeface="Courier New" panose="02070309020205020404" pitchFamily="49" charset="0"/>
              </a:rPr>
              <a:t>catch</a:t>
            </a:r>
            <a:r>
              <a:rPr lang="en-US" altLang="en-US" sz="2800" dirty="0">
                <a:solidFill>
                  <a:srgbClr val="000000"/>
                </a:solidFill>
              </a:rPr>
              <a:t> block is skipped over (no exception thrown)</a:t>
            </a:r>
          </a:p>
          <a:p>
            <a:pPr marL="609600" lvl="0" indent="-609600">
              <a:buClr>
                <a:srgbClr val="000000"/>
              </a:buClr>
              <a:buFontTx/>
              <a:buAutoNum type="arabicParenR"/>
            </a:pPr>
            <a:r>
              <a:rPr lang="en-US" altLang="en-US" sz="2800" dirty="0">
                <a:solidFill>
                  <a:srgbClr val="000000"/>
                </a:solidFill>
              </a:rPr>
              <a:t>If exception is thrown, function and </a:t>
            </a:r>
            <a:r>
              <a:rPr lang="en-US" altLang="en-US" sz="2800" dirty="0">
                <a:solidFill>
                  <a:srgbClr val="000000"/>
                </a:solidFill>
                <a:latin typeface="Courier New" panose="02070309020205020404" pitchFamily="49" charset="0"/>
              </a:rPr>
              <a:t>try</a:t>
            </a:r>
            <a:r>
              <a:rPr lang="en-US" altLang="en-US" sz="2800" dirty="0">
                <a:solidFill>
                  <a:srgbClr val="000000"/>
                </a:solidFill>
              </a:rPr>
              <a:t> block are exited, </a:t>
            </a:r>
            <a:r>
              <a:rPr lang="en-US" altLang="en-US" sz="2800" dirty="0">
                <a:solidFill>
                  <a:srgbClr val="000000"/>
                </a:solidFill>
                <a:latin typeface="Courier New" panose="02070309020205020404" pitchFamily="49" charset="0"/>
              </a:rPr>
              <a:t>catch</a:t>
            </a:r>
            <a:r>
              <a:rPr lang="en-US" altLang="en-US" sz="2800" dirty="0">
                <a:solidFill>
                  <a:srgbClr val="000000"/>
                </a:solidFill>
              </a:rPr>
              <a:t> blocks are scanned for 1</a:t>
            </a:r>
            <a:r>
              <a:rPr lang="en-US" altLang="en-US" sz="2800" baseline="30000" dirty="0">
                <a:solidFill>
                  <a:srgbClr val="000000"/>
                </a:solidFill>
              </a:rPr>
              <a:t>st</a:t>
            </a:r>
            <a:r>
              <a:rPr lang="en-US" altLang="en-US" sz="2800" dirty="0">
                <a:solidFill>
                  <a:srgbClr val="000000"/>
                </a:solidFill>
              </a:rPr>
              <a:t> one that matches the data type of the thrown exception</a:t>
            </a:r>
            <a:r>
              <a:rPr lang="en-US" altLang="en-US" sz="2800" dirty="0" smtClean="0">
                <a:solidFill>
                  <a:srgbClr val="000000"/>
                </a:solidFill>
              </a:rPr>
              <a:t>. </a:t>
            </a:r>
            <a:r>
              <a:rPr lang="en-US" altLang="en-US" sz="2800" dirty="0" smtClean="0">
                <a:solidFill>
                  <a:srgbClr val="000000"/>
                </a:solidFill>
                <a:latin typeface="Courier New" panose="02070309020205020404" pitchFamily="49" charset="0"/>
              </a:rPr>
              <a:t>catch</a:t>
            </a:r>
            <a:r>
              <a:rPr lang="en-US" altLang="en-US" sz="2800" dirty="0" smtClean="0">
                <a:solidFill>
                  <a:srgbClr val="000000"/>
                </a:solidFill>
              </a:rPr>
              <a:t> </a:t>
            </a:r>
            <a:r>
              <a:rPr lang="en-US" altLang="en-US" sz="2800" dirty="0">
                <a:solidFill>
                  <a:srgbClr val="000000"/>
                </a:solidFill>
              </a:rPr>
              <a:t>block </a:t>
            </a:r>
            <a:r>
              <a:rPr lang="en-US" altLang="en-US" sz="2800" dirty="0" smtClean="0">
                <a:solidFill>
                  <a:srgbClr val="000000"/>
                </a:solidFill>
              </a:rPr>
              <a:t>executes</a:t>
            </a:r>
            <a:endParaRPr lang="en-US" altLang="en-US" sz="2800" dirty="0">
              <a:solidFill>
                <a:srgbClr val="000000"/>
              </a:solidFill>
            </a:endParaRPr>
          </a:p>
        </p:txBody>
      </p:sp>
    </p:spTree>
    <p:extLst>
      <p:ext uri="{BB962C8B-B14F-4D97-AF65-F5344CB8AC3E}">
        <p14:creationId xmlns:p14="http://schemas.microsoft.com/office/powerpoint/2010/main" val="31669415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2000"/>
            <a:ext cx="8229600" cy="715962"/>
          </a:xfrm>
        </p:spPr>
        <p:txBody>
          <a:bodyPr/>
          <a:lstStyle/>
          <a:p>
            <a:pPr lvl="0" eaLnBrk="1" hangingPunct="1">
              <a:spcBef>
                <a:spcPct val="50000"/>
              </a:spcBef>
            </a:pPr>
            <a:r>
              <a:rPr lang="en-US" altLang="en-US" sz="3600" kern="1200" dirty="0">
                <a:latin typeface="Arial" panose="020B0604020202020204" pitchFamily="34" charset="0"/>
                <a:ea typeface="+mn-ea"/>
                <a:cs typeface="Arial" panose="020B0604020202020204" pitchFamily="34" charset="0"/>
              </a:rPr>
              <a:t>From Program </a:t>
            </a:r>
            <a:r>
              <a:rPr lang="en-US" altLang="en-US" sz="3600" kern="1200" dirty="0" smtClean="0">
                <a:latin typeface="Arial" panose="020B0604020202020204" pitchFamily="34" charset="0"/>
                <a:ea typeface="+mn-ea"/>
                <a:cs typeface="Arial" panose="020B0604020202020204" pitchFamily="34" charset="0"/>
              </a:rPr>
              <a:t>16-1 </a:t>
            </a:r>
            <a:r>
              <a:rPr lang="en-US" altLang="en-US" sz="1200" kern="1200" dirty="0" smtClean="0">
                <a:latin typeface="Arial" panose="020B0604020202020204" pitchFamily="34" charset="0"/>
                <a:ea typeface="+mn-ea"/>
                <a:cs typeface="Arial" panose="020B0604020202020204" pitchFamily="34" charset="0"/>
              </a:rPr>
              <a:t>(1 of 2)</a:t>
            </a:r>
            <a:endParaRPr lang="en-IN" dirty="0"/>
          </a:p>
        </p:txBody>
      </p:sp>
      <p:pic>
        <p:nvPicPr>
          <p:cNvPr id="4" name="Picture 2" descr="The screenshot shows the program to divide the first number by the second number and to catch any potential exceptions. The main function declares the variables num1, num2, and quotient. The catch statement catches the string exceptions and prints the end of the progra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1081088"/>
            <a:ext cx="6445250"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78177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2000"/>
            <a:ext cx="8229600" cy="715962"/>
          </a:xfrm>
        </p:spPr>
        <p:txBody>
          <a:bodyPr/>
          <a:lstStyle/>
          <a:p>
            <a:pPr lvl="0" eaLnBrk="1" hangingPunct="1">
              <a:spcBef>
                <a:spcPct val="50000"/>
              </a:spcBef>
            </a:pPr>
            <a:r>
              <a:rPr lang="en-US" altLang="en-US" sz="3600" kern="1200" dirty="0">
                <a:latin typeface="Arial" panose="020B0604020202020204" pitchFamily="34" charset="0"/>
                <a:ea typeface="+mn-ea"/>
                <a:cs typeface="Arial" panose="020B0604020202020204" pitchFamily="34" charset="0"/>
              </a:rPr>
              <a:t>From Program </a:t>
            </a:r>
            <a:r>
              <a:rPr lang="en-US" altLang="en-US" sz="3600" kern="1200" dirty="0" smtClean="0">
                <a:latin typeface="Arial" panose="020B0604020202020204" pitchFamily="34" charset="0"/>
                <a:ea typeface="+mn-ea"/>
                <a:cs typeface="Arial" panose="020B0604020202020204" pitchFamily="34" charset="0"/>
              </a:rPr>
              <a:t>16-1 </a:t>
            </a:r>
            <a:r>
              <a:rPr lang="en-US" altLang="en-US" sz="1200" kern="1200" dirty="0" smtClean="0">
                <a:latin typeface="Arial" panose="020B0604020202020204" pitchFamily="34" charset="0"/>
                <a:ea typeface="+mn-ea"/>
                <a:cs typeface="Arial" panose="020B0604020202020204" pitchFamily="34" charset="0"/>
              </a:rPr>
              <a:t>(2 of 2)</a:t>
            </a:r>
            <a:endParaRPr lang="en-IN" dirty="0"/>
          </a:p>
        </p:txBody>
      </p:sp>
      <p:pic>
        <p:nvPicPr>
          <p:cNvPr id="5" name="Picture 2" descr="The screenshot shows the program to divide the first number by the second number and to catch any potential exceptions. The main function declares the variables num1, num2, and quotient. The catch statement catches the string exceptions and prints the end of the program. The divide function divides the numerator by the denominator. if the denominator is zero, the function throws an exception. The function divide (int numerator, int denominator) checks if the denominator equals zero. If true, it throws the error &quot;Cannot divide by zero.&quot; The program output with example input shows: In the first scenario, the two numbers 12 and 2 are entered by the user, which shows the quotient as 6. The end of the program is shown. In the second scenario, the two numbers 12, and 0 are entered by the user. It displays an error message that reads, &quot;Error: cannot divide by Zero.&quot; The end of the program is show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295400"/>
            <a:ext cx="6556375"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31940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6800"/>
            <a:ext cx="8229600" cy="1066800"/>
          </a:xfrm>
        </p:spPr>
        <p:txBody>
          <a:bodyPr/>
          <a:lstStyle/>
          <a:p>
            <a:pPr lvl="0" eaLnBrk="1" hangingPunct="1">
              <a:spcBef>
                <a:spcPct val="50000"/>
              </a:spcBef>
            </a:pPr>
            <a:r>
              <a:rPr lang="en-US" altLang="en-US" sz="3600" kern="1200" dirty="0">
                <a:latin typeface="Arial" panose="020B0604020202020204" pitchFamily="34" charset="0"/>
                <a:ea typeface="+mn-ea"/>
                <a:cs typeface="Arial" panose="020B0604020202020204" pitchFamily="34" charset="0"/>
              </a:rPr>
              <a:t>What Happens in theTry/Catch </a:t>
            </a:r>
            <a:r>
              <a:rPr lang="en-US" altLang="en-US" sz="3600" kern="1200" dirty="0" smtClean="0">
                <a:latin typeface="Arial" panose="020B0604020202020204" pitchFamily="34" charset="0"/>
                <a:ea typeface="+mn-ea"/>
                <a:cs typeface="Arial" panose="020B0604020202020204" pitchFamily="34" charset="0"/>
              </a:rPr>
              <a:t>Construct</a:t>
            </a:r>
            <a:endParaRPr lang="en-IN" dirty="0"/>
          </a:p>
        </p:txBody>
      </p:sp>
      <p:pic>
        <p:nvPicPr>
          <p:cNvPr id="5" name="Picture 2" descr="The code explains the working in the try /catch construct. The line, Quotient equals divide (num1, num 2); in the try block throws an exception, the statement to display the quotient is skipped. If the exception is a string, the program jumps to the catch clause. After the catch block is finished, the program resumes and displays the output, &quot;End of the program.&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057400"/>
            <a:ext cx="8610600" cy="276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38246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229600" cy="792162"/>
          </a:xfrm>
        </p:spPr>
        <p:txBody>
          <a:bodyPr/>
          <a:lstStyle/>
          <a:p>
            <a:pPr lvl="0" eaLnBrk="1" hangingPunct="1">
              <a:spcBef>
                <a:spcPct val="50000"/>
              </a:spcBef>
            </a:pPr>
            <a:r>
              <a:rPr lang="en-US" altLang="en-US" sz="3600" kern="1200" dirty="0">
                <a:latin typeface="Arial" panose="020B0604020202020204" pitchFamily="34" charset="0"/>
                <a:ea typeface="+mn-ea"/>
                <a:cs typeface="Arial" panose="020B0604020202020204" pitchFamily="34" charset="0"/>
              </a:rPr>
              <a:t>What if no exception is thrown</a:t>
            </a:r>
            <a:r>
              <a:rPr lang="en-US" altLang="en-US" sz="3600" kern="1200" dirty="0" smtClean="0">
                <a:latin typeface="Arial" panose="020B0604020202020204" pitchFamily="34" charset="0"/>
                <a:ea typeface="+mn-ea"/>
                <a:cs typeface="Arial" panose="020B0604020202020204" pitchFamily="34" charset="0"/>
              </a:rPr>
              <a:t>?</a:t>
            </a:r>
            <a:endParaRPr lang="en-IN" dirty="0"/>
          </a:p>
        </p:txBody>
      </p:sp>
      <p:pic>
        <p:nvPicPr>
          <p:cNvPr id="4" name="Picture 3" descr="The code explains the working in the try /catch construct. If no exception is thrown in the try block, the program jumps to the statement that immediately follows the try/catch construct. The program checks if the quotient equals divide (num1, num2) and displays the quotient. It enters the try block, checks for an exception and displays the output that reads, &quot;End of the program.&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09775"/>
            <a:ext cx="87630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51776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 Notes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Predefined functions such as </a:t>
            </a:r>
            <a:r>
              <a:rPr lang="en-US" altLang="en-US" dirty="0">
                <a:solidFill>
                  <a:srgbClr val="000000"/>
                </a:solidFill>
                <a:latin typeface="Courier New" panose="02070309020205020404" pitchFamily="49" charset="0"/>
              </a:rPr>
              <a:t>new</a:t>
            </a:r>
            <a:r>
              <a:rPr lang="en-US" altLang="en-US" dirty="0">
                <a:solidFill>
                  <a:srgbClr val="000000"/>
                </a:solidFill>
              </a:rPr>
              <a:t> may throw exceptions</a:t>
            </a:r>
          </a:p>
          <a:p>
            <a:pPr lvl="0">
              <a:buFontTx/>
              <a:buChar char="•"/>
            </a:pPr>
            <a:r>
              <a:rPr lang="en-US" altLang="en-US" dirty="0">
                <a:solidFill>
                  <a:srgbClr val="000000"/>
                </a:solidFill>
              </a:rPr>
              <a:t>The value that is thrown does not need to be used in </a:t>
            </a:r>
            <a:r>
              <a:rPr lang="en-US" altLang="en-US" dirty="0">
                <a:solidFill>
                  <a:srgbClr val="000000"/>
                </a:solidFill>
                <a:latin typeface="Courier New" panose="02070309020205020404" pitchFamily="49" charset="0"/>
              </a:rPr>
              <a:t>catch</a:t>
            </a:r>
            <a:r>
              <a:rPr lang="en-US" altLang="en-US" dirty="0">
                <a:solidFill>
                  <a:srgbClr val="000000"/>
                </a:solidFill>
              </a:rPr>
              <a:t> block</a:t>
            </a:r>
            <a:r>
              <a:rPr lang="en-US" altLang="en-US" dirty="0" smtClean="0">
                <a:solidFill>
                  <a:srgbClr val="000000"/>
                </a:solidFill>
              </a:rPr>
              <a:t>.</a:t>
            </a:r>
            <a:endParaRPr lang="en-US" altLang="en-US" dirty="0">
              <a:solidFill>
                <a:srgbClr val="000000"/>
              </a:solidFill>
            </a:endParaRPr>
          </a:p>
          <a:p>
            <a:pPr lvl="1"/>
            <a:r>
              <a:rPr lang="en-US" altLang="en-US" dirty="0">
                <a:solidFill>
                  <a:srgbClr val="000000"/>
                </a:solidFill>
              </a:rPr>
              <a:t>in this case, no name is needed in catch parameter definition</a:t>
            </a:r>
          </a:p>
          <a:p>
            <a:pPr lvl="1"/>
            <a:r>
              <a:rPr lang="en-US" altLang="en-US" dirty="0">
                <a:solidFill>
                  <a:srgbClr val="000000"/>
                </a:solidFill>
                <a:latin typeface="Courier New" panose="02070309020205020404" pitchFamily="49" charset="0"/>
              </a:rPr>
              <a:t>catch</a:t>
            </a:r>
            <a:r>
              <a:rPr lang="en-US" altLang="en-US" dirty="0">
                <a:solidFill>
                  <a:srgbClr val="000000"/>
                </a:solidFill>
              </a:rPr>
              <a:t> block parameter definition </a:t>
            </a:r>
            <a:r>
              <a:rPr lang="en-US" altLang="en-US" i="1" dirty="0">
                <a:solidFill>
                  <a:srgbClr val="000000"/>
                </a:solidFill>
              </a:rPr>
              <a:t>does</a:t>
            </a:r>
            <a:r>
              <a:rPr lang="en-US" altLang="en-US" dirty="0">
                <a:solidFill>
                  <a:srgbClr val="000000"/>
                </a:solidFill>
              </a:rPr>
              <a:t> need the type of exception being </a:t>
            </a:r>
            <a:r>
              <a:rPr lang="en-US" altLang="en-US" dirty="0" smtClean="0">
                <a:solidFill>
                  <a:srgbClr val="000000"/>
                </a:solidFill>
              </a:rPr>
              <a:t>caught</a:t>
            </a:r>
            <a:endParaRPr lang="en-US" altLang="en-US" dirty="0">
              <a:solidFill>
                <a:srgbClr val="000000"/>
              </a:solidFill>
            </a:endParaRPr>
          </a:p>
        </p:txBody>
      </p:sp>
    </p:spTree>
    <p:extLst>
      <p:ext uri="{BB962C8B-B14F-4D97-AF65-F5344CB8AC3E}">
        <p14:creationId xmlns:p14="http://schemas.microsoft.com/office/powerpoint/2010/main" val="17810346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 Not Caught?</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An exception will not be caught if</a:t>
            </a:r>
          </a:p>
          <a:p>
            <a:pPr lvl="1"/>
            <a:r>
              <a:rPr lang="en-US" altLang="en-US" dirty="0">
                <a:solidFill>
                  <a:srgbClr val="000000"/>
                </a:solidFill>
              </a:rPr>
              <a:t>it is thrown from outside of a </a:t>
            </a:r>
            <a:r>
              <a:rPr lang="en-US" altLang="en-US" dirty="0">
                <a:solidFill>
                  <a:srgbClr val="000000"/>
                </a:solidFill>
                <a:latin typeface="Courier New" panose="02070309020205020404" pitchFamily="49" charset="0"/>
              </a:rPr>
              <a:t>try</a:t>
            </a:r>
            <a:r>
              <a:rPr lang="en-US" altLang="en-US" dirty="0">
                <a:solidFill>
                  <a:srgbClr val="000000"/>
                </a:solidFill>
              </a:rPr>
              <a:t> block</a:t>
            </a:r>
          </a:p>
          <a:p>
            <a:pPr lvl="1"/>
            <a:r>
              <a:rPr lang="en-US" altLang="en-US" dirty="0">
                <a:solidFill>
                  <a:srgbClr val="000000"/>
                </a:solidFill>
              </a:rPr>
              <a:t>there is no </a:t>
            </a:r>
            <a:r>
              <a:rPr lang="en-US" altLang="en-US" dirty="0">
                <a:solidFill>
                  <a:srgbClr val="000000"/>
                </a:solidFill>
                <a:latin typeface="Courier New" panose="02070309020205020404" pitchFamily="49" charset="0"/>
              </a:rPr>
              <a:t>catch</a:t>
            </a:r>
            <a:r>
              <a:rPr lang="en-US" altLang="en-US" dirty="0">
                <a:solidFill>
                  <a:srgbClr val="000000"/>
                </a:solidFill>
              </a:rPr>
              <a:t> block that matches the data type of the thrown exception</a:t>
            </a:r>
          </a:p>
          <a:p>
            <a:pPr lvl="0">
              <a:buFontTx/>
              <a:buChar char="•"/>
            </a:pPr>
            <a:r>
              <a:rPr lang="en-US" altLang="en-US" dirty="0">
                <a:solidFill>
                  <a:srgbClr val="000000"/>
                </a:solidFill>
              </a:rPr>
              <a:t>If an exception is not caught, the program will </a:t>
            </a:r>
            <a:r>
              <a:rPr lang="en-US" altLang="en-US" dirty="0" smtClean="0">
                <a:solidFill>
                  <a:srgbClr val="000000"/>
                </a:solidFill>
              </a:rPr>
              <a:t>terminate</a:t>
            </a:r>
            <a:endParaRPr lang="en-US" altLang="en-US" dirty="0">
              <a:solidFill>
                <a:srgbClr val="000000"/>
              </a:solidFill>
            </a:endParaRPr>
          </a:p>
        </p:txBody>
      </p:sp>
    </p:spTree>
    <p:extLst>
      <p:ext uri="{BB962C8B-B14F-4D97-AF65-F5344CB8AC3E}">
        <p14:creationId xmlns:p14="http://schemas.microsoft.com/office/powerpoint/2010/main" val="24831310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Exceptions and Objects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An </a:t>
            </a:r>
            <a:r>
              <a:rPr lang="en-US" altLang="en-US" u="sng" dirty="0">
                <a:solidFill>
                  <a:srgbClr val="000000"/>
                </a:solidFill>
              </a:rPr>
              <a:t>exception class</a:t>
            </a:r>
            <a:r>
              <a:rPr lang="en-US" altLang="en-US" dirty="0">
                <a:solidFill>
                  <a:srgbClr val="000000"/>
                </a:solidFill>
              </a:rPr>
              <a:t> can be defined in a class and thrown as an exception by a member function</a:t>
            </a:r>
          </a:p>
          <a:p>
            <a:pPr lvl="0">
              <a:lnSpc>
                <a:spcPct val="90000"/>
              </a:lnSpc>
              <a:buFontTx/>
              <a:buChar char="•"/>
            </a:pPr>
            <a:r>
              <a:rPr lang="en-US" altLang="en-US" dirty="0">
                <a:solidFill>
                  <a:srgbClr val="000000"/>
                </a:solidFill>
              </a:rPr>
              <a:t>An exception class may have:</a:t>
            </a:r>
          </a:p>
          <a:p>
            <a:pPr lvl="1">
              <a:lnSpc>
                <a:spcPct val="90000"/>
              </a:lnSpc>
            </a:pPr>
            <a:r>
              <a:rPr lang="en-US" altLang="en-US" dirty="0">
                <a:solidFill>
                  <a:srgbClr val="000000"/>
                </a:solidFill>
              </a:rPr>
              <a:t>no members: used only to signal an error</a:t>
            </a:r>
          </a:p>
          <a:p>
            <a:pPr lvl="1">
              <a:lnSpc>
                <a:spcPct val="90000"/>
              </a:lnSpc>
            </a:pPr>
            <a:r>
              <a:rPr lang="en-US" altLang="en-US" dirty="0">
                <a:solidFill>
                  <a:srgbClr val="000000"/>
                </a:solidFill>
              </a:rPr>
              <a:t>members: pass error data to </a:t>
            </a:r>
            <a:r>
              <a:rPr lang="en-US" altLang="en-US" dirty="0">
                <a:solidFill>
                  <a:srgbClr val="000000"/>
                </a:solidFill>
                <a:latin typeface="Courier New" panose="02070309020205020404" pitchFamily="49" charset="0"/>
              </a:rPr>
              <a:t>catch</a:t>
            </a:r>
            <a:r>
              <a:rPr lang="en-US" altLang="en-US" dirty="0">
                <a:solidFill>
                  <a:srgbClr val="000000"/>
                </a:solidFill>
              </a:rPr>
              <a:t> block </a:t>
            </a:r>
          </a:p>
          <a:p>
            <a:pPr lvl="0">
              <a:lnSpc>
                <a:spcPct val="90000"/>
              </a:lnSpc>
              <a:buFontTx/>
              <a:buChar char="•"/>
            </a:pPr>
            <a:r>
              <a:rPr lang="en-US" altLang="en-US" dirty="0">
                <a:solidFill>
                  <a:srgbClr val="000000"/>
                </a:solidFill>
              </a:rPr>
              <a:t>A class can have more than one exception </a:t>
            </a:r>
            <a:r>
              <a:rPr lang="en-US" altLang="en-US" dirty="0" smtClean="0">
                <a:solidFill>
                  <a:srgbClr val="000000"/>
                </a:solidFill>
              </a:rPr>
              <a:t>class</a:t>
            </a:r>
            <a:endParaRPr lang="en-US" altLang="en-US" dirty="0">
              <a:solidFill>
                <a:srgbClr val="000000"/>
              </a:solidFill>
            </a:endParaRPr>
          </a:p>
        </p:txBody>
      </p:sp>
    </p:spTree>
    <p:extLst>
      <p:ext uri="{BB962C8B-B14F-4D97-AF65-F5344CB8AC3E}">
        <p14:creationId xmlns:p14="http://schemas.microsoft.com/office/powerpoint/2010/main" val="17759034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altLang="en-US" dirty="0"/>
              <a:t>Contents of </a:t>
            </a:r>
            <a:r>
              <a:rPr lang="en-US" altLang="en-US" dirty="0" err="1" smtClean="0"/>
              <a:t>Rectangle.h</a:t>
            </a:r>
            <a:r>
              <a:rPr lang="en-US" altLang="en-US" dirty="0" smtClean="0"/>
              <a:t> </a:t>
            </a:r>
            <a:r>
              <a:rPr lang="en-US" altLang="en-US" sz="1200" dirty="0" smtClean="0"/>
              <a:t>(1 of 2)</a:t>
            </a:r>
            <a:endParaRPr lang="en-IN" dirty="0"/>
          </a:p>
        </p:txBody>
      </p:sp>
      <p:pic>
        <p:nvPicPr>
          <p:cNvPr id="23554" name="Picture 2" descr="The screenshot shows the program source code for the specification file for the rectangle class. The main statement includes the rectangle's width and length. The program declares the empty class NegativeSize. The default constructor initializes the objects, width and length. The mutator functions setWidth(), and setLength() are defined in the specified exten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14400"/>
            <a:ext cx="6167438"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altLang="en-US" dirty="0"/>
              <a:t>Contents of </a:t>
            </a:r>
            <a:r>
              <a:rPr lang="en-US" altLang="en-US" dirty="0" err="1" smtClean="0"/>
              <a:t>Rectangle.h</a:t>
            </a:r>
            <a:r>
              <a:rPr lang="en-US" altLang="en-US" dirty="0" smtClean="0"/>
              <a:t> </a:t>
            </a:r>
            <a:r>
              <a:rPr lang="en-US" altLang="en-US" sz="1200" dirty="0" smtClean="0"/>
              <a:t>(2 of 2)</a:t>
            </a:r>
            <a:endParaRPr lang="en-IN" dirty="0"/>
          </a:p>
        </p:txBody>
      </p:sp>
      <p:pic>
        <p:nvPicPr>
          <p:cNvPr id="24578" name="Picture 2" descr="The screenshot shows the program source code for the specification file for the rectangle class. The main statement includes the rectangle's width and length. The program declares the empty class NegativeSize. The default constructor initializes the objects, width and length. The mutator functions setWidth(), and setLength() are defined in the specified extension. The functions getWidth, getLength, and getArea return the width, length, and area of the rectangle. The getArea function returns the area by multiplying the width and l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981200"/>
            <a:ext cx="67818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IN" dirty="0" smtClean="0"/>
              <a:t>   </a:t>
            </a:r>
            <a:endParaRPr lang="en-IN" dirty="0"/>
          </a:p>
        </p:txBody>
      </p:sp>
      <p:pic>
        <p:nvPicPr>
          <p:cNvPr id="3" name="Picture 2" descr="The screenshot shows the implementation file for the rectangle class. The setWidth function sets the value of the member variable width. It uses the if-loop to check if w is greater than or equal to 0, else it throws a NegativeSize with an empty parameter list. The setLength function sets the value of the member variable length. It uses the if-loop to check if the length is greater than or equal to 0, or else it throws a NegativeSize with an empty parameter list. "/>
          <p:cNvPicPr>
            <a:picLocks noChangeAspect="1"/>
          </p:cNvPicPr>
          <p:nvPr/>
        </p:nvPicPr>
        <p:blipFill>
          <a:blip r:embed="rId2"/>
          <a:stretch>
            <a:fillRect/>
          </a:stretch>
        </p:blipFill>
        <p:spPr>
          <a:xfrm>
            <a:off x="1524000" y="762000"/>
            <a:ext cx="5791702" cy="4743099"/>
          </a:xfrm>
          <a:prstGeom prst="rect">
            <a:avLst/>
          </a:prstGeom>
        </p:spPr>
      </p:pic>
    </p:spTree>
    <p:extLst>
      <p:ext uri="{BB962C8B-B14F-4D97-AF65-F5344CB8AC3E}">
        <p14:creationId xmlns:p14="http://schemas.microsoft.com/office/powerpoint/2010/main" val="2925605629"/>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altLang="en-US" dirty="0"/>
              <a:t>Program </a:t>
            </a:r>
            <a:r>
              <a:rPr lang="en-US" altLang="en-US" dirty="0" smtClean="0"/>
              <a:t>16-2 </a:t>
            </a:r>
            <a:r>
              <a:rPr lang="en-US" altLang="en-US" sz="1200" dirty="0" smtClean="0"/>
              <a:t>(1 of 3)</a:t>
            </a:r>
            <a:endParaRPr lang="en-IN" dirty="0"/>
          </a:p>
        </p:txBody>
      </p:sp>
      <p:pic>
        <p:nvPicPr>
          <p:cNvPr id="26626" name="Picture 2" descr="The screenshot shows the program to demonstrate the Rectangle class exceptions. The main function declares the variables width and length. The program creates a rectangle object 'myRectan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43000"/>
            <a:ext cx="71628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altLang="en-US" dirty="0"/>
              <a:t>Program </a:t>
            </a:r>
            <a:r>
              <a:rPr lang="en-US" altLang="en-US" dirty="0" smtClean="0"/>
              <a:t>16-2 </a:t>
            </a:r>
            <a:r>
              <a:rPr lang="en-US" altLang="en-US" sz="1200" dirty="0" smtClean="0"/>
              <a:t>(2 of 3)</a:t>
            </a:r>
            <a:endParaRPr lang="en-IN" dirty="0"/>
          </a:p>
        </p:txBody>
      </p:sp>
      <p:pic>
        <p:nvPicPr>
          <p:cNvPr id="27650" name="Picture 2" descr="The program demonstrates the Rectangle class exceptions. The statements to get the length and width are displayed. The obtained values are stored in the rectangle object using the try block. The catch exception Rectangle: : NegativeSize displays the error if a negative value was entered. The output displays the end of the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838200"/>
            <a:ext cx="5867400" cy="463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altLang="en-US" dirty="0"/>
              <a:t>Program </a:t>
            </a:r>
            <a:r>
              <a:rPr lang="en-US" altLang="en-US" dirty="0" smtClean="0"/>
              <a:t>16-2 </a:t>
            </a:r>
            <a:r>
              <a:rPr lang="en-US" altLang="en-US" sz="1200" dirty="0" smtClean="0"/>
              <a:t>(3 of 3)</a:t>
            </a:r>
            <a:endParaRPr lang="en-IN" dirty="0"/>
          </a:p>
        </p:txBody>
      </p:sp>
      <p:pic>
        <p:nvPicPr>
          <p:cNvPr id="28674" name="Picture 2" descr="The screenshot displays the program output to demonstrate the Rectangle class exceptions. The first output displays the rectangle's width and length. The output displays the area of the rectangle. It indicates the end of the program. The second program output  displays the rectangle's width and length. The user enters the rectangle's length as a negative value. The program output reads, &quot;Error: A negative value was entered.&quot; The end of the program is indicate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784860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15200"/>
            <a:ext cx="7772400" cy="1143000"/>
          </a:xfrm>
        </p:spPr>
        <p:txBody>
          <a:bodyPr/>
          <a:lstStyle/>
          <a:p>
            <a:r>
              <a:rPr lang="en-US" sz="4000" dirty="0"/>
              <a:t>What Happens After </a:t>
            </a:r>
            <a:r>
              <a:rPr lang="en-US" sz="4000" dirty="0">
                <a:latin typeface="Courier New" pitchFamily="112" charset="0"/>
              </a:rPr>
              <a:t>catch</a:t>
            </a:r>
            <a:r>
              <a:rPr lang="en-US" sz="4000" dirty="0"/>
              <a:t> Block?</a:t>
            </a:r>
            <a:endParaRPr lang="en-IN" dirty="0"/>
          </a:p>
        </p:txBody>
      </p:sp>
      <p:sp>
        <p:nvSpPr>
          <p:cNvPr id="3" name="Content Placeholder 2"/>
          <p:cNvSpPr>
            <a:spLocks noGrp="1"/>
          </p:cNvSpPr>
          <p:nvPr>
            <p:ph idx="1"/>
          </p:nvPr>
        </p:nvSpPr>
        <p:spPr>
          <a:xfrm>
            <a:off x="304800" y="1676400"/>
            <a:ext cx="8458200" cy="4525963"/>
          </a:xfrm>
        </p:spPr>
        <p:txBody>
          <a:bodyPr/>
          <a:lstStyle/>
          <a:p>
            <a:pPr lvl="0">
              <a:buFontTx/>
              <a:buChar char="•"/>
            </a:pPr>
            <a:r>
              <a:rPr lang="en-US" altLang="en-US" dirty="0">
                <a:solidFill>
                  <a:srgbClr val="000000"/>
                </a:solidFill>
              </a:rPr>
              <a:t>Once an exception is thrown, the program cannot return to throw point</a:t>
            </a:r>
            <a:r>
              <a:rPr lang="en-US" altLang="en-US" dirty="0" smtClean="0">
                <a:solidFill>
                  <a:srgbClr val="000000"/>
                </a:solidFill>
              </a:rPr>
              <a:t>. The </a:t>
            </a:r>
            <a:r>
              <a:rPr lang="en-US" altLang="en-US" dirty="0">
                <a:solidFill>
                  <a:srgbClr val="000000"/>
                </a:solidFill>
              </a:rPr>
              <a:t>function executing </a:t>
            </a:r>
            <a:r>
              <a:rPr lang="en-US" altLang="en-US" dirty="0">
                <a:solidFill>
                  <a:srgbClr val="000000"/>
                </a:solidFill>
                <a:latin typeface="Courier New" panose="02070309020205020404" pitchFamily="49" charset="0"/>
              </a:rPr>
              <a:t>throw</a:t>
            </a:r>
            <a:r>
              <a:rPr lang="en-US" altLang="en-US" dirty="0">
                <a:solidFill>
                  <a:srgbClr val="000000"/>
                </a:solidFill>
              </a:rPr>
              <a:t> terminates (does not return), other calling functions in </a:t>
            </a:r>
            <a:r>
              <a:rPr lang="en-US" altLang="en-US" dirty="0">
                <a:solidFill>
                  <a:srgbClr val="000000"/>
                </a:solidFill>
                <a:latin typeface="Courier New" panose="02070309020205020404" pitchFamily="49" charset="0"/>
              </a:rPr>
              <a:t>try</a:t>
            </a:r>
            <a:r>
              <a:rPr lang="en-US" altLang="en-US" dirty="0">
                <a:solidFill>
                  <a:srgbClr val="000000"/>
                </a:solidFill>
              </a:rPr>
              <a:t> block terminate, resulting in </a:t>
            </a:r>
            <a:r>
              <a:rPr lang="en-US" altLang="en-US" u="sng" dirty="0">
                <a:solidFill>
                  <a:srgbClr val="000000"/>
                </a:solidFill>
              </a:rPr>
              <a:t>unwinding the stack</a:t>
            </a:r>
          </a:p>
          <a:p>
            <a:pPr lvl="0">
              <a:buFontTx/>
              <a:buChar char="•"/>
            </a:pPr>
            <a:r>
              <a:rPr lang="en-US" altLang="en-US" dirty="0">
                <a:solidFill>
                  <a:srgbClr val="000000"/>
                </a:solidFill>
              </a:rPr>
              <a:t>If objects were created in the </a:t>
            </a:r>
            <a:r>
              <a:rPr lang="en-US" altLang="en-US" dirty="0">
                <a:solidFill>
                  <a:srgbClr val="000000"/>
                </a:solidFill>
                <a:latin typeface="Courier New" panose="02070309020205020404" pitchFamily="49" charset="0"/>
              </a:rPr>
              <a:t>try</a:t>
            </a:r>
            <a:r>
              <a:rPr lang="en-US" altLang="en-US" dirty="0">
                <a:solidFill>
                  <a:srgbClr val="000000"/>
                </a:solidFill>
              </a:rPr>
              <a:t> block and an exception is thrown, they are destroyed</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31091787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Nested </a:t>
            </a:r>
            <a:r>
              <a:rPr lang="en-US" altLang="en-US" dirty="0">
                <a:latin typeface="Courier New" panose="02070309020205020404" pitchFamily="49" charset="0"/>
              </a:rPr>
              <a:t>try</a:t>
            </a:r>
            <a:r>
              <a:rPr lang="en-US" altLang="en-US" dirty="0"/>
              <a:t> Blocks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sz="2400" dirty="0">
                <a:solidFill>
                  <a:srgbClr val="000000"/>
                </a:solidFill>
                <a:latin typeface="Courier New" panose="02070309020205020404" pitchFamily="49" charset="0"/>
              </a:rPr>
              <a:t>try/catch</a:t>
            </a:r>
            <a:r>
              <a:rPr lang="en-US" altLang="en-US" sz="2400" dirty="0">
                <a:solidFill>
                  <a:srgbClr val="000000"/>
                </a:solidFill>
              </a:rPr>
              <a:t> blocks can appear within an enclosing </a:t>
            </a:r>
            <a:r>
              <a:rPr lang="en-US" altLang="en-US" sz="2400" dirty="0">
                <a:solidFill>
                  <a:srgbClr val="000000"/>
                </a:solidFill>
                <a:latin typeface="Courier New" panose="02070309020205020404" pitchFamily="49" charset="0"/>
              </a:rPr>
              <a:t>try</a:t>
            </a:r>
            <a:r>
              <a:rPr lang="en-US" altLang="en-US" sz="2400" dirty="0">
                <a:solidFill>
                  <a:srgbClr val="000000"/>
                </a:solidFill>
              </a:rPr>
              <a:t> block</a:t>
            </a:r>
          </a:p>
          <a:p>
            <a:pPr lvl="0">
              <a:lnSpc>
                <a:spcPct val="90000"/>
              </a:lnSpc>
              <a:buFontTx/>
              <a:buChar char="•"/>
            </a:pPr>
            <a:r>
              <a:rPr lang="en-US" altLang="en-US" sz="2400" dirty="0">
                <a:solidFill>
                  <a:srgbClr val="000000"/>
                </a:solidFill>
              </a:rPr>
              <a:t>An exception caught at an inner level can be rethrown, which passes it up to a </a:t>
            </a:r>
            <a:r>
              <a:rPr lang="en-US" altLang="en-US" sz="2400" dirty="0">
                <a:solidFill>
                  <a:srgbClr val="000000"/>
                </a:solidFill>
                <a:latin typeface="Courier New" panose="02070309020205020404" pitchFamily="49" charset="0"/>
              </a:rPr>
              <a:t>catch</a:t>
            </a:r>
            <a:r>
              <a:rPr lang="en-US" altLang="en-US" sz="2400" dirty="0">
                <a:solidFill>
                  <a:srgbClr val="000000"/>
                </a:solidFill>
              </a:rPr>
              <a:t> block at an outer level</a:t>
            </a:r>
            <a:r>
              <a:rPr lang="en-US" altLang="en-US" sz="2800" dirty="0" smtClean="0">
                <a:solidFill>
                  <a:srgbClr val="000000"/>
                </a:solidFill>
              </a:rPr>
              <a:t>:</a:t>
            </a:r>
            <a:endParaRPr lang="en-US" altLang="en-US" sz="2800" dirty="0">
              <a:solidFill>
                <a:srgbClr val="000000"/>
              </a:solidFill>
            </a:endParaRPr>
          </a:p>
          <a:p>
            <a:pPr marL="1026000" lvl="1">
              <a:lnSpc>
                <a:spcPct val="69000"/>
              </a:lnSpc>
              <a:spcBef>
                <a:spcPts val="3700"/>
              </a:spcBef>
              <a:buNone/>
            </a:pPr>
            <a:r>
              <a:rPr lang="en-US" altLang="en-US" sz="2400" dirty="0" smtClean="0">
                <a:solidFill>
                  <a:srgbClr val="000000"/>
                </a:solidFill>
                <a:latin typeface="Courier New" panose="02070309020205020404" pitchFamily="49" charset="0"/>
              </a:rPr>
              <a:t>catch </a:t>
            </a:r>
            <a:r>
              <a:rPr lang="en-US" altLang="en-US" sz="2400" dirty="0">
                <a:solidFill>
                  <a:srgbClr val="000000"/>
                </a:solidFill>
                <a:latin typeface="Courier New" panose="02070309020205020404" pitchFamily="49" charset="0"/>
              </a:rPr>
              <a:t>( )</a:t>
            </a:r>
          </a:p>
          <a:p>
            <a:pPr marL="1026000" lvl="1">
              <a:lnSpc>
                <a:spcPct val="70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1476000" lvl="1">
              <a:lnSpc>
                <a:spcPct val="70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marL="1562400" lvl="1">
              <a:lnSpc>
                <a:spcPct val="70000"/>
              </a:lnSpc>
              <a:buNone/>
            </a:pPr>
            <a:r>
              <a:rPr lang="en-US" altLang="en-US" sz="2400" dirty="0" smtClean="0">
                <a:solidFill>
                  <a:srgbClr val="000000"/>
                </a:solidFill>
                <a:latin typeface="Courier New" panose="02070309020205020404" pitchFamily="49" charset="0"/>
              </a:rPr>
              <a:t>throw</a:t>
            </a:r>
            <a:r>
              <a:rPr lang="en-US" altLang="en-US" sz="2400" dirty="0" smtClean="0">
                <a:solidFill>
                  <a:srgbClr val="000000"/>
                </a:solidFill>
                <a:latin typeface="Courier New" panose="02070309020205020404" pitchFamily="49" charset="0"/>
              </a:rPr>
              <a:t>; // </a:t>
            </a:r>
            <a:r>
              <a:rPr lang="en-US" altLang="en-US" sz="2400" dirty="0">
                <a:solidFill>
                  <a:srgbClr val="000000"/>
                </a:solidFill>
                <a:latin typeface="Courier New" panose="02070309020205020404" pitchFamily="49" charset="0"/>
              </a:rPr>
              <a:t>pass exception up</a:t>
            </a:r>
          </a:p>
          <a:p>
            <a:pPr marL="1008000" lvl="1">
              <a:lnSpc>
                <a:spcPct val="70000"/>
              </a:lnSpc>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to next </a:t>
            </a:r>
            <a:r>
              <a:rPr lang="en-US" altLang="en-US" sz="2400" dirty="0" smtClean="0">
                <a:solidFill>
                  <a:srgbClr val="000000"/>
                </a:solidFill>
                <a:latin typeface="Courier New" panose="02070309020205020404" pitchFamily="49" charset="0"/>
              </a:rPr>
              <a:t>level</a:t>
            </a:r>
            <a:endParaRPr lang="en-US" altLang="en-US" sz="2400" dirty="0">
              <a:solidFill>
                <a:srgbClr val="000000"/>
              </a:solidFill>
            </a:endParaRPr>
          </a:p>
        </p:txBody>
      </p:sp>
    </p:spTree>
    <p:extLst>
      <p:ext uri="{BB962C8B-B14F-4D97-AF65-F5344CB8AC3E}">
        <p14:creationId xmlns:p14="http://schemas.microsoft.com/office/powerpoint/2010/main" val="1770483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Handling </a:t>
            </a:r>
            <a:r>
              <a:rPr lang="en-US" altLang="en-US" dirty="0">
                <a:latin typeface="Courier New" panose="02070309020205020404" pitchFamily="49" charset="0"/>
                <a:cs typeface="Courier New" panose="02070309020205020404" pitchFamily="49" charset="0"/>
              </a:rPr>
              <a:t>bad_alloc</a:t>
            </a:r>
            <a:endParaRPr lang="en-IN" dirty="0"/>
          </a:p>
        </p:txBody>
      </p:sp>
      <p:sp>
        <p:nvSpPr>
          <p:cNvPr id="4" name="Content Placeholder 3"/>
          <p:cNvSpPr>
            <a:spLocks noGrp="1"/>
          </p:cNvSpPr>
          <p:nvPr>
            <p:ph idx="1"/>
          </p:nvPr>
        </p:nvSpPr>
        <p:spPr/>
        <p:txBody>
          <a:bodyPr/>
          <a:lstStyle/>
          <a:p>
            <a:pPr lvl="0">
              <a:buFontTx/>
              <a:buChar char="•"/>
            </a:pPr>
            <a:r>
              <a:rPr lang="en-US" altLang="en-US" sz="2800" dirty="0">
                <a:solidFill>
                  <a:srgbClr val="000000"/>
                </a:solidFill>
              </a:rPr>
              <a:t>When the </a:t>
            </a:r>
            <a:r>
              <a:rPr lang="en-US" altLang="en-US" sz="2800" dirty="0">
                <a:solidFill>
                  <a:srgbClr val="000000"/>
                </a:solidFill>
                <a:latin typeface="Courier New" panose="02070309020205020404" pitchFamily="49" charset="0"/>
                <a:cs typeface="Courier New" panose="02070309020205020404" pitchFamily="49" charset="0"/>
              </a:rPr>
              <a:t>new</a:t>
            </a:r>
            <a:r>
              <a:rPr lang="en-US" altLang="en-US" sz="2800" dirty="0">
                <a:solidFill>
                  <a:srgbClr val="000000"/>
                </a:solidFill>
              </a:rPr>
              <a:t> operator fails to allocate memory, a </a:t>
            </a:r>
            <a:r>
              <a:rPr lang="en-US" altLang="en-US" sz="2800" dirty="0">
                <a:solidFill>
                  <a:srgbClr val="000000"/>
                </a:solidFill>
                <a:latin typeface="Courier New" panose="02070309020205020404" pitchFamily="49" charset="0"/>
                <a:cs typeface="Courier New" panose="02070309020205020404" pitchFamily="49" charset="0"/>
              </a:rPr>
              <a:t>bad_alloc</a:t>
            </a:r>
            <a:r>
              <a:rPr lang="en-US" altLang="en-US" sz="2800" dirty="0">
                <a:solidFill>
                  <a:srgbClr val="000000"/>
                </a:solidFill>
              </a:rPr>
              <a:t> exception is thrown</a:t>
            </a:r>
          </a:p>
          <a:p>
            <a:pPr lvl="0">
              <a:buFontTx/>
              <a:buChar char="•"/>
            </a:pPr>
            <a:r>
              <a:rPr lang="en-US" altLang="en-US" sz="2800" dirty="0">
                <a:solidFill>
                  <a:srgbClr val="000000"/>
                </a:solidFill>
              </a:rPr>
              <a:t>General format of a </a:t>
            </a:r>
            <a:r>
              <a:rPr lang="en-US" altLang="en-US" sz="2800" dirty="0">
                <a:solidFill>
                  <a:srgbClr val="000000"/>
                </a:solidFill>
                <a:latin typeface="Courier New" panose="02070309020205020404" pitchFamily="49" charset="0"/>
                <a:cs typeface="Courier New" panose="02070309020205020404" pitchFamily="49" charset="0"/>
              </a:rPr>
              <a:t>try</a:t>
            </a:r>
            <a:r>
              <a:rPr lang="en-US" altLang="en-US" sz="2800" dirty="0">
                <a:solidFill>
                  <a:srgbClr val="000000"/>
                </a:solidFill>
              </a:rPr>
              <a:t>/</a:t>
            </a:r>
            <a:r>
              <a:rPr lang="en-US" altLang="en-US" sz="2800" dirty="0">
                <a:solidFill>
                  <a:srgbClr val="000000"/>
                </a:solidFill>
                <a:latin typeface="Courier New" panose="02070309020205020404" pitchFamily="49" charset="0"/>
                <a:cs typeface="Courier New" panose="02070309020205020404" pitchFamily="49" charset="0"/>
              </a:rPr>
              <a:t>catch</a:t>
            </a:r>
            <a:r>
              <a:rPr lang="en-US" altLang="en-US" sz="2800" dirty="0">
                <a:solidFill>
                  <a:srgbClr val="000000"/>
                </a:solidFill>
              </a:rPr>
              <a:t> construct that catches the </a:t>
            </a:r>
            <a:r>
              <a:rPr lang="en-US" altLang="en-US" sz="2800" dirty="0">
                <a:solidFill>
                  <a:srgbClr val="000000"/>
                </a:solidFill>
                <a:latin typeface="Courier New" panose="02070309020205020404" pitchFamily="49" charset="0"/>
                <a:cs typeface="Courier New" panose="02070309020205020404" pitchFamily="49" charset="0"/>
              </a:rPr>
              <a:t>bad_alloc </a:t>
            </a:r>
            <a:r>
              <a:rPr lang="en-US" altLang="en-US" sz="2800" dirty="0">
                <a:solidFill>
                  <a:srgbClr val="000000"/>
                </a:solidFill>
              </a:rPr>
              <a:t>exception</a:t>
            </a:r>
            <a:r>
              <a:rPr lang="en-US" altLang="en-US" sz="2800" dirty="0" smtClean="0">
                <a:solidFill>
                  <a:srgbClr val="000000"/>
                </a:solidFill>
              </a:rPr>
              <a:t>:</a:t>
            </a:r>
            <a:endParaRPr lang="en-US" altLang="en-US" sz="2800" dirty="0">
              <a:solidFill>
                <a:srgbClr val="000000"/>
              </a:solidFill>
            </a:endParaRPr>
          </a:p>
        </p:txBody>
      </p:sp>
      <p:sp>
        <p:nvSpPr>
          <p:cNvPr id="5" name="Content Placeholder 4"/>
          <p:cNvSpPr>
            <a:spLocks noGrp="1"/>
          </p:cNvSpPr>
          <p:nvPr>
            <p:ph sz="quarter" idx="11"/>
          </p:nvPr>
        </p:nvSpPr>
        <p:spPr>
          <a:xfrm>
            <a:off x="1447800" y="3657600"/>
            <a:ext cx="5791200" cy="2286000"/>
          </a:xfrm>
        </p:spPr>
        <p:txBody>
          <a:bodyPr/>
          <a:lstStyle/>
          <a:p>
            <a:pPr marL="0" lvl="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try</a:t>
            </a:r>
          </a:p>
          <a:p>
            <a:pPr marL="0" lvl="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a:t>
            </a:r>
          </a:p>
          <a:p>
            <a:pPr marL="406800" lvl="0" indent="0">
              <a:spcBef>
                <a:spcPct val="0"/>
              </a:spcBef>
              <a:buNone/>
            </a:pPr>
            <a:r>
              <a:rPr lang="en-US" altLang="en-US" sz="1800" kern="1200" dirty="0" smtClean="0">
                <a:solidFill>
                  <a:srgbClr val="000000"/>
                </a:solidFill>
                <a:latin typeface="Courier New" panose="02070309020205020404" pitchFamily="49" charset="0"/>
                <a:cs typeface="Courier New" panose="02070309020205020404" pitchFamily="49" charset="0"/>
              </a:rPr>
              <a:t>// </a:t>
            </a:r>
            <a:r>
              <a:rPr lang="en-US" altLang="en-US" sz="1800" kern="1200" dirty="0">
                <a:solidFill>
                  <a:srgbClr val="000000"/>
                </a:solidFill>
                <a:latin typeface="Courier New" panose="02070309020205020404" pitchFamily="49" charset="0"/>
                <a:cs typeface="Courier New" panose="02070309020205020404" pitchFamily="49" charset="0"/>
              </a:rPr>
              <a:t>Code that uses the new operator</a:t>
            </a:r>
          </a:p>
          <a:p>
            <a:pPr marL="0" lvl="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a:t>
            </a:r>
          </a:p>
          <a:p>
            <a:pPr marL="0" lvl="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catch (bad_alloc)</a:t>
            </a:r>
          </a:p>
          <a:p>
            <a:pPr marL="0" lvl="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a:t>
            </a:r>
          </a:p>
          <a:p>
            <a:pPr marL="406800" indent="0">
              <a:spcBef>
                <a:spcPct val="0"/>
              </a:spcBef>
              <a:buNone/>
            </a:pPr>
            <a:r>
              <a:rPr lang="en-US" altLang="en-US" sz="1800" kern="1200" dirty="0">
                <a:solidFill>
                  <a:srgbClr val="000000"/>
                </a:solidFill>
                <a:latin typeface="Courier New" panose="02070309020205020404" pitchFamily="49" charset="0"/>
                <a:cs typeface="Courier New" panose="02070309020205020404" pitchFamily="49" charset="0"/>
              </a:rPr>
              <a:t>// Code that responds to the error</a:t>
            </a:r>
          </a:p>
          <a:p>
            <a:pPr marL="0" lvl="0" indent="0">
              <a:spcBef>
                <a:spcPct val="0"/>
              </a:spcBef>
              <a:buNone/>
            </a:pPr>
            <a:r>
              <a:rPr lang="en-US" altLang="en-US" sz="1800" kern="1200" dirty="0" smtClean="0">
                <a:solidFill>
                  <a:srgbClr val="000000"/>
                </a:solidFill>
                <a:latin typeface="Courier New" panose="02070309020205020404" pitchFamily="49" charset="0"/>
                <a:cs typeface="Courier New" panose="02070309020205020404" pitchFamily="49" charset="0"/>
              </a:rPr>
              <a:t>}</a:t>
            </a:r>
            <a:endParaRPr lang="en-US" altLang="en-US" sz="1800" kern="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616827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noexcept</a:t>
            </a:r>
            <a:r>
              <a:rPr lang="en-US" altLang="en-US" dirty="0"/>
              <a:t> Specifier</a:t>
            </a:r>
            <a:endParaRPr lang="en-IN" dirty="0"/>
          </a:p>
        </p:txBody>
      </p:sp>
      <p:sp>
        <p:nvSpPr>
          <p:cNvPr id="3" name="Content Placeholder 2"/>
          <p:cNvSpPr>
            <a:spLocks noGrp="1"/>
          </p:cNvSpPr>
          <p:nvPr>
            <p:ph idx="1"/>
          </p:nvPr>
        </p:nvSpPr>
        <p:spPr/>
        <p:txBody>
          <a:bodyPr/>
          <a:lstStyle/>
          <a:p>
            <a:pPr lvl="0">
              <a:buFontTx/>
              <a:buChar char="•"/>
            </a:pPr>
            <a:r>
              <a:rPr lang="en-US" altLang="en-US" sz="2400" dirty="0">
                <a:solidFill>
                  <a:srgbClr val="000000"/>
                </a:solidFill>
              </a:rPr>
              <a:t>In C++ 11 and later, the </a:t>
            </a:r>
            <a:r>
              <a:rPr lang="en-US" altLang="en-US" sz="2400" dirty="0">
                <a:solidFill>
                  <a:srgbClr val="000000"/>
                </a:solidFill>
                <a:latin typeface="Courier New" panose="02070309020205020404" pitchFamily="49" charset="0"/>
                <a:cs typeface="Courier New" panose="02070309020205020404" pitchFamily="49" charset="0"/>
              </a:rPr>
              <a:t>noexcept</a:t>
            </a:r>
            <a:r>
              <a:rPr lang="en-US" altLang="en-US" sz="2400" dirty="0">
                <a:solidFill>
                  <a:srgbClr val="000000"/>
                </a:solidFill>
              </a:rPr>
              <a:t> specifier indicates that a function does not throw an exception and does not call any other functions that throw an exception</a:t>
            </a:r>
            <a:r>
              <a:rPr lang="en-US" altLang="en-US" sz="2400" dirty="0" smtClean="0">
                <a:solidFill>
                  <a:srgbClr val="000000"/>
                </a:solidFill>
              </a:rPr>
              <a:t>:</a:t>
            </a:r>
            <a:endParaRPr lang="en-US" altLang="en-US" sz="2400" dirty="0">
              <a:solidFill>
                <a:srgbClr val="000000"/>
              </a:solidFill>
            </a:endParaRPr>
          </a:p>
        </p:txBody>
      </p:sp>
      <p:sp>
        <p:nvSpPr>
          <p:cNvPr id="4" name="Content Placeholder 3"/>
          <p:cNvSpPr>
            <a:spLocks noGrp="1"/>
          </p:cNvSpPr>
          <p:nvPr>
            <p:ph sz="quarter" idx="11"/>
          </p:nvPr>
        </p:nvSpPr>
        <p:spPr>
          <a:xfrm>
            <a:off x="2286000" y="3124200"/>
            <a:ext cx="4876800" cy="1143000"/>
          </a:xfrm>
        </p:spPr>
        <p:txBody>
          <a:bodyPr/>
          <a:lstStyle/>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void sayHello() noexcept</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547200" lvl="0" indent="0">
              <a:spcBef>
                <a:spcPct val="0"/>
              </a:spcBef>
              <a:buNone/>
            </a:pPr>
            <a:r>
              <a:rPr lang="en-US" altLang="en-US" sz="18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cout </a:t>
            </a:r>
            <a:r>
              <a:rPr lang="en-US" altLang="en-US" sz="18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&lt;&lt; "Hello world" &lt;&lt; endl;</a:t>
            </a:r>
            <a:endParaRPr lang="en-US" altLang="en-US" sz="18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0" lvl="0" indent="0">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Arial" panose="020B0604020202020204" pitchFamily="34" charset="0"/>
              <a:cs typeface="Arial" panose="020B0604020202020204" pitchFamily="34" charset="0"/>
            </a:endParaRPr>
          </a:p>
        </p:txBody>
      </p:sp>
      <p:sp>
        <p:nvSpPr>
          <p:cNvPr id="5" name="Content Placeholder 4"/>
          <p:cNvSpPr>
            <a:spLocks noGrp="1"/>
          </p:cNvSpPr>
          <p:nvPr>
            <p:ph sz="quarter" idx="12"/>
          </p:nvPr>
        </p:nvSpPr>
        <p:spPr>
          <a:xfrm>
            <a:off x="457200" y="4525200"/>
            <a:ext cx="8001000" cy="1066800"/>
          </a:xfrm>
        </p:spPr>
        <p:txBody>
          <a:bodyPr/>
          <a:lstStyle/>
          <a:p>
            <a:pPr lvl="0"/>
            <a:r>
              <a:rPr lang="en-US" altLang="en-US" sz="2400" dirty="0">
                <a:solidFill>
                  <a:srgbClr val="000000"/>
                </a:solidFill>
              </a:rPr>
              <a:t>The primary purpose of the </a:t>
            </a:r>
            <a:r>
              <a:rPr lang="en-US" altLang="en-US" sz="2400" dirty="0">
                <a:solidFill>
                  <a:srgbClr val="000000"/>
                </a:solidFill>
                <a:latin typeface="Courier New" panose="02070309020205020404" pitchFamily="49" charset="0"/>
                <a:cs typeface="Courier New" panose="02070309020205020404" pitchFamily="49" charset="0"/>
              </a:rPr>
              <a:t>noexcept</a:t>
            </a:r>
            <a:r>
              <a:rPr lang="en-US" altLang="en-US" sz="2400" dirty="0">
                <a:solidFill>
                  <a:srgbClr val="000000"/>
                </a:solidFill>
              </a:rPr>
              <a:t> specifier is to help the compiler produce faster executable </a:t>
            </a:r>
            <a:r>
              <a:rPr lang="en-US" altLang="en-US" sz="2400" dirty="0" smtClean="0">
                <a:solidFill>
                  <a:srgbClr val="000000"/>
                </a:solidFill>
              </a:rPr>
              <a:t>code</a:t>
            </a:r>
            <a:endParaRPr lang="en-US" altLang="en-US" sz="2400" dirty="0">
              <a:solidFill>
                <a:srgbClr val="000000"/>
              </a:solidFill>
            </a:endParaRPr>
          </a:p>
        </p:txBody>
      </p:sp>
    </p:spTree>
    <p:extLst>
      <p:ext uri="{BB962C8B-B14F-4D97-AF65-F5344CB8AC3E}">
        <p14:creationId xmlns:p14="http://schemas.microsoft.com/office/powerpoint/2010/main" val="13563728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ctrTitle"/>
          </p:nvPr>
        </p:nvSpPr>
        <p:spPr/>
        <p:txBody>
          <a:bodyPr/>
          <a:lstStyle/>
          <a:p>
            <a:r>
              <a:rPr lang="en-US" altLang="en-US" dirty="0" smtClean="0"/>
              <a:t>16.2</a:t>
            </a:r>
          </a:p>
        </p:txBody>
      </p:sp>
      <p:sp>
        <p:nvSpPr>
          <p:cNvPr id="33795" name="Subtitle 2"/>
          <p:cNvSpPr>
            <a:spLocks noGrp="1" noChangeArrowheads="1"/>
          </p:cNvSpPr>
          <p:nvPr>
            <p:ph type="subTitle" idx="1"/>
          </p:nvPr>
        </p:nvSpPr>
        <p:spPr/>
        <p:txBody>
          <a:bodyPr/>
          <a:lstStyle/>
          <a:p>
            <a:r>
              <a:rPr lang="en-US" altLang="en-US" dirty="0" smtClean="0"/>
              <a:t>Function Templates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Templates</a:t>
            </a:r>
            <a:endParaRPr lang="en-IN" dirty="0"/>
          </a:p>
        </p:txBody>
      </p:sp>
      <p:sp>
        <p:nvSpPr>
          <p:cNvPr id="3" name="Content Placeholder 2"/>
          <p:cNvSpPr>
            <a:spLocks noGrp="1"/>
          </p:cNvSpPr>
          <p:nvPr>
            <p:ph idx="1"/>
          </p:nvPr>
        </p:nvSpPr>
        <p:spPr/>
        <p:txBody>
          <a:bodyPr/>
          <a:lstStyle/>
          <a:p>
            <a:pPr lvl="0">
              <a:buFontTx/>
              <a:buChar char="•"/>
            </a:pPr>
            <a:r>
              <a:rPr lang="en-US" altLang="en-US" u="sng" dirty="0">
                <a:solidFill>
                  <a:srgbClr val="000000"/>
                </a:solidFill>
              </a:rPr>
              <a:t>Function template</a:t>
            </a:r>
            <a:r>
              <a:rPr lang="en-US" altLang="en-US" dirty="0">
                <a:solidFill>
                  <a:srgbClr val="000000"/>
                </a:solidFill>
              </a:rPr>
              <a:t>: a pattern for a function that can work with many data types</a:t>
            </a:r>
          </a:p>
          <a:p>
            <a:pPr lvl="0">
              <a:buFontTx/>
              <a:buChar char="•"/>
            </a:pPr>
            <a:r>
              <a:rPr lang="en-US" altLang="en-US" dirty="0">
                <a:solidFill>
                  <a:srgbClr val="000000"/>
                </a:solidFill>
              </a:rPr>
              <a:t>When written, parameters are left for the data types</a:t>
            </a:r>
          </a:p>
          <a:p>
            <a:pPr lvl="0">
              <a:buFontTx/>
              <a:buChar char="•"/>
            </a:pPr>
            <a:r>
              <a:rPr lang="en-US" altLang="en-US" dirty="0">
                <a:solidFill>
                  <a:srgbClr val="000000"/>
                </a:solidFill>
              </a:rPr>
              <a:t>When called, compiler generates code for specific data types in function </a:t>
            </a:r>
            <a:r>
              <a:rPr lang="en-US" altLang="en-US" dirty="0" smtClean="0">
                <a:solidFill>
                  <a:srgbClr val="000000"/>
                </a:solidFill>
              </a:rPr>
              <a:t>call</a:t>
            </a:r>
            <a:endParaRPr lang="en-US" altLang="en-US" dirty="0">
              <a:solidFill>
                <a:srgbClr val="000000"/>
              </a:solidFill>
            </a:endParaRPr>
          </a:p>
        </p:txBody>
      </p:sp>
    </p:spTree>
    <p:extLst>
      <p:ext uri="{BB962C8B-B14F-4D97-AF65-F5344CB8AC3E}">
        <p14:creationId xmlns:p14="http://schemas.microsoft.com/office/powerpoint/2010/main" val="22650399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Example </a:t>
            </a:r>
            <a:r>
              <a:rPr lang="en-US" altLang="en-US" sz="1200" dirty="0" smtClean="0"/>
              <a:t>(1 of 2)</a:t>
            </a:r>
            <a:endParaRPr lang="en-IN" dirty="0"/>
          </a:p>
        </p:txBody>
      </p:sp>
      <p:pic>
        <p:nvPicPr>
          <p:cNvPr id="5" name="Picture 4" descr="The screenshot shows an example of the function template. The line, template open bracket typename T close bracket is the template prefix. Here, the typename T num, represents the generic data type. In the line, T times10 (T num) T represents the type parameter."/>
          <p:cNvPicPr>
            <a:picLocks noChangeAspect="1"/>
          </p:cNvPicPr>
          <p:nvPr/>
        </p:nvPicPr>
        <p:blipFill rotWithShape="1">
          <a:blip r:embed="rId2"/>
          <a:srcRect t="2889" b="51942"/>
          <a:stretch/>
        </p:blipFill>
        <p:spPr>
          <a:xfrm>
            <a:off x="160825" y="1491049"/>
            <a:ext cx="8297375" cy="2175476"/>
          </a:xfrm>
          <a:prstGeom prst="rect">
            <a:avLst/>
          </a:prstGeom>
        </p:spPr>
      </p:pic>
      <p:graphicFrame>
        <p:nvGraphicFramePr>
          <p:cNvPr id="4" name="Table 3" descr="The table displays two questions. The first question reads, &quot;What gets generated when times10 is called with an int.&quot; The answer is int times10 (int num), returns ten times num. The second question reads, &quot;What gets generated when times10 is called with a double. The answer is, double times10 (double num) and returns 10 times num."/>
          <p:cNvGraphicFramePr>
            <a:graphicFrameLocks noGrp="1"/>
          </p:cNvGraphicFramePr>
          <p:nvPr>
            <p:extLst>
              <p:ext uri="{D42A27DB-BD31-4B8C-83A1-F6EECF244321}">
                <p14:modId xmlns:p14="http://schemas.microsoft.com/office/powerpoint/2010/main" val="3536747588"/>
              </p:ext>
            </p:extLst>
          </p:nvPr>
        </p:nvGraphicFramePr>
        <p:xfrm>
          <a:off x="609600" y="3886200"/>
          <a:ext cx="7772400" cy="2073275"/>
        </p:xfrm>
        <a:graphic>
          <a:graphicData uri="http://schemas.openxmlformats.org/drawingml/2006/table">
            <a:tbl>
              <a:tblPr firstRow="1" firstCol="1"/>
              <a:tblGrid>
                <a:gridCol w="3581400"/>
                <a:gridCol w="4191000"/>
              </a:tblGrid>
              <a:tr h="823913">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ヒラギノ角ゴ Pro W3" pitchFamily="112" charset="-128"/>
                        </a:rPr>
                        <a:t>What gets generated when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times10</a:t>
                      </a:r>
                      <a:r>
                        <a:rPr kumimoji="0" lang="en-US" sz="1800" b="0" i="0" u="none" strike="noStrike" cap="none" normalizeH="0" baseline="0" dirty="0">
                          <a:ln>
                            <a:noFill/>
                          </a:ln>
                          <a:solidFill>
                            <a:schemeClr val="tx1"/>
                          </a:solidFill>
                          <a:effectLst/>
                          <a:latin typeface="Arial" charset="0"/>
                          <a:ea typeface="ヒラギノ角ゴ Pro W3" pitchFamily="112" charset="-128"/>
                        </a:rPr>
                        <a:t> is called with an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ヒラギノ角ゴ Pro W3" pitchFamily="112" charset="-128"/>
                        </a:rPr>
                        <a:t>What gets generated when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times10</a:t>
                      </a:r>
                      <a:r>
                        <a:rPr kumimoji="0" lang="en-US" sz="1800" b="0" i="0" u="none" strike="noStrike" cap="none" normalizeH="0" baseline="0" dirty="0">
                          <a:ln>
                            <a:noFill/>
                          </a:ln>
                          <a:solidFill>
                            <a:schemeClr val="tx1"/>
                          </a:solidFill>
                          <a:effectLst/>
                          <a:latin typeface="Arial" charset="0"/>
                          <a:ea typeface="ヒラギノ角ゴ Pro W3" pitchFamily="112" charset="-128"/>
                        </a:rPr>
                        <a:t> is called with a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double: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49362">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int times10(int num)</a:t>
                      </a:r>
                    </a:p>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a:t>
                      </a:r>
                    </a:p>
                    <a:p>
                      <a:pPr marL="40680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urier New" pitchFamily="112" charset="0"/>
                          <a:ea typeface="ヒラギノ角ゴ Pro W3" pitchFamily="112" charset="-128"/>
                        </a:rPr>
                        <a:t>return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10 * num;</a:t>
                      </a:r>
                    </a:p>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double times10(double num)</a:t>
                      </a:r>
                    </a:p>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a:t>
                      </a:r>
                    </a:p>
                    <a:p>
                      <a:pPr marL="40680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urier New" pitchFamily="112" charset="0"/>
                          <a:ea typeface="ヒラギノ角ゴ Pro W3" pitchFamily="112" charset="-128"/>
                        </a:rPr>
                        <a:t>return </a:t>
                      </a: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10 * num;</a:t>
                      </a:r>
                    </a:p>
                    <a:p>
                      <a:pPr marL="0" marR="0" lvl="0" indent="0" algn="l" defTabSz="914400" rtl="0" eaLnBrk="1" fontAlgn="base" latinLnBrk="0" hangingPunct="1">
                        <a:lnSpc>
                          <a:spcPct val="8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urier New" pitchFamily="112" charset="0"/>
                          <a:ea typeface="ヒラギノ角ゴ Pro W3" pitchFamily="112" charset="-128"/>
                        </a:rPr>
                        <a:t>}</a:t>
                      </a:r>
                      <a:endParaRPr kumimoji="0" lang="en-US" sz="2400" b="0" i="0" u="none" strike="noStrike" cap="none" normalizeH="0" baseline="0" dirty="0">
                        <a:ln>
                          <a:noFill/>
                        </a:ln>
                        <a:solidFill>
                          <a:schemeClr val="tx1"/>
                        </a:solidFill>
                        <a:effectLst/>
                        <a:latin typeface="Arial" charset="0"/>
                        <a:ea typeface="ヒラギノ角ゴ Pro W3" pitchFamily="112"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1576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Example </a:t>
            </a:r>
            <a:r>
              <a:rPr lang="en-US" altLang="en-US" sz="1200" dirty="0" smtClean="0"/>
              <a:t>(2 of 2)</a:t>
            </a:r>
            <a:endParaRPr lang="en-IN" dirty="0"/>
          </a:p>
        </p:txBody>
      </p:sp>
      <p:sp>
        <p:nvSpPr>
          <p:cNvPr id="3" name="Content Placeholder 2"/>
          <p:cNvSpPr>
            <a:spLocks noGrp="1"/>
          </p:cNvSpPr>
          <p:nvPr>
            <p:ph idx="1"/>
          </p:nvPr>
        </p:nvSpPr>
        <p:spPr>
          <a:xfrm>
            <a:off x="304800" y="1980000"/>
            <a:ext cx="8229600" cy="4525963"/>
          </a:xfrm>
        </p:spPr>
        <p:txBody>
          <a:bodyPr/>
          <a:lstStyle/>
          <a:p>
            <a:pPr lvl="1">
              <a:lnSpc>
                <a:spcPct val="90000"/>
              </a:lnSpc>
              <a:buNone/>
            </a:pPr>
            <a:r>
              <a:rPr lang="en-US" altLang="en-US" sz="2400" dirty="0">
                <a:solidFill>
                  <a:srgbClr val="000000"/>
                </a:solidFill>
                <a:latin typeface="Courier New" panose="02070309020205020404" pitchFamily="49" charset="0"/>
              </a:rPr>
              <a:t>template &lt;typename T&gt;</a:t>
            </a:r>
          </a:p>
          <a:p>
            <a:pPr lvl="1">
              <a:lnSpc>
                <a:spcPct val="90000"/>
              </a:lnSpc>
              <a:spcBef>
                <a:spcPct val="50000"/>
              </a:spcBef>
              <a:buNone/>
            </a:pPr>
            <a:r>
              <a:rPr lang="en-US" altLang="en-US" sz="2400" dirty="0">
                <a:solidFill>
                  <a:srgbClr val="000000"/>
                </a:solidFill>
                <a:latin typeface="Courier New" panose="02070309020205020404" pitchFamily="49" charset="0"/>
              </a:rPr>
              <a:t>T times10(T num)</a:t>
            </a:r>
          </a:p>
          <a:p>
            <a:pPr lvl="1">
              <a:lnSpc>
                <a:spcPct val="90000"/>
              </a:lnSpc>
              <a:buNone/>
            </a:pPr>
            <a:r>
              <a:rPr lang="en-US" altLang="en-US" sz="2400" dirty="0">
                <a:solidFill>
                  <a:srgbClr val="000000"/>
                </a:solidFill>
                <a:latin typeface="Courier New" panose="02070309020205020404" pitchFamily="49" charset="0"/>
              </a:rPr>
              <a:t>{</a:t>
            </a:r>
          </a:p>
          <a:p>
            <a:pPr marL="2113200" lvl="1">
              <a:lnSpc>
                <a:spcPct val="90000"/>
              </a:lnSpc>
              <a:buNone/>
            </a:pPr>
            <a:r>
              <a:rPr lang="en-US" altLang="en-US" sz="2400" dirty="0" smtClean="0">
                <a:solidFill>
                  <a:srgbClr val="000000"/>
                </a:solidFill>
                <a:latin typeface="Courier New" panose="02070309020205020404" pitchFamily="49" charset="0"/>
              </a:rPr>
              <a:t>return </a:t>
            </a:r>
            <a:r>
              <a:rPr lang="en-US" altLang="en-US" sz="2400" dirty="0">
                <a:solidFill>
                  <a:srgbClr val="000000"/>
                </a:solidFill>
                <a:latin typeface="Courier New" panose="02070309020205020404" pitchFamily="49" charset="0"/>
              </a:rPr>
              <a:t>10 * num;</a:t>
            </a:r>
          </a:p>
          <a:p>
            <a:pPr lvl="1">
              <a:lnSpc>
                <a:spcPct val="90000"/>
              </a:lnSpc>
              <a:buNone/>
            </a:pPr>
            <a:r>
              <a:rPr lang="en-US" altLang="en-US" sz="2400" dirty="0">
                <a:solidFill>
                  <a:srgbClr val="000000"/>
                </a:solidFill>
                <a:latin typeface="Courier New" panose="02070309020205020404" pitchFamily="49" charset="0"/>
              </a:rPr>
              <a:t>}</a:t>
            </a:r>
          </a:p>
          <a:p>
            <a:pPr lvl="0">
              <a:lnSpc>
                <a:spcPct val="90000"/>
              </a:lnSpc>
              <a:buFontTx/>
              <a:buChar char="•"/>
            </a:pPr>
            <a:r>
              <a:rPr lang="en-US" altLang="en-US" sz="2800" dirty="0">
                <a:solidFill>
                  <a:srgbClr val="000000"/>
                </a:solidFill>
              </a:rPr>
              <a:t>Call a template function in the usual manner:</a:t>
            </a:r>
          </a:p>
          <a:p>
            <a:pPr marL="1026000" lvl="1">
              <a:lnSpc>
                <a:spcPct val="90000"/>
              </a:lnSpc>
              <a:buClr>
                <a:srgbClr val="000000"/>
              </a:buClr>
              <a:buNone/>
            </a:pPr>
            <a:r>
              <a:rPr lang="en-US" altLang="en-US" sz="2400" dirty="0" smtClean="0">
                <a:solidFill>
                  <a:srgbClr val="000000"/>
                </a:solidFill>
                <a:latin typeface="Courier New" panose="02070309020205020404" pitchFamily="49" charset="0"/>
              </a:rPr>
              <a:t>int </a:t>
            </a:r>
            <a:r>
              <a:rPr lang="en-US" altLang="en-US" sz="2400" dirty="0">
                <a:solidFill>
                  <a:srgbClr val="000000"/>
                </a:solidFill>
                <a:latin typeface="Courier New" panose="02070309020205020404" pitchFamily="49" charset="0"/>
              </a:rPr>
              <a:t>ival = 3;</a:t>
            </a:r>
          </a:p>
          <a:p>
            <a:pPr marL="1026000" lvl="1">
              <a:lnSpc>
                <a:spcPct val="90000"/>
              </a:lnSpc>
              <a:buClr>
                <a:srgbClr val="000000"/>
              </a:buClr>
              <a:buNone/>
            </a:pPr>
            <a:r>
              <a:rPr lang="en-US" altLang="en-US" sz="2400" dirty="0">
                <a:solidFill>
                  <a:srgbClr val="000000"/>
                </a:solidFill>
                <a:latin typeface="Courier New" panose="02070309020205020404" pitchFamily="49" charset="0"/>
              </a:rPr>
              <a:t>double dval = 2.55;</a:t>
            </a:r>
          </a:p>
          <a:p>
            <a:pPr marL="1026000" lvl="1">
              <a:lnSpc>
                <a:spcPct val="90000"/>
              </a:lnSpc>
              <a:buClr>
                <a:srgbClr val="000000"/>
              </a:buClr>
              <a:buNone/>
            </a:pPr>
            <a:r>
              <a:rPr lang="en-US" altLang="en-US" sz="2400" dirty="0">
                <a:solidFill>
                  <a:srgbClr val="000000"/>
                </a:solidFill>
                <a:latin typeface="Courier New" panose="02070309020205020404" pitchFamily="49" charset="0"/>
              </a:rPr>
              <a:t>cout &lt;&lt; times10(ival); // displays 30 </a:t>
            </a:r>
          </a:p>
          <a:p>
            <a:pPr marL="1026000" lvl="1">
              <a:lnSpc>
                <a:spcPct val="90000"/>
              </a:lnSpc>
              <a:buClr>
                <a:srgbClr val="000000"/>
              </a:buClr>
              <a:buNone/>
            </a:pPr>
            <a:r>
              <a:rPr lang="en-US" altLang="en-US" sz="2400" dirty="0">
                <a:solidFill>
                  <a:srgbClr val="000000"/>
                </a:solidFill>
                <a:latin typeface="Courier New" panose="02070309020205020404" pitchFamily="49" charset="0"/>
              </a:rPr>
              <a:t>cout &lt;&lt; times10(dval); // displays 25.5</a:t>
            </a:r>
          </a:p>
        </p:txBody>
      </p:sp>
    </p:spTree>
    <p:extLst>
      <p:ext uri="{BB962C8B-B14F-4D97-AF65-F5344CB8AC3E}">
        <p14:creationId xmlns:p14="http://schemas.microsoft.com/office/powerpoint/2010/main" val="7844687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Notes </a:t>
            </a:r>
            <a:r>
              <a:rPr lang="en-US" altLang="en-US" sz="1200" dirty="0" smtClean="0"/>
              <a:t>(1 of 4)</a:t>
            </a:r>
            <a:endParaRPr lang="en-IN" dirty="0"/>
          </a:p>
        </p:txBody>
      </p:sp>
      <p:sp>
        <p:nvSpPr>
          <p:cNvPr id="3" name="Content Placeholder 2"/>
          <p:cNvSpPr>
            <a:spLocks noGrp="1"/>
          </p:cNvSpPr>
          <p:nvPr>
            <p:ph idx="1"/>
          </p:nvPr>
        </p:nvSpPr>
        <p:spPr>
          <a:xfrm>
            <a:off x="304800" y="1752600"/>
            <a:ext cx="8229600" cy="4525963"/>
          </a:xfrm>
        </p:spPr>
        <p:txBody>
          <a:bodyPr/>
          <a:lstStyle/>
          <a:p>
            <a:pPr marL="292100" lvl="0" indent="-292100">
              <a:lnSpc>
                <a:spcPct val="85000"/>
              </a:lnSpc>
              <a:spcBef>
                <a:spcPct val="50000"/>
              </a:spcBef>
              <a:buFontTx/>
              <a:buChar char="•"/>
            </a:pPr>
            <a:r>
              <a:rPr lang="en-US" altLang="en-US" sz="2800" dirty="0">
                <a:solidFill>
                  <a:srgbClr val="000000"/>
                </a:solidFill>
              </a:rPr>
              <a:t>Can define a template to use multiple data types:</a:t>
            </a:r>
          </a:p>
          <a:p>
            <a:pPr marL="766800" lvl="0" indent="-292100">
              <a:lnSpc>
                <a:spcPct val="85000"/>
              </a:lnSpc>
              <a:spcBef>
                <a:spcPct val="50000"/>
              </a:spcBef>
              <a:buNone/>
            </a:pPr>
            <a:r>
              <a:rPr lang="en-US" altLang="en-US" sz="2800" dirty="0" smtClean="0">
                <a:solidFill>
                  <a:srgbClr val="000000"/>
                </a:solidFill>
                <a:latin typeface="Courier New" panose="02070309020205020404" pitchFamily="49" charset="0"/>
              </a:rPr>
              <a:t>template&lt;typename </a:t>
            </a:r>
            <a:r>
              <a:rPr lang="en-US" altLang="en-US" sz="2800" dirty="0">
                <a:solidFill>
                  <a:srgbClr val="000000"/>
                </a:solidFill>
                <a:latin typeface="Courier New" panose="02070309020205020404" pitchFamily="49" charset="0"/>
              </a:rPr>
              <a:t>T1, typename T2&gt;</a:t>
            </a:r>
          </a:p>
          <a:p>
            <a:pPr marL="292100" lvl="0" indent="-292100">
              <a:lnSpc>
                <a:spcPct val="85000"/>
              </a:lnSpc>
              <a:spcBef>
                <a:spcPct val="50000"/>
              </a:spcBef>
              <a:buFontTx/>
              <a:buChar char="•"/>
            </a:pPr>
            <a:r>
              <a:rPr lang="en-US" altLang="en-US" sz="2800" dirty="0">
                <a:solidFill>
                  <a:srgbClr val="000000"/>
                </a:solidFill>
              </a:rPr>
              <a:t>Example:</a:t>
            </a:r>
          </a:p>
          <a:p>
            <a:pPr marL="457200" lvl="1" indent="-50800">
              <a:lnSpc>
                <a:spcPct val="85000"/>
              </a:lnSpc>
              <a:spcBef>
                <a:spcPct val="50000"/>
              </a:spcBef>
              <a:buClr>
                <a:srgbClr val="3333CC"/>
              </a:buClr>
              <a:buNone/>
            </a:pPr>
            <a:r>
              <a:rPr lang="en-US" altLang="en-US" sz="1800" dirty="0">
                <a:solidFill>
                  <a:srgbClr val="000000"/>
                </a:solidFill>
                <a:latin typeface="Courier New" panose="02070309020205020404" pitchFamily="49" charset="0"/>
                <a:cs typeface="Courier New" panose="02070309020205020404" pitchFamily="49" charset="0"/>
              </a:rPr>
              <a:t>template&lt;typename T1, typename T2&gt; // T1 and T2 will be</a:t>
            </a:r>
          </a:p>
          <a:p>
            <a:pPr marL="457200" lvl="1" indent="-50800">
              <a:lnSpc>
                <a:spcPct val="85000"/>
              </a:lnSpc>
              <a:spcBef>
                <a:spcPct val="50000"/>
              </a:spcBef>
              <a:buClr>
                <a:srgbClr val="3333CC"/>
              </a:buClr>
              <a:buNone/>
            </a:pPr>
            <a:r>
              <a:rPr lang="en-US" altLang="en-US" sz="1800" dirty="0">
                <a:solidFill>
                  <a:srgbClr val="000000"/>
                </a:solidFill>
                <a:latin typeface="Courier New" panose="02070309020205020404" pitchFamily="49" charset="0"/>
                <a:cs typeface="Courier New" panose="02070309020205020404" pitchFamily="49" charset="0"/>
              </a:rPr>
              <a:t>double mpg(T1 miles, T2 gallons)   // replaced in the</a:t>
            </a:r>
          </a:p>
          <a:p>
            <a:pPr marL="457200" lvl="1" indent="-50800">
              <a:lnSpc>
                <a:spcPct val="85000"/>
              </a:lnSpc>
              <a:spcBef>
                <a:spcPct val="50000"/>
              </a:spcBef>
              <a:buClr>
                <a:srgbClr val="3333CC"/>
              </a:buClr>
              <a:buNone/>
            </a:pPr>
            <a:r>
              <a:rPr lang="en-US" altLang="en-US" sz="1800" dirty="0">
                <a:solidFill>
                  <a:srgbClr val="000000"/>
                </a:solidFill>
                <a:latin typeface="Courier New" panose="02070309020205020404" pitchFamily="49" charset="0"/>
                <a:cs typeface="Courier New" panose="02070309020205020404" pitchFamily="49" charset="0"/>
              </a:rPr>
              <a:t>{                                  // called </a:t>
            </a:r>
            <a:r>
              <a:rPr lang="en-US" altLang="en-US" sz="1800" dirty="0" smtClean="0">
                <a:solidFill>
                  <a:srgbClr val="000000"/>
                </a:solidFill>
                <a:latin typeface="Courier New" panose="02070309020205020404" pitchFamily="49" charset="0"/>
                <a:cs typeface="Courier New" panose="02070309020205020404" pitchFamily="49" charset="0"/>
              </a:rPr>
              <a:t>function</a:t>
            </a:r>
            <a:endParaRPr lang="en-US" altLang="en-US" sz="1800" dirty="0">
              <a:solidFill>
                <a:srgbClr val="000000"/>
              </a:solidFill>
              <a:latin typeface="Courier New" panose="02070309020205020404" pitchFamily="49" charset="0"/>
              <a:cs typeface="Courier New" panose="02070309020205020404" pitchFamily="49" charset="0"/>
            </a:endParaRPr>
          </a:p>
          <a:p>
            <a:pPr marL="864000" lvl="1" indent="-50800">
              <a:lnSpc>
                <a:spcPct val="85000"/>
              </a:lnSpc>
              <a:spcBef>
                <a:spcPct val="50000"/>
              </a:spcBef>
              <a:buClr>
                <a:srgbClr val="3333CC"/>
              </a:buClr>
              <a:buNone/>
            </a:pPr>
            <a:r>
              <a:rPr lang="en-US" altLang="en-US" sz="1800" dirty="0" smtClean="0">
                <a:solidFill>
                  <a:srgbClr val="000000"/>
                </a:solidFill>
                <a:latin typeface="Courier New" panose="02070309020205020404" pitchFamily="49" charset="0"/>
                <a:cs typeface="Courier New" panose="02070309020205020404" pitchFamily="49" charset="0"/>
              </a:rPr>
              <a:t>return </a:t>
            </a:r>
            <a:r>
              <a:rPr lang="en-US" altLang="en-US" sz="1800" dirty="0">
                <a:solidFill>
                  <a:srgbClr val="000000"/>
                </a:solidFill>
                <a:latin typeface="Courier New" panose="02070309020205020404" pitchFamily="49" charset="0"/>
                <a:cs typeface="Courier New" panose="02070309020205020404" pitchFamily="49" charset="0"/>
              </a:rPr>
              <a:t>miles / gallons          // with the </a:t>
            </a:r>
            <a:r>
              <a:rPr lang="en-US" altLang="en-US" sz="1800" dirty="0" smtClean="0">
                <a:solidFill>
                  <a:srgbClr val="000000"/>
                </a:solidFill>
                <a:latin typeface="Courier New" panose="02070309020205020404" pitchFamily="49" charset="0"/>
                <a:cs typeface="Courier New" panose="02070309020205020404" pitchFamily="49" charset="0"/>
              </a:rPr>
              <a:t>data</a:t>
            </a:r>
            <a:endParaRPr lang="en-US" altLang="en-US" sz="1800" dirty="0">
              <a:solidFill>
                <a:srgbClr val="000000"/>
              </a:solidFill>
              <a:latin typeface="Courier New" panose="02070309020205020404" pitchFamily="49" charset="0"/>
              <a:cs typeface="Courier New" panose="02070309020205020404" pitchFamily="49" charset="0"/>
            </a:endParaRPr>
          </a:p>
          <a:p>
            <a:pPr marL="457200" lvl="1" indent="-50800">
              <a:lnSpc>
                <a:spcPct val="85000"/>
              </a:lnSpc>
              <a:spcBef>
                <a:spcPct val="50000"/>
              </a:spcBef>
              <a:buClr>
                <a:srgbClr val="3333CC"/>
              </a:buClr>
              <a:buNone/>
            </a:pPr>
            <a:r>
              <a:rPr lang="en-US" altLang="en-US" sz="1800" dirty="0">
                <a:solidFill>
                  <a:srgbClr val="000000"/>
                </a:solidFill>
                <a:latin typeface="Courier New" panose="02070309020205020404" pitchFamily="49" charset="0"/>
                <a:cs typeface="Courier New" panose="02070309020205020404" pitchFamily="49" charset="0"/>
              </a:rPr>
              <a:t>}                                  // types of </a:t>
            </a:r>
            <a:r>
              <a:rPr lang="en-US" altLang="en-US" sz="1800" dirty="0" smtClean="0">
                <a:solidFill>
                  <a:srgbClr val="000000"/>
                </a:solidFill>
                <a:latin typeface="Courier New" panose="02070309020205020404" pitchFamily="49" charset="0"/>
                <a:cs typeface="Courier New" panose="02070309020205020404" pitchFamily="49" charset="0"/>
              </a:rPr>
              <a:t>the</a:t>
            </a:r>
            <a:endParaRPr lang="en-US" altLang="en-US" sz="1800" dirty="0">
              <a:solidFill>
                <a:srgbClr val="000000"/>
              </a:solidFill>
              <a:latin typeface="Courier New" panose="02070309020205020404" pitchFamily="49" charset="0"/>
              <a:cs typeface="Courier New" panose="02070309020205020404" pitchFamily="49" charset="0"/>
            </a:endParaRPr>
          </a:p>
          <a:p>
            <a:pPr marL="5234400" lvl="1" indent="-50800">
              <a:lnSpc>
                <a:spcPct val="85000"/>
              </a:lnSpc>
              <a:spcBef>
                <a:spcPct val="50000"/>
              </a:spcBef>
              <a:buClr>
                <a:srgbClr val="3333CC"/>
              </a:buClr>
              <a:buNone/>
            </a:pPr>
            <a:r>
              <a:rPr lang="en-US" altLang="en-US" sz="1800" dirty="0" smtClean="0">
                <a:solidFill>
                  <a:srgbClr val="000000"/>
                </a:solidFill>
                <a:latin typeface="Courier New" panose="02070309020205020404" pitchFamily="49" charset="0"/>
                <a:cs typeface="Courier New" panose="02070309020205020404" pitchFamily="49" charset="0"/>
              </a:rPr>
              <a:t>// arguments</a:t>
            </a:r>
            <a:endParaRPr lang="en-US" altLang="en-US" sz="18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390273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Notes </a:t>
            </a:r>
            <a:r>
              <a:rPr lang="en-US" altLang="en-US" sz="1200" dirty="0" smtClean="0"/>
              <a:t>(2 of 4)</a:t>
            </a:r>
            <a:endParaRPr lang="en-IN" dirty="0"/>
          </a:p>
        </p:txBody>
      </p:sp>
      <p:sp>
        <p:nvSpPr>
          <p:cNvPr id="3" name="Content Placeholder 2"/>
          <p:cNvSpPr>
            <a:spLocks noGrp="1"/>
          </p:cNvSpPr>
          <p:nvPr>
            <p:ph idx="1"/>
          </p:nvPr>
        </p:nvSpPr>
        <p:spPr>
          <a:xfrm>
            <a:off x="457200" y="1944000"/>
            <a:ext cx="8229600" cy="3276600"/>
          </a:xfrm>
        </p:spPr>
        <p:txBody>
          <a:bodyPr/>
          <a:lstStyle/>
          <a:p>
            <a:pPr lvl="0">
              <a:lnSpc>
                <a:spcPct val="90000"/>
              </a:lnSpc>
              <a:spcBef>
                <a:spcPct val="50000"/>
              </a:spcBef>
              <a:buFontTx/>
              <a:buChar char="•"/>
            </a:pPr>
            <a:r>
              <a:rPr lang="en-US" altLang="en-US" sz="2800" dirty="0">
                <a:solidFill>
                  <a:srgbClr val="000000"/>
                </a:solidFill>
              </a:rPr>
              <a:t>Function templates can be overloaded Each template must have a unique parameter list</a:t>
            </a:r>
          </a:p>
          <a:p>
            <a:pPr marL="1026000" lvl="1">
              <a:lnSpc>
                <a:spcPct val="90000"/>
              </a:lnSpc>
              <a:spcBef>
                <a:spcPct val="50000"/>
              </a:spcBef>
              <a:buClr>
                <a:srgbClr val="000000"/>
              </a:buClr>
              <a:buNone/>
            </a:pPr>
            <a:r>
              <a:rPr lang="en-US" altLang="en-US" sz="2400" dirty="0" smtClean="0">
                <a:solidFill>
                  <a:srgbClr val="000000"/>
                </a:solidFill>
                <a:latin typeface="Courier New" panose="02070309020205020404" pitchFamily="49" charset="0"/>
              </a:rPr>
              <a:t>template </a:t>
            </a:r>
            <a:r>
              <a:rPr lang="en-US" altLang="en-US" sz="2400" dirty="0">
                <a:solidFill>
                  <a:srgbClr val="000000"/>
                </a:solidFill>
                <a:latin typeface="Courier New" panose="02070309020205020404" pitchFamily="49" charset="0"/>
              </a:rPr>
              <a:t>&lt;typename T&gt;</a:t>
            </a:r>
          </a:p>
          <a:p>
            <a:pPr marL="1026000" lvl="1">
              <a:lnSpc>
                <a:spcPct val="90000"/>
              </a:lnSpc>
              <a:spcBef>
                <a:spcPct val="50000"/>
              </a:spcBef>
              <a:buClr>
                <a:srgbClr val="000000"/>
              </a:buClr>
              <a:buNone/>
            </a:pPr>
            <a:r>
              <a:rPr lang="en-US" altLang="en-US" sz="2400" dirty="0">
                <a:solidFill>
                  <a:srgbClr val="000000"/>
                </a:solidFill>
                <a:latin typeface="Courier New" panose="02070309020205020404" pitchFamily="49" charset="0"/>
              </a:rPr>
              <a:t>T sumAll(T num) ...</a:t>
            </a:r>
          </a:p>
          <a:p>
            <a:pPr marL="1026000" lvl="1">
              <a:lnSpc>
                <a:spcPct val="90000"/>
              </a:lnSpc>
              <a:spcBef>
                <a:spcPts val="4000"/>
              </a:spcBef>
              <a:buClr>
                <a:srgbClr val="000000"/>
              </a:buClr>
              <a:buNone/>
            </a:pPr>
            <a:r>
              <a:rPr lang="en-US" altLang="en-US" sz="2400" dirty="0">
                <a:solidFill>
                  <a:srgbClr val="000000"/>
                </a:solidFill>
                <a:latin typeface="Courier New" panose="02070309020205020404" pitchFamily="49" charset="0"/>
              </a:rPr>
              <a:t>template &lt;typename T1, typename T2&gt;</a:t>
            </a:r>
          </a:p>
          <a:p>
            <a:pPr marL="1026000" lvl="1">
              <a:lnSpc>
                <a:spcPct val="90000"/>
              </a:lnSpc>
              <a:spcBef>
                <a:spcPct val="50000"/>
              </a:spcBef>
              <a:buClr>
                <a:srgbClr val="000000"/>
              </a:buClr>
              <a:buNone/>
            </a:pPr>
            <a:r>
              <a:rPr lang="en-US" altLang="en-US" sz="2400" dirty="0">
                <a:solidFill>
                  <a:srgbClr val="000000"/>
                </a:solidFill>
                <a:latin typeface="Courier New" panose="02070309020205020404" pitchFamily="49" charset="0"/>
              </a:rPr>
              <a:t>T1 sumall(T1 num1, T2 num2) ...</a:t>
            </a:r>
          </a:p>
        </p:txBody>
      </p:sp>
    </p:spTree>
    <p:extLst>
      <p:ext uri="{BB962C8B-B14F-4D97-AF65-F5344CB8AC3E}">
        <p14:creationId xmlns:p14="http://schemas.microsoft.com/office/powerpoint/2010/main" val="32520449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Notes </a:t>
            </a:r>
            <a:r>
              <a:rPr lang="en-US" altLang="en-US" sz="1200" dirty="0" smtClean="0"/>
              <a:t>(3 of 4)</a:t>
            </a:r>
            <a:endParaRPr lang="en-IN" dirty="0"/>
          </a:p>
        </p:txBody>
      </p:sp>
      <p:sp>
        <p:nvSpPr>
          <p:cNvPr id="3" name="Content Placeholder 2"/>
          <p:cNvSpPr>
            <a:spLocks noGrp="1"/>
          </p:cNvSpPr>
          <p:nvPr>
            <p:ph idx="1"/>
          </p:nvPr>
        </p:nvSpPr>
        <p:spPr>
          <a:xfrm>
            <a:off x="457200" y="1944000"/>
            <a:ext cx="8229600" cy="3733800"/>
          </a:xfrm>
        </p:spPr>
        <p:txBody>
          <a:bodyPr/>
          <a:lstStyle/>
          <a:p>
            <a:pPr lvl="0">
              <a:lnSpc>
                <a:spcPct val="90000"/>
              </a:lnSpc>
              <a:spcBef>
                <a:spcPct val="50000"/>
              </a:spcBef>
              <a:buFontTx/>
              <a:buChar char="•"/>
            </a:pPr>
            <a:r>
              <a:rPr lang="en-US" altLang="en-US" dirty="0">
                <a:solidFill>
                  <a:srgbClr val="000000"/>
                </a:solidFill>
              </a:rPr>
              <a:t>All data types specified in template prefix must be used in template definition</a:t>
            </a:r>
          </a:p>
          <a:p>
            <a:pPr lvl="0">
              <a:lnSpc>
                <a:spcPct val="90000"/>
              </a:lnSpc>
              <a:spcBef>
                <a:spcPct val="50000"/>
              </a:spcBef>
              <a:buFontTx/>
              <a:buChar char="•"/>
            </a:pPr>
            <a:r>
              <a:rPr lang="en-US" altLang="en-US" dirty="0">
                <a:solidFill>
                  <a:srgbClr val="000000"/>
                </a:solidFill>
              </a:rPr>
              <a:t>Function calls must pass parameters for all data types specified in the template prefix</a:t>
            </a:r>
          </a:p>
          <a:p>
            <a:pPr lvl="0">
              <a:lnSpc>
                <a:spcPct val="90000"/>
              </a:lnSpc>
              <a:spcBef>
                <a:spcPct val="50000"/>
              </a:spcBef>
              <a:buFontTx/>
              <a:buChar char="•"/>
            </a:pPr>
            <a:r>
              <a:rPr lang="en-US" altLang="en-US" dirty="0">
                <a:solidFill>
                  <a:srgbClr val="000000"/>
                </a:solidFill>
              </a:rPr>
              <a:t>Like regular functions, function templates must be defined before being </a:t>
            </a:r>
            <a:r>
              <a:rPr lang="en-US" altLang="en-US" dirty="0" smtClean="0">
                <a:solidFill>
                  <a:srgbClr val="000000"/>
                </a:solidFill>
              </a:rPr>
              <a:t>called</a:t>
            </a:r>
            <a:endParaRPr lang="en-US" altLang="en-US" dirty="0">
              <a:solidFill>
                <a:srgbClr val="000000"/>
              </a:solidFill>
            </a:endParaRPr>
          </a:p>
        </p:txBody>
      </p:sp>
    </p:spTree>
    <p:extLst>
      <p:ext uri="{BB962C8B-B14F-4D97-AF65-F5344CB8AC3E}">
        <p14:creationId xmlns:p14="http://schemas.microsoft.com/office/powerpoint/2010/main" val="32040478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Function Template </a:t>
            </a:r>
            <a:r>
              <a:rPr lang="en-US" altLang="en-US" dirty="0" smtClean="0"/>
              <a:t>Notes </a:t>
            </a:r>
            <a:r>
              <a:rPr lang="en-US" altLang="en-US" sz="1200" dirty="0" smtClean="0"/>
              <a:t>(4 of 4)</a:t>
            </a:r>
            <a:endParaRPr lang="en-IN" dirty="0"/>
          </a:p>
        </p:txBody>
      </p:sp>
      <p:sp>
        <p:nvSpPr>
          <p:cNvPr id="3" name="Content Placeholder 2"/>
          <p:cNvSpPr>
            <a:spLocks noGrp="1"/>
          </p:cNvSpPr>
          <p:nvPr>
            <p:ph idx="1"/>
          </p:nvPr>
        </p:nvSpPr>
        <p:spPr>
          <a:xfrm>
            <a:off x="457200" y="1944000"/>
            <a:ext cx="8229600" cy="3810000"/>
          </a:xfrm>
        </p:spPr>
        <p:txBody>
          <a:bodyPr/>
          <a:lstStyle/>
          <a:p>
            <a:pPr lvl="0">
              <a:lnSpc>
                <a:spcPct val="90000"/>
              </a:lnSpc>
              <a:buFontTx/>
              <a:buChar char="•"/>
            </a:pPr>
            <a:r>
              <a:rPr lang="en-US" altLang="en-US" sz="2800" dirty="0">
                <a:solidFill>
                  <a:srgbClr val="000000"/>
                </a:solidFill>
              </a:rPr>
              <a:t>A function template is a pattern</a:t>
            </a:r>
          </a:p>
          <a:p>
            <a:pPr lvl="0">
              <a:lnSpc>
                <a:spcPct val="90000"/>
              </a:lnSpc>
              <a:buFontTx/>
              <a:buChar char="•"/>
            </a:pPr>
            <a:r>
              <a:rPr lang="en-US" altLang="en-US" sz="2800" dirty="0">
                <a:solidFill>
                  <a:srgbClr val="000000"/>
                </a:solidFill>
              </a:rPr>
              <a:t>No actual code is generated until the function named in the template is called</a:t>
            </a:r>
          </a:p>
          <a:p>
            <a:pPr lvl="0">
              <a:lnSpc>
                <a:spcPct val="90000"/>
              </a:lnSpc>
              <a:buFontTx/>
              <a:buChar char="•"/>
            </a:pPr>
            <a:r>
              <a:rPr lang="en-US" altLang="en-US" sz="2800" dirty="0">
                <a:solidFill>
                  <a:srgbClr val="000000"/>
                </a:solidFill>
              </a:rPr>
              <a:t>A function template uses no memory </a:t>
            </a:r>
          </a:p>
          <a:p>
            <a:pPr lvl="0">
              <a:lnSpc>
                <a:spcPct val="90000"/>
              </a:lnSpc>
              <a:spcBef>
                <a:spcPct val="50000"/>
              </a:spcBef>
              <a:buFontTx/>
              <a:buChar char="•"/>
            </a:pPr>
            <a:r>
              <a:rPr lang="en-US" altLang="en-US" sz="2800" dirty="0">
                <a:solidFill>
                  <a:srgbClr val="000000"/>
                </a:solidFill>
              </a:rPr>
              <a:t>When passing a class object to a function template, ensure that all operators in the template are defined or overloaded in the class </a:t>
            </a:r>
            <a:r>
              <a:rPr lang="en-US" altLang="en-US" sz="2800" dirty="0" smtClean="0">
                <a:solidFill>
                  <a:srgbClr val="000000"/>
                </a:solidFill>
              </a:rPr>
              <a:t>definition</a:t>
            </a:r>
            <a:endParaRPr lang="en-US" altLang="en-US" sz="2800" dirty="0">
              <a:solidFill>
                <a:srgbClr val="000000"/>
              </a:solidFill>
            </a:endParaRPr>
          </a:p>
        </p:txBody>
      </p:sp>
    </p:spTree>
    <p:extLst>
      <p:ext uri="{BB962C8B-B14F-4D97-AF65-F5344CB8AC3E}">
        <p14:creationId xmlns:p14="http://schemas.microsoft.com/office/powerpoint/2010/main" val="4082754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ctrTitle"/>
          </p:nvPr>
        </p:nvSpPr>
        <p:spPr/>
        <p:txBody>
          <a:bodyPr/>
          <a:lstStyle/>
          <a:p>
            <a:r>
              <a:rPr lang="en-US" altLang="en-US" dirty="0" smtClean="0"/>
              <a:t>16.3</a:t>
            </a:r>
          </a:p>
        </p:txBody>
      </p:sp>
      <p:sp>
        <p:nvSpPr>
          <p:cNvPr id="49155" name="Subtitle 2"/>
          <p:cNvSpPr>
            <a:spLocks noGrp="1" noChangeArrowheads="1"/>
          </p:cNvSpPr>
          <p:nvPr>
            <p:ph type="subTitle" idx="1"/>
          </p:nvPr>
        </p:nvSpPr>
        <p:spPr/>
        <p:txBody>
          <a:bodyPr/>
          <a:lstStyle/>
          <a:p>
            <a:r>
              <a:rPr lang="en-US" altLang="en-US" dirty="0" smtClean="0"/>
              <a:t>Where to Start When Defining Templates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Where to Start </a:t>
            </a:r>
            <a:r>
              <a:rPr lang="en-US" altLang="en-US" dirty="0" smtClean="0"/>
              <a:t/>
            </a:r>
            <a:br>
              <a:rPr lang="en-US" altLang="en-US" dirty="0" smtClean="0"/>
            </a:br>
            <a:r>
              <a:rPr lang="en-US" altLang="en-US" dirty="0" smtClean="0"/>
              <a:t>When </a:t>
            </a:r>
            <a:r>
              <a:rPr lang="en-US" altLang="en-US" dirty="0"/>
              <a:t>Defining Templates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Templates are often appropriate for multiple functions that perform the same task with different parameter data types</a:t>
            </a:r>
          </a:p>
          <a:p>
            <a:pPr lvl="0">
              <a:lnSpc>
                <a:spcPct val="90000"/>
              </a:lnSpc>
              <a:buFontTx/>
              <a:buChar char="•"/>
            </a:pPr>
            <a:r>
              <a:rPr lang="en-US" altLang="en-US" dirty="0">
                <a:solidFill>
                  <a:srgbClr val="000000"/>
                </a:solidFill>
              </a:rPr>
              <a:t>Develop function using usual data types first, then convert to a template:</a:t>
            </a:r>
          </a:p>
          <a:p>
            <a:pPr lvl="1">
              <a:lnSpc>
                <a:spcPct val="90000"/>
              </a:lnSpc>
            </a:pPr>
            <a:r>
              <a:rPr lang="en-US" altLang="en-US" dirty="0">
                <a:solidFill>
                  <a:srgbClr val="000000"/>
                </a:solidFill>
              </a:rPr>
              <a:t>add template prefix</a:t>
            </a:r>
          </a:p>
          <a:p>
            <a:pPr lvl="1">
              <a:lnSpc>
                <a:spcPct val="90000"/>
              </a:lnSpc>
            </a:pPr>
            <a:r>
              <a:rPr lang="en-US" altLang="en-US" dirty="0">
                <a:solidFill>
                  <a:srgbClr val="000000"/>
                </a:solidFill>
              </a:rPr>
              <a:t>convert data type names in the function to a type parameter (</a:t>
            </a:r>
            <a:r>
              <a:rPr lang="en-US" altLang="en-US" i="1" dirty="0">
                <a:solidFill>
                  <a:srgbClr val="000000"/>
                </a:solidFill>
              </a:rPr>
              <a:t>i.e.</a:t>
            </a:r>
            <a:r>
              <a:rPr lang="en-US" altLang="en-US" dirty="0">
                <a:solidFill>
                  <a:srgbClr val="000000"/>
                </a:solidFill>
              </a:rPr>
              <a:t>, a T type) in the </a:t>
            </a:r>
            <a:r>
              <a:rPr lang="en-US" altLang="en-US" dirty="0" smtClean="0">
                <a:solidFill>
                  <a:srgbClr val="000000"/>
                </a:solidFill>
              </a:rPr>
              <a:t>template</a:t>
            </a:r>
            <a:endParaRPr lang="en-US" altLang="en-US" dirty="0">
              <a:solidFill>
                <a:srgbClr val="000000"/>
              </a:solidFill>
            </a:endParaRPr>
          </a:p>
        </p:txBody>
      </p:sp>
    </p:spTree>
    <p:extLst>
      <p:ext uri="{BB962C8B-B14F-4D97-AF65-F5344CB8AC3E}">
        <p14:creationId xmlns:p14="http://schemas.microsoft.com/office/powerpoint/2010/main" val="4719708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noChangeArrowheads="1"/>
          </p:cNvSpPr>
          <p:nvPr>
            <p:ph type="ctrTitle"/>
          </p:nvPr>
        </p:nvSpPr>
        <p:spPr/>
        <p:txBody>
          <a:bodyPr/>
          <a:lstStyle/>
          <a:p>
            <a:r>
              <a:rPr lang="en-US" altLang="en-US" dirty="0" smtClean="0"/>
              <a:t>16.4</a:t>
            </a:r>
          </a:p>
        </p:txBody>
      </p:sp>
      <p:sp>
        <p:nvSpPr>
          <p:cNvPr id="51203" name="Subtitle 2"/>
          <p:cNvSpPr>
            <a:spLocks noGrp="1" noChangeArrowheads="1"/>
          </p:cNvSpPr>
          <p:nvPr>
            <p:ph type="subTitle" idx="1"/>
          </p:nvPr>
        </p:nvSpPr>
        <p:spPr/>
        <p:txBody>
          <a:bodyPr/>
          <a:lstStyle/>
          <a:p>
            <a:r>
              <a:rPr lang="en-US" altLang="en-US" dirty="0" smtClean="0"/>
              <a:t>Class Templates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 Templates</a:t>
            </a:r>
            <a:endParaRPr lang="en-IN" dirty="0"/>
          </a:p>
        </p:txBody>
      </p:sp>
      <p:sp>
        <p:nvSpPr>
          <p:cNvPr id="3" name="Content Placeholder 2"/>
          <p:cNvSpPr>
            <a:spLocks noGrp="1"/>
          </p:cNvSpPr>
          <p:nvPr>
            <p:ph idx="1"/>
          </p:nvPr>
        </p:nvSpPr>
        <p:spPr>
          <a:xfrm>
            <a:off x="304800" y="1752600"/>
            <a:ext cx="8382000" cy="4525963"/>
          </a:xfrm>
        </p:spPr>
        <p:txBody>
          <a:bodyPr/>
          <a:lstStyle/>
          <a:p>
            <a:pPr lvl="0">
              <a:lnSpc>
                <a:spcPct val="85000"/>
              </a:lnSpc>
              <a:buFontTx/>
              <a:buChar char="•"/>
            </a:pPr>
            <a:r>
              <a:rPr lang="en-US" altLang="en-US" dirty="0">
                <a:solidFill>
                  <a:srgbClr val="000000"/>
                </a:solidFill>
              </a:rPr>
              <a:t>Classes can also be represented by templates</a:t>
            </a:r>
            <a:r>
              <a:rPr lang="en-US" altLang="en-US" dirty="0" smtClean="0">
                <a:solidFill>
                  <a:srgbClr val="000000"/>
                </a:solidFill>
              </a:rPr>
              <a:t>. When </a:t>
            </a:r>
            <a:r>
              <a:rPr lang="en-US" altLang="en-US" dirty="0">
                <a:solidFill>
                  <a:srgbClr val="000000"/>
                </a:solidFill>
              </a:rPr>
              <a:t>a class object is created, type information is supplied to define the type of data members of the class.</a:t>
            </a:r>
          </a:p>
          <a:p>
            <a:pPr lvl="0">
              <a:lnSpc>
                <a:spcPct val="85000"/>
              </a:lnSpc>
              <a:buFontTx/>
              <a:buChar char="•"/>
            </a:pPr>
            <a:r>
              <a:rPr lang="en-US" altLang="en-US" dirty="0">
                <a:solidFill>
                  <a:srgbClr val="000000"/>
                </a:solidFill>
              </a:rPr>
              <a:t>Unlike functions, classes are instantiated by supplying the type name (</a:t>
            </a:r>
            <a:r>
              <a:rPr lang="en-US" altLang="en-US" dirty="0">
                <a:solidFill>
                  <a:srgbClr val="000000"/>
                </a:solidFill>
                <a:latin typeface="Courier New" panose="02070309020205020404" pitchFamily="49" charset="0"/>
              </a:rPr>
              <a:t>int</a:t>
            </a:r>
            <a:r>
              <a:rPr lang="en-US" altLang="en-US" dirty="0">
                <a:solidFill>
                  <a:srgbClr val="000000"/>
                </a:solidFill>
              </a:rPr>
              <a:t>, </a:t>
            </a:r>
            <a:r>
              <a:rPr lang="en-US" altLang="en-US" dirty="0">
                <a:solidFill>
                  <a:srgbClr val="000000"/>
                </a:solidFill>
                <a:latin typeface="Courier New" panose="02070309020205020404" pitchFamily="49" charset="0"/>
              </a:rPr>
              <a:t>double</a:t>
            </a:r>
            <a:r>
              <a:rPr lang="en-US" altLang="en-US" dirty="0">
                <a:solidFill>
                  <a:srgbClr val="000000"/>
                </a:solidFill>
              </a:rPr>
              <a:t>, </a:t>
            </a:r>
            <a:r>
              <a:rPr lang="en-US" altLang="en-US" dirty="0">
                <a:solidFill>
                  <a:srgbClr val="000000"/>
                </a:solidFill>
                <a:latin typeface="Courier New" panose="02070309020205020404" pitchFamily="49" charset="0"/>
              </a:rPr>
              <a:t>string</a:t>
            </a:r>
            <a:r>
              <a:rPr lang="en-US" altLang="en-US" dirty="0">
                <a:solidFill>
                  <a:srgbClr val="000000"/>
                </a:solidFill>
              </a:rPr>
              <a:t>, etc.) at object </a:t>
            </a:r>
            <a:r>
              <a:rPr lang="en-US" altLang="en-US" dirty="0" smtClean="0">
                <a:solidFill>
                  <a:srgbClr val="000000"/>
                </a:solidFill>
              </a:rPr>
              <a:t>definition</a:t>
            </a:r>
            <a:endParaRPr lang="en-US" altLang="en-US" dirty="0">
              <a:solidFill>
                <a:srgbClr val="000000"/>
              </a:solidFill>
            </a:endParaRPr>
          </a:p>
        </p:txBody>
      </p:sp>
    </p:spTree>
    <p:extLst>
      <p:ext uri="{BB962C8B-B14F-4D97-AF65-F5344CB8AC3E}">
        <p14:creationId xmlns:p14="http://schemas.microsoft.com/office/powerpoint/2010/main" val="25787598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 Template </a:t>
            </a:r>
            <a:r>
              <a:rPr lang="en-US" altLang="en-US" dirty="0" smtClean="0"/>
              <a:t>Example </a:t>
            </a:r>
            <a:r>
              <a:rPr lang="en-US" altLang="en-US" sz="1200" dirty="0" smtClean="0"/>
              <a:t>(1 of 2)</a:t>
            </a:r>
            <a:endParaRPr lang="en-IN" dirty="0"/>
          </a:p>
        </p:txBody>
      </p:sp>
      <p:sp>
        <p:nvSpPr>
          <p:cNvPr id="3" name="Content Placeholder 2"/>
          <p:cNvSpPr>
            <a:spLocks noGrp="1"/>
          </p:cNvSpPr>
          <p:nvPr>
            <p:ph idx="1"/>
          </p:nvPr>
        </p:nvSpPr>
        <p:spPr>
          <a:xfrm>
            <a:off x="152400" y="1600200"/>
            <a:ext cx="8229600" cy="4525963"/>
          </a:xfrm>
        </p:spPr>
        <p:txBody>
          <a:bodyPr/>
          <a:lstStyle/>
          <a:p>
            <a:pPr lvl="1">
              <a:lnSpc>
                <a:spcPct val="90000"/>
              </a:lnSpc>
              <a:buNone/>
            </a:pPr>
            <a:r>
              <a:rPr lang="en-US" altLang="en-US" sz="2400" dirty="0">
                <a:solidFill>
                  <a:srgbClr val="000000"/>
                </a:solidFill>
                <a:latin typeface="Courier New" panose="02070309020205020404" pitchFamily="49" charset="0"/>
              </a:rPr>
              <a:t>template &lt;typename T&gt;</a:t>
            </a:r>
          </a:p>
          <a:p>
            <a:pPr lvl="1">
              <a:lnSpc>
                <a:spcPct val="90000"/>
              </a:lnSpc>
              <a:buNone/>
            </a:pPr>
            <a:r>
              <a:rPr lang="en-US" altLang="en-US" sz="2400" dirty="0">
                <a:solidFill>
                  <a:srgbClr val="000000"/>
                </a:solidFill>
                <a:latin typeface="Courier New" panose="02070309020205020404" pitchFamily="49" charset="0"/>
              </a:rPr>
              <a:t>class grade</a:t>
            </a:r>
          </a:p>
          <a:p>
            <a:pPr lvl="1">
              <a:lnSpc>
                <a:spcPct val="90000"/>
              </a:lnSpc>
              <a:buNone/>
            </a:pPr>
            <a:r>
              <a:rPr lang="en-US" altLang="en-US" sz="2400" dirty="0">
                <a:solidFill>
                  <a:srgbClr val="000000"/>
                </a:solidFill>
                <a:latin typeface="Courier New" panose="02070309020205020404" pitchFamily="49" charset="0"/>
              </a:rPr>
              <a:t>{	</a:t>
            </a:r>
          </a:p>
          <a:p>
            <a:pPr marL="1393200" lvl="1">
              <a:lnSpc>
                <a:spcPct val="90000"/>
              </a:lnSpc>
              <a:buNone/>
            </a:pPr>
            <a:r>
              <a:rPr lang="en-US" altLang="en-US" sz="2400" dirty="0" smtClean="0">
                <a:solidFill>
                  <a:srgbClr val="000000"/>
                </a:solidFill>
                <a:latin typeface="Courier New" panose="02070309020205020404" pitchFamily="49" charset="0"/>
              </a:rPr>
              <a:t>private</a:t>
            </a:r>
            <a:r>
              <a:rPr lang="en-US" altLang="en-US" sz="2400" dirty="0">
                <a:solidFill>
                  <a:srgbClr val="000000"/>
                </a:solidFill>
                <a:latin typeface="Courier New" panose="02070309020205020404" pitchFamily="49" charset="0"/>
              </a:rPr>
              <a:t>:</a:t>
            </a:r>
          </a:p>
          <a:p>
            <a:pPr marL="2113200" lvl="1">
              <a:lnSpc>
                <a:spcPct val="90000"/>
              </a:lnSpc>
              <a:buNone/>
            </a:pPr>
            <a:r>
              <a:rPr lang="en-US" altLang="en-US" sz="2400" dirty="0" smtClean="0">
                <a:solidFill>
                  <a:srgbClr val="000000"/>
                </a:solidFill>
                <a:latin typeface="Courier New" panose="02070309020205020404" pitchFamily="49" charset="0"/>
              </a:rPr>
              <a:t>T </a:t>
            </a:r>
            <a:r>
              <a:rPr lang="en-US" altLang="en-US" sz="2400" dirty="0">
                <a:solidFill>
                  <a:srgbClr val="000000"/>
                </a:solidFill>
                <a:latin typeface="Courier New" panose="02070309020205020404" pitchFamily="49" charset="0"/>
              </a:rPr>
              <a:t>score;</a:t>
            </a:r>
          </a:p>
          <a:p>
            <a:pPr marL="1386000" lvl="1">
              <a:lnSpc>
                <a:spcPct val="90000"/>
              </a:lnSpc>
              <a:buNone/>
            </a:pPr>
            <a:r>
              <a:rPr lang="en-US" altLang="en-US" sz="2400" dirty="0">
                <a:solidFill>
                  <a:srgbClr val="000000"/>
                </a:solidFill>
                <a:latin typeface="Courier New" panose="02070309020205020404" pitchFamily="49" charset="0"/>
              </a:rPr>
              <a:t>public:</a:t>
            </a:r>
          </a:p>
          <a:p>
            <a:pPr marL="2113200" lvl="1">
              <a:lnSpc>
                <a:spcPct val="90000"/>
              </a:lnSpc>
              <a:buNone/>
            </a:pPr>
            <a:r>
              <a:rPr lang="en-US" altLang="en-US" sz="2400" dirty="0">
                <a:solidFill>
                  <a:srgbClr val="000000"/>
                </a:solidFill>
                <a:latin typeface="Courier New" panose="02070309020205020404" pitchFamily="49" charset="0"/>
              </a:rPr>
              <a:t>grade(T);</a:t>
            </a:r>
          </a:p>
          <a:p>
            <a:pPr marL="2113200" lvl="1">
              <a:lnSpc>
                <a:spcPct val="90000"/>
              </a:lnSpc>
              <a:buNone/>
            </a:pPr>
            <a:r>
              <a:rPr lang="en-US" altLang="en-US" sz="2400" dirty="0">
                <a:solidFill>
                  <a:srgbClr val="000000"/>
                </a:solidFill>
                <a:latin typeface="Courier New" panose="02070309020205020404" pitchFamily="49" charset="0"/>
              </a:rPr>
              <a:t>void setGrade(T);</a:t>
            </a:r>
          </a:p>
          <a:p>
            <a:pPr marL="2113200" lvl="1">
              <a:lnSpc>
                <a:spcPct val="90000"/>
              </a:lnSpc>
              <a:buNone/>
            </a:pPr>
            <a:r>
              <a:rPr lang="en-US" altLang="en-US" sz="2400" dirty="0">
                <a:solidFill>
                  <a:srgbClr val="000000"/>
                </a:solidFill>
                <a:latin typeface="Courier New" panose="02070309020205020404" pitchFamily="49" charset="0"/>
              </a:rPr>
              <a:t>T getGrade()</a:t>
            </a:r>
          </a:p>
          <a:p>
            <a:pPr lvl="1">
              <a:lnSpc>
                <a:spcPct val="90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90496973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 Template </a:t>
            </a:r>
            <a:r>
              <a:rPr lang="en-US" altLang="en-US" dirty="0" smtClean="0"/>
              <a:t>Example </a:t>
            </a:r>
            <a:r>
              <a:rPr lang="en-US" altLang="en-US" sz="1200" dirty="0" smtClean="0"/>
              <a:t>(2 of 2)</a:t>
            </a:r>
            <a:endParaRPr lang="en-IN" dirty="0"/>
          </a:p>
        </p:txBody>
      </p:sp>
      <p:sp>
        <p:nvSpPr>
          <p:cNvPr id="3" name="Content Placeholder 2"/>
          <p:cNvSpPr>
            <a:spLocks noGrp="1"/>
          </p:cNvSpPr>
          <p:nvPr>
            <p:ph idx="1"/>
          </p:nvPr>
        </p:nvSpPr>
        <p:spPr/>
        <p:txBody>
          <a:bodyPr/>
          <a:lstStyle/>
          <a:p>
            <a:pPr lvl="0">
              <a:spcBef>
                <a:spcPct val="50000"/>
              </a:spcBef>
              <a:buFontTx/>
              <a:buChar char="•"/>
            </a:pPr>
            <a:r>
              <a:rPr lang="en-US" altLang="en-US" dirty="0">
                <a:solidFill>
                  <a:srgbClr val="000000"/>
                </a:solidFill>
              </a:rPr>
              <a:t>Pass type information to class template when defining objects:</a:t>
            </a:r>
          </a:p>
          <a:p>
            <a:pPr marL="1022400" lvl="1">
              <a:spcBef>
                <a:spcPct val="50000"/>
              </a:spcBef>
              <a:buClr>
                <a:srgbClr val="3333CC"/>
              </a:buClr>
              <a:buNone/>
            </a:pPr>
            <a:r>
              <a:rPr lang="en-US" altLang="en-US" dirty="0" smtClean="0">
                <a:solidFill>
                  <a:srgbClr val="000000"/>
                </a:solidFill>
                <a:latin typeface="Courier New" panose="02070309020205020404" pitchFamily="49" charset="0"/>
              </a:rPr>
              <a:t>grade&lt;int</a:t>
            </a:r>
            <a:r>
              <a:rPr lang="en-US" altLang="en-US" dirty="0">
                <a:solidFill>
                  <a:srgbClr val="000000"/>
                </a:solidFill>
                <a:latin typeface="Courier New" panose="02070309020205020404" pitchFamily="49" charset="0"/>
              </a:rPr>
              <a:t>&gt; testList[20];</a:t>
            </a:r>
          </a:p>
          <a:p>
            <a:pPr marL="1022400" lvl="1">
              <a:spcBef>
                <a:spcPct val="50000"/>
              </a:spcBef>
              <a:buClr>
                <a:srgbClr val="3333CC"/>
              </a:buClr>
              <a:buNone/>
            </a:pPr>
            <a:r>
              <a:rPr lang="en-US" altLang="en-US" dirty="0" smtClean="0">
                <a:solidFill>
                  <a:srgbClr val="000000"/>
                </a:solidFill>
                <a:latin typeface="Courier New" panose="02070309020205020404" pitchFamily="49" charset="0"/>
              </a:rPr>
              <a:t>grade&lt;double&gt; quizList[20];</a:t>
            </a:r>
          </a:p>
          <a:p>
            <a:pPr lvl="0">
              <a:spcBef>
                <a:spcPct val="50000"/>
              </a:spcBef>
              <a:buFontTx/>
              <a:buChar char="•"/>
            </a:pPr>
            <a:r>
              <a:rPr lang="en-US" altLang="en-US" dirty="0" smtClean="0">
                <a:solidFill>
                  <a:srgbClr val="000000"/>
                </a:solidFill>
              </a:rPr>
              <a:t>Use as ordinary objects once defined</a:t>
            </a:r>
            <a:endParaRPr lang="en-US" altLang="en-US" dirty="0">
              <a:solidFill>
                <a:srgbClr val="000000"/>
              </a:solidFill>
            </a:endParaRPr>
          </a:p>
        </p:txBody>
      </p:sp>
    </p:spTree>
    <p:extLst>
      <p:ext uri="{BB962C8B-B14F-4D97-AF65-F5344CB8AC3E}">
        <p14:creationId xmlns:p14="http://schemas.microsoft.com/office/powerpoint/2010/main" val="29707508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 Templates and Inheritance</a:t>
            </a:r>
            <a:endParaRPr lang="en-IN" dirty="0"/>
          </a:p>
        </p:txBody>
      </p:sp>
      <p:sp>
        <p:nvSpPr>
          <p:cNvPr id="3" name="Content Placeholder 2"/>
          <p:cNvSpPr>
            <a:spLocks noGrp="1"/>
          </p:cNvSpPr>
          <p:nvPr>
            <p:ph idx="1"/>
          </p:nvPr>
        </p:nvSpPr>
        <p:spPr>
          <a:xfrm>
            <a:off x="457200" y="1735200"/>
            <a:ext cx="8077200" cy="3916363"/>
          </a:xfrm>
        </p:spPr>
        <p:txBody>
          <a:bodyPr/>
          <a:lstStyle/>
          <a:p>
            <a:pPr lvl="0">
              <a:lnSpc>
                <a:spcPct val="90000"/>
              </a:lnSpc>
              <a:buFontTx/>
              <a:buChar char="•"/>
            </a:pPr>
            <a:r>
              <a:rPr lang="en-US" altLang="en-US" sz="2400" dirty="0">
                <a:solidFill>
                  <a:srgbClr val="000000"/>
                </a:solidFill>
              </a:rPr>
              <a:t>Class templates can inherit from other class templates:</a:t>
            </a:r>
          </a:p>
          <a:p>
            <a:pPr lvl="1">
              <a:lnSpc>
                <a:spcPct val="90000"/>
              </a:lnSpc>
              <a:buNone/>
            </a:pPr>
            <a:r>
              <a:rPr lang="en-US" altLang="en-US" sz="2000" dirty="0">
                <a:solidFill>
                  <a:srgbClr val="000000"/>
                </a:solidFill>
                <a:latin typeface="Courier New" panose="02070309020205020404" pitchFamily="49" charset="0"/>
              </a:rPr>
              <a:t>template &lt;typename T&gt;</a:t>
            </a:r>
          </a:p>
          <a:p>
            <a:pPr lvl="1">
              <a:lnSpc>
                <a:spcPct val="90000"/>
              </a:lnSpc>
              <a:buNone/>
            </a:pPr>
            <a:r>
              <a:rPr lang="en-US" altLang="en-US" sz="2000" dirty="0">
                <a:solidFill>
                  <a:srgbClr val="000000"/>
                </a:solidFill>
                <a:latin typeface="Courier New" panose="02070309020205020404" pitchFamily="49" charset="0"/>
              </a:rPr>
              <a:t>class Rectangle</a:t>
            </a:r>
          </a:p>
          <a:p>
            <a:pPr marL="1026000" lvl="1">
              <a:lnSpc>
                <a:spcPct val="90000"/>
              </a:lnSpc>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a:t>
            </a: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a:p>
            <a:pPr lvl="1">
              <a:lnSpc>
                <a:spcPct val="90000"/>
              </a:lnSpc>
              <a:spcBef>
                <a:spcPts val="3100"/>
              </a:spcBef>
              <a:buNone/>
            </a:pPr>
            <a:r>
              <a:rPr lang="en-US" altLang="en-US" sz="2000" dirty="0">
                <a:solidFill>
                  <a:srgbClr val="000000"/>
                </a:solidFill>
                <a:latin typeface="Courier New" panose="02070309020205020404" pitchFamily="49" charset="0"/>
              </a:rPr>
              <a:t>template &lt;typename T&gt;</a:t>
            </a:r>
          </a:p>
          <a:p>
            <a:pPr lvl="1">
              <a:lnSpc>
                <a:spcPct val="90000"/>
              </a:lnSpc>
              <a:buNone/>
            </a:pPr>
            <a:r>
              <a:rPr lang="en-US" altLang="en-US" sz="2000" dirty="0">
                <a:solidFill>
                  <a:srgbClr val="000000"/>
                </a:solidFill>
                <a:latin typeface="Courier New" panose="02070309020205020404" pitchFamily="49" charset="0"/>
              </a:rPr>
              <a:t>class Square : public Rectangle&lt;T&gt;</a:t>
            </a:r>
          </a:p>
          <a:p>
            <a:pPr marL="1026000" lvl="1">
              <a:lnSpc>
                <a:spcPct val="90000"/>
              </a:lnSpc>
              <a:buNone/>
            </a:pPr>
            <a:r>
              <a:rPr lang="en-US" altLang="en-US" sz="2000" dirty="0">
                <a:solidFill>
                  <a:srgbClr val="000000"/>
                </a:solidFill>
                <a:latin typeface="Courier New" panose="02070309020205020404" pitchFamily="49" charset="0"/>
              </a:rPr>
              <a:t>{ ... };</a:t>
            </a:r>
          </a:p>
          <a:p>
            <a:pPr lvl="0">
              <a:lnSpc>
                <a:spcPct val="91000"/>
              </a:lnSpc>
              <a:spcBef>
                <a:spcPts val="2700"/>
              </a:spcBef>
              <a:buFontTx/>
              <a:buChar char="•"/>
            </a:pPr>
            <a:r>
              <a:rPr lang="en-US" altLang="en-US" sz="2400" dirty="0">
                <a:solidFill>
                  <a:srgbClr val="000000"/>
                </a:solidFill>
              </a:rPr>
              <a:t>Must use type parameter </a:t>
            </a:r>
            <a:r>
              <a:rPr lang="en-US" altLang="en-US" sz="2400" dirty="0">
                <a:solidFill>
                  <a:srgbClr val="000000"/>
                </a:solidFill>
                <a:latin typeface="Courier New" panose="02070309020205020404" pitchFamily="49" charset="0"/>
              </a:rPr>
              <a:t>T</a:t>
            </a:r>
            <a:r>
              <a:rPr lang="en-US" altLang="en-US" sz="2400" dirty="0">
                <a:solidFill>
                  <a:srgbClr val="000000"/>
                </a:solidFill>
              </a:rPr>
              <a:t> everywhere base class name is used in derived </a:t>
            </a:r>
            <a:r>
              <a:rPr lang="en-US" altLang="en-US" sz="2400" dirty="0" smtClean="0">
                <a:solidFill>
                  <a:srgbClr val="000000"/>
                </a:solidFill>
              </a:rPr>
              <a:t>class</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155581654"/>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4449A7B-1316-4750-A902-50F2BA9393AC}"/>
</file>

<file path=customXml/itemProps2.xml><?xml version="1.0" encoding="utf-8"?>
<ds:datastoreItem xmlns:ds="http://schemas.openxmlformats.org/officeDocument/2006/customXml" ds:itemID="{349E57A1-67E8-4DB9-8F8F-2CF968CD039B}"/>
</file>

<file path=customXml/itemProps3.xml><?xml version="1.0" encoding="utf-8"?>
<ds:datastoreItem xmlns:ds="http://schemas.openxmlformats.org/officeDocument/2006/customXml" ds:itemID="{719F3C8F-39BA-418D-9A96-6DDE5223E700}"/>
</file>

<file path=docProps/app.xml><?xml version="1.0" encoding="utf-8"?>
<Properties xmlns="http://schemas.openxmlformats.org/officeDocument/2006/extended-properties" xmlns:vt="http://schemas.openxmlformats.org/officeDocument/2006/docPropsVTypes">
  <Template/>
  <TotalTime>921</TotalTime>
  <Words>1441</Words>
  <Application>Microsoft Office PowerPoint</Application>
  <PresentationFormat>On-screen Show (4:3)</PresentationFormat>
  <Paragraphs>190</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ヒラギノ角ゴ Pro W3</vt:lpstr>
      <vt:lpstr>Arial</vt:lpstr>
      <vt:lpstr>Calibri</vt:lpstr>
      <vt:lpstr>Courier New</vt:lpstr>
      <vt:lpstr>Times New Roman</vt:lpstr>
      <vt:lpstr>Default Design</vt:lpstr>
      <vt:lpstr>Chapter 16: Exceptions and Templates</vt:lpstr>
      <vt:lpstr>16.1</vt:lpstr>
      <vt:lpstr>Exceptions</vt:lpstr>
      <vt:lpstr>Exceptions - Terminology</vt:lpstr>
      <vt:lpstr>Exceptions – Key Words</vt:lpstr>
      <vt:lpstr>Exceptions – Flow of Control</vt:lpstr>
      <vt:lpstr>Exceptions – Example (1)</vt:lpstr>
      <vt:lpstr>Exceptions – Example (2)</vt:lpstr>
      <vt:lpstr>Exceptions – What Happens</vt:lpstr>
      <vt:lpstr>From Program 16-1 (1 of 2)</vt:lpstr>
      <vt:lpstr>From Program 16-1 (2 of 2)</vt:lpstr>
      <vt:lpstr>What Happens in theTry/Catch Construct</vt:lpstr>
      <vt:lpstr>What if no exception is thrown?</vt:lpstr>
      <vt:lpstr>Exceptions - Notes</vt:lpstr>
      <vt:lpstr>Exception Not Caught?</vt:lpstr>
      <vt:lpstr>Exceptions and Objects</vt:lpstr>
      <vt:lpstr>Contents of Rectangle.h (1 of 2)</vt:lpstr>
      <vt:lpstr>Contents of Rectangle.h (2 of 2)</vt:lpstr>
      <vt:lpstr>   </vt:lpstr>
      <vt:lpstr>Program 16-2 (1 of 3)</vt:lpstr>
      <vt:lpstr>Program 16-2 (2 of 3)</vt:lpstr>
      <vt:lpstr>Program 16-2 (3 of 3)</vt:lpstr>
      <vt:lpstr>What Happens After catch Block?</vt:lpstr>
      <vt:lpstr>Nested try Blocks</vt:lpstr>
      <vt:lpstr>Handling bad_alloc</vt:lpstr>
      <vt:lpstr>The noexcept Specifier</vt:lpstr>
      <vt:lpstr>16.2</vt:lpstr>
      <vt:lpstr>Function Templates</vt:lpstr>
      <vt:lpstr>Function Template Example (1 of 2)</vt:lpstr>
      <vt:lpstr>Function Template Example (2 of 2)</vt:lpstr>
      <vt:lpstr>Function Template Notes (1 of 4)</vt:lpstr>
      <vt:lpstr>Function Template Notes (2 of 4)</vt:lpstr>
      <vt:lpstr>Function Template Notes (3 of 4)</vt:lpstr>
      <vt:lpstr>Function Template Notes (4 of 4)</vt:lpstr>
      <vt:lpstr>16.3</vt:lpstr>
      <vt:lpstr>Where to Start  When Defining Templates</vt:lpstr>
      <vt:lpstr>16.4</vt:lpstr>
      <vt:lpstr>Class Templates</vt:lpstr>
      <vt:lpstr>Class Template Example (1 of 2)</vt:lpstr>
      <vt:lpstr>Class Template Example (2 of 2)</vt:lpstr>
      <vt:lpstr>Class Templates and Inheritance</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143</cp:revision>
  <dcterms:created xsi:type="dcterms:W3CDTF">2011-02-16T20:47:20Z</dcterms:created>
  <dcterms:modified xsi:type="dcterms:W3CDTF">2021-08-19T12:31:28Z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