
<file path=[Content_Types].xml><?xml version="1.0" encoding="utf-8"?>
<Types xmlns="http://schemas.openxmlformats.org/package/2006/content-types">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s/slide46.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4.xml" ContentType="application/vnd.openxmlformats-officedocument.presentationml.slide+xml"/>
  <Override PartName="/ppt/slides/slide50.xml" ContentType="application/vnd.openxmlformats-officedocument.presentationml.slide+xml"/>
  <Override PartName="/ppt/slides/slide49.xml" ContentType="application/vnd.openxmlformats-officedocument.presentationml.slide+xml"/>
  <Override PartName="/ppt/slides/slide48.xml" ContentType="application/vnd.openxmlformats-officedocument.presentationml.slide+xml"/>
  <Override PartName="/ppt/slides/slide47.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45.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8.xml" ContentType="application/vnd.openxmlformats-officedocument.presentationml.slide+xml"/>
  <Override PartName="/ppt/slides/slide3.xml" ContentType="application/vnd.openxmlformats-officedocument.presentationml.slide+xml"/>
  <Override PartName="/ppt/slides/slide10.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9.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14.xml" ContentType="application/vnd.openxmlformats-officedocument.presentationml.slide+xml"/>
  <Override PartName="/ppt/slides/slide12.xml" ContentType="application/vnd.openxmlformats-officedocument.presentationml.slide+xml"/>
  <Override PartName="/ppt/slideMasters/slideMaster1.xml" ContentType="application/vnd.openxmlformats-officedocument.presentationml.slideMaster+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theme/theme3.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handoutMasters/handoutMaster1.xml" ContentType="application/vnd.openxmlformats-officedocument.presentationml.handout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handoutMasterIdLst>
    <p:handoutMasterId r:id="rId53"/>
  </p:handoutMasterIdLst>
  <p:sldIdLst>
    <p:sldId id="362" r:id="rId2"/>
    <p:sldId id="313" r:id="rId3"/>
    <p:sldId id="314" r:id="rId4"/>
    <p:sldId id="315" r:id="rId5"/>
    <p:sldId id="316" r:id="rId6"/>
    <p:sldId id="317" r:id="rId7"/>
    <p:sldId id="318" r:id="rId8"/>
    <p:sldId id="319" r:id="rId9"/>
    <p:sldId id="364" r:id="rId10"/>
    <p:sldId id="321" r:id="rId11"/>
    <p:sldId id="322" r:id="rId12"/>
    <p:sldId id="272" r:id="rId13"/>
    <p:sldId id="323" r:id="rId14"/>
    <p:sldId id="365" r:id="rId15"/>
    <p:sldId id="366" r:id="rId16"/>
    <p:sldId id="326" r:id="rId17"/>
    <p:sldId id="327" r:id="rId18"/>
    <p:sldId id="358" r:id="rId19"/>
    <p:sldId id="360" r:id="rId20"/>
    <p:sldId id="368" r:id="rId21"/>
    <p:sldId id="370" r:id="rId22"/>
    <p:sldId id="332" r:id="rId23"/>
    <p:sldId id="333" r:id="rId24"/>
    <p:sldId id="334" r:id="rId25"/>
    <p:sldId id="335" r:id="rId26"/>
    <p:sldId id="336" r:id="rId27"/>
    <p:sldId id="337" r:id="rId28"/>
    <p:sldId id="338" r:id="rId29"/>
    <p:sldId id="339" r:id="rId30"/>
    <p:sldId id="340" r:id="rId31"/>
    <p:sldId id="341" r:id="rId32"/>
    <p:sldId id="342" r:id="rId33"/>
    <p:sldId id="343" r:id="rId34"/>
    <p:sldId id="344" r:id="rId35"/>
    <p:sldId id="345" r:id="rId36"/>
    <p:sldId id="346" r:id="rId37"/>
    <p:sldId id="347" r:id="rId38"/>
    <p:sldId id="348" r:id="rId39"/>
    <p:sldId id="349" r:id="rId40"/>
    <p:sldId id="350" r:id="rId41"/>
    <p:sldId id="351" r:id="rId42"/>
    <p:sldId id="352" r:id="rId43"/>
    <p:sldId id="303" r:id="rId44"/>
    <p:sldId id="353" r:id="rId45"/>
    <p:sldId id="305" r:id="rId46"/>
    <p:sldId id="354" r:id="rId47"/>
    <p:sldId id="355" r:id="rId48"/>
    <p:sldId id="308" r:id="rId49"/>
    <p:sldId id="356" r:id="rId50"/>
    <p:sldId id="357" r:id="rId51"/>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056" userDrawn="1">
          <p15:clr>
            <a:srgbClr val="A4A3A4"/>
          </p15:clr>
        </p15:guide>
        <p15:guide id="2" pos="1488"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7797"/>
    <a:srgbClr val="047797"/>
    <a:srgbClr val="0488AE"/>
    <a:srgbClr val="FA8218"/>
    <a:srgbClr val="E6FCFE"/>
    <a:srgbClr val="DAFBFE"/>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808" autoAdjust="0"/>
    <p:restoredTop sz="86421" autoAdjust="0"/>
  </p:normalViewPr>
  <p:slideViewPr>
    <p:cSldViewPr showGuides="1">
      <p:cViewPr varScale="1">
        <p:scale>
          <a:sx n="116" d="100"/>
          <a:sy n="116" d="100"/>
        </p:scale>
        <p:origin x="954" y="108"/>
      </p:cViewPr>
      <p:guideLst>
        <p:guide orient="horz" pos="1056"/>
        <p:guide pos="148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5592"/>
    </p:cViewPr>
  </p:sorterViewPr>
  <p:notesViewPr>
    <p:cSldViewPr showGuides="1">
      <p:cViewPr varScale="1">
        <p:scale>
          <a:sx n="56" d="100"/>
          <a:sy n="56" d="100"/>
        </p:scale>
        <p:origin x="-285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8" Type="http://schemas.openxmlformats.org/officeDocument/2006/relationships/customXml" Target="../customXml/item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customXml" Target="../customXml/item2.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60"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cs typeface="Arial" charset="0"/>
              </a:defRPr>
            </a:lvl1pPr>
          </a:lstStyle>
          <a:p>
            <a:pPr>
              <a:defRPr/>
            </a:pPr>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cs typeface="Arial" charset="0"/>
              </a:defRPr>
            </a:lvl1pPr>
          </a:lstStyle>
          <a:p>
            <a:pPr>
              <a:defRPr/>
            </a:pPr>
            <a:fld id="{7307096F-E1D2-4A1D-B945-DF1C2F391938}" type="datetimeFigureOut">
              <a:rPr lang="en-US"/>
              <a:pPr>
                <a:defRPr/>
              </a:pPr>
              <a:t>8/19/2021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cs typeface="Arial" charset="0"/>
              </a:defRPr>
            </a:lvl1pPr>
          </a:lstStyle>
          <a:p>
            <a:pPr>
              <a:defRPr/>
            </a:pPr>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3B80F0D8-3CFE-43B6-BE9B-9CA8C9DAD752}" type="slidenum">
              <a:rPr lang="en-US" altLang="en-US"/>
              <a:pPr/>
              <a:t>‹#›</a:t>
            </a:fld>
            <a:endParaRPr lang="en-US" altLang="en-US" dirty="0"/>
          </a:p>
        </p:txBody>
      </p:sp>
    </p:spTree>
    <p:extLst>
      <p:ext uri="{BB962C8B-B14F-4D97-AF65-F5344CB8AC3E}">
        <p14:creationId xmlns:p14="http://schemas.microsoft.com/office/powerpoint/2010/main" val="12263839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cs typeface="Arial" charset="0"/>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cs typeface="Arial" charset="0"/>
              </a:defRPr>
            </a:lvl1pPr>
          </a:lstStyle>
          <a:p>
            <a:pPr>
              <a:defRPr/>
            </a:pPr>
            <a:fld id="{BB10777A-6B49-4F2C-BD40-FEECFD14959E}" type="datetimeFigureOut">
              <a:rPr lang="en-US"/>
              <a:pPr>
                <a:defRPr/>
              </a:pPr>
              <a:t>8/19/2021</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cs typeface="Arial" charset="0"/>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68E7D4B7-452D-474D-B00B-E8816B89DD83}" type="slidenum">
              <a:rPr lang="en-US" altLang="en-US"/>
              <a:pPr/>
              <a:t>‹#›</a:t>
            </a:fld>
            <a:endParaRPr lang="en-US" altLang="en-US" dirty="0"/>
          </a:p>
        </p:txBody>
      </p:sp>
    </p:spTree>
    <p:extLst>
      <p:ext uri="{BB962C8B-B14F-4D97-AF65-F5344CB8AC3E}">
        <p14:creationId xmlns:p14="http://schemas.microsoft.com/office/powerpoint/2010/main" val="167711723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266" name="Rectangle 2"/>
          <p:cNvSpPr>
            <a:spLocks noGrp="1" noChangeArrowheads="1"/>
          </p:cNvSpPr>
          <p:nvPr>
            <p:ph type="ctrTitle"/>
          </p:nvPr>
        </p:nvSpPr>
        <p:spPr>
          <a:xfrm>
            <a:off x="685800" y="2130425"/>
            <a:ext cx="7772400" cy="1470025"/>
          </a:xfrm>
        </p:spPr>
        <p:txBody>
          <a:bodyPr/>
          <a:lstStyle>
            <a:lvl1pPr algn="ctr">
              <a:defRPr sz="8000">
                <a:solidFill>
                  <a:srgbClr val="037797"/>
                </a:solidFill>
              </a:defRPr>
            </a:lvl1pPr>
          </a:lstStyle>
          <a:p>
            <a:r>
              <a:rPr lang="en-US" dirty="0"/>
              <a:t>Section #</a:t>
            </a:r>
          </a:p>
        </p:txBody>
      </p:sp>
      <p:sp>
        <p:nvSpPr>
          <p:cNvPr id="11267" name="Rectangle 3"/>
          <p:cNvSpPr>
            <a:spLocks noGrp="1" noChangeArrowheads="1"/>
          </p:cNvSpPr>
          <p:nvPr>
            <p:ph type="subTitle" idx="1"/>
          </p:nvPr>
        </p:nvSpPr>
        <p:spPr>
          <a:xfrm>
            <a:off x="1371600" y="4267200"/>
            <a:ext cx="6400800" cy="1752600"/>
          </a:xfrm>
        </p:spPr>
        <p:txBody>
          <a:bodyPr/>
          <a:lstStyle>
            <a:lvl1pPr marL="0" indent="0" algn="ctr">
              <a:buFontTx/>
              <a:buNone/>
              <a:defRPr/>
            </a:lvl1pPr>
          </a:lstStyle>
          <a:p>
            <a:r>
              <a:rPr lang="en-US"/>
              <a:t>Click to edit Master subtitle style</a:t>
            </a:r>
          </a:p>
        </p:txBody>
      </p:sp>
      <p:sp>
        <p:nvSpPr>
          <p:cNvPr id="4" name="Slide Number Placeholder 4"/>
          <p:cNvSpPr>
            <a:spLocks noGrp="1" noChangeArrowheads="1"/>
          </p:cNvSpPr>
          <p:nvPr>
            <p:ph type="sldNum" sz="quarter" idx="10"/>
          </p:nvPr>
        </p:nvSpPr>
        <p:spPr>
          <a:xfrm>
            <a:off x="6934200" y="6245225"/>
            <a:ext cx="1752600" cy="476250"/>
          </a:xfrm>
        </p:spPr>
        <p:txBody>
          <a:bodyPr/>
          <a:lstStyle>
            <a:lvl1pPr>
              <a:defRPr/>
            </a:lvl1pPr>
          </a:lstStyle>
          <a:p>
            <a:fld id="{7A3B2109-BE33-4A99-8C50-D1C2BD4DAA02}" type="slidenum">
              <a:rPr lang="en-US" altLang="en-US"/>
              <a:pPr/>
              <a:t>‹#›</a:t>
            </a:fld>
            <a:endParaRPr lang="en-US" altLang="en-US" dirty="0"/>
          </a:p>
        </p:txBody>
      </p:sp>
    </p:spTree>
    <p:extLst>
      <p:ext uri="{BB962C8B-B14F-4D97-AF65-F5344CB8AC3E}">
        <p14:creationId xmlns:p14="http://schemas.microsoft.com/office/powerpoint/2010/main" val="5429277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marL="342900" indent="-342900">
              <a:buFont typeface="Arial" panose="020B0604020202020204" pitchFamily="34" charset="0"/>
              <a:buChar char="•"/>
              <a:defRPr/>
            </a:lvl1pPr>
            <a:lvl2pPr marL="742950" indent="-285750">
              <a:buFont typeface="Arial" panose="020B0604020202020204" pitchFamily="34" charset="0"/>
              <a:buChar char="•"/>
              <a:defRPr/>
            </a:lvl2pPr>
            <a:lvl3pPr marL="1143000" indent="-228600">
              <a:buFont typeface="Arial" panose="020B0604020202020204" pitchFamily="34" charset="0"/>
              <a:buChar char="•"/>
              <a:defRPr/>
            </a:lvl3pPr>
            <a:lvl4pPr marL="1600200" indent="-228600">
              <a:buFont typeface="Arial" panose="020B0604020202020204" pitchFamily="34" charset="0"/>
              <a:buChar char="•"/>
              <a:defRPr/>
            </a:lvl4pPr>
            <a:lvl5pPr marL="2057400" indent="-228600">
              <a:buFont typeface="Arial" panose="020B0604020202020204"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6"/>
          <p:cNvSpPr>
            <a:spLocks noGrp="1" noChangeArrowheads="1"/>
          </p:cNvSpPr>
          <p:nvPr>
            <p:ph type="sldNum" sz="quarter" idx="10"/>
          </p:nvPr>
        </p:nvSpPr>
        <p:spPr>
          <a:ln/>
        </p:spPr>
        <p:txBody>
          <a:bodyPr/>
          <a:lstStyle>
            <a:lvl1pPr>
              <a:defRPr/>
            </a:lvl1pPr>
          </a:lstStyle>
          <a:p>
            <a:fld id="{E7B199D9-C7A6-4A5E-BC40-F14958D718A8}" type="slidenum">
              <a:rPr lang="en-US" altLang="en-US"/>
              <a:pPr/>
              <a:t>‹#›</a:t>
            </a:fld>
            <a:endParaRPr lang="en-US" altLang="en-US" dirty="0"/>
          </a:p>
        </p:txBody>
      </p:sp>
    </p:spTree>
    <p:extLst>
      <p:ext uri="{BB962C8B-B14F-4D97-AF65-F5344CB8AC3E}">
        <p14:creationId xmlns:p14="http://schemas.microsoft.com/office/powerpoint/2010/main" val="32563920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1676399"/>
          </a:xfrm>
        </p:spPr>
        <p:txBody>
          <a:bodyPr/>
          <a:lstStyle>
            <a:lvl1pPr marL="342900" indent="-342900">
              <a:buFont typeface="Arial" panose="020B0604020202020204" pitchFamily="34" charset="0"/>
              <a:buChar char="•"/>
              <a:defRPr/>
            </a:lvl1pPr>
            <a:lvl2pPr marL="742950" indent="-285750">
              <a:buFont typeface="Arial" panose="020B0604020202020204" pitchFamily="34" charset="0"/>
              <a:buChar char="•"/>
              <a:defRPr/>
            </a:lvl2pPr>
            <a:lvl3pPr marL="1143000" indent="-228600">
              <a:buFont typeface="Arial" panose="020B0604020202020204" pitchFamily="34" charset="0"/>
              <a:buChar char="•"/>
              <a:defRPr/>
            </a:lvl3pPr>
            <a:lvl4pPr marL="1600200" indent="-228600">
              <a:buFont typeface="Arial" panose="020B0604020202020204" pitchFamily="34" charset="0"/>
              <a:buChar char="•"/>
              <a:defRPr/>
            </a:lvl4pPr>
            <a:lvl5pPr marL="2057400" indent="-228600">
              <a:buFont typeface="Arial" panose="020B0604020202020204"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6"/>
          <p:cNvSpPr>
            <a:spLocks noGrp="1" noChangeArrowheads="1"/>
          </p:cNvSpPr>
          <p:nvPr>
            <p:ph type="sldNum" sz="quarter" idx="10"/>
          </p:nvPr>
        </p:nvSpPr>
        <p:spPr>
          <a:ln/>
        </p:spPr>
        <p:txBody>
          <a:bodyPr/>
          <a:lstStyle>
            <a:lvl1pPr>
              <a:defRPr/>
            </a:lvl1pPr>
          </a:lstStyle>
          <a:p>
            <a:fld id="{E7B199D9-C7A6-4A5E-BC40-F14958D718A8}" type="slidenum">
              <a:rPr lang="en-US" altLang="en-US"/>
              <a:pPr/>
              <a:t>‹#›</a:t>
            </a:fld>
            <a:endParaRPr lang="en-US" altLang="en-US" dirty="0"/>
          </a:p>
        </p:txBody>
      </p:sp>
      <p:sp>
        <p:nvSpPr>
          <p:cNvPr id="6" name="Content Placeholder 5"/>
          <p:cNvSpPr>
            <a:spLocks noGrp="1"/>
          </p:cNvSpPr>
          <p:nvPr>
            <p:ph sz="quarter" idx="11"/>
          </p:nvPr>
        </p:nvSpPr>
        <p:spPr>
          <a:xfrm>
            <a:off x="685800" y="4191000"/>
            <a:ext cx="7848600" cy="16002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Tree>
    <p:extLst>
      <p:ext uri="{BB962C8B-B14F-4D97-AF65-F5344CB8AC3E}">
        <p14:creationId xmlns:p14="http://schemas.microsoft.com/office/powerpoint/2010/main" val="2598714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sldNum" sz="quarter" idx="10"/>
          </p:nvPr>
        </p:nvSpPr>
        <p:spPr>
          <a:ln/>
        </p:spPr>
        <p:txBody>
          <a:bodyPr/>
          <a:lstStyle>
            <a:lvl1pPr>
              <a:defRPr/>
            </a:lvl1pPr>
          </a:lstStyle>
          <a:p>
            <a:fld id="{67C7DBD1-65FD-466A-8A1A-C6F6F0220518}" type="slidenum">
              <a:rPr lang="en-US" altLang="en-US"/>
              <a:pPr/>
              <a:t>‹#›</a:t>
            </a:fld>
            <a:endParaRPr lang="en-US" altLang="en-US" dirty="0"/>
          </a:p>
        </p:txBody>
      </p:sp>
    </p:spTree>
    <p:extLst>
      <p:ext uri="{BB962C8B-B14F-4D97-AF65-F5344CB8AC3E}">
        <p14:creationId xmlns:p14="http://schemas.microsoft.com/office/powerpoint/2010/main" val="2627658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sldNum" sz="quarter" idx="10"/>
          </p:nvPr>
        </p:nvSpPr>
        <p:spPr>
          <a:ln/>
        </p:spPr>
        <p:txBody>
          <a:bodyPr/>
          <a:lstStyle>
            <a:lvl1pPr>
              <a:defRPr/>
            </a:lvl1pPr>
          </a:lstStyle>
          <a:p>
            <a:fld id="{322418AF-AFDB-4617-80FD-DFACA2BD92CF}" type="slidenum">
              <a:rPr lang="en-US" altLang="en-US"/>
              <a:pPr/>
              <a:t>‹#›</a:t>
            </a:fld>
            <a:endParaRPr lang="en-US" altLang="en-US" dirty="0"/>
          </a:p>
        </p:txBody>
      </p:sp>
    </p:spTree>
    <p:extLst>
      <p:ext uri="{BB962C8B-B14F-4D97-AF65-F5344CB8AC3E}">
        <p14:creationId xmlns:p14="http://schemas.microsoft.com/office/powerpoint/2010/main" val="8978285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sldNum" sz="quarter" idx="10"/>
          </p:nvPr>
        </p:nvSpPr>
        <p:spPr>
          <a:ln/>
        </p:spPr>
        <p:txBody>
          <a:bodyPr/>
          <a:lstStyle>
            <a:lvl1pPr>
              <a:defRPr/>
            </a:lvl1pPr>
          </a:lstStyle>
          <a:p>
            <a:fld id="{628496CB-CE57-4CB7-9A76-60576A7618BD}" type="slidenum">
              <a:rPr lang="en-US" altLang="en-US"/>
              <a:pPr/>
              <a:t>‹#›</a:t>
            </a:fld>
            <a:endParaRPr lang="en-US" altLang="en-US" dirty="0"/>
          </a:p>
        </p:txBody>
      </p:sp>
    </p:spTree>
    <p:extLst>
      <p:ext uri="{BB962C8B-B14F-4D97-AF65-F5344CB8AC3E}">
        <p14:creationId xmlns:p14="http://schemas.microsoft.com/office/powerpoint/2010/main" val="22108960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sldNum" sz="quarter" idx="10"/>
          </p:nvPr>
        </p:nvSpPr>
        <p:spPr>
          <a:ln/>
        </p:spPr>
        <p:txBody>
          <a:bodyPr/>
          <a:lstStyle>
            <a:lvl1pPr>
              <a:defRPr/>
            </a:lvl1pPr>
          </a:lstStyle>
          <a:p>
            <a:fld id="{476014C2-53E0-4DAD-863B-6804D0F3ED10}" type="slidenum">
              <a:rPr lang="en-US" altLang="en-US"/>
              <a:pPr/>
              <a:t>‹#›</a:t>
            </a:fld>
            <a:endParaRPr lang="en-US" altLang="en-US" dirty="0"/>
          </a:p>
        </p:txBody>
      </p:sp>
    </p:spTree>
    <p:extLst>
      <p:ext uri="{BB962C8B-B14F-4D97-AF65-F5344CB8AC3E}">
        <p14:creationId xmlns:p14="http://schemas.microsoft.com/office/powerpoint/2010/main" val="25759520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fld id="{D5837023-C38E-4253-9144-B66922C8701F}" type="slidenum">
              <a:rPr lang="en-US" altLang="en-US"/>
              <a:pPr/>
              <a:t>‹#›</a:t>
            </a:fld>
            <a:endParaRPr lang="en-US" altLang="en-US" dirty="0"/>
          </a:p>
        </p:txBody>
      </p:sp>
    </p:spTree>
    <p:extLst>
      <p:ext uri="{BB962C8B-B14F-4D97-AF65-F5344CB8AC3E}">
        <p14:creationId xmlns:p14="http://schemas.microsoft.com/office/powerpoint/2010/main" val="21043128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fld id="{AC87B778-19B9-4E67-AD3E-2EDC74168799}" type="slidenum">
              <a:rPr lang="en-US" altLang="en-US"/>
              <a:pPr/>
              <a:t>‹#›</a:t>
            </a:fld>
            <a:endParaRPr lang="en-US" altLang="en-US" dirty="0"/>
          </a:p>
        </p:txBody>
      </p:sp>
    </p:spTree>
    <p:extLst>
      <p:ext uri="{BB962C8B-B14F-4D97-AF65-F5344CB8AC3E}">
        <p14:creationId xmlns:p14="http://schemas.microsoft.com/office/powerpoint/2010/main" val="4130724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fld id="{91265616-E14A-4364-BF49-6995017C599F}" type="slidenum">
              <a:rPr lang="en-US" altLang="en-US"/>
              <a:pPr/>
              <a:t>‹#›</a:t>
            </a:fld>
            <a:endParaRPr lang="en-US" altLang="en-US" dirty="0"/>
          </a:p>
        </p:txBody>
      </p:sp>
    </p:spTree>
    <p:extLst>
      <p:ext uri="{BB962C8B-B14F-4D97-AF65-F5344CB8AC3E}">
        <p14:creationId xmlns:p14="http://schemas.microsoft.com/office/powerpoint/2010/main" val="6111771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sldNum" sz="quarter" idx="10"/>
          </p:nvPr>
        </p:nvSpPr>
        <p:spPr>
          <a:ln/>
        </p:spPr>
        <p:txBody>
          <a:bodyPr/>
          <a:lstStyle>
            <a:lvl1pPr>
              <a:defRPr/>
            </a:lvl1pPr>
          </a:lstStyle>
          <a:p>
            <a:fld id="{9072448C-B12F-46BC-AF0F-4EEADEF1FE70}" type="slidenum">
              <a:rPr lang="en-US" altLang="en-US"/>
              <a:pPr/>
              <a:t>‹#›</a:t>
            </a:fld>
            <a:endParaRPr lang="en-US" altLang="en-US" dirty="0"/>
          </a:p>
        </p:txBody>
      </p:sp>
    </p:spTree>
    <p:extLst>
      <p:ext uri="{BB962C8B-B14F-4D97-AF65-F5344CB8AC3E}">
        <p14:creationId xmlns:p14="http://schemas.microsoft.com/office/powerpoint/2010/main" val="39431862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sldNum" sz="quarter" idx="10"/>
          </p:nvPr>
        </p:nvSpPr>
        <p:spPr>
          <a:ln/>
        </p:spPr>
        <p:txBody>
          <a:bodyPr/>
          <a:lstStyle>
            <a:lvl1pPr>
              <a:defRPr/>
            </a:lvl1pPr>
          </a:lstStyle>
          <a:p>
            <a:fld id="{707B82D3-1BFF-4DB8-B774-5B6E01BB6648}" type="slidenum">
              <a:rPr lang="en-US" altLang="en-US"/>
              <a:pPr/>
              <a:t>‹#›</a:t>
            </a:fld>
            <a:endParaRPr lang="en-US" altLang="en-US" dirty="0"/>
          </a:p>
        </p:txBody>
      </p:sp>
    </p:spTree>
    <p:extLst>
      <p:ext uri="{BB962C8B-B14F-4D97-AF65-F5344CB8AC3E}">
        <p14:creationId xmlns:p14="http://schemas.microsoft.com/office/powerpoint/2010/main" val="16870344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smtClean="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fld id="{AB3D2093-5025-4069-B834-6433D0343FB9}" type="slidenum">
              <a:rPr lang="en-US" altLang="en-US"/>
              <a:pPr/>
              <a:t>‹#›</a:t>
            </a:fld>
            <a:endParaRPr lang="en-US" altLang="en-US" dirty="0"/>
          </a:p>
        </p:txBody>
      </p:sp>
      <p:sp>
        <p:nvSpPr>
          <p:cNvPr id="1029" name="Text Box 14"/>
          <p:cNvSpPr txBox="1">
            <a:spLocks noChangeArrowheads="1"/>
          </p:cNvSpPr>
          <p:nvPr userDrawn="1"/>
        </p:nvSpPr>
        <p:spPr bwMode="auto">
          <a:xfrm>
            <a:off x="1181100" y="6410325"/>
            <a:ext cx="6781800" cy="276225"/>
          </a:xfrm>
          <a:prstGeom prst="rect">
            <a:avLst/>
          </a:prstGeom>
          <a:noFill/>
          <a:ln>
            <a:noFill/>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r>
              <a:rPr lang="en-US" altLang="en-US" sz="1200" dirty="0">
                <a:latin typeface="Times New Roman" pitchFamily="18" charset="0"/>
              </a:rPr>
              <a:t>Copyright © 2021, 2018, 2015, 2012, 2009 Pearson Education, Inc. All rights reserved.</a:t>
            </a:r>
          </a:p>
        </p:txBody>
      </p:sp>
      <p:pic>
        <p:nvPicPr>
          <p:cNvPr id="2" name="Picture 6"/>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152400" y="6394450"/>
            <a:ext cx="998538"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75" r:id="rId1"/>
    <p:sldLayoutId id="2147483865" r:id="rId2"/>
    <p:sldLayoutId id="2147483876" r:id="rId3"/>
    <p:sldLayoutId id="2147483866" r:id="rId4"/>
    <p:sldLayoutId id="2147483867" r:id="rId5"/>
    <p:sldLayoutId id="2147483868" r:id="rId6"/>
    <p:sldLayoutId id="2147483869" r:id="rId7"/>
    <p:sldLayoutId id="2147483870" r:id="rId8"/>
    <p:sldLayoutId id="2147483871" r:id="rId9"/>
    <p:sldLayoutId id="2147483872" r:id="rId10"/>
    <p:sldLayoutId id="2147483873" r:id="rId11"/>
    <p:sldLayoutId id="2147483874" r:id="rId12"/>
  </p:sldLayoutIdLst>
  <p:timing>
    <p:tnLst>
      <p:par>
        <p:cTn id="1" dur="indefinite" restart="never" nodeType="tmRoot"/>
      </p:par>
    </p:tnLst>
  </p:timing>
  <p:txStyles>
    <p:titleStyle>
      <a:lvl1pPr algn="l" rtl="0" eaLnBrk="0" fontAlgn="base" hangingPunct="0">
        <a:spcBef>
          <a:spcPct val="0"/>
        </a:spcBef>
        <a:spcAft>
          <a:spcPct val="0"/>
        </a:spcAft>
        <a:defRPr sz="4400">
          <a:solidFill>
            <a:srgbClr val="037797"/>
          </a:solidFill>
          <a:latin typeface="+mj-lt"/>
          <a:ea typeface="+mj-ea"/>
          <a:cs typeface="+mj-cs"/>
        </a:defRPr>
      </a:lvl1pPr>
      <a:lvl2pPr algn="l" rtl="0" eaLnBrk="0" fontAlgn="base" hangingPunct="0">
        <a:spcBef>
          <a:spcPct val="0"/>
        </a:spcBef>
        <a:spcAft>
          <a:spcPct val="0"/>
        </a:spcAft>
        <a:defRPr sz="4400">
          <a:solidFill>
            <a:srgbClr val="0488AE"/>
          </a:solidFill>
          <a:latin typeface="Arial" charset="0"/>
          <a:cs typeface="Arial" charset="0"/>
        </a:defRPr>
      </a:lvl2pPr>
      <a:lvl3pPr algn="l" rtl="0" eaLnBrk="0" fontAlgn="base" hangingPunct="0">
        <a:spcBef>
          <a:spcPct val="0"/>
        </a:spcBef>
        <a:spcAft>
          <a:spcPct val="0"/>
        </a:spcAft>
        <a:defRPr sz="4400">
          <a:solidFill>
            <a:srgbClr val="0488AE"/>
          </a:solidFill>
          <a:latin typeface="Arial" charset="0"/>
          <a:cs typeface="Arial" charset="0"/>
        </a:defRPr>
      </a:lvl3pPr>
      <a:lvl4pPr algn="l" rtl="0" eaLnBrk="0" fontAlgn="base" hangingPunct="0">
        <a:spcBef>
          <a:spcPct val="0"/>
        </a:spcBef>
        <a:spcAft>
          <a:spcPct val="0"/>
        </a:spcAft>
        <a:defRPr sz="4400">
          <a:solidFill>
            <a:srgbClr val="0488AE"/>
          </a:solidFill>
          <a:latin typeface="Arial" charset="0"/>
          <a:cs typeface="Arial" charset="0"/>
        </a:defRPr>
      </a:lvl4pPr>
      <a:lvl5pPr algn="l" rtl="0" eaLnBrk="0" fontAlgn="base" hangingPunct="0">
        <a:spcBef>
          <a:spcPct val="0"/>
        </a:spcBef>
        <a:spcAft>
          <a:spcPct val="0"/>
        </a:spcAft>
        <a:defRPr sz="4400">
          <a:solidFill>
            <a:srgbClr val="0488AE"/>
          </a:solidFill>
          <a:latin typeface="Arial" charset="0"/>
          <a:cs typeface="Arial" charset="0"/>
        </a:defRPr>
      </a:lvl5pPr>
      <a:lvl6pPr marL="457200" algn="l" rtl="0" fontAlgn="base">
        <a:spcBef>
          <a:spcPct val="0"/>
        </a:spcBef>
        <a:spcAft>
          <a:spcPct val="0"/>
        </a:spcAft>
        <a:defRPr sz="4400">
          <a:solidFill>
            <a:srgbClr val="FF3300"/>
          </a:solidFill>
          <a:latin typeface="Arial" charset="0"/>
          <a:cs typeface="Arial" charset="0"/>
        </a:defRPr>
      </a:lvl6pPr>
      <a:lvl7pPr marL="914400" algn="l" rtl="0" fontAlgn="base">
        <a:spcBef>
          <a:spcPct val="0"/>
        </a:spcBef>
        <a:spcAft>
          <a:spcPct val="0"/>
        </a:spcAft>
        <a:defRPr sz="4400">
          <a:solidFill>
            <a:srgbClr val="FF3300"/>
          </a:solidFill>
          <a:latin typeface="Arial" charset="0"/>
          <a:cs typeface="Arial" charset="0"/>
        </a:defRPr>
      </a:lvl7pPr>
      <a:lvl8pPr marL="1371600" algn="l" rtl="0" fontAlgn="base">
        <a:spcBef>
          <a:spcPct val="0"/>
        </a:spcBef>
        <a:spcAft>
          <a:spcPct val="0"/>
        </a:spcAft>
        <a:defRPr sz="4400">
          <a:solidFill>
            <a:srgbClr val="FF3300"/>
          </a:solidFill>
          <a:latin typeface="Arial" charset="0"/>
          <a:cs typeface="Arial" charset="0"/>
        </a:defRPr>
      </a:lvl8pPr>
      <a:lvl9pPr marL="1828800" algn="l" rtl="0" fontAlgn="base">
        <a:spcBef>
          <a:spcPct val="0"/>
        </a:spcBef>
        <a:spcAft>
          <a:spcPct val="0"/>
        </a:spcAft>
        <a:defRPr sz="4400">
          <a:solidFill>
            <a:srgbClr val="FF3300"/>
          </a:solidFill>
          <a:latin typeface="Arial"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76000" y="1447200"/>
            <a:ext cx="7772400" cy="1470025"/>
          </a:xfrm>
        </p:spPr>
        <p:txBody>
          <a:bodyPr/>
          <a:lstStyle/>
          <a:p>
            <a:pPr lvl="0" eaLnBrk="1" hangingPunct="1">
              <a:lnSpc>
                <a:spcPct val="140000"/>
              </a:lnSpc>
              <a:spcBef>
                <a:spcPct val="50000"/>
              </a:spcBef>
            </a:pPr>
            <a:r>
              <a:rPr lang="en-US" altLang="en-US" sz="4400" b="1" kern="1200" dirty="0">
                <a:latin typeface="Arial" panose="020B0604020202020204" pitchFamily="34" charset="0"/>
                <a:ea typeface="+mn-ea"/>
                <a:cs typeface="Arial" panose="020B0604020202020204" pitchFamily="34" charset="0"/>
              </a:rPr>
              <a:t>Chapter 18:</a:t>
            </a:r>
            <a:r>
              <a:rPr lang="en-US" altLang="en-US" sz="2800" b="1" kern="1200" dirty="0">
                <a:solidFill>
                  <a:srgbClr val="000000"/>
                </a:solidFill>
                <a:latin typeface="Arial" panose="020B0604020202020204" pitchFamily="34" charset="0"/>
                <a:ea typeface="+mn-ea"/>
                <a:cs typeface="Arial" panose="020B0604020202020204" pitchFamily="34" charset="0"/>
              </a:rPr>
              <a:t/>
            </a:r>
            <a:br>
              <a:rPr lang="en-US" altLang="en-US" sz="2800" b="1" kern="1200" dirty="0">
                <a:solidFill>
                  <a:srgbClr val="000000"/>
                </a:solidFill>
                <a:latin typeface="Arial" panose="020B0604020202020204" pitchFamily="34" charset="0"/>
                <a:ea typeface="+mn-ea"/>
                <a:cs typeface="Arial" panose="020B0604020202020204" pitchFamily="34" charset="0"/>
              </a:rPr>
            </a:br>
            <a:r>
              <a:rPr lang="en-US" altLang="en-US" sz="2800" b="1" kern="1200" dirty="0">
                <a:solidFill>
                  <a:srgbClr val="000000"/>
                </a:solidFill>
                <a:latin typeface="Arial" panose="020B0604020202020204" pitchFamily="34" charset="0"/>
                <a:ea typeface="+mn-ea"/>
                <a:cs typeface="Arial" panose="020B0604020202020204" pitchFamily="34" charset="0"/>
              </a:rPr>
              <a:t>Linked </a:t>
            </a:r>
            <a:r>
              <a:rPr lang="en-US" altLang="en-US" sz="2800" b="1" kern="1200" dirty="0" smtClean="0">
                <a:solidFill>
                  <a:srgbClr val="000000"/>
                </a:solidFill>
                <a:latin typeface="Arial" panose="020B0604020202020204" pitchFamily="34" charset="0"/>
                <a:ea typeface="+mn-ea"/>
                <a:cs typeface="Arial" panose="020B0604020202020204" pitchFamily="34" charset="0"/>
              </a:rPr>
              <a:t>Lists</a:t>
            </a:r>
            <a:endParaRPr lang="en-IN" dirty="0"/>
          </a:p>
        </p:txBody>
      </p:sp>
    </p:spTree>
    <p:extLst>
      <p:ext uri="{BB962C8B-B14F-4D97-AF65-F5344CB8AC3E}">
        <p14:creationId xmlns:p14="http://schemas.microsoft.com/office/powerpoint/2010/main" val="2358434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a:t>18.1</a:t>
            </a:r>
            <a:endParaRPr lang="en-IN" dirty="0"/>
          </a:p>
        </p:txBody>
      </p:sp>
      <p:sp>
        <p:nvSpPr>
          <p:cNvPr id="3" name="Subtitle 2"/>
          <p:cNvSpPr>
            <a:spLocks noGrp="1"/>
          </p:cNvSpPr>
          <p:nvPr>
            <p:ph type="subTitle" idx="1"/>
          </p:nvPr>
        </p:nvSpPr>
        <p:spPr>
          <a:xfrm>
            <a:off x="1371600" y="4267200"/>
            <a:ext cx="6400800" cy="990600"/>
          </a:xfrm>
        </p:spPr>
        <p:txBody>
          <a:bodyPr/>
          <a:lstStyle/>
          <a:p>
            <a:pPr lvl="0"/>
            <a:r>
              <a:rPr lang="en-US" altLang="en-US" dirty="0">
                <a:solidFill>
                  <a:srgbClr val="000000"/>
                </a:solidFill>
              </a:rPr>
              <a:t>Introduction to the Linked List </a:t>
            </a:r>
            <a:r>
              <a:rPr lang="en-US" altLang="en-US" dirty="0" smtClean="0">
                <a:solidFill>
                  <a:srgbClr val="000000"/>
                </a:solidFill>
              </a:rPr>
              <a:t>ADT</a:t>
            </a:r>
            <a:endParaRPr lang="en-US" altLang="en-US" dirty="0">
              <a:solidFill>
                <a:srgbClr val="000000"/>
              </a:solidFill>
            </a:endParaRPr>
          </a:p>
        </p:txBody>
      </p:sp>
    </p:spTree>
    <p:extLst>
      <p:ext uri="{BB962C8B-B14F-4D97-AF65-F5344CB8AC3E}">
        <p14:creationId xmlns:p14="http://schemas.microsoft.com/office/powerpoint/2010/main" val="41700385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67200"/>
            <a:ext cx="8229600" cy="1143000"/>
          </a:xfrm>
        </p:spPr>
        <p:txBody>
          <a:bodyPr/>
          <a:lstStyle/>
          <a:p>
            <a:r>
              <a:rPr lang="en-US" sz="4000" dirty="0"/>
              <a:t>Introduction to the Linked List </a:t>
            </a:r>
            <a:r>
              <a:rPr lang="en-US" sz="4000" dirty="0" smtClean="0"/>
              <a:t>ADT </a:t>
            </a:r>
            <a:r>
              <a:rPr lang="en-US" sz="1200" dirty="0" smtClean="0"/>
              <a:t>(1 of 2)</a:t>
            </a:r>
            <a:endParaRPr lang="en-IN" sz="1200" dirty="0"/>
          </a:p>
        </p:txBody>
      </p:sp>
      <p:sp>
        <p:nvSpPr>
          <p:cNvPr id="3" name="Content Placeholder 2"/>
          <p:cNvSpPr>
            <a:spLocks noGrp="1"/>
          </p:cNvSpPr>
          <p:nvPr>
            <p:ph idx="1"/>
          </p:nvPr>
        </p:nvSpPr>
        <p:spPr>
          <a:xfrm>
            <a:off x="457200" y="1962000"/>
            <a:ext cx="8229600" cy="1314600"/>
          </a:xfrm>
        </p:spPr>
        <p:txBody>
          <a:bodyPr/>
          <a:lstStyle/>
          <a:p>
            <a:pPr lvl="0">
              <a:lnSpc>
                <a:spcPct val="90000"/>
              </a:lnSpc>
              <a:buFontTx/>
              <a:buChar char="•"/>
            </a:pPr>
            <a:r>
              <a:rPr lang="en-US" altLang="en-US" u="sng" dirty="0">
                <a:solidFill>
                  <a:srgbClr val="000000"/>
                </a:solidFill>
              </a:rPr>
              <a:t>Linked list</a:t>
            </a:r>
            <a:r>
              <a:rPr lang="en-US" altLang="en-US" dirty="0">
                <a:solidFill>
                  <a:srgbClr val="000000"/>
                </a:solidFill>
              </a:rPr>
              <a:t>: set of data structures (</a:t>
            </a:r>
            <a:r>
              <a:rPr lang="en-US" altLang="en-US" u="sng" dirty="0">
                <a:solidFill>
                  <a:srgbClr val="000000"/>
                </a:solidFill>
              </a:rPr>
              <a:t>nodes</a:t>
            </a:r>
            <a:r>
              <a:rPr lang="en-US" altLang="en-US" dirty="0">
                <a:solidFill>
                  <a:srgbClr val="000000"/>
                </a:solidFill>
              </a:rPr>
              <a:t>) that contain references to other data </a:t>
            </a:r>
            <a:r>
              <a:rPr lang="en-US" altLang="en-US" dirty="0" smtClean="0">
                <a:solidFill>
                  <a:srgbClr val="000000"/>
                </a:solidFill>
              </a:rPr>
              <a:t>structures</a:t>
            </a:r>
            <a:endParaRPr lang="en-US" altLang="en-US" dirty="0">
              <a:solidFill>
                <a:srgbClr val="000000"/>
              </a:solidFill>
            </a:endParaRPr>
          </a:p>
        </p:txBody>
      </p:sp>
      <p:pic>
        <p:nvPicPr>
          <p:cNvPr id="4" name="Picture 3" descr="The screenshot shows a linear linked list that consists of a list head and three nodes. The list head on the left side points to the first node on the right.  Each node contains a data field and a pointer that points to the next node. The last node points to the null address 0."/>
          <p:cNvPicPr>
            <a:picLocks noChangeAspect="1"/>
          </p:cNvPicPr>
          <p:nvPr/>
        </p:nvPicPr>
        <p:blipFill>
          <a:blip r:embed="rId2"/>
          <a:stretch>
            <a:fillRect/>
          </a:stretch>
        </p:blipFill>
        <p:spPr>
          <a:xfrm>
            <a:off x="304800" y="3389168"/>
            <a:ext cx="7975023" cy="1792432"/>
          </a:xfrm>
          <a:prstGeom prst="rect">
            <a:avLst/>
          </a:prstGeom>
        </p:spPr>
      </p:pic>
    </p:spTree>
    <p:extLst>
      <p:ext uri="{BB962C8B-B14F-4D97-AF65-F5344CB8AC3E}">
        <p14:creationId xmlns:p14="http://schemas.microsoft.com/office/powerpoint/2010/main" val="1547341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67200"/>
            <a:ext cx="8229600" cy="1143000"/>
          </a:xfrm>
        </p:spPr>
        <p:txBody>
          <a:bodyPr/>
          <a:lstStyle/>
          <a:p>
            <a:r>
              <a:rPr lang="en-US" sz="4000" dirty="0"/>
              <a:t>Introduction to the Linked List ADT </a:t>
            </a:r>
            <a:r>
              <a:rPr lang="en-US" sz="1200" dirty="0" smtClean="0"/>
              <a:t>(2 </a:t>
            </a:r>
            <a:r>
              <a:rPr lang="en-US" sz="1200" dirty="0"/>
              <a:t>of 2)</a:t>
            </a:r>
            <a:endParaRPr lang="en-IN" dirty="0"/>
          </a:p>
        </p:txBody>
      </p:sp>
      <p:sp>
        <p:nvSpPr>
          <p:cNvPr id="3" name="Content Placeholder 2"/>
          <p:cNvSpPr>
            <a:spLocks noGrp="1"/>
          </p:cNvSpPr>
          <p:nvPr>
            <p:ph idx="1"/>
          </p:nvPr>
        </p:nvSpPr>
        <p:spPr>
          <a:xfrm>
            <a:off x="457200" y="1676400"/>
            <a:ext cx="8229600" cy="2743200"/>
          </a:xfrm>
        </p:spPr>
        <p:txBody>
          <a:bodyPr/>
          <a:lstStyle/>
          <a:p>
            <a:pPr lvl="0">
              <a:spcBef>
                <a:spcPct val="50000"/>
              </a:spcBef>
              <a:buFontTx/>
              <a:buChar char="•"/>
            </a:pPr>
            <a:r>
              <a:rPr lang="en-US" altLang="en-US" dirty="0">
                <a:solidFill>
                  <a:srgbClr val="000000"/>
                </a:solidFill>
              </a:rPr>
              <a:t>References may be addresses or array indices</a:t>
            </a:r>
          </a:p>
          <a:p>
            <a:pPr lvl="0">
              <a:spcBef>
                <a:spcPct val="50000"/>
              </a:spcBef>
              <a:buFontTx/>
              <a:buChar char="•"/>
            </a:pPr>
            <a:r>
              <a:rPr lang="en-US" altLang="en-US" dirty="0">
                <a:solidFill>
                  <a:srgbClr val="000000"/>
                </a:solidFill>
              </a:rPr>
              <a:t>Data structures can be added to or removed from the linked list during </a:t>
            </a:r>
            <a:r>
              <a:rPr lang="en-US" altLang="en-US" dirty="0" smtClean="0">
                <a:solidFill>
                  <a:srgbClr val="000000"/>
                </a:solidFill>
              </a:rPr>
              <a:t>execution</a:t>
            </a:r>
            <a:endParaRPr lang="en-US" altLang="en-US" u="sng" dirty="0">
              <a:solidFill>
                <a:srgbClr val="000000"/>
              </a:solidFill>
            </a:endParaRPr>
          </a:p>
        </p:txBody>
      </p:sp>
      <p:pic>
        <p:nvPicPr>
          <p:cNvPr id="4" name="Picture 3" descr="The screenshot shows a linear linked list. The list consists of three nodes with the list head on the far left and the newNode on the far right. Each node contains a data field and a pointer that points to the next node. The last node points to the null address 0."/>
          <p:cNvPicPr>
            <a:picLocks noChangeAspect="1"/>
          </p:cNvPicPr>
          <p:nvPr/>
        </p:nvPicPr>
        <p:blipFill rotWithShape="1">
          <a:blip r:embed="rId2"/>
          <a:srcRect t="18335" b="8326"/>
          <a:stretch/>
        </p:blipFill>
        <p:spPr>
          <a:xfrm>
            <a:off x="707393" y="4346566"/>
            <a:ext cx="7729215" cy="1908966"/>
          </a:xfrm>
          <a:prstGeom prst="rect">
            <a:avLst/>
          </a:prstGeom>
        </p:spPr>
      </p:pic>
    </p:spTree>
    <p:extLst>
      <p:ext uri="{BB962C8B-B14F-4D97-AF65-F5344CB8AC3E}">
        <p14:creationId xmlns:p14="http://schemas.microsoft.com/office/powerpoint/2010/main" val="6132619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Linked Lists vs. Arrays and Vectors</a:t>
            </a:r>
            <a:endParaRPr lang="en-IN" dirty="0"/>
          </a:p>
        </p:txBody>
      </p:sp>
      <p:sp>
        <p:nvSpPr>
          <p:cNvPr id="3" name="Content Placeholder 2"/>
          <p:cNvSpPr>
            <a:spLocks noGrp="1"/>
          </p:cNvSpPr>
          <p:nvPr>
            <p:ph idx="1"/>
          </p:nvPr>
        </p:nvSpPr>
        <p:spPr>
          <a:xfrm>
            <a:off x="457200" y="1600201"/>
            <a:ext cx="8229600" cy="2743199"/>
          </a:xfrm>
        </p:spPr>
        <p:txBody>
          <a:bodyPr/>
          <a:lstStyle/>
          <a:p>
            <a:pPr lvl="0">
              <a:buFontTx/>
              <a:buChar char="•"/>
            </a:pPr>
            <a:r>
              <a:rPr lang="en-US" altLang="en-US" dirty="0">
                <a:solidFill>
                  <a:srgbClr val="000000"/>
                </a:solidFill>
              </a:rPr>
              <a:t>Linked lists can grow and shrink as needed, unlike arrays, which have a fixed size</a:t>
            </a:r>
          </a:p>
          <a:p>
            <a:pPr lvl="0">
              <a:spcBef>
                <a:spcPct val="50000"/>
              </a:spcBef>
              <a:buFontTx/>
              <a:buChar char="•"/>
            </a:pPr>
            <a:r>
              <a:rPr lang="en-US" altLang="en-US" dirty="0">
                <a:solidFill>
                  <a:srgbClr val="000000"/>
                </a:solidFill>
              </a:rPr>
              <a:t>Linked lists can insert a node between other nodes </a:t>
            </a:r>
            <a:r>
              <a:rPr lang="en-US" altLang="en-US" dirty="0" smtClean="0">
                <a:solidFill>
                  <a:srgbClr val="000000"/>
                </a:solidFill>
              </a:rPr>
              <a:t>easily</a:t>
            </a:r>
            <a:endParaRPr lang="en-US" altLang="en-US" dirty="0">
              <a:solidFill>
                <a:srgbClr val="000000"/>
              </a:solidFill>
            </a:endParaRPr>
          </a:p>
        </p:txBody>
      </p:sp>
      <p:pic>
        <p:nvPicPr>
          <p:cNvPr id="4" name="Picture 3" descr="The screenshot shows a node inserted between the second and third nodes in a linked list. The list head is on the far left. Each node contains a data field and a pointer that points to the next node. The last node points to the null address 0."/>
          <p:cNvPicPr>
            <a:picLocks noChangeAspect="1"/>
          </p:cNvPicPr>
          <p:nvPr/>
        </p:nvPicPr>
        <p:blipFill rotWithShape="1">
          <a:blip r:embed="rId2"/>
          <a:srcRect t="17472" b="7489"/>
          <a:stretch/>
        </p:blipFill>
        <p:spPr>
          <a:xfrm>
            <a:off x="152400" y="4343400"/>
            <a:ext cx="8053488" cy="1680519"/>
          </a:xfrm>
          <a:prstGeom prst="rect">
            <a:avLst/>
          </a:prstGeom>
        </p:spPr>
      </p:pic>
    </p:spTree>
    <p:extLst>
      <p:ext uri="{BB962C8B-B14F-4D97-AF65-F5344CB8AC3E}">
        <p14:creationId xmlns:p14="http://schemas.microsoft.com/office/powerpoint/2010/main" val="11333237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Node Organization</a:t>
            </a:r>
            <a:endParaRPr lang="en-IN" dirty="0"/>
          </a:p>
        </p:txBody>
      </p:sp>
      <p:sp>
        <p:nvSpPr>
          <p:cNvPr id="3" name="Content Placeholder 2"/>
          <p:cNvSpPr>
            <a:spLocks noGrp="1"/>
          </p:cNvSpPr>
          <p:nvPr>
            <p:ph idx="1"/>
          </p:nvPr>
        </p:nvSpPr>
        <p:spPr>
          <a:xfrm>
            <a:off x="457200" y="1600201"/>
            <a:ext cx="8229600" cy="2057400"/>
          </a:xfrm>
        </p:spPr>
        <p:txBody>
          <a:bodyPr/>
          <a:lstStyle/>
          <a:p>
            <a:pPr lvl="0">
              <a:buFontTx/>
              <a:buChar char="•"/>
            </a:pPr>
            <a:r>
              <a:rPr lang="en-US" altLang="en-US" dirty="0">
                <a:solidFill>
                  <a:srgbClr val="000000"/>
                </a:solidFill>
              </a:rPr>
              <a:t>A node contains:</a:t>
            </a:r>
          </a:p>
          <a:p>
            <a:pPr lvl="1"/>
            <a:r>
              <a:rPr lang="en-US" altLang="en-US" dirty="0">
                <a:solidFill>
                  <a:srgbClr val="000000"/>
                </a:solidFill>
              </a:rPr>
              <a:t>data: one or more data fields – may be organized as structure, object, etc.</a:t>
            </a:r>
          </a:p>
          <a:p>
            <a:pPr lvl="1"/>
            <a:r>
              <a:rPr lang="en-US" altLang="en-US" dirty="0">
                <a:solidFill>
                  <a:srgbClr val="000000"/>
                </a:solidFill>
              </a:rPr>
              <a:t>a pointer that can point to another </a:t>
            </a:r>
            <a:r>
              <a:rPr lang="en-US" altLang="en-US" dirty="0" smtClean="0">
                <a:solidFill>
                  <a:srgbClr val="000000"/>
                </a:solidFill>
              </a:rPr>
              <a:t>node</a:t>
            </a:r>
            <a:endParaRPr lang="en-US" altLang="en-US" dirty="0">
              <a:solidFill>
                <a:srgbClr val="000000"/>
              </a:solidFill>
            </a:endParaRPr>
          </a:p>
        </p:txBody>
      </p:sp>
      <p:pic>
        <p:nvPicPr>
          <p:cNvPr id="4" name="Picture 3" descr="The screenshot shows a node that contains a data field and a pointer."/>
          <p:cNvPicPr>
            <a:picLocks noChangeAspect="1"/>
          </p:cNvPicPr>
          <p:nvPr/>
        </p:nvPicPr>
        <p:blipFill rotWithShape="1">
          <a:blip r:embed="rId2"/>
          <a:srcRect l="4898" t="25454" r="2041" b="9092"/>
          <a:stretch/>
        </p:blipFill>
        <p:spPr>
          <a:xfrm>
            <a:off x="1791763" y="4343400"/>
            <a:ext cx="3971343" cy="1254109"/>
          </a:xfrm>
          <a:prstGeom prst="rect">
            <a:avLst/>
          </a:prstGeom>
        </p:spPr>
      </p:pic>
    </p:spTree>
    <p:extLst>
      <p:ext uri="{BB962C8B-B14F-4D97-AF65-F5344CB8AC3E}">
        <p14:creationId xmlns:p14="http://schemas.microsoft.com/office/powerpoint/2010/main" val="4098473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Linked List Organization</a:t>
            </a:r>
            <a:endParaRPr lang="en-IN" dirty="0"/>
          </a:p>
        </p:txBody>
      </p:sp>
      <p:sp>
        <p:nvSpPr>
          <p:cNvPr id="3" name="Content Placeholder 2"/>
          <p:cNvSpPr>
            <a:spLocks noGrp="1"/>
          </p:cNvSpPr>
          <p:nvPr>
            <p:ph idx="1"/>
          </p:nvPr>
        </p:nvSpPr>
        <p:spPr>
          <a:xfrm>
            <a:off x="309147" y="1905001"/>
            <a:ext cx="8229600" cy="609599"/>
          </a:xfrm>
        </p:spPr>
        <p:txBody>
          <a:bodyPr/>
          <a:lstStyle/>
          <a:p>
            <a:r>
              <a:rPr lang="en-US" altLang="en-US" dirty="0">
                <a:solidFill>
                  <a:srgbClr val="000000"/>
                </a:solidFill>
              </a:rPr>
              <a:t>Linked list contains 0 or more nodes:</a:t>
            </a:r>
            <a:endParaRPr lang="en-IN" dirty="0"/>
          </a:p>
        </p:txBody>
      </p:sp>
      <p:pic>
        <p:nvPicPr>
          <p:cNvPr id="5" name="Picture 4" descr="The screenshot shows a linear linked list that consists of a list head and three nodes. The list head on the left side points to the first node on the right.  Each node contains a data field and a pointer that points to the next node. The last node points to the null address 0."/>
          <p:cNvPicPr>
            <a:picLocks noChangeAspect="1"/>
          </p:cNvPicPr>
          <p:nvPr/>
        </p:nvPicPr>
        <p:blipFill>
          <a:blip r:embed="rId2"/>
          <a:stretch>
            <a:fillRect/>
          </a:stretch>
        </p:blipFill>
        <p:spPr>
          <a:xfrm>
            <a:off x="430530" y="2631993"/>
            <a:ext cx="7722870" cy="1594012"/>
          </a:xfrm>
          <a:prstGeom prst="rect">
            <a:avLst/>
          </a:prstGeom>
        </p:spPr>
      </p:pic>
      <p:sp>
        <p:nvSpPr>
          <p:cNvPr id="4" name="Content Placeholder 3"/>
          <p:cNvSpPr>
            <a:spLocks noGrp="1"/>
          </p:cNvSpPr>
          <p:nvPr>
            <p:ph sz="quarter" idx="11"/>
          </p:nvPr>
        </p:nvSpPr>
        <p:spPr>
          <a:xfrm>
            <a:off x="304800" y="4835436"/>
            <a:ext cx="7848600" cy="1371600"/>
          </a:xfrm>
        </p:spPr>
        <p:txBody>
          <a:bodyPr/>
          <a:lstStyle/>
          <a:p>
            <a:pPr lvl="0"/>
            <a:r>
              <a:rPr lang="en-US" altLang="en-US" dirty="0">
                <a:solidFill>
                  <a:srgbClr val="000000"/>
                </a:solidFill>
              </a:rPr>
              <a:t>Has a list head to point to first node</a:t>
            </a:r>
          </a:p>
          <a:p>
            <a:pPr lvl="0"/>
            <a:r>
              <a:rPr lang="en-US" altLang="en-US" dirty="0">
                <a:solidFill>
                  <a:srgbClr val="000000"/>
                </a:solidFill>
              </a:rPr>
              <a:t>Last node points to </a:t>
            </a:r>
            <a:r>
              <a:rPr lang="en-US" altLang="en-US" dirty="0">
                <a:solidFill>
                  <a:srgbClr val="000000"/>
                </a:solidFill>
                <a:latin typeface="Courier New" panose="02070309020205020404" pitchFamily="49" charset="0"/>
              </a:rPr>
              <a:t>null(address </a:t>
            </a:r>
            <a:r>
              <a:rPr lang="en-US" altLang="en-US" dirty="0" smtClean="0">
                <a:solidFill>
                  <a:srgbClr val="000000"/>
                </a:solidFill>
                <a:latin typeface="Courier New" panose="02070309020205020404" pitchFamily="49" charset="0"/>
              </a:rPr>
              <a:t>0)</a:t>
            </a:r>
          </a:p>
        </p:txBody>
      </p:sp>
    </p:spTree>
    <p:extLst>
      <p:ext uri="{BB962C8B-B14F-4D97-AF65-F5344CB8AC3E}">
        <p14:creationId xmlns:p14="http://schemas.microsoft.com/office/powerpoint/2010/main" val="32630404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Empty List</a:t>
            </a:r>
            <a:endParaRPr lang="en-IN" dirty="0"/>
          </a:p>
        </p:txBody>
      </p:sp>
      <p:sp>
        <p:nvSpPr>
          <p:cNvPr id="3" name="Content Placeholder 2"/>
          <p:cNvSpPr>
            <a:spLocks noGrp="1"/>
          </p:cNvSpPr>
          <p:nvPr>
            <p:ph idx="1"/>
          </p:nvPr>
        </p:nvSpPr>
        <p:spPr>
          <a:xfrm>
            <a:off x="457200" y="1948543"/>
            <a:ext cx="7620000" cy="1752600"/>
          </a:xfrm>
        </p:spPr>
        <p:txBody>
          <a:bodyPr/>
          <a:lstStyle/>
          <a:p>
            <a:pPr lvl="0">
              <a:buFontTx/>
              <a:buChar char="•"/>
            </a:pPr>
            <a:r>
              <a:rPr lang="en-US" altLang="en-US" dirty="0">
                <a:solidFill>
                  <a:srgbClr val="000000"/>
                </a:solidFill>
              </a:rPr>
              <a:t>If a list currently contains 0 nodes, it is the </a:t>
            </a:r>
            <a:r>
              <a:rPr lang="en-US" altLang="en-US" u="sng" dirty="0">
                <a:solidFill>
                  <a:srgbClr val="000000"/>
                </a:solidFill>
              </a:rPr>
              <a:t>empty list</a:t>
            </a:r>
            <a:endParaRPr lang="en-US" altLang="en-US" dirty="0">
              <a:solidFill>
                <a:srgbClr val="000000"/>
              </a:solidFill>
            </a:endParaRPr>
          </a:p>
          <a:p>
            <a:pPr lvl="0">
              <a:buFontTx/>
              <a:buChar char="•"/>
            </a:pPr>
            <a:r>
              <a:rPr lang="en-US" altLang="en-US" dirty="0">
                <a:solidFill>
                  <a:srgbClr val="000000"/>
                </a:solidFill>
              </a:rPr>
              <a:t>In this case the list head points to </a:t>
            </a:r>
            <a:r>
              <a:rPr lang="en-US" altLang="en-US" dirty="0" smtClean="0">
                <a:solidFill>
                  <a:srgbClr val="000000"/>
                </a:solidFill>
                <a:latin typeface="Courier New" panose="02070309020205020404" pitchFamily="49" charset="0"/>
              </a:rPr>
              <a:t>null</a:t>
            </a:r>
            <a:endParaRPr lang="en-US" altLang="en-US" dirty="0">
              <a:solidFill>
                <a:srgbClr val="000000"/>
              </a:solidFill>
            </a:endParaRPr>
          </a:p>
        </p:txBody>
      </p:sp>
      <p:pic>
        <p:nvPicPr>
          <p:cNvPr id="4" name="Picture 3" descr="The screenshot shows an empty list. The list head points to the null address."/>
          <p:cNvPicPr>
            <a:picLocks noChangeAspect="1"/>
          </p:cNvPicPr>
          <p:nvPr/>
        </p:nvPicPr>
        <p:blipFill>
          <a:blip r:embed="rId2"/>
          <a:stretch>
            <a:fillRect/>
          </a:stretch>
        </p:blipFill>
        <p:spPr>
          <a:xfrm>
            <a:off x="445951" y="3835697"/>
            <a:ext cx="2546622" cy="1658476"/>
          </a:xfrm>
          <a:prstGeom prst="rect">
            <a:avLst/>
          </a:prstGeom>
        </p:spPr>
      </p:pic>
    </p:spTree>
    <p:extLst>
      <p:ext uri="{BB962C8B-B14F-4D97-AF65-F5344CB8AC3E}">
        <p14:creationId xmlns:p14="http://schemas.microsoft.com/office/powerpoint/2010/main" val="24226149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Declaring a Node</a:t>
            </a:r>
            <a:endParaRPr lang="en-IN" dirty="0"/>
          </a:p>
        </p:txBody>
      </p:sp>
      <p:sp>
        <p:nvSpPr>
          <p:cNvPr id="3" name="Content Placeholder 2"/>
          <p:cNvSpPr>
            <a:spLocks noGrp="1"/>
          </p:cNvSpPr>
          <p:nvPr>
            <p:ph idx="1"/>
          </p:nvPr>
        </p:nvSpPr>
        <p:spPr/>
        <p:txBody>
          <a:bodyPr/>
          <a:lstStyle/>
          <a:p>
            <a:pPr lvl="0">
              <a:buFontTx/>
              <a:buChar char="•"/>
            </a:pPr>
            <a:r>
              <a:rPr lang="en-US" altLang="en-US" dirty="0">
                <a:solidFill>
                  <a:srgbClr val="000000"/>
                </a:solidFill>
              </a:rPr>
              <a:t>Declare a node:</a:t>
            </a:r>
          </a:p>
          <a:p>
            <a:pPr marL="1026000" lvl="1">
              <a:buNone/>
            </a:pPr>
            <a:r>
              <a:rPr lang="en-US" altLang="en-US" dirty="0" smtClean="0">
                <a:solidFill>
                  <a:srgbClr val="000000"/>
                </a:solidFill>
                <a:latin typeface="Courier New" panose="02070309020205020404" pitchFamily="49" charset="0"/>
              </a:rPr>
              <a:t>struct </a:t>
            </a:r>
            <a:r>
              <a:rPr lang="en-US" altLang="en-US" dirty="0">
                <a:solidFill>
                  <a:srgbClr val="000000"/>
                </a:solidFill>
                <a:latin typeface="Courier New" panose="02070309020205020404" pitchFamily="49" charset="0"/>
              </a:rPr>
              <a:t>ListNode</a:t>
            </a:r>
          </a:p>
          <a:p>
            <a:pPr marL="1026000" lvl="1">
              <a:buNone/>
            </a:pPr>
            <a:r>
              <a:rPr lang="en-US" altLang="en-US" dirty="0" smtClean="0">
                <a:solidFill>
                  <a:srgbClr val="000000"/>
                </a:solidFill>
                <a:latin typeface="Courier New" panose="02070309020205020404" pitchFamily="49" charset="0"/>
              </a:rPr>
              <a:t>{</a:t>
            </a:r>
            <a:endParaRPr lang="en-US" altLang="en-US" dirty="0">
              <a:solidFill>
                <a:srgbClr val="000000"/>
              </a:solidFill>
              <a:latin typeface="Courier New" panose="02070309020205020404" pitchFamily="49" charset="0"/>
            </a:endParaRPr>
          </a:p>
          <a:p>
            <a:pPr marL="2106000" lvl="1">
              <a:buNone/>
            </a:pPr>
            <a:r>
              <a:rPr lang="en-US" altLang="en-US" dirty="0" smtClean="0">
                <a:solidFill>
                  <a:srgbClr val="000000"/>
                </a:solidFill>
                <a:latin typeface="Courier New" panose="02070309020205020404" pitchFamily="49" charset="0"/>
              </a:rPr>
              <a:t>int </a:t>
            </a:r>
            <a:r>
              <a:rPr lang="en-US" altLang="en-US" dirty="0">
                <a:solidFill>
                  <a:srgbClr val="000000"/>
                </a:solidFill>
                <a:latin typeface="Courier New" panose="02070309020205020404" pitchFamily="49" charset="0"/>
              </a:rPr>
              <a:t>data;</a:t>
            </a:r>
          </a:p>
          <a:p>
            <a:pPr marL="2106000" lvl="1">
              <a:buNone/>
            </a:pPr>
            <a:r>
              <a:rPr lang="en-US" altLang="en-US" dirty="0" smtClean="0">
                <a:solidFill>
                  <a:srgbClr val="000000"/>
                </a:solidFill>
                <a:latin typeface="Courier New" panose="02070309020205020404" pitchFamily="49" charset="0"/>
              </a:rPr>
              <a:t>ListNode </a:t>
            </a:r>
            <a:r>
              <a:rPr lang="en-US" altLang="en-US" dirty="0">
                <a:solidFill>
                  <a:srgbClr val="000000"/>
                </a:solidFill>
                <a:latin typeface="Courier New" panose="02070309020205020404" pitchFamily="49" charset="0"/>
              </a:rPr>
              <a:t>*next;</a:t>
            </a:r>
          </a:p>
          <a:p>
            <a:pPr marL="1026000" lvl="1">
              <a:buNone/>
            </a:pPr>
            <a:r>
              <a:rPr lang="en-US" altLang="en-US" dirty="0" smtClean="0">
                <a:solidFill>
                  <a:srgbClr val="000000"/>
                </a:solidFill>
                <a:latin typeface="Courier New" panose="02070309020205020404" pitchFamily="49" charset="0"/>
              </a:rPr>
              <a:t>};</a:t>
            </a:r>
            <a:endParaRPr lang="en-US" altLang="en-US" dirty="0">
              <a:solidFill>
                <a:srgbClr val="000000"/>
              </a:solidFill>
              <a:latin typeface="Courier New" panose="02070309020205020404" pitchFamily="49" charset="0"/>
            </a:endParaRPr>
          </a:p>
          <a:p>
            <a:pPr lvl="0">
              <a:buFontTx/>
              <a:buChar char="•"/>
            </a:pPr>
            <a:r>
              <a:rPr lang="en-US" altLang="en-US" dirty="0">
                <a:solidFill>
                  <a:srgbClr val="000000"/>
                </a:solidFill>
              </a:rPr>
              <a:t>No memory is allocated at this </a:t>
            </a:r>
            <a:r>
              <a:rPr lang="en-US" altLang="en-US" dirty="0" smtClean="0">
                <a:solidFill>
                  <a:srgbClr val="000000"/>
                </a:solidFill>
              </a:rPr>
              <a:t>time</a:t>
            </a:r>
            <a:endParaRPr lang="en-US" altLang="en-US" dirty="0">
              <a:solidFill>
                <a:srgbClr val="000000"/>
              </a:solidFill>
            </a:endParaRPr>
          </a:p>
        </p:txBody>
      </p:sp>
    </p:spTree>
    <p:extLst>
      <p:ext uri="{BB962C8B-B14F-4D97-AF65-F5344CB8AC3E}">
        <p14:creationId xmlns:p14="http://schemas.microsoft.com/office/powerpoint/2010/main" val="1698228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Defining a Linked List</a:t>
            </a:r>
            <a:endParaRPr lang="en-IN" dirty="0"/>
          </a:p>
        </p:txBody>
      </p:sp>
      <p:sp>
        <p:nvSpPr>
          <p:cNvPr id="3" name="Content Placeholder 2"/>
          <p:cNvSpPr>
            <a:spLocks noGrp="1"/>
          </p:cNvSpPr>
          <p:nvPr>
            <p:ph idx="1"/>
          </p:nvPr>
        </p:nvSpPr>
        <p:spPr>
          <a:xfrm>
            <a:off x="457200" y="1600201"/>
            <a:ext cx="8229600" cy="2133600"/>
          </a:xfrm>
        </p:spPr>
        <p:txBody>
          <a:bodyPr/>
          <a:lstStyle/>
          <a:p>
            <a:pPr lvl="0">
              <a:buFontTx/>
              <a:buChar char="•"/>
            </a:pPr>
            <a:r>
              <a:rPr lang="en-US" altLang="en-US" dirty="0">
                <a:solidFill>
                  <a:srgbClr val="000000"/>
                </a:solidFill>
              </a:rPr>
              <a:t>Define a pointer for the head of the </a:t>
            </a:r>
            <a:r>
              <a:rPr lang="en-US" altLang="en-US" dirty="0" smtClean="0">
                <a:solidFill>
                  <a:srgbClr val="000000"/>
                </a:solidFill>
              </a:rPr>
              <a:t>list:</a:t>
            </a:r>
          </a:p>
          <a:p>
            <a:pPr marL="756000" lvl="0" indent="0">
              <a:buNone/>
            </a:pPr>
            <a:r>
              <a:rPr lang="en-US" altLang="en-US" sz="2800" dirty="0" smtClean="0">
                <a:solidFill>
                  <a:srgbClr val="000000"/>
                </a:solidFill>
                <a:latin typeface="Courier New" panose="02070309020205020404" pitchFamily="49" charset="0"/>
              </a:rPr>
              <a:t>ListNode </a:t>
            </a:r>
            <a:r>
              <a:rPr lang="en-US" altLang="en-US" sz="2800" dirty="0">
                <a:solidFill>
                  <a:srgbClr val="000000"/>
                </a:solidFill>
                <a:latin typeface="Courier New" panose="02070309020205020404" pitchFamily="49" charset="0"/>
              </a:rPr>
              <a:t>*head = nullptr;</a:t>
            </a:r>
          </a:p>
          <a:p>
            <a:pPr lvl="0">
              <a:buFontTx/>
              <a:buChar char="•"/>
            </a:pPr>
            <a:r>
              <a:rPr lang="en-US" altLang="en-US" dirty="0">
                <a:solidFill>
                  <a:srgbClr val="000000"/>
                </a:solidFill>
              </a:rPr>
              <a:t>Head pointer initialized to </a:t>
            </a:r>
            <a:r>
              <a:rPr lang="en-US" altLang="en-US" dirty="0">
                <a:solidFill>
                  <a:srgbClr val="000000"/>
                </a:solidFill>
                <a:latin typeface="Courier New" panose="02070309020205020404" pitchFamily="49" charset="0"/>
              </a:rPr>
              <a:t>nullptr</a:t>
            </a:r>
            <a:r>
              <a:rPr lang="en-US" altLang="en-US" dirty="0">
                <a:solidFill>
                  <a:srgbClr val="000000"/>
                </a:solidFill>
              </a:rPr>
              <a:t> to indicate an empty </a:t>
            </a:r>
            <a:r>
              <a:rPr lang="en-US" altLang="en-US" dirty="0" smtClean="0">
                <a:solidFill>
                  <a:srgbClr val="000000"/>
                </a:solidFill>
              </a:rPr>
              <a:t>list</a:t>
            </a:r>
            <a:endParaRPr lang="en-US" altLang="en-US" dirty="0">
              <a:solidFill>
                <a:srgbClr val="000000"/>
              </a:solidFill>
            </a:endParaRPr>
          </a:p>
        </p:txBody>
      </p:sp>
      <p:pic>
        <p:nvPicPr>
          <p:cNvPr id="4" name="Picture 3" descr="The screenshot shows the head of the list. The head pointer is initialized to null pointer to indicate an empty list."/>
          <p:cNvPicPr>
            <a:picLocks noChangeAspect="1"/>
          </p:cNvPicPr>
          <p:nvPr/>
        </p:nvPicPr>
        <p:blipFill rotWithShape="1">
          <a:blip r:embed="rId2"/>
          <a:srcRect l="12499" t="17526" r="10001" b="12370"/>
          <a:stretch/>
        </p:blipFill>
        <p:spPr>
          <a:xfrm>
            <a:off x="1295400" y="4660222"/>
            <a:ext cx="2181451" cy="1196280"/>
          </a:xfrm>
          <a:prstGeom prst="rect">
            <a:avLst/>
          </a:prstGeom>
        </p:spPr>
      </p:pic>
    </p:spTree>
    <p:extLst>
      <p:ext uri="{BB962C8B-B14F-4D97-AF65-F5344CB8AC3E}">
        <p14:creationId xmlns:p14="http://schemas.microsoft.com/office/powerpoint/2010/main" val="39398294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4000"/>
            <a:ext cx="8229600" cy="1143000"/>
          </a:xfrm>
        </p:spPr>
        <p:txBody>
          <a:bodyPr/>
          <a:lstStyle/>
          <a:p>
            <a:r>
              <a:rPr lang="en-US" altLang="en-US" dirty="0"/>
              <a:t>The Null Pointer</a:t>
            </a:r>
            <a:endParaRPr lang="en-IN" dirty="0"/>
          </a:p>
        </p:txBody>
      </p:sp>
      <p:sp>
        <p:nvSpPr>
          <p:cNvPr id="3" name="Content Placeholder 2"/>
          <p:cNvSpPr>
            <a:spLocks noGrp="1"/>
          </p:cNvSpPr>
          <p:nvPr>
            <p:ph idx="1"/>
          </p:nvPr>
        </p:nvSpPr>
        <p:spPr/>
        <p:txBody>
          <a:bodyPr/>
          <a:lstStyle/>
          <a:p>
            <a:pPr lvl="0">
              <a:lnSpc>
                <a:spcPct val="90000"/>
              </a:lnSpc>
              <a:buFontTx/>
              <a:buChar char="•"/>
            </a:pPr>
            <a:r>
              <a:rPr lang="en-US" altLang="en-US" dirty="0">
                <a:solidFill>
                  <a:srgbClr val="000000"/>
                </a:solidFill>
              </a:rPr>
              <a:t>Is used to indicate end-of-list</a:t>
            </a:r>
          </a:p>
          <a:p>
            <a:pPr lvl="0">
              <a:lnSpc>
                <a:spcPct val="90000"/>
              </a:lnSpc>
              <a:buFontTx/>
              <a:buChar char="•"/>
            </a:pPr>
            <a:r>
              <a:rPr lang="en-US" altLang="en-US" dirty="0">
                <a:solidFill>
                  <a:srgbClr val="000000"/>
                </a:solidFill>
              </a:rPr>
              <a:t>Should always be tested for before using a </a:t>
            </a:r>
            <a:r>
              <a:rPr lang="en-US" altLang="en-US" dirty="0" smtClean="0">
                <a:solidFill>
                  <a:srgbClr val="000000"/>
                </a:solidFill>
              </a:rPr>
              <a:t>pointer:</a:t>
            </a:r>
          </a:p>
          <a:p>
            <a:pPr marL="738000" lvl="0" indent="0">
              <a:lnSpc>
                <a:spcPct val="90000"/>
              </a:lnSpc>
              <a:buNone/>
            </a:pPr>
            <a:r>
              <a:rPr lang="en-US" altLang="en-US" sz="2800" dirty="0" smtClean="0">
                <a:solidFill>
                  <a:srgbClr val="000000"/>
                </a:solidFill>
                <a:latin typeface="Courier New" panose="02070309020205020404" pitchFamily="49" charset="0"/>
              </a:rPr>
              <a:t>ListNode </a:t>
            </a:r>
            <a:r>
              <a:rPr lang="en-US" altLang="en-US" sz="2800" dirty="0">
                <a:solidFill>
                  <a:srgbClr val="000000"/>
                </a:solidFill>
                <a:latin typeface="Courier New" panose="02070309020205020404" pitchFamily="49" charset="0"/>
              </a:rPr>
              <a:t>*</a:t>
            </a:r>
            <a:r>
              <a:rPr lang="en-US" altLang="en-US" sz="2800" dirty="0" smtClean="0">
                <a:solidFill>
                  <a:srgbClr val="000000"/>
                </a:solidFill>
                <a:latin typeface="Courier New" panose="02070309020205020404" pitchFamily="49" charset="0"/>
              </a:rPr>
              <a:t>p;</a:t>
            </a:r>
          </a:p>
          <a:p>
            <a:pPr marL="1029600" lvl="1">
              <a:lnSpc>
                <a:spcPct val="90000"/>
              </a:lnSpc>
              <a:buNone/>
            </a:pPr>
            <a:r>
              <a:rPr lang="en-US" altLang="en-US" dirty="0" smtClean="0">
                <a:solidFill>
                  <a:srgbClr val="000000"/>
                </a:solidFill>
                <a:latin typeface="Courier New" panose="02070309020205020404" pitchFamily="49" charset="0"/>
              </a:rPr>
              <a:t>while </a:t>
            </a:r>
            <a:r>
              <a:rPr lang="en-US" altLang="en-US" dirty="0">
                <a:solidFill>
                  <a:srgbClr val="000000"/>
                </a:solidFill>
                <a:latin typeface="Courier New" panose="02070309020205020404" pitchFamily="49" charset="0"/>
              </a:rPr>
              <a:t>(!p</a:t>
            </a:r>
            <a:r>
              <a:rPr lang="en-US" altLang="en-US" dirty="0" smtClean="0">
                <a:solidFill>
                  <a:srgbClr val="000000"/>
                </a:solidFill>
                <a:latin typeface="Courier New" panose="02070309020205020404" pitchFamily="49" charset="0"/>
              </a:rPr>
              <a:t>)</a:t>
            </a:r>
            <a:endParaRPr lang="en-US" altLang="en-US" dirty="0">
              <a:solidFill>
                <a:srgbClr val="000000"/>
              </a:solidFill>
            </a:endParaRPr>
          </a:p>
        </p:txBody>
      </p:sp>
    </p:spTree>
    <p:extLst>
      <p:ext uri="{BB962C8B-B14F-4D97-AF65-F5344CB8AC3E}">
        <p14:creationId xmlns:p14="http://schemas.microsoft.com/office/powerpoint/2010/main" val="20311263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noChangeArrowheads="1"/>
          </p:cNvSpPr>
          <p:nvPr>
            <p:ph type="ctrTitle"/>
          </p:nvPr>
        </p:nvSpPr>
        <p:spPr/>
        <p:txBody>
          <a:bodyPr/>
          <a:lstStyle/>
          <a:p>
            <a:r>
              <a:rPr lang="en-US" altLang="en-US" dirty="0" smtClean="0"/>
              <a:t>18.2</a:t>
            </a:r>
          </a:p>
        </p:txBody>
      </p:sp>
      <p:sp>
        <p:nvSpPr>
          <p:cNvPr id="16387" name="Subtitle 2"/>
          <p:cNvSpPr>
            <a:spLocks noGrp="1" noChangeArrowheads="1"/>
          </p:cNvSpPr>
          <p:nvPr>
            <p:ph type="subTitle" idx="1"/>
          </p:nvPr>
        </p:nvSpPr>
        <p:spPr>
          <a:xfrm>
            <a:off x="1371600" y="4267200"/>
            <a:ext cx="6400800" cy="685800"/>
          </a:xfrm>
        </p:spPr>
        <p:txBody>
          <a:bodyPr/>
          <a:lstStyle/>
          <a:p>
            <a:r>
              <a:rPr lang="en-US" altLang="en-US" dirty="0" smtClean="0"/>
              <a:t>Linked List Operations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Linked List Operations</a:t>
            </a:r>
            <a:endParaRPr lang="en-IN" dirty="0"/>
          </a:p>
        </p:txBody>
      </p:sp>
      <p:sp>
        <p:nvSpPr>
          <p:cNvPr id="3" name="Content Placeholder 2"/>
          <p:cNvSpPr>
            <a:spLocks noGrp="1"/>
          </p:cNvSpPr>
          <p:nvPr>
            <p:ph idx="1"/>
          </p:nvPr>
        </p:nvSpPr>
        <p:spPr/>
        <p:txBody>
          <a:bodyPr/>
          <a:lstStyle/>
          <a:p>
            <a:pPr lvl="0">
              <a:buFontTx/>
              <a:buChar char="•"/>
            </a:pPr>
            <a:r>
              <a:rPr lang="en-US" altLang="en-US" dirty="0">
                <a:solidFill>
                  <a:srgbClr val="000000"/>
                </a:solidFill>
              </a:rPr>
              <a:t>Basic operations:</a:t>
            </a:r>
          </a:p>
          <a:p>
            <a:pPr lvl="1"/>
            <a:r>
              <a:rPr lang="en-US" altLang="en-US" dirty="0">
                <a:solidFill>
                  <a:srgbClr val="000000"/>
                </a:solidFill>
              </a:rPr>
              <a:t>append a node to the end of the list</a:t>
            </a:r>
          </a:p>
          <a:p>
            <a:pPr lvl="1"/>
            <a:r>
              <a:rPr lang="en-US" altLang="en-US" dirty="0">
                <a:solidFill>
                  <a:srgbClr val="000000"/>
                </a:solidFill>
              </a:rPr>
              <a:t>insert a node within the list</a:t>
            </a:r>
          </a:p>
          <a:p>
            <a:pPr lvl="1"/>
            <a:r>
              <a:rPr lang="en-US" altLang="en-US" dirty="0">
                <a:solidFill>
                  <a:srgbClr val="000000"/>
                </a:solidFill>
              </a:rPr>
              <a:t>traverse the linked list</a:t>
            </a:r>
          </a:p>
          <a:p>
            <a:pPr lvl="1"/>
            <a:r>
              <a:rPr lang="en-US" altLang="en-US" dirty="0">
                <a:solidFill>
                  <a:srgbClr val="000000"/>
                </a:solidFill>
              </a:rPr>
              <a:t>delete a node</a:t>
            </a:r>
          </a:p>
          <a:p>
            <a:pPr lvl="1"/>
            <a:r>
              <a:rPr lang="en-US" altLang="en-US" dirty="0">
                <a:solidFill>
                  <a:srgbClr val="000000"/>
                </a:solidFill>
              </a:rPr>
              <a:t>delete/destroy the </a:t>
            </a:r>
            <a:r>
              <a:rPr lang="en-US" altLang="en-US" dirty="0" smtClean="0">
                <a:solidFill>
                  <a:srgbClr val="000000"/>
                </a:solidFill>
              </a:rPr>
              <a:t>list</a:t>
            </a:r>
            <a:endParaRPr lang="en-US" altLang="en-US" dirty="0">
              <a:solidFill>
                <a:srgbClr val="000000"/>
              </a:solidFill>
            </a:endParaRPr>
          </a:p>
        </p:txBody>
      </p:sp>
    </p:spTree>
    <p:extLst>
      <p:ext uri="{BB962C8B-B14F-4D97-AF65-F5344CB8AC3E}">
        <p14:creationId xmlns:p14="http://schemas.microsoft.com/office/powerpoint/2010/main" val="35872760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9600" y="288000"/>
            <a:ext cx="8229600" cy="792162"/>
          </a:xfrm>
        </p:spPr>
        <p:txBody>
          <a:bodyPr/>
          <a:lstStyle/>
          <a:p>
            <a:r>
              <a:rPr lang="en-US" altLang="en-US" sz="3600" kern="1200" dirty="0">
                <a:latin typeface="Arial" panose="020B0604020202020204" pitchFamily="34" charset="0"/>
                <a:cs typeface="Arial" panose="020B0604020202020204" pitchFamily="34" charset="0"/>
              </a:rPr>
              <a:t>Contents of</a:t>
            </a:r>
            <a:r>
              <a:rPr lang="en-US" altLang="en-US" sz="3600" b="1" kern="1200" dirty="0">
                <a:latin typeface="Arial" panose="020B0604020202020204" pitchFamily="34" charset="0"/>
                <a:cs typeface="Arial" panose="020B0604020202020204" pitchFamily="34" charset="0"/>
              </a:rPr>
              <a:t> </a:t>
            </a:r>
            <a:r>
              <a:rPr lang="en-US" altLang="en-US" sz="3600" b="1" kern="1200" dirty="0">
                <a:latin typeface="Courier New" panose="02070309020205020404" pitchFamily="49" charset="0"/>
                <a:cs typeface="Arial" panose="020B0604020202020204" pitchFamily="34" charset="0"/>
              </a:rPr>
              <a:t>NumberList.h </a:t>
            </a:r>
            <a:r>
              <a:rPr lang="en-US" altLang="en-US" sz="1200" kern="1200" dirty="0">
                <a:latin typeface="Arial" panose="020B0604020202020204" pitchFamily="34" charset="0"/>
                <a:cs typeface="Arial" panose="020B0604020202020204" pitchFamily="34" charset="0"/>
              </a:rPr>
              <a:t>(1 of 2)</a:t>
            </a:r>
            <a:endParaRPr lang="en-IN" dirty="0"/>
          </a:p>
        </p:txBody>
      </p:sp>
      <p:sp>
        <p:nvSpPr>
          <p:cNvPr id="3" name="Content Placeholder 2"/>
          <p:cNvSpPr>
            <a:spLocks noGrp="1"/>
          </p:cNvSpPr>
          <p:nvPr>
            <p:ph idx="1"/>
          </p:nvPr>
        </p:nvSpPr>
        <p:spPr>
          <a:xfrm>
            <a:off x="762000" y="1143000"/>
            <a:ext cx="8229600" cy="4525963"/>
          </a:xfrm>
        </p:spPr>
        <p:txBody>
          <a:bodyPr/>
          <a:lstStyle/>
          <a:p>
            <a:pPr marL="0" lvl="0" indent="0" eaLnBrk="1" hangingPunct="1">
              <a:spcBef>
                <a:spcPct val="0"/>
              </a:spcBef>
              <a:buNone/>
            </a:pPr>
            <a:r>
              <a:rPr lang="en-US" altLang="en-US" sz="2000" b="1" kern="1200" dirty="0">
                <a:solidFill>
                  <a:srgbClr val="000000"/>
                </a:solidFill>
                <a:latin typeface="Times New Roman" panose="02020603050405020304" pitchFamily="18" charset="0"/>
                <a:cs typeface="Arial" panose="020B0604020202020204" pitchFamily="34" charset="0"/>
              </a:rPr>
              <a:t>Contents of </a:t>
            </a:r>
            <a:r>
              <a:rPr lang="en-US" altLang="en-US" sz="2000" b="1" kern="1200" dirty="0">
                <a:solidFill>
                  <a:srgbClr val="000000"/>
                </a:solidFill>
                <a:latin typeface="Courier New" panose="02070309020205020404" pitchFamily="49" charset="0"/>
                <a:cs typeface="Arial" panose="020B0604020202020204" pitchFamily="34" charset="0"/>
              </a:rPr>
              <a:t>NumberList.h</a:t>
            </a:r>
            <a:endParaRPr lang="en-US" altLang="en-US" sz="2000" kern="1200" dirty="0">
              <a:solidFill>
                <a:srgbClr val="000000"/>
              </a:solidFill>
              <a:latin typeface="Courier New" panose="02070309020205020404" pitchFamily="49" charset="0"/>
              <a:cs typeface="Arial" panose="020B0604020202020204" pitchFamily="34" charset="0"/>
            </a:endParaRPr>
          </a:p>
          <a:p>
            <a:pPr marL="0" lvl="0" indent="0" eaLnBrk="1" hangingPunct="1">
              <a:spcBef>
                <a:spcPct val="0"/>
              </a:spcBef>
              <a:buNone/>
            </a:pPr>
            <a:r>
              <a:rPr lang="en-US" altLang="en-US" sz="1600" kern="1200" dirty="0">
                <a:solidFill>
                  <a:srgbClr val="000000"/>
                </a:solidFill>
                <a:latin typeface="Courier New" panose="02070309020205020404" pitchFamily="49" charset="0"/>
                <a:cs typeface="Arial" panose="020B0604020202020204" pitchFamily="34" charset="0"/>
              </a:rPr>
              <a:t> 1  // Specification file for the NumberList class</a:t>
            </a:r>
            <a:br>
              <a:rPr lang="en-US" altLang="en-US" sz="1600" kern="1200" dirty="0">
                <a:solidFill>
                  <a:srgbClr val="000000"/>
                </a:solidFill>
                <a:latin typeface="Courier New" panose="02070309020205020404" pitchFamily="49" charset="0"/>
                <a:cs typeface="Arial" panose="020B0604020202020204" pitchFamily="34" charset="0"/>
              </a:rPr>
            </a:br>
            <a:r>
              <a:rPr lang="en-US" altLang="en-US" sz="1600" kern="1200" dirty="0">
                <a:solidFill>
                  <a:srgbClr val="000000"/>
                </a:solidFill>
                <a:latin typeface="Courier New" panose="02070309020205020404" pitchFamily="49" charset="0"/>
                <a:cs typeface="Arial" panose="020B0604020202020204" pitchFamily="34" charset="0"/>
              </a:rPr>
              <a:t> 2  #ifndef NUMBERLIST_H</a:t>
            </a:r>
            <a:br>
              <a:rPr lang="en-US" altLang="en-US" sz="1600" kern="1200" dirty="0">
                <a:solidFill>
                  <a:srgbClr val="000000"/>
                </a:solidFill>
                <a:latin typeface="Courier New" panose="02070309020205020404" pitchFamily="49" charset="0"/>
                <a:cs typeface="Arial" panose="020B0604020202020204" pitchFamily="34" charset="0"/>
              </a:rPr>
            </a:br>
            <a:r>
              <a:rPr lang="en-US" altLang="en-US" sz="1600" kern="1200" dirty="0">
                <a:solidFill>
                  <a:srgbClr val="000000"/>
                </a:solidFill>
                <a:latin typeface="Courier New" panose="02070309020205020404" pitchFamily="49" charset="0"/>
                <a:cs typeface="Arial" panose="020B0604020202020204" pitchFamily="34" charset="0"/>
              </a:rPr>
              <a:t> 3  #define NUMBERLIST_H</a:t>
            </a:r>
            <a:br>
              <a:rPr lang="en-US" altLang="en-US" sz="1600" kern="1200" dirty="0">
                <a:solidFill>
                  <a:srgbClr val="000000"/>
                </a:solidFill>
                <a:latin typeface="Courier New" panose="02070309020205020404" pitchFamily="49" charset="0"/>
                <a:cs typeface="Arial" panose="020B0604020202020204" pitchFamily="34" charset="0"/>
              </a:rPr>
            </a:br>
            <a:r>
              <a:rPr lang="en-US" altLang="en-US" sz="1600" kern="1200" dirty="0">
                <a:solidFill>
                  <a:srgbClr val="000000"/>
                </a:solidFill>
                <a:latin typeface="Courier New" panose="02070309020205020404" pitchFamily="49" charset="0"/>
                <a:cs typeface="Arial" panose="020B0604020202020204" pitchFamily="34" charset="0"/>
              </a:rPr>
              <a:t> 4 </a:t>
            </a:r>
            <a:br>
              <a:rPr lang="en-US" altLang="en-US" sz="1600" kern="1200" dirty="0">
                <a:solidFill>
                  <a:srgbClr val="000000"/>
                </a:solidFill>
                <a:latin typeface="Courier New" panose="02070309020205020404" pitchFamily="49" charset="0"/>
                <a:cs typeface="Arial" panose="020B0604020202020204" pitchFamily="34" charset="0"/>
              </a:rPr>
            </a:br>
            <a:r>
              <a:rPr lang="en-US" altLang="en-US" sz="1600" kern="1200" dirty="0">
                <a:solidFill>
                  <a:srgbClr val="000000"/>
                </a:solidFill>
                <a:latin typeface="Courier New" panose="02070309020205020404" pitchFamily="49" charset="0"/>
                <a:cs typeface="Arial" panose="020B0604020202020204" pitchFamily="34" charset="0"/>
              </a:rPr>
              <a:t> 5  class NumberList</a:t>
            </a:r>
            <a:br>
              <a:rPr lang="en-US" altLang="en-US" sz="1600" kern="1200" dirty="0">
                <a:solidFill>
                  <a:srgbClr val="000000"/>
                </a:solidFill>
                <a:latin typeface="Courier New" panose="02070309020205020404" pitchFamily="49" charset="0"/>
                <a:cs typeface="Arial" panose="020B0604020202020204" pitchFamily="34" charset="0"/>
              </a:rPr>
            </a:br>
            <a:r>
              <a:rPr lang="en-US" altLang="en-US" sz="1600" kern="1200" dirty="0">
                <a:solidFill>
                  <a:srgbClr val="000000"/>
                </a:solidFill>
                <a:latin typeface="Courier New" panose="02070309020205020404" pitchFamily="49" charset="0"/>
                <a:cs typeface="Arial" panose="020B0604020202020204" pitchFamily="34" charset="0"/>
              </a:rPr>
              <a:t> 6  {</a:t>
            </a:r>
            <a:br>
              <a:rPr lang="en-US" altLang="en-US" sz="1600" kern="1200" dirty="0">
                <a:solidFill>
                  <a:srgbClr val="000000"/>
                </a:solidFill>
                <a:latin typeface="Courier New" panose="02070309020205020404" pitchFamily="49" charset="0"/>
                <a:cs typeface="Arial" panose="020B0604020202020204" pitchFamily="34" charset="0"/>
              </a:rPr>
            </a:br>
            <a:r>
              <a:rPr lang="en-US" altLang="en-US" sz="1600" kern="1200" dirty="0">
                <a:solidFill>
                  <a:srgbClr val="000000"/>
                </a:solidFill>
                <a:latin typeface="Courier New" panose="02070309020205020404" pitchFamily="49" charset="0"/>
                <a:cs typeface="Arial" panose="020B0604020202020204" pitchFamily="34" charset="0"/>
              </a:rPr>
              <a:t> 7  private:</a:t>
            </a:r>
            <a:br>
              <a:rPr lang="en-US" altLang="en-US" sz="1600" kern="1200" dirty="0">
                <a:solidFill>
                  <a:srgbClr val="000000"/>
                </a:solidFill>
                <a:latin typeface="Courier New" panose="02070309020205020404" pitchFamily="49" charset="0"/>
                <a:cs typeface="Arial" panose="020B0604020202020204" pitchFamily="34" charset="0"/>
              </a:rPr>
            </a:br>
            <a:r>
              <a:rPr lang="en-US" altLang="en-US" sz="1600" kern="1200" dirty="0">
                <a:solidFill>
                  <a:srgbClr val="000000"/>
                </a:solidFill>
                <a:latin typeface="Courier New" panose="02070309020205020404" pitchFamily="49" charset="0"/>
                <a:cs typeface="Arial" panose="020B0604020202020204" pitchFamily="34" charset="0"/>
              </a:rPr>
              <a:t> 8     // Declare a structure for the list</a:t>
            </a:r>
            <a:br>
              <a:rPr lang="en-US" altLang="en-US" sz="1600" kern="1200" dirty="0">
                <a:solidFill>
                  <a:srgbClr val="000000"/>
                </a:solidFill>
                <a:latin typeface="Courier New" panose="02070309020205020404" pitchFamily="49" charset="0"/>
                <a:cs typeface="Arial" panose="020B0604020202020204" pitchFamily="34" charset="0"/>
              </a:rPr>
            </a:br>
            <a:r>
              <a:rPr lang="en-US" altLang="en-US" sz="1600" kern="1200" dirty="0">
                <a:solidFill>
                  <a:srgbClr val="000000"/>
                </a:solidFill>
                <a:latin typeface="Courier New" panose="02070309020205020404" pitchFamily="49" charset="0"/>
                <a:cs typeface="Arial" panose="020B0604020202020204" pitchFamily="34" charset="0"/>
              </a:rPr>
              <a:t> 9     struct ListNode</a:t>
            </a:r>
            <a:br>
              <a:rPr lang="en-US" altLang="en-US" sz="1600" kern="1200" dirty="0">
                <a:solidFill>
                  <a:srgbClr val="000000"/>
                </a:solidFill>
                <a:latin typeface="Courier New" panose="02070309020205020404" pitchFamily="49" charset="0"/>
                <a:cs typeface="Arial" panose="020B0604020202020204" pitchFamily="34" charset="0"/>
              </a:rPr>
            </a:br>
            <a:r>
              <a:rPr lang="en-US" altLang="en-US" sz="1600" kern="1200" dirty="0">
                <a:solidFill>
                  <a:srgbClr val="000000"/>
                </a:solidFill>
                <a:latin typeface="Courier New" panose="02070309020205020404" pitchFamily="49" charset="0"/>
                <a:cs typeface="Arial" panose="020B0604020202020204" pitchFamily="34" charset="0"/>
              </a:rPr>
              <a:t>10     {</a:t>
            </a:r>
            <a:br>
              <a:rPr lang="en-US" altLang="en-US" sz="1600" kern="1200" dirty="0">
                <a:solidFill>
                  <a:srgbClr val="000000"/>
                </a:solidFill>
                <a:latin typeface="Courier New" panose="02070309020205020404" pitchFamily="49" charset="0"/>
                <a:cs typeface="Arial" panose="020B0604020202020204" pitchFamily="34" charset="0"/>
              </a:rPr>
            </a:br>
            <a:r>
              <a:rPr lang="en-US" altLang="en-US" sz="1600" kern="1200" dirty="0">
                <a:solidFill>
                  <a:srgbClr val="000000"/>
                </a:solidFill>
                <a:latin typeface="Courier New" panose="02070309020205020404" pitchFamily="49" charset="0"/>
                <a:cs typeface="Arial" panose="020B0604020202020204" pitchFamily="34" charset="0"/>
              </a:rPr>
              <a:t>11        double value;           // The value in this node</a:t>
            </a:r>
            <a:br>
              <a:rPr lang="en-US" altLang="en-US" sz="1600" kern="1200" dirty="0">
                <a:solidFill>
                  <a:srgbClr val="000000"/>
                </a:solidFill>
                <a:latin typeface="Courier New" panose="02070309020205020404" pitchFamily="49" charset="0"/>
                <a:cs typeface="Arial" panose="020B0604020202020204" pitchFamily="34" charset="0"/>
              </a:rPr>
            </a:br>
            <a:r>
              <a:rPr lang="en-US" altLang="en-US" sz="1600" kern="1200" dirty="0">
                <a:solidFill>
                  <a:srgbClr val="000000"/>
                </a:solidFill>
                <a:latin typeface="Courier New" panose="02070309020205020404" pitchFamily="49" charset="0"/>
                <a:cs typeface="Arial" panose="020B0604020202020204" pitchFamily="34" charset="0"/>
              </a:rPr>
              <a:t>12        struct ListNode *next;  // To point to the next node</a:t>
            </a:r>
            <a:br>
              <a:rPr lang="en-US" altLang="en-US" sz="1600" kern="1200" dirty="0">
                <a:solidFill>
                  <a:srgbClr val="000000"/>
                </a:solidFill>
                <a:latin typeface="Courier New" panose="02070309020205020404" pitchFamily="49" charset="0"/>
                <a:cs typeface="Arial" panose="020B0604020202020204" pitchFamily="34" charset="0"/>
              </a:rPr>
            </a:br>
            <a:r>
              <a:rPr lang="en-US" altLang="en-US" sz="1600" kern="1200" dirty="0">
                <a:solidFill>
                  <a:srgbClr val="000000"/>
                </a:solidFill>
                <a:latin typeface="Courier New" panose="02070309020205020404" pitchFamily="49" charset="0"/>
                <a:cs typeface="Arial" panose="020B0604020202020204" pitchFamily="34" charset="0"/>
              </a:rPr>
              <a:t>13     }; </a:t>
            </a:r>
            <a:br>
              <a:rPr lang="en-US" altLang="en-US" sz="1600" kern="1200" dirty="0">
                <a:solidFill>
                  <a:srgbClr val="000000"/>
                </a:solidFill>
                <a:latin typeface="Courier New" panose="02070309020205020404" pitchFamily="49" charset="0"/>
                <a:cs typeface="Arial" panose="020B0604020202020204" pitchFamily="34" charset="0"/>
              </a:rPr>
            </a:br>
            <a:r>
              <a:rPr lang="en-US" altLang="en-US" sz="1600" kern="1200" dirty="0">
                <a:solidFill>
                  <a:srgbClr val="000000"/>
                </a:solidFill>
                <a:latin typeface="Courier New" panose="02070309020205020404" pitchFamily="49" charset="0"/>
                <a:cs typeface="Arial" panose="020B0604020202020204" pitchFamily="34" charset="0"/>
              </a:rPr>
              <a:t>14 </a:t>
            </a:r>
            <a:br>
              <a:rPr lang="en-US" altLang="en-US" sz="1600" kern="1200" dirty="0">
                <a:solidFill>
                  <a:srgbClr val="000000"/>
                </a:solidFill>
                <a:latin typeface="Courier New" panose="02070309020205020404" pitchFamily="49" charset="0"/>
                <a:cs typeface="Arial" panose="020B0604020202020204" pitchFamily="34" charset="0"/>
              </a:rPr>
            </a:br>
            <a:r>
              <a:rPr lang="en-US" altLang="en-US" sz="1600" kern="1200" dirty="0">
                <a:solidFill>
                  <a:srgbClr val="000000"/>
                </a:solidFill>
                <a:latin typeface="Courier New" panose="02070309020205020404" pitchFamily="49" charset="0"/>
                <a:cs typeface="Arial" panose="020B0604020202020204" pitchFamily="34" charset="0"/>
              </a:rPr>
              <a:t>15     ListNode *head;            // List head pointer</a:t>
            </a:r>
            <a:br>
              <a:rPr lang="en-US" altLang="en-US" sz="1600" kern="1200" dirty="0">
                <a:solidFill>
                  <a:srgbClr val="000000"/>
                </a:solidFill>
                <a:latin typeface="Courier New" panose="02070309020205020404" pitchFamily="49" charset="0"/>
                <a:cs typeface="Arial" panose="020B0604020202020204" pitchFamily="34" charset="0"/>
              </a:rPr>
            </a:br>
            <a:r>
              <a:rPr lang="en-US" altLang="en-US" sz="1600" kern="1200" dirty="0">
                <a:solidFill>
                  <a:srgbClr val="000000"/>
                </a:solidFill>
                <a:latin typeface="Courier New" panose="02070309020205020404" pitchFamily="49" charset="0"/>
                <a:cs typeface="Arial" panose="020B0604020202020204" pitchFamily="34" charset="0"/>
              </a:rPr>
              <a:t>16 </a:t>
            </a:r>
          </a:p>
        </p:txBody>
      </p:sp>
    </p:spTree>
    <p:extLst>
      <p:ext uri="{BB962C8B-B14F-4D97-AF65-F5344CB8AC3E}">
        <p14:creationId xmlns:p14="http://schemas.microsoft.com/office/powerpoint/2010/main" val="17659458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9600" y="288000"/>
            <a:ext cx="8229600" cy="792162"/>
          </a:xfrm>
        </p:spPr>
        <p:txBody>
          <a:bodyPr/>
          <a:lstStyle/>
          <a:p>
            <a:r>
              <a:rPr lang="en-US" altLang="en-US" sz="3600" kern="1200" dirty="0">
                <a:latin typeface="Arial" panose="020B0604020202020204" pitchFamily="34" charset="0"/>
                <a:cs typeface="Arial" panose="020B0604020202020204" pitchFamily="34" charset="0"/>
              </a:rPr>
              <a:t>Contents of</a:t>
            </a:r>
            <a:r>
              <a:rPr lang="en-US" altLang="en-US" sz="3600" b="1" kern="1200" dirty="0">
                <a:latin typeface="Arial" panose="020B0604020202020204" pitchFamily="34" charset="0"/>
                <a:cs typeface="Arial" panose="020B0604020202020204" pitchFamily="34" charset="0"/>
              </a:rPr>
              <a:t> </a:t>
            </a:r>
            <a:r>
              <a:rPr lang="en-US" altLang="en-US" sz="3600" b="1" kern="1200" dirty="0" smtClean="0">
                <a:latin typeface="Courier New" panose="02070309020205020404" pitchFamily="49" charset="0"/>
                <a:cs typeface="Arial" panose="020B0604020202020204" pitchFamily="34" charset="0"/>
              </a:rPr>
              <a:t>NumberList.h</a:t>
            </a:r>
            <a:r>
              <a:rPr lang="en-US" altLang="en-US" sz="3600" b="1" kern="1200" dirty="0" smtClean="0">
                <a:latin typeface="Courier New" panose="02070309020205020404" pitchFamily="49" charset="0"/>
                <a:cs typeface="Arial" panose="020B0604020202020204" pitchFamily="34" charset="0"/>
              </a:rPr>
              <a:t> </a:t>
            </a:r>
            <a:r>
              <a:rPr lang="en-US" altLang="en-US" sz="1200" kern="1200" dirty="0" smtClean="0">
                <a:latin typeface="Arial" panose="020B0604020202020204" pitchFamily="34" charset="0"/>
                <a:cs typeface="Arial" panose="020B0604020202020204" pitchFamily="34" charset="0"/>
              </a:rPr>
              <a:t>(</a:t>
            </a:r>
            <a:r>
              <a:rPr lang="en-US" altLang="en-US" sz="1200" kern="1200" dirty="0" smtClean="0">
                <a:latin typeface="Arial" panose="020B0604020202020204" pitchFamily="34" charset="0"/>
                <a:cs typeface="Arial" panose="020B0604020202020204" pitchFamily="34" charset="0"/>
              </a:rPr>
              <a:t>2 </a:t>
            </a:r>
            <a:r>
              <a:rPr lang="en-US" altLang="en-US" sz="1200" kern="1200" dirty="0">
                <a:latin typeface="Arial" panose="020B0604020202020204" pitchFamily="34" charset="0"/>
                <a:cs typeface="Arial" panose="020B0604020202020204" pitchFamily="34" charset="0"/>
              </a:rPr>
              <a:t>of 2)</a:t>
            </a:r>
            <a:endParaRPr lang="en-IN" dirty="0"/>
          </a:p>
        </p:txBody>
      </p:sp>
      <p:sp>
        <p:nvSpPr>
          <p:cNvPr id="3" name="Content Placeholder 2"/>
          <p:cNvSpPr>
            <a:spLocks noGrp="1"/>
          </p:cNvSpPr>
          <p:nvPr>
            <p:ph idx="1"/>
          </p:nvPr>
        </p:nvSpPr>
        <p:spPr>
          <a:xfrm>
            <a:off x="609600" y="1447800"/>
            <a:ext cx="8229600" cy="4525963"/>
          </a:xfrm>
        </p:spPr>
        <p:txBody>
          <a:bodyPr/>
          <a:lstStyle/>
          <a:p>
            <a:pPr marL="0" lvl="0" indent="0" eaLnBrk="1" hangingPunct="1">
              <a:spcBef>
                <a:spcPct val="50000"/>
              </a:spcBef>
              <a:buNone/>
            </a:pPr>
            <a:r>
              <a:rPr lang="en-US" altLang="en-US" sz="2000" kern="1200" dirty="0">
                <a:solidFill>
                  <a:srgbClr val="000000"/>
                </a:solidFill>
                <a:latin typeface="Courier New" panose="02070309020205020404" pitchFamily="49" charset="0"/>
                <a:cs typeface="Arial" panose="020B0604020202020204" pitchFamily="34" charset="0"/>
              </a:rPr>
              <a:t>17  public:</a:t>
            </a:r>
            <a:br>
              <a:rPr lang="en-US" altLang="en-US" sz="2000" kern="1200" dirty="0">
                <a:solidFill>
                  <a:srgbClr val="000000"/>
                </a:solidFill>
                <a:latin typeface="Courier New" panose="02070309020205020404" pitchFamily="49" charset="0"/>
                <a:cs typeface="Arial" panose="020B0604020202020204" pitchFamily="34" charset="0"/>
              </a:rPr>
            </a:br>
            <a:r>
              <a:rPr lang="en-US" altLang="en-US" sz="2000" kern="1200" dirty="0">
                <a:solidFill>
                  <a:srgbClr val="000000"/>
                </a:solidFill>
                <a:latin typeface="Courier New" panose="02070309020205020404" pitchFamily="49" charset="0"/>
                <a:cs typeface="Arial" panose="020B0604020202020204" pitchFamily="34" charset="0"/>
              </a:rPr>
              <a:t>18     // Constructor</a:t>
            </a:r>
            <a:br>
              <a:rPr lang="en-US" altLang="en-US" sz="2000" kern="1200" dirty="0">
                <a:solidFill>
                  <a:srgbClr val="000000"/>
                </a:solidFill>
                <a:latin typeface="Courier New" panose="02070309020205020404" pitchFamily="49" charset="0"/>
                <a:cs typeface="Arial" panose="020B0604020202020204" pitchFamily="34" charset="0"/>
              </a:rPr>
            </a:br>
            <a:r>
              <a:rPr lang="en-US" altLang="en-US" sz="2000" kern="1200" dirty="0">
                <a:solidFill>
                  <a:srgbClr val="000000"/>
                </a:solidFill>
                <a:latin typeface="Courier New" panose="02070309020205020404" pitchFamily="49" charset="0"/>
                <a:cs typeface="Arial" panose="020B0604020202020204" pitchFamily="34" charset="0"/>
              </a:rPr>
              <a:t>19     NumberList()</a:t>
            </a:r>
            <a:br>
              <a:rPr lang="en-US" altLang="en-US" sz="2000" kern="1200" dirty="0">
                <a:solidFill>
                  <a:srgbClr val="000000"/>
                </a:solidFill>
                <a:latin typeface="Courier New" panose="02070309020205020404" pitchFamily="49" charset="0"/>
                <a:cs typeface="Arial" panose="020B0604020202020204" pitchFamily="34" charset="0"/>
              </a:rPr>
            </a:br>
            <a:r>
              <a:rPr lang="en-US" altLang="en-US" sz="2000" kern="1200" dirty="0">
                <a:solidFill>
                  <a:srgbClr val="000000"/>
                </a:solidFill>
                <a:latin typeface="Courier New" panose="02070309020205020404" pitchFamily="49" charset="0"/>
                <a:cs typeface="Arial" panose="020B0604020202020204" pitchFamily="34" charset="0"/>
              </a:rPr>
              <a:t>20        { head = nullptr; }</a:t>
            </a:r>
            <a:br>
              <a:rPr lang="en-US" altLang="en-US" sz="2000" kern="1200" dirty="0">
                <a:solidFill>
                  <a:srgbClr val="000000"/>
                </a:solidFill>
                <a:latin typeface="Courier New" panose="02070309020205020404" pitchFamily="49" charset="0"/>
                <a:cs typeface="Arial" panose="020B0604020202020204" pitchFamily="34" charset="0"/>
              </a:rPr>
            </a:br>
            <a:r>
              <a:rPr lang="en-US" altLang="en-US" sz="2000" kern="1200" dirty="0">
                <a:solidFill>
                  <a:srgbClr val="000000"/>
                </a:solidFill>
                <a:latin typeface="Courier New" panose="02070309020205020404" pitchFamily="49" charset="0"/>
                <a:cs typeface="Arial" panose="020B0604020202020204" pitchFamily="34" charset="0"/>
              </a:rPr>
              <a:t>21       </a:t>
            </a:r>
            <a:br>
              <a:rPr lang="en-US" altLang="en-US" sz="2000" kern="1200" dirty="0">
                <a:solidFill>
                  <a:srgbClr val="000000"/>
                </a:solidFill>
                <a:latin typeface="Courier New" panose="02070309020205020404" pitchFamily="49" charset="0"/>
                <a:cs typeface="Arial" panose="020B0604020202020204" pitchFamily="34" charset="0"/>
              </a:rPr>
            </a:br>
            <a:r>
              <a:rPr lang="en-US" altLang="en-US" sz="2000" kern="1200" dirty="0">
                <a:solidFill>
                  <a:srgbClr val="000000"/>
                </a:solidFill>
                <a:latin typeface="Courier New" panose="02070309020205020404" pitchFamily="49" charset="0"/>
                <a:cs typeface="Arial" panose="020B0604020202020204" pitchFamily="34" charset="0"/>
              </a:rPr>
              <a:t>22     // Destructor</a:t>
            </a:r>
            <a:br>
              <a:rPr lang="en-US" altLang="en-US" sz="2000" kern="1200" dirty="0">
                <a:solidFill>
                  <a:srgbClr val="000000"/>
                </a:solidFill>
                <a:latin typeface="Courier New" panose="02070309020205020404" pitchFamily="49" charset="0"/>
                <a:cs typeface="Arial" panose="020B0604020202020204" pitchFamily="34" charset="0"/>
              </a:rPr>
            </a:br>
            <a:r>
              <a:rPr lang="en-US" altLang="en-US" sz="2000" kern="1200" dirty="0">
                <a:solidFill>
                  <a:srgbClr val="000000"/>
                </a:solidFill>
                <a:latin typeface="Courier New" panose="02070309020205020404" pitchFamily="49" charset="0"/>
                <a:cs typeface="Arial" panose="020B0604020202020204" pitchFamily="34" charset="0"/>
              </a:rPr>
              <a:t>23     ~NumberList();</a:t>
            </a:r>
            <a:br>
              <a:rPr lang="en-US" altLang="en-US" sz="2000" kern="1200" dirty="0">
                <a:solidFill>
                  <a:srgbClr val="000000"/>
                </a:solidFill>
                <a:latin typeface="Courier New" panose="02070309020205020404" pitchFamily="49" charset="0"/>
                <a:cs typeface="Arial" panose="020B0604020202020204" pitchFamily="34" charset="0"/>
              </a:rPr>
            </a:br>
            <a:r>
              <a:rPr lang="en-US" altLang="en-US" sz="2000" kern="1200" dirty="0">
                <a:solidFill>
                  <a:srgbClr val="000000"/>
                </a:solidFill>
                <a:latin typeface="Courier New" panose="02070309020205020404" pitchFamily="49" charset="0"/>
                <a:cs typeface="Arial" panose="020B0604020202020204" pitchFamily="34" charset="0"/>
              </a:rPr>
              <a:t>24       </a:t>
            </a:r>
            <a:br>
              <a:rPr lang="en-US" altLang="en-US" sz="2000" kern="1200" dirty="0">
                <a:solidFill>
                  <a:srgbClr val="000000"/>
                </a:solidFill>
                <a:latin typeface="Courier New" panose="02070309020205020404" pitchFamily="49" charset="0"/>
                <a:cs typeface="Arial" panose="020B0604020202020204" pitchFamily="34" charset="0"/>
              </a:rPr>
            </a:br>
            <a:r>
              <a:rPr lang="en-US" altLang="en-US" sz="2000" kern="1200" dirty="0">
                <a:solidFill>
                  <a:srgbClr val="000000"/>
                </a:solidFill>
                <a:latin typeface="Courier New" panose="02070309020205020404" pitchFamily="49" charset="0"/>
                <a:cs typeface="Arial" panose="020B0604020202020204" pitchFamily="34" charset="0"/>
              </a:rPr>
              <a:t>25     // Linked list operations</a:t>
            </a:r>
            <a:br>
              <a:rPr lang="en-US" altLang="en-US" sz="2000" kern="1200" dirty="0">
                <a:solidFill>
                  <a:srgbClr val="000000"/>
                </a:solidFill>
                <a:latin typeface="Courier New" panose="02070309020205020404" pitchFamily="49" charset="0"/>
                <a:cs typeface="Arial" panose="020B0604020202020204" pitchFamily="34" charset="0"/>
              </a:rPr>
            </a:br>
            <a:r>
              <a:rPr lang="en-US" altLang="en-US" sz="2000" kern="1200" dirty="0">
                <a:solidFill>
                  <a:srgbClr val="000000"/>
                </a:solidFill>
                <a:latin typeface="Courier New" panose="02070309020205020404" pitchFamily="49" charset="0"/>
                <a:cs typeface="Arial" panose="020B0604020202020204" pitchFamily="34" charset="0"/>
              </a:rPr>
              <a:t>26     void appendNode(double);</a:t>
            </a:r>
            <a:br>
              <a:rPr lang="en-US" altLang="en-US" sz="2000" kern="1200" dirty="0">
                <a:solidFill>
                  <a:srgbClr val="000000"/>
                </a:solidFill>
                <a:latin typeface="Courier New" panose="02070309020205020404" pitchFamily="49" charset="0"/>
                <a:cs typeface="Arial" panose="020B0604020202020204" pitchFamily="34" charset="0"/>
              </a:rPr>
            </a:br>
            <a:r>
              <a:rPr lang="en-US" altLang="en-US" sz="2000" kern="1200" dirty="0">
                <a:solidFill>
                  <a:srgbClr val="000000"/>
                </a:solidFill>
                <a:latin typeface="Courier New" panose="02070309020205020404" pitchFamily="49" charset="0"/>
                <a:cs typeface="Arial" panose="020B0604020202020204" pitchFamily="34" charset="0"/>
              </a:rPr>
              <a:t>27     void insertNode(double);</a:t>
            </a:r>
            <a:br>
              <a:rPr lang="en-US" altLang="en-US" sz="2000" kern="1200" dirty="0">
                <a:solidFill>
                  <a:srgbClr val="000000"/>
                </a:solidFill>
                <a:latin typeface="Courier New" panose="02070309020205020404" pitchFamily="49" charset="0"/>
                <a:cs typeface="Arial" panose="020B0604020202020204" pitchFamily="34" charset="0"/>
              </a:rPr>
            </a:br>
            <a:r>
              <a:rPr lang="en-US" altLang="en-US" sz="2000" kern="1200" dirty="0">
                <a:solidFill>
                  <a:srgbClr val="000000"/>
                </a:solidFill>
                <a:latin typeface="Courier New" panose="02070309020205020404" pitchFamily="49" charset="0"/>
                <a:cs typeface="Arial" panose="020B0604020202020204" pitchFamily="34" charset="0"/>
              </a:rPr>
              <a:t>28     void deleteNode(double);</a:t>
            </a:r>
            <a:br>
              <a:rPr lang="en-US" altLang="en-US" sz="2000" kern="1200" dirty="0">
                <a:solidFill>
                  <a:srgbClr val="000000"/>
                </a:solidFill>
                <a:latin typeface="Courier New" panose="02070309020205020404" pitchFamily="49" charset="0"/>
                <a:cs typeface="Arial" panose="020B0604020202020204" pitchFamily="34" charset="0"/>
              </a:rPr>
            </a:br>
            <a:r>
              <a:rPr lang="en-US" altLang="en-US" sz="2000" kern="1200" dirty="0">
                <a:solidFill>
                  <a:srgbClr val="000000"/>
                </a:solidFill>
                <a:latin typeface="Courier New" panose="02070309020205020404" pitchFamily="49" charset="0"/>
                <a:cs typeface="Arial" panose="020B0604020202020204" pitchFamily="34" charset="0"/>
              </a:rPr>
              <a:t>29     void displayList() const;</a:t>
            </a:r>
            <a:br>
              <a:rPr lang="en-US" altLang="en-US" sz="2000" kern="1200" dirty="0">
                <a:solidFill>
                  <a:srgbClr val="000000"/>
                </a:solidFill>
                <a:latin typeface="Courier New" panose="02070309020205020404" pitchFamily="49" charset="0"/>
                <a:cs typeface="Arial" panose="020B0604020202020204" pitchFamily="34" charset="0"/>
              </a:rPr>
            </a:br>
            <a:r>
              <a:rPr lang="en-US" altLang="en-US" sz="2000" kern="1200" dirty="0">
                <a:solidFill>
                  <a:srgbClr val="000000"/>
                </a:solidFill>
                <a:latin typeface="Courier New" panose="02070309020205020404" pitchFamily="49" charset="0"/>
                <a:cs typeface="Arial" panose="020B0604020202020204" pitchFamily="34" charset="0"/>
              </a:rPr>
              <a:t>30  };</a:t>
            </a:r>
            <a:br>
              <a:rPr lang="en-US" altLang="en-US" sz="2000" kern="1200" dirty="0">
                <a:solidFill>
                  <a:srgbClr val="000000"/>
                </a:solidFill>
                <a:latin typeface="Courier New" panose="02070309020205020404" pitchFamily="49" charset="0"/>
                <a:cs typeface="Arial" panose="020B0604020202020204" pitchFamily="34" charset="0"/>
              </a:rPr>
            </a:br>
            <a:r>
              <a:rPr lang="en-US" altLang="en-US" sz="2000" kern="1200" dirty="0">
                <a:solidFill>
                  <a:srgbClr val="000000"/>
                </a:solidFill>
                <a:latin typeface="Courier New" panose="02070309020205020404" pitchFamily="49" charset="0"/>
                <a:cs typeface="Arial" panose="020B0604020202020204" pitchFamily="34" charset="0"/>
              </a:rPr>
              <a:t>31  #endif</a:t>
            </a:r>
          </a:p>
        </p:txBody>
      </p:sp>
    </p:spTree>
    <p:extLst>
      <p:ext uri="{BB962C8B-B14F-4D97-AF65-F5344CB8AC3E}">
        <p14:creationId xmlns:p14="http://schemas.microsoft.com/office/powerpoint/2010/main" val="9647880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2800"/>
            <a:ext cx="8229600" cy="1143000"/>
          </a:xfrm>
        </p:spPr>
        <p:txBody>
          <a:bodyPr/>
          <a:lstStyle/>
          <a:p>
            <a:r>
              <a:rPr lang="en-US" altLang="en-US" dirty="0"/>
              <a:t>Create a New Node</a:t>
            </a:r>
            <a:endParaRPr lang="en-IN" dirty="0"/>
          </a:p>
        </p:txBody>
      </p:sp>
      <p:sp>
        <p:nvSpPr>
          <p:cNvPr id="3" name="Content Placeholder 2"/>
          <p:cNvSpPr>
            <a:spLocks noGrp="1"/>
          </p:cNvSpPr>
          <p:nvPr>
            <p:ph idx="1"/>
          </p:nvPr>
        </p:nvSpPr>
        <p:spPr>
          <a:xfrm>
            <a:off x="481149" y="1752600"/>
            <a:ext cx="6030000" cy="3429000"/>
          </a:xfrm>
        </p:spPr>
        <p:txBody>
          <a:bodyPr/>
          <a:lstStyle/>
          <a:p>
            <a:pPr lvl="0">
              <a:lnSpc>
                <a:spcPct val="90000"/>
              </a:lnSpc>
              <a:spcBef>
                <a:spcPct val="55000"/>
              </a:spcBef>
              <a:buFontTx/>
              <a:buChar char="•"/>
            </a:pPr>
            <a:r>
              <a:rPr lang="en-US" altLang="en-US" sz="2800" dirty="0">
                <a:solidFill>
                  <a:srgbClr val="000000"/>
                </a:solidFill>
              </a:rPr>
              <a:t>Allocate memory for the new </a:t>
            </a:r>
            <a:r>
              <a:rPr lang="en-US" altLang="en-US" sz="2800" dirty="0" smtClean="0">
                <a:solidFill>
                  <a:srgbClr val="000000"/>
                </a:solidFill>
              </a:rPr>
              <a:t>node:</a:t>
            </a:r>
          </a:p>
          <a:p>
            <a:pPr marL="720000" lvl="0" indent="0">
              <a:lnSpc>
                <a:spcPct val="90000"/>
              </a:lnSpc>
              <a:spcBef>
                <a:spcPct val="55000"/>
              </a:spcBef>
              <a:buNone/>
            </a:pPr>
            <a:r>
              <a:rPr lang="en-US" altLang="en-US" sz="2400" dirty="0" smtClean="0">
                <a:solidFill>
                  <a:srgbClr val="000000"/>
                </a:solidFill>
                <a:latin typeface="Courier New" panose="02070309020205020404" pitchFamily="49" charset="0"/>
              </a:rPr>
              <a:t>newNode </a:t>
            </a:r>
            <a:r>
              <a:rPr lang="en-US" altLang="en-US" sz="2400" dirty="0">
                <a:solidFill>
                  <a:srgbClr val="000000"/>
                </a:solidFill>
                <a:latin typeface="Courier New" panose="02070309020205020404" pitchFamily="49" charset="0"/>
              </a:rPr>
              <a:t>= new ListNode;</a:t>
            </a:r>
          </a:p>
          <a:p>
            <a:pPr lvl="0">
              <a:lnSpc>
                <a:spcPct val="90000"/>
              </a:lnSpc>
              <a:spcBef>
                <a:spcPct val="55000"/>
              </a:spcBef>
              <a:buFontTx/>
              <a:buChar char="•"/>
            </a:pPr>
            <a:r>
              <a:rPr lang="en-US" altLang="en-US" sz="2800" dirty="0">
                <a:solidFill>
                  <a:srgbClr val="000000"/>
                </a:solidFill>
              </a:rPr>
              <a:t>Initialize the contents of the </a:t>
            </a:r>
            <a:r>
              <a:rPr lang="en-US" altLang="en-US" sz="2800" dirty="0" smtClean="0">
                <a:solidFill>
                  <a:srgbClr val="000000"/>
                </a:solidFill>
              </a:rPr>
              <a:t>node:</a:t>
            </a:r>
          </a:p>
          <a:p>
            <a:pPr marL="720000" lvl="0" indent="0">
              <a:lnSpc>
                <a:spcPct val="90000"/>
              </a:lnSpc>
              <a:spcBef>
                <a:spcPct val="55000"/>
              </a:spcBef>
              <a:buNone/>
            </a:pPr>
            <a:r>
              <a:rPr lang="en-US" altLang="en-US" sz="2400" dirty="0" smtClean="0">
                <a:solidFill>
                  <a:srgbClr val="000000"/>
                </a:solidFill>
                <a:latin typeface="Courier New" panose="02070309020205020404" pitchFamily="49" charset="0"/>
              </a:rPr>
              <a:t>newNode-</a:t>
            </a:r>
            <a:r>
              <a:rPr lang="en-US" altLang="en-US" sz="2400" dirty="0">
                <a:solidFill>
                  <a:srgbClr val="000000"/>
                </a:solidFill>
                <a:latin typeface="Courier New" panose="02070309020205020404" pitchFamily="49" charset="0"/>
              </a:rPr>
              <a:t>&gt;value = num;</a:t>
            </a:r>
          </a:p>
          <a:p>
            <a:pPr lvl="0">
              <a:lnSpc>
                <a:spcPct val="90000"/>
              </a:lnSpc>
              <a:spcBef>
                <a:spcPct val="55000"/>
              </a:spcBef>
              <a:buFontTx/>
              <a:buChar char="•"/>
            </a:pPr>
            <a:r>
              <a:rPr lang="en-US" altLang="en-US" sz="2800" dirty="0">
                <a:solidFill>
                  <a:srgbClr val="000000"/>
                </a:solidFill>
              </a:rPr>
              <a:t>Set the pointer field to </a:t>
            </a:r>
            <a:r>
              <a:rPr lang="en-US" altLang="en-US" sz="2800" dirty="0" smtClean="0">
                <a:solidFill>
                  <a:srgbClr val="000000"/>
                </a:solidFill>
                <a:latin typeface="Courier New" panose="02070309020205020404" pitchFamily="49" charset="0"/>
              </a:rPr>
              <a:t>nullptr</a:t>
            </a:r>
            <a:r>
              <a:rPr lang="en-US" altLang="en-US" sz="2800" dirty="0" smtClean="0">
                <a:solidFill>
                  <a:srgbClr val="000000"/>
                </a:solidFill>
              </a:rPr>
              <a:t>:</a:t>
            </a:r>
          </a:p>
          <a:p>
            <a:pPr marL="720000" lvl="0" indent="0">
              <a:lnSpc>
                <a:spcPct val="90000"/>
              </a:lnSpc>
              <a:spcBef>
                <a:spcPct val="55000"/>
              </a:spcBef>
              <a:buNone/>
            </a:pPr>
            <a:r>
              <a:rPr lang="en-US" altLang="en-US" sz="2400" dirty="0" smtClean="0">
                <a:solidFill>
                  <a:srgbClr val="000000"/>
                </a:solidFill>
                <a:latin typeface="Courier New" panose="02070309020205020404" pitchFamily="49" charset="0"/>
              </a:rPr>
              <a:t>newNode-</a:t>
            </a:r>
            <a:r>
              <a:rPr lang="en-US" altLang="en-US" sz="2400" dirty="0">
                <a:solidFill>
                  <a:srgbClr val="000000"/>
                </a:solidFill>
                <a:latin typeface="Courier New" panose="02070309020205020404" pitchFamily="49" charset="0"/>
              </a:rPr>
              <a:t>&gt;next = nullptr</a:t>
            </a:r>
            <a:r>
              <a:rPr lang="en-US" altLang="en-US" sz="2400" dirty="0" smtClean="0">
                <a:solidFill>
                  <a:srgbClr val="000000"/>
                </a:solidFill>
                <a:latin typeface="Courier New" panose="02070309020205020404" pitchFamily="49" charset="0"/>
              </a:rPr>
              <a:t>;</a:t>
            </a:r>
            <a:endParaRPr lang="en-US" altLang="en-US" sz="2400" dirty="0">
              <a:solidFill>
                <a:srgbClr val="000000"/>
              </a:solidFill>
            </a:endParaRPr>
          </a:p>
        </p:txBody>
      </p:sp>
      <p:pic>
        <p:nvPicPr>
          <p:cNvPr id="4" name="Picture 3" descr="The screenshot shows the steps to create a new node. The first step allocates memory for the new node: newNode equals new ListNode. A list is created for the newNode with a data field and a pointer field."/>
          <p:cNvPicPr>
            <a:picLocks noChangeAspect="1"/>
          </p:cNvPicPr>
          <p:nvPr/>
        </p:nvPicPr>
        <p:blipFill>
          <a:blip r:embed="rId2"/>
          <a:stretch>
            <a:fillRect/>
          </a:stretch>
        </p:blipFill>
        <p:spPr>
          <a:xfrm>
            <a:off x="7371613" y="1694287"/>
            <a:ext cx="1252559" cy="1429913"/>
          </a:xfrm>
          <a:prstGeom prst="rect">
            <a:avLst/>
          </a:prstGeom>
        </p:spPr>
      </p:pic>
      <p:pic>
        <p:nvPicPr>
          <p:cNvPr id="5" name="Picture 4" descr="The screenshot shows the steps to create a new node. The second step initializes the contents of the node: newNode right arrow value equals num. The newNode points to the node with the value 23."/>
          <p:cNvPicPr>
            <a:picLocks noChangeAspect="1"/>
          </p:cNvPicPr>
          <p:nvPr/>
        </p:nvPicPr>
        <p:blipFill>
          <a:blip r:embed="rId3"/>
          <a:stretch>
            <a:fillRect/>
          </a:stretch>
        </p:blipFill>
        <p:spPr>
          <a:xfrm>
            <a:off x="7371612" y="3294487"/>
            <a:ext cx="1252559" cy="1429913"/>
          </a:xfrm>
          <a:prstGeom prst="rect">
            <a:avLst/>
          </a:prstGeom>
        </p:spPr>
      </p:pic>
      <p:pic>
        <p:nvPicPr>
          <p:cNvPr id="6" name="Picture 5" descr="The screenshot shows the steps to create a new node. The third step is to set the pointer field to null pointer: newNode right arrow next equals nullptr. The newNode points to the node with the value 23. The pointer field points to the null address."/>
          <p:cNvPicPr>
            <a:picLocks noChangeAspect="1"/>
          </p:cNvPicPr>
          <p:nvPr/>
        </p:nvPicPr>
        <p:blipFill>
          <a:blip r:embed="rId4"/>
          <a:stretch>
            <a:fillRect/>
          </a:stretch>
        </p:blipFill>
        <p:spPr>
          <a:xfrm>
            <a:off x="6349315" y="4894687"/>
            <a:ext cx="2566085" cy="1429913"/>
          </a:xfrm>
          <a:prstGeom prst="rect">
            <a:avLst/>
          </a:prstGeom>
        </p:spPr>
      </p:pic>
    </p:spTree>
    <p:extLst>
      <p:ext uri="{BB962C8B-B14F-4D97-AF65-F5344CB8AC3E}">
        <p14:creationId xmlns:p14="http://schemas.microsoft.com/office/powerpoint/2010/main" val="14726879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Appending a </a:t>
            </a:r>
            <a:r>
              <a:rPr lang="en-US" altLang="en-US" dirty="0" smtClean="0"/>
              <a:t>Node </a:t>
            </a:r>
            <a:r>
              <a:rPr lang="en-US" altLang="en-US" sz="1200" dirty="0" smtClean="0"/>
              <a:t>(1 of 3)</a:t>
            </a:r>
            <a:endParaRPr lang="en-IN" sz="1200" dirty="0"/>
          </a:p>
        </p:txBody>
      </p:sp>
      <p:sp>
        <p:nvSpPr>
          <p:cNvPr id="3" name="Content Placeholder 2"/>
          <p:cNvSpPr>
            <a:spLocks noGrp="1"/>
          </p:cNvSpPr>
          <p:nvPr>
            <p:ph idx="1"/>
          </p:nvPr>
        </p:nvSpPr>
        <p:spPr>
          <a:xfrm>
            <a:off x="457200" y="1828800"/>
            <a:ext cx="8229600" cy="3657600"/>
          </a:xfrm>
        </p:spPr>
        <p:txBody>
          <a:bodyPr/>
          <a:lstStyle/>
          <a:p>
            <a:pPr lvl="0">
              <a:lnSpc>
                <a:spcPct val="90000"/>
              </a:lnSpc>
              <a:buFontTx/>
              <a:buChar char="•"/>
            </a:pPr>
            <a:r>
              <a:rPr lang="en-US" altLang="en-US" dirty="0">
                <a:solidFill>
                  <a:srgbClr val="000000"/>
                </a:solidFill>
              </a:rPr>
              <a:t>Add a node to the end of the list</a:t>
            </a:r>
          </a:p>
          <a:p>
            <a:pPr lvl="0">
              <a:lnSpc>
                <a:spcPct val="90000"/>
              </a:lnSpc>
              <a:buFontTx/>
              <a:buChar char="•"/>
            </a:pPr>
            <a:r>
              <a:rPr lang="en-US" altLang="en-US" dirty="0">
                <a:solidFill>
                  <a:srgbClr val="000000"/>
                </a:solidFill>
              </a:rPr>
              <a:t>Basic process:</a:t>
            </a:r>
          </a:p>
          <a:p>
            <a:pPr lvl="1">
              <a:lnSpc>
                <a:spcPct val="90000"/>
              </a:lnSpc>
            </a:pPr>
            <a:r>
              <a:rPr lang="en-US" altLang="en-US" dirty="0">
                <a:solidFill>
                  <a:srgbClr val="000000"/>
                </a:solidFill>
              </a:rPr>
              <a:t>Create the new node (as already described)</a:t>
            </a:r>
          </a:p>
          <a:p>
            <a:pPr lvl="1">
              <a:lnSpc>
                <a:spcPct val="90000"/>
              </a:lnSpc>
            </a:pPr>
            <a:r>
              <a:rPr lang="en-US" altLang="en-US" dirty="0">
                <a:solidFill>
                  <a:srgbClr val="000000"/>
                </a:solidFill>
              </a:rPr>
              <a:t>Add node to the end of the list:</a:t>
            </a:r>
          </a:p>
          <a:p>
            <a:pPr lvl="2">
              <a:lnSpc>
                <a:spcPct val="90000"/>
              </a:lnSpc>
              <a:buFontTx/>
              <a:buChar char="•"/>
            </a:pPr>
            <a:r>
              <a:rPr lang="en-US" altLang="en-US" dirty="0">
                <a:solidFill>
                  <a:srgbClr val="000000"/>
                </a:solidFill>
              </a:rPr>
              <a:t>If list is empty, set head pointer to this node</a:t>
            </a:r>
          </a:p>
          <a:p>
            <a:pPr lvl="2">
              <a:lnSpc>
                <a:spcPct val="90000"/>
              </a:lnSpc>
              <a:buFontTx/>
              <a:buChar char="•"/>
            </a:pPr>
            <a:r>
              <a:rPr lang="en-US" altLang="en-US" dirty="0">
                <a:solidFill>
                  <a:srgbClr val="000000"/>
                </a:solidFill>
              </a:rPr>
              <a:t>Else,</a:t>
            </a:r>
          </a:p>
          <a:p>
            <a:pPr lvl="3">
              <a:lnSpc>
                <a:spcPct val="90000"/>
              </a:lnSpc>
            </a:pPr>
            <a:r>
              <a:rPr lang="en-US" altLang="en-US" sz="2400" dirty="0">
                <a:solidFill>
                  <a:srgbClr val="000000"/>
                </a:solidFill>
              </a:rPr>
              <a:t>traverse the list to the end</a:t>
            </a:r>
          </a:p>
          <a:p>
            <a:pPr lvl="3">
              <a:lnSpc>
                <a:spcPct val="90000"/>
              </a:lnSpc>
            </a:pPr>
            <a:r>
              <a:rPr lang="en-US" altLang="en-US" sz="2400" dirty="0">
                <a:solidFill>
                  <a:srgbClr val="000000"/>
                </a:solidFill>
              </a:rPr>
              <a:t>set pointer of last node to point to new </a:t>
            </a:r>
            <a:r>
              <a:rPr lang="en-US" altLang="en-US" sz="2400" dirty="0" smtClean="0">
                <a:solidFill>
                  <a:srgbClr val="000000"/>
                </a:solidFill>
              </a:rPr>
              <a:t>node</a:t>
            </a:r>
            <a:endParaRPr lang="en-US" altLang="en-US" sz="2400" dirty="0">
              <a:solidFill>
                <a:srgbClr val="000000"/>
              </a:solidFill>
            </a:endParaRPr>
          </a:p>
        </p:txBody>
      </p:sp>
    </p:spTree>
    <p:extLst>
      <p:ext uri="{BB962C8B-B14F-4D97-AF65-F5344CB8AC3E}">
        <p14:creationId xmlns:p14="http://schemas.microsoft.com/office/powerpoint/2010/main" val="29973403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Appending a Node </a:t>
            </a:r>
            <a:r>
              <a:rPr lang="en-US" altLang="en-US" sz="1200" dirty="0"/>
              <a:t>(2 of 3)</a:t>
            </a:r>
            <a:endParaRPr lang="en-IN" dirty="0"/>
          </a:p>
        </p:txBody>
      </p:sp>
      <p:pic>
        <p:nvPicPr>
          <p:cNvPr id="4" name="Picture 3" descr="The screenshot shows the process of appending a node. The new node is created and initialized with 23 and the pointer field is set to null pointer. A linear linked list consists of a list head and three nodes. The list head on the left side points to the first node on the right. The node with 5 points to the node with 13, the node with 13 points to the node with 19. The last node with 19 points to a null address. A node pointer points to the node with 19. The new node is created and the end of the list is located."/>
          <p:cNvPicPr>
            <a:picLocks noChangeAspect="1"/>
          </p:cNvPicPr>
          <p:nvPr/>
        </p:nvPicPr>
        <p:blipFill rotWithShape="1">
          <a:blip r:embed="rId2"/>
          <a:srcRect b="22340"/>
          <a:stretch/>
        </p:blipFill>
        <p:spPr>
          <a:xfrm>
            <a:off x="684077" y="1886664"/>
            <a:ext cx="7775845" cy="2913936"/>
          </a:xfrm>
          <a:prstGeom prst="rect">
            <a:avLst/>
          </a:prstGeom>
        </p:spPr>
      </p:pic>
      <p:sp>
        <p:nvSpPr>
          <p:cNvPr id="3" name="Content Placeholder 2"/>
          <p:cNvSpPr>
            <a:spLocks noGrp="1"/>
          </p:cNvSpPr>
          <p:nvPr>
            <p:ph idx="1"/>
          </p:nvPr>
        </p:nvSpPr>
        <p:spPr>
          <a:xfrm>
            <a:off x="1752600" y="5486400"/>
            <a:ext cx="4038600" cy="381000"/>
          </a:xfrm>
        </p:spPr>
        <p:txBody>
          <a:bodyPr/>
          <a:lstStyle/>
          <a:p>
            <a:pPr marL="0" lvl="0" indent="0" eaLnBrk="1" hangingPunct="1">
              <a:spcBef>
                <a:spcPct val="0"/>
              </a:spcBef>
              <a:buNone/>
            </a:pPr>
            <a:r>
              <a:rPr lang="en-US" altLang="en-US" sz="1800" kern="1200" dirty="0">
                <a:solidFill>
                  <a:srgbClr val="037797"/>
                </a:solidFill>
                <a:latin typeface="Arial" panose="020B0604020202020204" pitchFamily="34" charset="0"/>
                <a:cs typeface="Arial" panose="020B0604020202020204" pitchFamily="34" charset="0"/>
              </a:rPr>
              <a:t>New node created, end of list </a:t>
            </a:r>
            <a:r>
              <a:rPr lang="en-US" altLang="en-US" sz="1800" kern="1200" dirty="0" smtClean="0">
                <a:solidFill>
                  <a:srgbClr val="037797"/>
                </a:solidFill>
                <a:latin typeface="Arial" panose="020B0604020202020204" pitchFamily="34" charset="0"/>
                <a:cs typeface="Arial" panose="020B0604020202020204" pitchFamily="34" charset="0"/>
              </a:rPr>
              <a:t>located</a:t>
            </a:r>
            <a:endParaRPr lang="en-US" altLang="en-US" sz="1800" kern="1200" dirty="0">
              <a:solidFill>
                <a:srgbClr val="037797"/>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975548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Appending a Node </a:t>
            </a:r>
            <a:r>
              <a:rPr lang="en-US" altLang="en-US" sz="1200" dirty="0"/>
              <a:t>(3 of 3)</a:t>
            </a:r>
            <a:endParaRPr lang="en-IN" dirty="0"/>
          </a:p>
        </p:txBody>
      </p:sp>
      <p:pic>
        <p:nvPicPr>
          <p:cNvPr id="4" name="Picture 3" descr="The screenshot shows the process of appending a node. The new node is created and initialized with 23 and the pointer field is set to null pointer. A linear linked list consists of a list head and three nodes. The list head on the left side points to the first node on the right. The node with 5 points to the node with 13, the node with 13 points to the node with 19. The last node with 19 points to a null address. A node pointer points to the node with 19. The new node created is added to the end of the list."/>
          <p:cNvPicPr>
            <a:picLocks noChangeAspect="1"/>
          </p:cNvPicPr>
          <p:nvPr/>
        </p:nvPicPr>
        <p:blipFill rotWithShape="1">
          <a:blip r:embed="rId2"/>
          <a:srcRect b="20309"/>
          <a:stretch/>
        </p:blipFill>
        <p:spPr>
          <a:xfrm>
            <a:off x="295285" y="1663850"/>
            <a:ext cx="8553429" cy="3289150"/>
          </a:xfrm>
          <a:prstGeom prst="rect">
            <a:avLst/>
          </a:prstGeom>
        </p:spPr>
      </p:pic>
      <p:sp>
        <p:nvSpPr>
          <p:cNvPr id="3" name="Content Placeholder 2"/>
          <p:cNvSpPr>
            <a:spLocks noGrp="1"/>
          </p:cNvSpPr>
          <p:nvPr>
            <p:ph idx="1"/>
          </p:nvPr>
        </p:nvSpPr>
        <p:spPr>
          <a:xfrm>
            <a:off x="1752600" y="5486400"/>
            <a:ext cx="3352800" cy="381000"/>
          </a:xfrm>
        </p:spPr>
        <p:txBody>
          <a:bodyPr/>
          <a:lstStyle/>
          <a:p>
            <a:pPr marL="0" lvl="0" indent="0" eaLnBrk="1" hangingPunct="1">
              <a:spcBef>
                <a:spcPct val="0"/>
              </a:spcBef>
              <a:buNone/>
            </a:pPr>
            <a:r>
              <a:rPr lang="en-US" altLang="en-US" sz="1800" kern="1200" dirty="0">
                <a:solidFill>
                  <a:srgbClr val="037797"/>
                </a:solidFill>
                <a:latin typeface="Arial" panose="020B0604020202020204" pitchFamily="34" charset="0"/>
                <a:cs typeface="Arial" panose="020B0604020202020204" pitchFamily="34" charset="0"/>
              </a:rPr>
              <a:t>New node added to end of </a:t>
            </a:r>
            <a:r>
              <a:rPr lang="en-US" altLang="en-US" sz="1800" kern="1200" dirty="0" smtClean="0">
                <a:solidFill>
                  <a:srgbClr val="037797"/>
                </a:solidFill>
                <a:latin typeface="Arial" panose="020B0604020202020204" pitchFamily="34" charset="0"/>
                <a:cs typeface="Arial" panose="020B0604020202020204" pitchFamily="34" charset="0"/>
              </a:rPr>
              <a:t>list</a:t>
            </a:r>
            <a:endParaRPr lang="en-US" altLang="en-US" sz="1800" kern="1200" dirty="0">
              <a:solidFill>
                <a:srgbClr val="037797"/>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073575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518400"/>
            <a:ext cx="8229600" cy="563562"/>
          </a:xfrm>
        </p:spPr>
        <p:txBody>
          <a:bodyPr/>
          <a:lstStyle/>
          <a:p>
            <a:pPr lvl="0" eaLnBrk="1" hangingPunct="1"/>
            <a:r>
              <a:rPr lang="en-US" altLang="en-US" sz="2800" kern="1200" dirty="0">
                <a:latin typeface="Arial" panose="020B0604020202020204" pitchFamily="34" charset="0"/>
                <a:ea typeface="+mn-ea"/>
                <a:cs typeface="Arial" panose="020B0604020202020204" pitchFamily="34" charset="0"/>
              </a:rPr>
              <a:t>C++ code for Appending a </a:t>
            </a:r>
            <a:r>
              <a:rPr lang="en-US" altLang="en-US" sz="2800" kern="1200" dirty="0" smtClean="0">
                <a:latin typeface="Arial" panose="020B0604020202020204" pitchFamily="34" charset="0"/>
                <a:ea typeface="+mn-ea"/>
                <a:cs typeface="Arial" panose="020B0604020202020204" pitchFamily="34" charset="0"/>
              </a:rPr>
              <a:t>Node </a:t>
            </a:r>
            <a:r>
              <a:rPr lang="en-US" altLang="en-US" sz="1200" kern="1200" dirty="0" smtClean="0">
                <a:latin typeface="Arial" panose="020B0604020202020204" pitchFamily="34" charset="0"/>
                <a:ea typeface="+mn-ea"/>
                <a:cs typeface="Arial" panose="020B0604020202020204" pitchFamily="34" charset="0"/>
              </a:rPr>
              <a:t>(1 of 2)</a:t>
            </a:r>
            <a:endParaRPr lang="en-IN" dirty="0"/>
          </a:p>
        </p:txBody>
      </p:sp>
      <p:sp>
        <p:nvSpPr>
          <p:cNvPr id="3" name="Content Placeholder 2"/>
          <p:cNvSpPr>
            <a:spLocks noGrp="1"/>
          </p:cNvSpPr>
          <p:nvPr>
            <p:ph idx="1"/>
          </p:nvPr>
        </p:nvSpPr>
        <p:spPr>
          <a:xfrm>
            <a:off x="152400" y="1576800"/>
            <a:ext cx="8610600" cy="4525963"/>
          </a:xfrm>
        </p:spPr>
        <p:txBody>
          <a:bodyPr/>
          <a:lstStyle/>
          <a:p>
            <a:pPr marL="0" lvl="0" indent="0" eaLnBrk="1" hangingPunct="1">
              <a:spcBef>
                <a:spcPct val="50000"/>
              </a:spcBef>
              <a:buNone/>
            </a:pPr>
            <a:r>
              <a:rPr lang="en-US" altLang="en-US" sz="2000" kern="1200" dirty="0">
                <a:solidFill>
                  <a:srgbClr val="000000"/>
                </a:solidFill>
                <a:latin typeface="Courier New" panose="02070309020205020404" pitchFamily="49" charset="0"/>
                <a:cs typeface="Arial" panose="020B0604020202020204" pitchFamily="34" charset="0"/>
              </a:rPr>
              <a:t> 11  void NumberList::appendNode(double num)</a:t>
            </a:r>
            <a:br>
              <a:rPr lang="en-US" altLang="en-US" sz="2000" kern="1200" dirty="0">
                <a:solidFill>
                  <a:srgbClr val="000000"/>
                </a:solidFill>
                <a:latin typeface="Courier New" panose="02070309020205020404" pitchFamily="49" charset="0"/>
                <a:cs typeface="Arial" panose="020B0604020202020204" pitchFamily="34" charset="0"/>
              </a:rPr>
            </a:br>
            <a:r>
              <a:rPr lang="en-US" altLang="en-US" sz="2000" kern="1200" dirty="0">
                <a:solidFill>
                  <a:srgbClr val="000000"/>
                </a:solidFill>
                <a:latin typeface="Courier New" panose="02070309020205020404" pitchFamily="49" charset="0"/>
                <a:cs typeface="Arial" panose="020B0604020202020204" pitchFamily="34" charset="0"/>
              </a:rPr>
              <a:t> 12  {</a:t>
            </a:r>
            <a:br>
              <a:rPr lang="en-US" altLang="en-US" sz="2000" kern="1200" dirty="0">
                <a:solidFill>
                  <a:srgbClr val="000000"/>
                </a:solidFill>
                <a:latin typeface="Courier New" panose="02070309020205020404" pitchFamily="49" charset="0"/>
                <a:cs typeface="Arial" panose="020B0604020202020204" pitchFamily="34" charset="0"/>
              </a:rPr>
            </a:br>
            <a:r>
              <a:rPr lang="en-US" altLang="en-US" sz="2000" kern="1200" dirty="0">
                <a:solidFill>
                  <a:srgbClr val="000000"/>
                </a:solidFill>
                <a:latin typeface="Courier New" panose="02070309020205020404" pitchFamily="49" charset="0"/>
                <a:cs typeface="Arial" panose="020B0604020202020204" pitchFamily="34" charset="0"/>
              </a:rPr>
              <a:t> 13     ListNode *newNode;  // To point to a new node</a:t>
            </a:r>
            <a:br>
              <a:rPr lang="en-US" altLang="en-US" sz="2000" kern="1200" dirty="0">
                <a:solidFill>
                  <a:srgbClr val="000000"/>
                </a:solidFill>
                <a:latin typeface="Courier New" panose="02070309020205020404" pitchFamily="49" charset="0"/>
                <a:cs typeface="Arial" panose="020B0604020202020204" pitchFamily="34" charset="0"/>
              </a:rPr>
            </a:br>
            <a:r>
              <a:rPr lang="en-US" altLang="en-US" sz="2000" kern="1200" dirty="0">
                <a:solidFill>
                  <a:srgbClr val="000000"/>
                </a:solidFill>
                <a:latin typeface="Courier New" panose="02070309020205020404" pitchFamily="49" charset="0"/>
                <a:cs typeface="Arial" panose="020B0604020202020204" pitchFamily="34" charset="0"/>
              </a:rPr>
              <a:t> 14     ListNode *nodePtr;  // To move through the list</a:t>
            </a:r>
            <a:br>
              <a:rPr lang="en-US" altLang="en-US" sz="2000" kern="1200" dirty="0">
                <a:solidFill>
                  <a:srgbClr val="000000"/>
                </a:solidFill>
                <a:latin typeface="Courier New" panose="02070309020205020404" pitchFamily="49" charset="0"/>
                <a:cs typeface="Arial" panose="020B0604020202020204" pitchFamily="34" charset="0"/>
              </a:rPr>
            </a:br>
            <a:r>
              <a:rPr lang="en-US" altLang="en-US" sz="2000" kern="1200" dirty="0">
                <a:solidFill>
                  <a:srgbClr val="000000"/>
                </a:solidFill>
                <a:latin typeface="Courier New" panose="02070309020205020404" pitchFamily="49" charset="0"/>
                <a:cs typeface="Arial" panose="020B0604020202020204" pitchFamily="34" charset="0"/>
              </a:rPr>
              <a:t> 15 </a:t>
            </a:r>
            <a:br>
              <a:rPr lang="en-US" altLang="en-US" sz="2000" kern="1200" dirty="0">
                <a:solidFill>
                  <a:srgbClr val="000000"/>
                </a:solidFill>
                <a:latin typeface="Courier New" panose="02070309020205020404" pitchFamily="49" charset="0"/>
                <a:cs typeface="Arial" panose="020B0604020202020204" pitchFamily="34" charset="0"/>
              </a:rPr>
            </a:br>
            <a:r>
              <a:rPr lang="en-US" altLang="en-US" sz="2000" kern="1200" dirty="0">
                <a:solidFill>
                  <a:srgbClr val="000000"/>
                </a:solidFill>
                <a:latin typeface="Courier New" panose="02070309020205020404" pitchFamily="49" charset="0"/>
                <a:cs typeface="Arial" panose="020B0604020202020204" pitchFamily="34" charset="0"/>
              </a:rPr>
              <a:t> 16     // Allocate a new node and store num there.</a:t>
            </a:r>
            <a:br>
              <a:rPr lang="en-US" altLang="en-US" sz="2000" kern="1200" dirty="0">
                <a:solidFill>
                  <a:srgbClr val="000000"/>
                </a:solidFill>
                <a:latin typeface="Courier New" panose="02070309020205020404" pitchFamily="49" charset="0"/>
                <a:cs typeface="Arial" panose="020B0604020202020204" pitchFamily="34" charset="0"/>
              </a:rPr>
            </a:br>
            <a:r>
              <a:rPr lang="en-US" altLang="en-US" sz="2000" kern="1200" dirty="0">
                <a:solidFill>
                  <a:srgbClr val="000000"/>
                </a:solidFill>
                <a:latin typeface="Courier New" panose="02070309020205020404" pitchFamily="49" charset="0"/>
                <a:cs typeface="Arial" panose="020B0604020202020204" pitchFamily="34" charset="0"/>
              </a:rPr>
              <a:t> 17     newNode = new ListNode;</a:t>
            </a:r>
            <a:br>
              <a:rPr lang="en-US" altLang="en-US" sz="2000" kern="1200" dirty="0">
                <a:solidFill>
                  <a:srgbClr val="000000"/>
                </a:solidFill>
                <a:latin typeface="Courier New" panose="02070309020205020404" pitchFamily="49" charset="0"/>
                <a:cs typeface="Arial" panose="020B0604020202020204" pitchFamily="34" charset="0"/>
              </a:rPr>
            </a:br>
            <a:r>
              <a:rPr lang="en-US" altLang="en-US" sz="2000" kern="1200" dirty="0">
                <a:solidFill>
                  <a:srgbClr val="000000"/>
                </a:solidFill>
                <a:latin typeface="Courier New" panose="02070309020205020404" pitchFamily="49" charset="0"/>
                <a:cs typeface="Arial" panose="020B0604020202020204" pitchFamily="34" charset="0"/>
              </a:rPr>
              <a:t> 18     newNode-&gt;value = num;</a:t>
            </a:r>
            <a:br>
              <a:rPr lang="en-US" altLang="en-US" sz="2000" kern="1200" dirty="0">
                <a:solidFill>
                  <a:srgbClr val="000000"/>
                </a:solidFill>
                <a:latin typeface="Courier New" panose="02070309020205020404" pitchFamily="49" charset="0"/>
                <a:cs typeface="Arial" panose="020B0604020202020204" pitchFamily="34" charset="0"/>
              </a:rPr>
            </a:br>
            <a:r>
              <a:rPr lang="en-US" altLang="en-US" sz="2000" kern="1200" dirty="0">
                <a:solidFill>
                  <a:srgbClr val="000000"/>
                </a:solidFill>
                <a:latin typeface="Courier New" panose="02070309020205020404" pitchFamily="49" charset="0"/>
                <a:cs typeface="Arial" panose="020B0604020202020204" pitchFamily="34" charset="0"/>
              </a:rPr>
              <a:t> 19     newNode-&gt;next = nullptr;</a:t>
            </a:r>
            <a:br>
              <a:rPr lang="en-US" altLang="en-US" sz="2000" kern="1200" dirty="0">
                <a:solidFill>
                  <a:srgbClr val="000000"/>
                </a:solidFill>
                <a:latin typeface="Courier New" panose="02070309020205020404" pitchFamily="49" charset="0"/>
                <a:cs typeface="Arial" panose="020B0604020202020204" pitchFamily="34" charset="0"/>
              </a:rPr>
            </a:br>
            <a:r>
              <a:rPr lang="en-US" altLang="en-US" sz="2000" kern="1200" dirty="0">
                <a:solidFill>
                  <a:srgbClr val="000000"/>
                </a:solidFill>
                <a:latin typeface="Courier New" panose="02070309020205020404" pitchFamily="49" charset="0"/>
                <a:cs typeface="Arial" panose="020B0604020202020204" pitchFamily="34" charset="0"/>
              </a:rPr>
              <a:t> 20 </a:t>
            </a:r>
            <a:br>
              <a:rPr lang="en-US" altLang="en-US" sz="2000" kern="1200" dirty="0">
                <a:solidFill>
                  <a:srgbClr val="000000"/>
                </a:solidFill>
                <a:latin typeface="Courier New" panose="02070309020205020404" pitchFamily="49" charset="0"/>
                <a:cs typeface="Arial" panose="020B0604020202020204" pitchFamily="34" charset="0"/>
              </a:rPr>
            </a:br>
            <a:r>
              <a:rPr lang="en-US" altLang="en-US" sz="2000" kern="1200" dirty="0">
                <a:solidFill>
                  <a:srgbClr val="000000"/>
                </a:solidFill>
                <a:latin typeface="Courier New" panose="02070309020205020404" pitchFamily="49" charset="0"/>
                <a:cs typeface="Arial" panose="020B0604020202020204" pitchFamily="34" charset="0"/>
              </a:rPr>
              <a:t> 21     // If there are no nodes in the list</a:t>
            </a:r>
            <a:br>
              <a:rPr lang="en-US" altLang="en-US" sz="2000" kern="1200" dirty="0">
                <a:solidFill>
                  <a:srgbClr val="000000"/>
                </a:solidFill>
                <a:latin typeface="Courier New" panose="02070309020205020404" pitchFamily="49" charset="0"/>
                <a:cs typeface="Arial" panose="020B0604020202020204" pitchFamily="34" charset="0"/>
              </a:rPr>
            </a:br>
            <a:r>
              <a:rPr lang="en-US" altLang="en-US" sz="2000" kern="1200" dirty="0">
                <a:solidFill>
                  <a:srgbClr val="000000"/>
                </a:solidFill>
                <a:latin typeface="Courier New" panose="02070309020205020404" pitchFamily="49" charset="0"/>
                <a:cs typeface="Arial" panose="020B0604020202020204" pitchFamily="34" charset="0"/>
              </a:rPr>
              <a:t> 22     // make newNode the first node.</a:t>
            </a:r>
            <a:br>
              <a:rPr lang="en-US" altLang="en-US" sz="2000" kern="1200" dirty="0">
                <a:solidFill>
                  <a:srgbClr val="000000"/>
                </a:solidFill>
                <a:latin typeface="Courier New" panose="02070309020205020404" pitchFamily="49" charset="0"/>
                <a:cs typeface="Arial" panose="020B0604020202020204" pitchFamily="34" charset="0"/>
              </a:rPr>
            </a:br>
            <a:r>
              <a:rPr lang="en-US" altLang="en-US" sz="2000" kern="1200" dirty="0">
                <a:solidFill>
                  <a:srgbClr val="000000"/>
                </a:solidFill>
                <a:latin typeface="Courier New" panose="02070309020205020404" pitchFamily="49" charset="0"/>
                <a:cs typeface="Arial" panose="020B0604020202020204" pitchFamily="34" charset="0"/>
              </a:rPr>
              <a:t> 23     if (!head</a:t>
            </a:r>
            <a:r>
              <a:rPr lang="en-US" altLang="en-US" sz="2000" kern="1200" dirty="0" smtClean="0">
                <a:solidFill>
                  <a:srgbClr val="000000"/>
                </a:solidFill>
                <a:latin typeface="Courier New" panose="02070309020205020404" pitchFamily="49" charset="0"/>
                <a:cs typeface="Arial" panose="020B0604020202020204" pitchFamily="34" charset="0"/>
              </a:rPr>
              <a:t>)</a:t>
            </a:r>
            <a:endParaRPr lang="en-US" altLang="en-US" sz="2000" kern="1200" dirty="0">
              <a:solidFill>
                <a:srgbClr val="000000"/>
              </a:solidFill>
              <a:latin typeface="Courier New" panose="02070309020205020404" pitchFamily="49" charset="0"/>
              <a:cs typeface="Arial" panose="020B0604020202020204" pitchFamily="34" charset="0"/>
            </a:endParaRPr>
          </a:p>
        </p:txBody>
      </p:sp>
    </p:spTree>
    <p:extLst>
      <p:ext uri="{BB962C8B-B14F-4D97-AF65-F5344CB8AC3E}">
        <p14:creationId xmlns:p14="http://schemas.microsoft.com/office/powerpoint/2010/main" val="1829253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95600"/>
            <a:ext cx="8229600" cy="487362"/>
          </a:xfrm>
        </p:spPr>
        <p:txBody>
          <a:bodyPr/>
          <a:lstStyle/>
          <a:p>
            <a:pPr lvl="0" eaLnBrk="1" hangingPunct="1"/>
            <a:r>
              <a:rPr lang="en-US" altLang="en-US" sz="2800" kern="1200" dirty="0">
                <a:latin typeface="Arial" panose="020B0604020202020204" pitchFamily="34" charset="0"/>
                <a:ea typeface="+mn-ea"/>
                <a:cs typeface="Arial" panose="020B0604020202020204" pitchFamily="34" charset="0"/>
              </a:rPr>
              <a:t>C++ code for Appending a Node </a:t>
            </a:r>
            <a:r>
              <a:rPr lang="en-US" altLang="en-US" sz="1200" kern="1200" dirty="0" smtClean="0">
                <a:latin typeface="Arial" panose="020B0604020202020204" pitchFamily="34" charset="0"/>
                <a:ea typeface="+mn-ea"/>
                <a:cs typeface="Arial" panose="020B0604020202020204" pitchFamily="34" charset="0"/>
              </a:rPr>
              <a:t>(2 of 2)</a:t>
            </a:r>
            <a:endParaRPr lang="en-IN" dirty="0"/>
          </a:p>
        </p:txBody>
      </p:sp>
      <p:sp>
        <p:nvSpPr>
          <p:cNvPr id="3" name="Content Placeholder 2"/>
          <p:cNvSpPr>
            <a:spLocks noGrp="1"/>
          </p:cNvSpPr>
          <p:nvPr>
            <p:ph idx="1"/>
          </p:nvPr>
        </p:nvSpPr>
        <p:spPr>
          <a:xfrm>
            <a:off x="152400" y="1584000"/>
            <a:ext cx="8229600" cy="4525963"/>
          </a:xfrm>
        </p:spPr>
        <p:txBody>
          <a:bodyPr/>
          <a:lstStyle/>
          <a:p>
            <a:pPr marL="0" lvl="0" indent="0" eaLnBrk="1" hangingPunct="1">
              <a:spcBef>
                <a:spcPct val="50000"/>
              </a:spcBef>
              <a:buNone/>
            </a:pPr>
            <a:r>
              <a:rPr lang="en-US" altLang="en-US" sz="2000" kern="1200" dirty="0">
                <a:solidFill>
                  <a:srgbClr val="000000"/>
                </a:solidFill>
                <a:latin typeface="Courier New" panose="02070309020205020404" pitchFamily="49" charset="0"/>
                <a:cs typeface="Arial" panose="020B0604020202020204" pitchFamily="34" charset="0"/>
              </a:rPr>
              <a:t> 24        head = newNode;</a:t>
            </a:r>
            <a:br>
              <a:rPr lang="en-US" altLang="en-US" sz="2000" kern="1200" dirty="0">
                <a:solidFill>
                  <a:srgbClr val="000000"/>
                </a:solidFill>
                <a:latin typeface="Courier New" panose="02070309020205020404" pitchFamily="49" charset="0"/>
                <a:cs typeface="Arial" panose="020B0604020202020204" pitchFamily="34" charset="0"/>
              </a:rPr>
            </a:br>
            <a:r>
              <a:rPr lang="en-US" altLang="en-US" sz="2000" kern="1200" dirty="0">
                <a:solidFill>
                  <a:srgbClr val="000000"/>
                </a:solidFill>
                <a:latin typeface="Courier New" panose="02070309020205020404" pitchFamily="49" charset="0"/>
                <a:cs typeface="Arial" panose="020B0604020202020204" pitchFamily="34" charset="0"/>
              </a:rPr>
              <a:t> 25     else  // Otherwise, insert newNode at end.</a:t>
            </a:r>
            <a:br>
              <a:rPr lang="en-US" altLang="en-US" sz="2000" kern="1200" dirty="0">
                <a:solidFill>
                  <a:srgbClr val="000000"/>
                </a:solidFill>
                <a:latin typeface="Courier New" panose="02070309020205020404" pitchFamily="49" charset="0"/>
                <a:cs typeface="Arial" panose="020B0604020202020204" pitchFamily="34" charset="0"/>
              </a:rPr>
            </a:br>
            <a:r>
              <a:rPr lang="en-US" altLang="en-US" sz="2000" kern="1200" dirty="0">
                <a:solidFill>
                  <a:srgbClr val="000000"/>
                </a:solidFill>
                <a:latin typeface="Courier New" panose="02070309020205020404" pitchFamily="49" charset="0"/>
                <a:cs typeface="Arial" panose="020B0604020202020204" pitchFamily="34" charset="0"/>
              </a:rPr>
              <a:t> 26     {</a:t>
            </a:r>
            <a:br>
              <a:rPr lang="en-US" altLang="en-US" sz="2000" kern="1200" dirty="0">
                <a:solidFill>
                  <a:srgbClr val="000000"/>
                </a:solidFill>
                <a:latin typeface="Courier New" panose="02070309020205020404" pitchFamily="49" charset="0"/>
                <a:cs typeface="Arial" panose="020B0604020202020204" pitchFamily="34" charset="0"/>
              </a:rPr>
            </a:br>
            <a:r>
              <a:rPr lang="en-US" altLang="en-US" sz="2000" kern="1200" dirty="0">
                <a:solidFill>
                  <a:srgbClr val="000000"/>
                </a:solidFill>
                <a:latin typeface="Courier New" panose="02070309020205020404" pitchFamily="49" charset="0"/>
                <a:cs typeface="Arial" panose="020B0604020202020204" pitchFamily="34" charset="0"/>
              </a:rPr>
              <a:t> 27        // Initialize nodePtr to head of list.</a:t>
            </a:r>
            <a:br>
              <a:rPr lang="en-US" altLang="en-US" sz="2000" kern="1200" dirty="0">
                <a:solidFill>
                  <a:srgbClr val="000000"/>
                </a:solidFill>
                <a:latin typeface="Courier New" panose="02070309020205020404" pitchFamily="49" charset="0"/>
                <a:cs typeface="Arial" panose="020B0604020202020204" pitchFamily="34" charset="0"/>
              </a:rPr>
            </a:br>
            <a:r>
              <a:rPr lang="en-US" altLang="en-US" sz="2000" kern="1200" dirty="0">
                <a:solidFill>
                  <a:srgbClr val="000000"/>
                </a:solidFill>
                <a:latin typeface="Courier New" panose="02070309020205020404" pitchFamily="49" charset="0"/>
                <a:cs typeface="Arial" panose="020B0604020202020204" pitchFamily="34" charset="0"/>
              </a:rPr>
              <a:t> 28        nodePtr = head;</a:t>
            </a:r>
            <a:br>
              <a:rPr lang="en-US" altLang="en-US" sz="2000" kern="1200" dirty="0">
                <a:solidFill>
                  <a:srgbClr val="000000"/>
                </a:solidFill>
                <a:latin typeface="Courier New" panose="02070309020205020404" pitchFamily="49" charset="0"/>
                <a:cs typeface="Arial" panose="020B0604020202020204" pitchFamily="34" charset="0"/>
              </a:rPr>
            </a:br>
            <a:r>
              <a:rPr lang="en-US" altLang="en-US" sz="2000" kern="1200" dirty="0">
                <a:solidFill>
                  <a:srgbClr val="000000"/>
                </a:solidFill>
                <a:latin typeface="Courier New" panose="02070309020205020404" pitchFamily="49" charset="0"/>
                <a:cs typeface="Arial" panose="020B0604020202020204" pitchFamily="34" charset="0"/>
              </a:rPr>
              <a:t> 29 </a:t>
            </a:r>
            <a:br>
              <a:rPr lang="en-US" altLang="en-US" sz="2000" kern="1200" dirty="0">
                <a:solidFill>
                  <a:srgbClr val="000000"/>
                </a:solidFill>
                <a:latin typeface="Courier New" panose="02070309020205020404" pitchFamily="49" charset="0"/>
                <a:cs typeface="Arial" panose="020B0604020202020204" pitchFamily="34" charset="0"/>
              </a:rPr>
            </a:br>
            <a:r>
              <a:rPr lang="en-US" altLang="en-US" sz="2000" kern="1200" dirty="0">
                <a:solidFill>
                  <a:srgbClr val="000000"/>
                </a:solidFill>
                <a:latin typeface="Courier New" panose="02070309020205020404" pitchFamily="49" charset="0"/>
                <a:cs typeface="Arial" panose="020B0604020202020204" pitchFamily="34" charset="0"/>
              </a:rPr>
              <a:t> 30        // Find the last node in the list.</a:t>
            </a:r>
            <a:br>
              <a:rPr lang="en-US" altLang="en-US" sz="2000" kern="1200" dirty="0">
                <a:solidFill>
                  <a:srgbClr val="000000"/>
                </a:solidFill>
                <a:latin typeface="Courier New" panose="02070309020205020404" pitchFamily="49" charset="0"/>
                <a:cs typeface="Arial" panose="020B0604020202020204" pitchFamily="34" charset="0"/>
              </a:rPr>
            </a:br>
            <a:r>
              <a:rPr lang="en-US" altLang="en-US" sz="2000" kern="1200" dirty="0">
                <a:solidFill>
                  <a:srgbClr val="000000"/>
                </a:solidFill>
                <a:latin typeface="Courier New" panose="02070309020205020404" pitchFamily="49" charset="0"/>
                <a:cs typeface="Arial" panose="020B0604020202020204" pitchFamily="34" charset="0"/>
              </a:rPr>
              <a:t> 31        while (nodePtr-&gt;next)</a:t>
            </a:r>
            <a:br>
              <a:rPr lang="en-US" altLang="en-US" sz="2000" kern="1200" dirty="0">
                <a:solidFill>
                  <a:srgbClr val="000000"/>
                </a:solidFill>
                <a:latin typeface="Courier New" panose="02070309020205020404" pitchFamily="49" charset="0"/>
                <a:cs typeface="Arial" panose="020B0604020202020204" pitchFamily="34" charset="0"/>
              </a:rPr>
            </a:br>
            <a:r>
              <a:rPr lang="en-US" altLang="en-US" sz="2000" kern="1200" dirty="0">
                <a:solidFill>
                  <a:srgbClr val="000000"/>
                </a:solidFill>
                <a:latin typeface="Courier New" panose="02070309020205020404" pitchFamily="49" charset="0"/>
                <a:cs typeface="Arial" panose="020B0604020202020204" pitchFamily="34" charset="0"/>
              </a:rPr>
              <a:t> 32           nodePtr = nodePtr-&gt;next;</a:t>
            </a:r>
            <a:br>
              <a:rPr lang="en-US" altLang="en-US" sz="2000" kern="1200" dirty="0">
                <a:solidFill>
                  <a:srgbClr val="000000"/>
                </a:solidFill>
                <a:latin typeface="Courier New" panose="02070309020205020404" pitchFamily="49" charset="0"/>
                <a:cs typeface="Arial" panose="020B0604020202020204" pitchFamily="34" charset="0"/>
              </a:rPr>
            </a:br>
            <a:r>
              <a:rPr lang="en-US" altLang="en-US" sz="2000" kern="1200" dirty="0">
                <a:solidFill>
                  <a:srgbClr val="000000"/>
                </a:solidFill>
                <a:latin typeface="Courier New" panose="02070309020205020404" pitchFamily="49" charset="0"/>
                <a:cs typeface="Arial" panose="020B0604020202020204" pitchFamily="34" charset="0"/>
              </a:rPr>
              <a:t> 33 </a:t>
            </a:r>
            <a:br>
              <a:rPr lang="en-US" altLang="en-US" sz="2000" kern="1200" dirty="0">
                <a:solidFill>
                  <a:srgbClr val="000000"/>
                </a:solidFill>
                <a:latin typeface="Courier New" panose="02070309020205020404" pitchFamily="49" charset="0"/>
                <a:cs typeface="Arial" panose="020B0604020202020204" pitchFamily="34" charset="0"/>
              </a:rPr>
            </a:br>
            <a:r>
              <a:rPr lang="en-US" altLang="en-US" sz="2000" kern="1200" dirty="0">
                <a:solidFill>
                  <a:srgbClr val="000000"/>
                </a:solidFill>
                <a:latin typeface="Courier New" panose="02070309020205020404" pitchFamily="49" charset="0"/>
                <a:cs typeface="Arial" panose="020B0604020202020204" pitchFamily="34" charset="0"/>
              </a:rPr>
              <a:t> 34        // Insert newNode as the last node.</a:t>
            </a:r>
            <a:br>
              <a:rPr lang="en-US" altLang="en-US" sz="2000" kern="1200" dirty="0">
                <a:solidFill>
                  <a:srgbClr val="000000"/>
                </a:solidFill>
                <a:latin typeface="Courier New" panose="02070309020205020404" pitchFamily="49" charset="0"/>
                <a:cs typeface="Arial" panose="020B0604020202020204" pitchFamily="34" charset="0"/>
              </a:rPr>
            </a:br>
            <a:r>
              <a:rPr lang="en-US" altLang="en-US" sz="2000" kern="1200" dirty="0">
                <a:solidFill>
                  <a:srgbClr val="000000"/>
                </a:solidFill>
                <a:latin typeface="Courier New" panose="02070309020205020404" pitchFamily="49" charset="0"/>
                <a:cs typeface="Arial" panose="020B0604020202020204" pitchFamily="34" charset="0"/>
              </a:rPr>
              <a:t> 35        nodePtr-&gt;next = newNode;</a:t>
            </a:r>
            <a:br>
              <a:rPr lang="en-US" altLang="en-US" sz="2000" kern="1200" dirty="0">
                <a:solidFill>
                  <a:srgbClr val="000000"/>
                </a:solidFill>
                <a:latin typeface="Courier New" panose="02070309020205020404" pitchFamily="49" charset="0"/>
                <a:cs typeface="Arial" panose="020B0604020202020204" pitchFamily="34" charset="0"/>
              </a:rPr>
            </a:br>
            <a:r>
              <a:rPr lang="en-US" altLang="en-US" sz="2000" kern="1200" dirty="0">
                <a:solidFill>
                  <a:srgbClr val="000000"/>
                </a:solidFill>
                <a:latin typeface="Courier New" panose="02070309020205020404" pitchFamily="49" charset="0"/>
                <a:cs typeface="Arial" panose="020B0604020202020204" pitchFamily="34" charset="0"/>
              </a:rPr>
              <a:t> 36     }</a:t>
            </a:r>
            <a:br>
              <a:rPr lang="en-US" altLang="en-US" sz="2000" kern="1200" dirty="0">
                <a:solidFill>
                  <a:srgbClr val="000000"/>
                </a:solidFill>
                <a:latin typeface="Courier New" panose="02070309020205020404" pitchFamily="49" charset="0"/>
                <a:cs typeface="Arial" panose="020B0604020202020204" pitchFamily="34" charset="0"/>
              </a:rPr>
            </a:br>
            <a:r>
              <a:rPr lang="en-US" altLang="en-US" sz="2000" kern="1200" dirty="0">
                <a:solidFill>
                  <a:srgbClr val="000000"/>
                </a:solidFill>
                <a:latin typeface="Courier New" panose="02070309020205020404" pitchFamily="49" charset="0"/>
                <a:cs typeface="Arial" panose="020B0604020202020204" pitchFamily="34" charset="0"/>
              </a:rPr>
              <a:t> 37  </a:t>
            </a:r>
            <a:r>
              <a:rPr lang="en-US" altLang="en-US" sz="2000" kern="1200" dirty="0" smtClean="0">
                <a:solidFill>
                  <a:srgbClr val="000000"/>
                </a:solidFill>
                <a:latin typeface="Courier New" panose="02070309020205020404" pitchFamily="49" charset="0"/>
                <a:cs typeface="Arial" panose="020B0604020202020204" pitchFamily="34" charset="0"/>
              </a:rPr>
              <a:t>}</a:t>
            </a:r>
            <a:endParaRPr lang="en-US" altLang="en-US" sz="2000" kern="1200" dirty="0">
              <a:solidFill>
                <a:srgbClr val="000000"/>
              </a:solidFill>
              <a:latin typeface="Courier New" panose="02070309020205020404" pitchFamily="49" charset="0"/>
              <a:cs typeface="Arial" panose="020B0604020202020204" pitchFamily="34" charset="0"/>
            </a:endParaRPr>
          </a:p>
        </p:txBody>
      </p:sp>
    </p:spTree>
    <p:extLst>
      <p:ext uri="{BB962C8B-B14F-4D97-AF65-F5344CB8AC3E}">
        <p14:creationId xmlns:p14="http://schemas.microsoft.com/office/powerpoint/2010/main" val="17254140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58762"/>
          </a:xfrm>
        </p:spPr>
        <p:txBody>
          <a:bodyPr/>
          <a:lstStyle/>
          <a:p>
            <a:r>
              <a:rPr lang="en-US" dirty="0" smtClean="0"/>
              <a:t> </a:t>
            </a:r>
            <a:endParaRPr lang="en-IN" dirty="0"/>
          </a:p>
        </p:txBody>
      </p:sp>
      <p:pic>
        <p:nvPicPr>
          <p:cNvPr id="4" name="Picture 1" descr="The screenshot shows a program to demonstrate a simple append operation on a linked list. The main function defines a NumberList object. The program appends some values to the list: list.appendNode (2.5); list.appendNode (7.9); list.appendNode (12.6). The program returns zero and does not display the outpu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2550" y="552450"/>
            <a:ext cx="6438900" cy="531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614178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792162"/>
          </a:xfrm>
        </p:spPr>
        <p:txBody>
          <a:bodyPr/>
          <a:lstStyle/>
          <a:p>
            <a:r>
              <a:rPr lang="en-US" sz="4000" dirty="0"/>
              <a:t>Inserting a Node into a Linked </a:t>
            </a:r>
            <a:r>
              <a:rPr lang="en-US" sz="4000" dirty="0" smtClean="0"/>
              <a:t>List </a:t>
            </a:r>
            <a:br>
              <a:rPr lang="en-US" sz="4000" dirty="0" smtClean="0"/>
            </a:br>
            <a:r>
              <a:rPr lang="en-US" sz="1200" dirty="0" smtClean="0"/>
              <a:t>(1 of 3)</a:t>
            </a:r>
            <a:endParaRPr lang="en-IN" sz="1200" dirty="0"/>
          </a:p>
        </p:txBody>
      </p:sp>
      <p:sp>
        <p:nvSpPr>
          <p:cNvPr id="3" name="Content Placeholder 2"/>
          <p:cNvSpPr>
            <a:spLocks noGrp="1"/>
          </p:cNvSpPr>
          <p:nvPr>
            <p:ph idx="1"/>
          </p:nvPr>
        </p:nvSpPr>
        <p:spPr/>
        <p:txBody>
          <a:bodyPr/>
          <a:lstStyle/>
          <a:p>
            <a:pPr lvl="0">
              <a:lnSpc>
                <a:spcPct val="90000"/>
              </a:lnSpc>
              <a:buFontTx/>
              <a:buChar char="•"/>
            </a:pPr>
            <a:r>
              <a:rPr lang="en-US" altLang="en-US" dirty="0">
                <a:solidFill>
                  <a:srgbClr val="000000"/>
                </a:solidFill>
              </a:rPr>
              <a:t>Used to maintain a linked list in order</a:t>
            </a:r>
          </a:p>
          <a:p>
            <a:pPr lvl="0">
              <a:lnSpc>
                <a:spcPct val="90000"/>
              </a:lnSpc>
              <a:buFontTx/>
              <a:buChar char="•"/>
            </a:pPr>
            <a:r>
              <a:rPr lang="en-US" altLang="en-US" dirty="0">
                <a:solidFill>
                  <a:srgbClr val="000000"/>
                </a:solidFill>
              </a:rPr>
              <a:t>Requires two pointers to traverse the list:</a:t>
            </a:r>
          </a:p>
          <a:p>
            <a:pPr lvl="1">
              <a:lnSpc>
                <a:spcPct val="90000"/>
              </a:lnSpc>
            </a:pPr>
            <a:r>
              <a:rPr lang="en-US" altLang="en-US" dirty="0">
                <a:solidFill>
                  <a:srgbClr val="000000"/>
                </a:solidFill>
              </a:rPr>
              <a:t>pointer to locate the node with data value greater than that of node to be inserted</a:t>
            </a:r>
          </a:p>
          <a:p>
            <a:pPr lvl="1">
              <a:lnSpc>
                <a:spcPct val="90000"/>
              </a:lnSpc>
            </a:pPr>
            <a:r>
              <a:rPr lang="en-US" altLang="en-US" dirty="0">
                <a:solidFill>
                  <a:srgbClr val="000000"/>
                </a:solidFill>
              </a:rPr>
              <a:t>pointer to 'trail behind' one node, to point to node before point of insertion</a:t>
            </a:r>
          </a:p>
          <a:p>
            <a:pPr lvl="0">
              <a:lnSpc>
                <a:spcPct val="90000"/>
              </a:lnSpc>
              <a:buFontTx/>
              <a:buChar char="•"/>
            </a:pPr>
            <a:r>
              <a:rPr lang="en-US" altLang="en-US" dirty="0">
                <a:solidFill>
                  <a:srgbClr val="000000"/>
                </a:solidFill>
              </a:rPr>
              <a:t>New node is inserted between the nodes pointed at by these </a:t>
            </a:r>
            <a:r>
              <a:rPr lang="en-US" altLang="en-US" dirty="0" smtClean="0">
                <a:solidFill>
                  <a:srgbClr val="000000"/>
                </a:solidFill>
              </a:rPr>
              <a:t>pointers</a:t>
            </a:r>
            <a:endParaRPr lang="en-US" altLang="en-US" dirty="0">
              <a:solidFill>
                <a:srgbClr val="000000"/>
              </a:solidFill>
            </a:endParaRPr>
          </a:p>
        </p:txBody>
      </p:sp>
    </p:spTree>
    <p:extLst>
      <p:ext uri="{BB962C8B-B14F-4D97-AF65-F5344CB8AC3E}">
        <p14:creationId xmlns:p14="http://schemas.microsoft.com/office/powerpoint/2010/main" val="23553553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792162"/>
          </a:xfrm>
        </p:spPr>
        <p:txBody>
          <a:bodyPr/>
          <a:lstStyle/>
          <a:p>
            <a:r>
              <a:rPr lang="en-US" sz="4000" dirty="0"/>
              <a:t>Inserting a Node into a Linked List </a:t>
            </a:r>
            <a:br>
              <a:rPr lang="en-US" sz="4000" dirty="0"/>
            </a:br>
            <a:r>
              <a:rPr lang="en-US" sz="1200" dirty="0" smtClean="0"/>
              <a:t>(2 </a:t>
            </a:r>
            <a:r>
              <a:rPr lang="en-US" sz="1200" dirty="0"/>
              <a:t>of 3)</a:t>
            </a:r>
            <a:endParaRPr lang="en-IN" dirty="0"/>
          </a:p>
        </p:txBody>
      </p:sp>
      <p:pic>
        <p:nvPicPr>
          <p:cNvPr id="4" name="Picture 3" descr="The screenshot shows the process of inserting a node into a linked list. The new node is created and initialized with 18 and the pointer field is set to null pointer. A linear linked list consists of a list head and three nodes. The list head on the left side points to the first node on the right. The node with 5 points to the node with 13, the node with 13 points to the node with 19. The last node with 19 points to a null address. The previousNode points to the node containing 13. A node pointer points to the node with 19. A new node is created and the correct position is located."/>
          <p:cNvPicPr>
            <a:picLocks noChangeAspect="1"/>
          </p:cNvPicPr>
          <p:nvPr/>
        </p:nvPicPr>
        <p:blipFill>
          <a:blip r:embed="rId2"/>
          <a:stretch>
            <a:fillRect/>
          </a:stretch>
        </p:blipFill>
        <p:spPr>
          <a:xfrm>
            <a:off x="762000" y="1600200"/>
            <a:ext cx="7557025" cy="3575114"/>
          </a:xfrm>
          <a:prstGeom prst="rect">
            <a:avLst/>
          </a:prstGeom>
        </p:spPr>
      </p:pic>
      <p:sp>
        <p:nvSpPr>
          <p:cNvPr id="3" name="Content Placeholder 2"/>
          <p:cNvSpPr>
            <a:spLocks noGrp="1"/>
          </p:cNvSpPr>
          <p:nvPr>
            <p:ph idx="1"/>
          </p:nvPr>
        </p:nvSpPr>
        <p:spPr>
          <a:xfrm>
            <a:off x="1752600" y="5486400"/>
            <a:ext cx="4724400" cy="457200"/>
          </a:xfrm>
        </p:spPr>
        <p:txBody>
          <a:bodyPr/>
          <a:lstStyle/>
          <a:p>
            <a:pPr marL="0" lvl="0" indent="0" eaLnBrk="1" hangingPunct="1">
              <a:spcBef>
                <a:spcPct val="0"/>
              </a:spcBef>
              <a:buNone/>
            </a:pPr>
            <a:r>
              <a:rPr lang="en-US" altLang="en-US" sz="1800" kern="1200" dirty="0">
                <a:solidFill>
                  <a:srgbClr val="037797"/>
                </a:solidFill>
                <a:latin typeface="Arial" panose="020B0604020202020204" pitchFamily="34" charset="0"/>
                <a:cs typeface="Arial" panose="020B0604020202020204" pitchFamily="34" charset="0"/>
              </a:rPr>
              <a:t>New node created, correct position </a:t>
            </a:r>
            <a:r>
              <a:rPr lang="en-US" altLang="en-US" sz="1800" kern="1200" dirty="0" smtClean="0">
                <a:solidFill>
                  <a:srgbClr val="037797"/>
                </a:solidFill>
                <a:latin typeface="Arial" panose="020B0604020202020204" pitchFamily="34" charset="0"/>
                <a:cs typeface="Arial" panose="020B0604020202020204" pitchFamily="34" charset="0"/>
              </a:rPr>
              <a:t>located</a:t>
            </a:r>
            <a:endParaRPr lang="en-US" altLang="en-US" sz="1800" kern="1200" dirty="0">
              <a:solidFill>
                <a:srgbClr val="037797"/>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852882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792162"/>
          </a:xfrm>
        </p:spPr>
        <p:txBody>
          <a:bodyPr/>
          <a:lstStyle/>
          <a:p>
            <a:r>
              <a:rPr lang="en-US" sz="4000" dirty="0"/>
              <a:t>Inserting a Node into a Linked List </a:t>
            </a:r>
            <a:br>
              <a:rPr lang="en-US" sz="4000" dirty="0"/>
            </a:br>
            <a:r>
              <a:rPr lang="en-US" sz="1200" dirty="0" smtClean="0"/>
              <a:t>(3 </a:t>
            </a:r>
            <a:r>
              <a:rPr lang="en-US" sz="1200" dirty="0"/>
              <a:t>of 3)</a:t>
            </a:r>
            <a:endParaRPr lang="en-IN" dirty="0"/>
          </a:p>
        </p:txBody>
      </p:sp>
      <p:pic>
        <p:nvPicPr>
          <p:cNvPr id="4" name="Picture 3" descr="The screenshot shows the process of inserting a node into a linked list. The new node is created and initialized with 18 and the pointer field is set to null pointer. A linear linked list consists of a list head and three nodes. The list head on the left side points to the first node on the right. The node with 5 points to the node with 13, the node with 13 points to the node with 19. The last node with 19 points to a null address. The previousNode points to the node containing 13. A node pointer points to the node with 19. The pointer field of the node containing 13 points to the newNode with 18. The pointer field of the newNode points tot eh node containing 19. The new node is inserted in order in the linked list."/>
          <p:cNvPicPr>
            <a:picLocks noChangeAspect="1"/>
          </p:cNvPicPr>
          <p:nvPr/>
        </p:nvPicPr>
        <p:blipFill>
          <a:blip r:embed="rId2"/>
          <a:stretch>
            <a:fillRect/>
          </a:stretch>
        </p:blipFill>
        <p:spPr>
          <a:xfrm>
            <a:off x="821038" y="1618463"/>
            <a:ext cx="7501922" cy="3621075"/>
          </a:xfrm>
          <a:prstGeom prst="rect">
            <a:avLst/>
          </a:prstGeom>
        </p:spPr>
      </p:pic>
      <p:sp>
        <p:nvSpPr>
          <p:cNvPr id="3" name="Content Placeholder 2"/>
          <p:cNvSpPr>
            <a:spLocks noGrp="1"/>
          </p:cNvSpPr>
          <p:nvPr>
            <p:ph idx="1"/>
          </p:nvPr>
        </p:nvSpPr>
        <p:spPr>
          <a:xfrm>
            <a:off x="1750419" y="5486400"/>
            <a:ext cx="4724400" cy="457200"/>
          </a:xfrm>
        </p:spPr>
        <p:txBody>
          <a:bodyPr/>
          <a:lstStyle/>
          <a:p>
            <a:pPr marL="0" lvl="0" indent="0" eaLnBrk="1" hangingPunct="1">
              <a:spcBef>
                <a:spcPct val="0"/>
              </a:spcBef>
              <a:buNone/>
            </a:pPr>
            <a:r>
              <a:rPr lang="en-US" altLang="en-US" sz="1800" kern="1200" dirty="0">
                <a:solidFill>
                  <a:srgbClr val="037797"/>
                </a:solidFill>
                <a:latin typeface="Arial" panose="020B0604020202020204" pitchFamily="34" charset="0"/>
                <a:cs typeface="Arial" panose="020B0604020202020204" pitchFamily="34" charset="0"/>
              </a:rPr>
              <a:t>New node inserted in order in the linked </a:t>
            </a:r>
            <a:r>
              <a:rPr lang="en-US" altLang="en-US" sz="1800" kern="1200" dirty="0" smtClean="0">
                <a:solidFill>
                  <a:srgbClr val="037797"/>
                </a:solidFill>
                <a:latin typeface="Arial" panose="020B0604020202020204" pitchFamily="34" charset="0"/>
                <a:cs typeface="Arial" panose="020B0604020202020204" pitchFamily="34" charset="0"/>
              </a:rPr>
              <a:t>list</a:t>
            </a:r>
            <a:endParaRPr lang="en-US" altLang="en-US" sz="1800" kern="1200" dirty="0">
              <a:solidFill>
                <a:srgbClr val="037797"/>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317830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9"/>
            <a:ext cx="8229600" cy="182562"/>
          </a:xfrm>
        </p:spPr>
        <p:txBody>
          <a:bodyPr/>
          <a:lstStyle/>
          <a:p>
            <a:r>
              <a:rPr lang="en-US" dirty="0" smtClean="0"/>
              <a:t>  </a:t>
            </a:r>
            <a:endParaRPr lang="en-IN" dirty="0"/>
          </a:p>
        </p:txBody>
      </p:sp>
      <p:pic>
        <p:nvPicPr>
          <p:cNvPr id="4" name="Picture 1" descr="A program displays the process of inserting a node into a linked list. The NumberList function declares the new node, the node pointer to traverse the list, and the previous node. The code allocates a new node and stores num there. If there are no nodes in the list the newNode becomes the first node. The if-else loop tests if the list head equals the newNode, if true it locates the next node and checks if it equals the null pointer. Else, it inserts the newNode. The code displays the position nodePtr at the head of the list: nodePtr equals head."/>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76313" y="1004888"/>
            <a:ext cx="7191375" cy="484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110856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58762"/>
          </a:xfrm>
        </p:spPr>
        <p:txBody>
          <a:bodyPr/>
          <a:lstStyle/>
          <a:p>
            <a:r>
              <a:rPr lang="en-US" dirty="0" smtClean="0"/>
              <a:t>   </a:t>
            </a:r>
            <a:endParaRPr lang="en-IN" dirty="0"/>
          </a:p>
        </p:txBody>
      </p:sp>
      <p:pic>
        <p:nvPicPr>
          <p:cNvPr id="4" name="Picture 1" descr="A program displays the process of inserting a node into a linked list. The NumberList function declares the new node, the node pointer to traverse the list, and the previous node. The code allocates a new node and stores num there. If there are no nodes in the list the newNode becomes the first node. The if-else loop tests if the list head equals the newNode, if true it locates the next node and checks if it equals the null pointer. Else, it inserts the newNode. The code displays the position nodePtr at the head of the list: nodePtr equals head. It initializes the previousNode to null pointer: previousNode equals nullptr. The program skips all the nodes whose value is less than num using the while statement: (nodePtr not equal to nullptr ampersand ampersand nodePtr right arrow value less than num). If the new node is to be the first in the list, the program inserts it before all other nodes. The if-else loop checks if the previous node equals the null pointer. Else, it inserts the new node after the previous node."/>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95338" y="533400"/>
            <a:ext cx="7553325"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867059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82562"/>
          </a:xfrm>
        </p:spPr>
        <p:txBody>
          <a:bodyPr/>
          <a:lstStyle/>
          <a:p>
            <a:r>
              <a:rPr lang="en-US" dirty="0" smtClean="0"/>
              <a:t>    </a:t>
            </a:r>
            <a:endParaRPr lang="en-IN" dirty="0"/>
          </a:p>
        </p:txBody>
      </p:sp>
      <p:pic>
        <p:nvPicPr>
          <p:cNvPr id="4" name="Picture 1" descr="The screenshot shows the program that demonstrates the insertNode member function. The main function declares the NumberList object. The program builds a list with some values. list.appendNode (2.5); list.appendNode (7.9); list.appendNode (12.6). It inserts a node in the middle of the list and displays the list. The program output displays the values: 2.5, 7.9, 10.5, and 12.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76200"/>
            <a:ext cx="6230938" cy="601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62452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Traversing a Linked </a:t>
            </a:r>
            <a:r>
              <a:rPr lang="en-US" altLang="en-US" dirty="0" smtClean="0"/>
              <a:t>List </a:t>
            </a:r>
            <a:r>
              <a:rPr lang="en-US" altLang="en-US" sz="1200" dirty="0" smtClean="0"/>
              <a:t>(1 of 2)</a:t>
            </a:r>
            <a:endParaRPr lang="en-IN" sz="1200" dirty="0"/>
          </a:p>
        </p:txBody>
      </p:sp>
      <p:sp>
        <p:nvSpPr>
          <p:cNvPr id="3" name="Content Placeholder 2"/>
          <p:cNvSpPr>
            <a:spLocks noGrp="1"/>
          </p:cNvSpPr>
          <p:nvPr>
            <p:ph idx="1"/>
          </p:nvPr>
        </p:nvSpPr>
        <p:spPr>
          <a:xfrm>
            <a:off x="317856" y="1896301"/>
            <a:ext cx="8229600" cy="4114799"/>
          </a:xfrm>
        </p:spPr>
        <p:txBody>
          <a:bodyPr/>
          <a:lstStyle/>
          <a:p>
            <a:pPr lvl="0">
              <a:lnSpc>
                <a:spcPct val="80000"/>
              </a:lnSpc>
              <a:buFontTx/>
              <a:buChar char="•"/>
            </a:pPr>
            <a:r>
              <a:rPr lang="en-US" altLang="en-US" dirty="0">
                <a:solidFill>
                  <a:srgbClr val="000000"/>
                </a:solidFill>
              </a:rPr>
              <a:t>Visit each node in a linked list: display contents, validate data, etc.</a:t>
            </a:r>
          </a:p>
          <a:p>
            <a:pPr lvl="0">
              <a:lnSpc>
                <a:spcPct val="80000"/>
              </a:lnSpc>
              <a:buFontTx/>
              <a:buChar char="•"/>
            </a:pPr>
            <a:r>
              <a:rPr lang="en-US" altLang="en-US" dirty="0">
                <a:solidFill>
                  <a:srgbClr val="000000"/>
                </a:solidFill>
              </a:rPr>
              <a:t>Basic process:</a:t>
            </a:r>
          </a:p>
          <a:p>
            <a:pPr lvl="1">
              <a:lnSpc>
                <a:spcPct val="80000"/>
              </a:lnSpc>
            </a:pPr>
            <a:r>
              <a:rPr lang="en-US" altLang="en-US" dirty="0">
                <a:solidFill>
                  <a:srgbClr val="000000"/>
                </a:solidFill>
              </a:rPr>
              <a:t>set a pointer to the contents of the head pointer</a:t>
            </a:r>
          </a:p>
          <a:p>
            <a:pPr lvl="1">
              <a:lnSpc>
                <a:spcPct val="80000"/>
              </a:lnSpc>
            </a:pPr>
            <a:r>
              <a:rPr lang="en-US" altLang="en-US" dirty="0">
                <a:solidFill>
                  <a:srgbClr val="000000"/>
                </a:solidFill>
              </a:rPr>
              <a:t>while pointer is not a null pointer</a:t>
            </a:r>
          </a:p>
          <a:p>
            <a:pPr lvl="2">
              <a:lnSpc>
                <a:spcPct val="80000"/>
              </a:lnSpc>
              <a:buFontTx/>
              <a:buChar char="•"/>
            </a:pPr>
            <a:r>
              <a:rPr lang="en-US" altLang="en-US" dirty="0">
                <a:solidFill>
                  <a:srgbClr val="000000"/>
                </a:solidFill>
              </a:rPr>
              <a:t>process data</a:t>
            </a:r>
          </a:p>
          <a:p>
            <a:pPr lvl="2">
              <a:lnSpc>
                <a:spcPct val="80000"/>
              </a:lnSpc>
              <a:buFontTx/>
              <a:buChar char="•"/>
            </a:pPr>
            <a:r>
              <a:rPr lang="en-US" altLang="en-US" dirty="0">
                <a:solidFill>
                  <a:srgbClr val="000000"/>
                </a:solidFill>
              </a:rPr>
              <a:t>go to the next node by setting the pointer to the pointer field of the current node in the list</a:t>
            </a:r>
          </a:p>
          <a:p>
            <a:pPr lvl="1">
              <a:lnSpc>
                <a:spcPct val="80000"/>
              </a:lnSpc>
            </a:pPr>
            <a:r>
              <a:rPr lang="en-US" altLang="en-US" dirty="0">
                <a:solidFill>
                  <a:srgbClr val="000000"/>
                </a:solidFill>
              </a:rPr>
              <a:t>end </a:t>
            </a:r>
            <a:r>
              <a:rPr lang="en-US" altLang="en-US" dirty="0" smtClean="0">
                <a:solidFill>
                  <a:srgbClr val="000000"/>
                </a:solidFill>
              </a:rPr>
              <a:t>while</a:t>
            </a:r>
            <a:endParaRPr lang="en-US" altLang="en-US" dirty="0">
              <a:solidFill>
                <a:srgbClr val="000000"/>
              </a:solidFill>
            </a:endParaRPr>
          </a:p>
        </p:txBody>
      </p:sp>
    </p:spTree>
    <p:extLst>
      <p:ext uri="{BB962C8B-B14F-4D97-AF65-F5344CB8AC3E}">
        <p14:creationId xmlns:p14="http://schemas.microsoft.com/office/powerpoint/2010/main" val="10052663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Traversing a Linked List </a:t>
            </a:r>
            <a:r>
              <a:rPr lang="en-US" altLang="en-US" sz="1200" dirty="0" smtClean="0"/>
              <a:t>(2 </a:t>
            </a:r>
            <a:r>
              <a:rPr lang="en-US" altLang="en-US" sz="1200" dirty="0"/>
              <a:t>of 2)</a:t>
            </a:r>
            <a:endParaRPr lang="en-IN" dirty="0"/>
          </a:p>
        </p:txBody>
      </p:sp>
      <p:pic>
        <p:nvPicPr>
          <p:cNvPr id="4" name="Picture 3" descr="The screenshot shows the process of traversing a linked list. A linear linked list  consists of a list head and three nodes. The list head on the left side points to the first node on the right. The first node with 5 points to the node with 13, the node with 13 points to the node with 19. The last node with 19 points to a null address. A node pointer points to the node containing 5, then the node containing 13, then the node containing 19, then points to the null pointer, and the list traversal stops."/>
          <p:cNvPicPr>
            <a:picLocks noChangeAspect="1"/>
          </p:cNvPicPr>
          <p:nvPr/>
        </p:nvPicPr>
        <p:blipFill>
          <a:blip r:embed="rId2"/>
          <a:stretch>
            <a:fillRect/>
          </a:stretch>
        </p:blipFill>
        <p:spPr>
          <a:xfrm>
            <a:off x="297872" y="1752600"/>
            <a:ext cx="8312728" cy="2756552"/>
          </a:xfrm>
          <a:prstGeom prst="rect">
            <a:avLst/>
          </a:prstGeom>
        </p:spPr>
      </p:pic>
      <p:sp>
        <p:nvSpPr>
          <p:cNvPr id="3" name="Content Placeholder 2"/>
          <p:cNvSpPr>
            <a:spLocks noGrp="1"/>
          </p:cNvSpPr>
          <p:nvPr>
            <p:ph idx="1"/>
          </p:nvPr>
        </p:nvSpPr>
        <p:spPr>
          <a:xfrm>
            <a:off x="931818" y="4630782"/>
            <a:ext cx="5943600" cy="914400"/>
          </a:xfrm>
        </p:spPr>
        <p:txBody>
          <a:bodyPr/>
          <a:lstStyle/>
          <a:p>
            <a:pPr marL="0" lvl="0" indent="0" eaLnBrk="1" hangingPunct="1">
              <a:spcBef>
                <a:spcPct val="0"/>
              </a:spcBef>
              <a:buNone/>
            </a:pPr>
            <a:r>
              <a:rPr lang="en-US" altLang="en-US" sz="1800" kern="1200" dirty="0">
                <a:solidFill>
                  <a:srgbClr val="037797"/>
                </a:solidFill>
                <a:latin typeface="Courier New" panose="02070309020205020404" pitchFamily="49" charset="0"/>
                <a:cs typeface="Arial" panose="020B0604020202020204" pitchFamily="34" charset="0"/>
              </a:rPr>
              <a:t>nodePtr</a:t>
            </a:r>
            <a:r>
              <a:rPr lang="en-US" altLang="en-US" sz="1800" kern="1200" dirty="0">
                <a:solidFill>
                  <a:srgbClr val="037797"/>
                </a:solidFill>
                <a:latin typeface="Arial" panose="020B0604020202020204" pitchFamily="34" charset="0"/>
                <a:cs typeface="Arial" panose="020B0604020202020204" pitchFamily="34" charset="0"/>
              </a:rPr>
              <a:t> points to the node containing </a:t>
            </a:r>
            <a:r>
              <a:rPr lang="en-US" altLang="en-US" sz="1800" kern="1200" dirty="0">
                <a:solidFill>
                  <a:srgbClr val="037797"/>
                </a:solidFill>
                <a:latin typeface="Courier New" panose="02070309020205020404" pitchFamily="49" charset="0"/>
                <a:cs typeface="Arial" panose="020B0604020202020204" pitchFamily="34" charset="0"/>
              </a:rPr>
              <a:t>5</a:t>
            </a:r>
            <a:r>
              <a:rPr lang="en-US" altLang="en-US" sz="1800" kern="1200" dirty="0">
                <a:solidFill>
                  <a:srgbClr val="037797"/>
                </a:solidFill>
                <a:latin typeface="Arial" panose="020B0604020202020204" pitchFamily="34" charset="0"/>
                <a:cs typeface="Arial" panose="020B0604020202020204" pitchFamily="34" charset="0"/>
              </a:rPr>
              <a:t>, then the</a:t>
            </a:r>
          </a:p>
          <a:p>
            <a:pPr marL="0" lvl="0" indent="0" eaLnBrk="1" hangingPunct="1">
              <a:spcBef>
                <a:spcPct val="0"/>
              </a:spcBef>
              <a:buNone/>
            </a:pPr>
            <a:r>
              <a:rPr lang="en-US" altLang="en-US" sz="1800" kern="1200" dirty="0">
                <a:solidFill>
                  <a:srgbClr val="037797"/>
                </a:solidFill>
                <a:latin typeface="Arial" panose="020B0604020202020204" pitchFamily="34" charset="0"/>
                <a:cs typeface="Arial" panose="020B0604020202020204" pitchFamily="34" charset="0"/>
              </a:rPr>
              <a:t>node containing </a:t>
            </a:r>
            <a:r>
              <a:rPr lang="en-US" altLang="en-US" sz="1800" kern="1200" dirty="0">
                <a:solidFill>
                  <a:srgbClr val="037797"/>
                </a:solidFill>
                <a:latin typeface="Courier New" panose="02070309020205020404" pitchFamily="49" charset="0"/>
                <a:cs typeface="Arial" panose="020B0604020202020204" pitchFamily="34" charset="0"/>
              </a:rPr>
              <a:t>13</a:t>
            </a:r>
            <a:r>
              <a:rPr lang="en-US" altLang="en-US" sz="1800" kern="1200" dirty="0">
                <a:solidFill>
                  <a:srgbClr val="037797"/>
                </a:solidFill>
                <a:latin typeface="Arial" panose="020B0604020202020204" pitchFamily="34" charset="0"/>
                <a:cs typeface="Arial" panose="020B0604020202020204" pitchFamily="34" charset="0"/>
              </a:rPr>
              <a:t>, then the node containing </a:t>
            </a:r>
            <a:r>
              <a:rPr lang="en-US" altLang="en-US" sz="1800" kern="1200" dirty="0">
                <a:solidFill>
                  <a:srgbClr val="037797"/>
                </a:solidFill>
                <a:latin typeface="Courier New" panose="02070309020205020404" pitchFamily="49" charset="0"/>
                <a:cs typeface="Arial" panose="020B0604020202020204" pitchFamily="34" charset="0"/>
              </a:rPr>
              <a:t>19</a:t>
            </a:r>
            <a:r>
              <a:rPr lang="en-US" altLang="en-US" sz="1800" kern="1200" dirty="0">
                <a:solidFill>
                  <a:srgbClr val="037797"/>
                </a:solidFill>
                <a:latin typeface="Arial" panose="020B0604020202020204" pitchFamily="34" charset="0"/>
                <a:cs typeface="Arial" panose="020B0604020202020204" pitchFamily="34" charset="0"/>
              </a:rPr>
              <a:t>,</a:t>
            </a:r>
          </a:p>
          <a:p>
            <a:pPr marL="0" lvl="0" indent="0" eaLnBrk="1" hangingPunct="1">
              <a:spcBef>
                <a:spcPct val="0"/>
              </a:spcBef>
              <a:buNone/>
            </a:pPr>
            <a:r>
              <a:rPr lang="en-US" altLang="en-US" sz="1800" kern="1200" dirty="0">
                <a:solidFill>
                  <a:srgbClr val="037797"/>
                </a:solidFill>
                <a:latin typeface="Arial" panose="020B0604020202020204" pitchFamily="34" charset="0"/>
                <a:cs typeface="Arial" panose="020B0604020202020204" pitchFamily="34" charset="0"/>
              </a:rPr>
              <a:t>then points to the null pointer, and the list traversal </a:t>
            </a:r>
            <a:r>
              <a:rPr lang="en-US" altLang="en-US" sz="1800" kern="1200" dirty="0" smtClean="0">
                <a:solidFill>
                  <a:srgbClr val="037797"/>
                </a:solidFill>
                <a:latin typeface="Arial" panose="020B0604020202020204" pitchFamily="34" charset="0"/>
                <a:cs typeface="Arial" panose="020B0604020202020204" pitchFamily="34" charset="0"/>
              </a:rPr>
              <a:t>stops</a:t>
            </a:r>
            <a:endParaRPr lang="en-US" altLang="en-US" sz="1800" kern="1200" dirty="0">
              <a:solidFill>
                <a:srgbClr val="037797"/>
              </a:solidFill>
              <a:latin typeface="Courier New" panose="02070309020205020404" pitchFamily="49" charset="0"/>
              <a:cs typeface="Arial" panose="020B0604020202020204" pitchFamily="34" charset="0"/>
            </a:endParaRPr>
          </a:p>
        </p:txBody>
      </p:sp>
    </p:spTree>
    <p:extLst>
      <p:ext uri="{BB962C8B-B14F-4D97-AF65-F5344CB8AC3E}">
        <p14:creationId xmlns:p14="http://schemas.microsoft.com/office/powerpoint/2010/main" val="6415424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Deleting a </a:t>
            </a:r>
            <a:r>
              <a:rPr lang="en-US" altLang="en-US" dirty="0" smtClean="0"/>
              <a:t>Node </a:t>
            </a:r>
            <a:r>
              <a:rPr lang="en-US" altLang="en-US" sz="1200" dirty="0" smtClean="0"/>
              <a:t>(1 of 4)</a:t>
            </a:r>
            <a:endParaRPr lang="en-IN" sz="1200" dirty="0"/>
          </a:p>
        </p:txBody>
      </p:sp>
      <p:sp>
        <p:nvSpPr>
          <p:cNvPr id="3" name="Content Placeholder 2"/>
          <p:cNvSpPr>
            <a:spLocks noGrp="1"/>
          </p:cNvSpPr>
          <p:nvPr>
            <p:ph idx="1"/>
          </p:nvPr>
        </p:nvSpPr>
        <p:spPr/>
        <p:txBody>
          <a:bodyPr/>
          <a:lstStyle/>
          <a:p>
            <a:pPr lvl="0">
              <a:buFontTx/>
              <a:buChar char="•"/>
            </a:pPr>
            <a:r>
              <a:rPr lang="en-US" altLang="en-US" dirty="0">
                <a:solidFill>
                  <a:srgbClr val="000000"/>
                </a:solidFill>
              </a:rPr>
              <a:t>Used to remove a node from a linked list</a:t>
            </a:r>
          </a:p>
          <a:p>
            <a:pPr lvl="0">
              <a:buFontTx/>
              <a:buChar char="•"/>
            </a:pPr>
            <a:r>
              <a:rPr lang="en-US" altLang="en-US" dirty="0">
                <a:solidFill>
                  <a:srgbClr val="000000"/>
                </a:solidFill>
              </a:rPr>
              <a:t>If list uses dynamic memory, then delete node from memory</a:t>
            </a:r>
          </a:p>
          <a:p>
            <a:pPr lvl="0">
              <a:buFontTx/>
              <a:buChar char="•"/>
            </a:pPr>
            <a:r>
              <a:rPr lang="en-US" altLang="en-US" dirty="0">
                <a:solidFill>
                  <a:srgbClr val="000000"/>
                </a:solidFill>
              </a:rPr>
              <a:t>Requires two pointers: one to locate the node to be deleted, one to point to the node before the node to be </a:t>
            </a:r>
            <a:r>
              <a:rPr lang="en-US" altLang="en-US" dirty="0" smtClean="0">
                <a:solidFill>
                  <a:srgbClr val="000000"/>
                </a:solidFill>
              </a:rPr>
              <a:t>deleted</a:t>
            </a:r>
            <a:endParaRPr lang="en-US" altLang="en-US" dirty="0">
              <a:solidFill>
                <a:srgbClr val="000000"/>
              </a:solidFill>
            </a:endParaRPr>
          </a:p>
        </p:txBody>
      </p:sp>
    </p:spTree>
    <p:extLst>
      <p:ext uri="{BB962C8B-B14F-4D97-AF65-F5344CB8AC3E}">
        <p14:creationId xmlns:p14="http://schemas.microsoft.com/office/powerpoint/2010/main" val="32835511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Deleting a Node </a:t>
            </a:r>
            <a:r>
              <a:rPr lang="en-US" altLang="en-US" sz="1200" dirty="0" smtClean="0"/>
              <a:t>(2 </a:t>
            </a:r>
            <a:r>
              <a:rPr lang="en-US" altLang="en-US" sz="1200" dirty="0"/>
              <a:t>of 4)</a:t>
            </a:r>
            <a:endParaRPr lang="en-IN" dirty="0"/>
          </a:p>
        </p:txBody>
      </p:sp>
      <p:pic>
        <p:nvPicPr>
          <p:cNvPr id="4" name="Picture 3" descr="The screenshot shows the process of deleting a node. A linear linked list  consists of a list head and three nodes. The list head on the left side points to the first node on the right. The first node with 5 points to the node with 13, the node with 13 points to the node with 19. The last node with 19 points to a null address. A node pointer points to the node containing 13. The previousNode points to the node containing 5. The node containing 13 is located."/>
          <p:cNvPicPr>
            <a:picLocks noChangeAspect="1"/>
          </p:cNvPicPr>
          <p:nvPr/>
        </p:nvPicPr>
        <p:blipFill>
          <a:blip r:embed="rId2"/>
          <a:stretch>
            <a:fillRect/>
          </a:stretch>
        </p:blipFill>
        <p:spPr>
          <a:xfrm>
            <a:off x="675409" y="1828800"/>
            <a:ext cx="7793182" cy="3108614"/>
          </a:xfrm>
          <a:prstGeom prst="rect">
            <a:avLst/>
          </a:prstGeom>
        </p:spPr>
      </p:pic>
      <p:sp>
        <p:nvSpPr>
          <p:cNvPr id="3" name="Content Placeholder 2"/>
          <p:cNvSpPr>
            <a:spLocks noGrp="1"/>
          </p:cNvSpPr>
          <p:nvPr>
            <p:ph idx="1"/>
          </p:nvPr>
        </p:nvSpPr>
        <p:spPr>
          <a:xfrm>
            <a:off x="1752600" y="5512527"/>
            <a:ext cx="3505200" cy="381000"/>
          </a:xfrm>
        </p:spPr>
        <p:txBody>
          <a:bodyPr/>
          <a:lstStyle/>
          <a:p>
            <a:pPr marL="0" lvl="0" indent="0" eaLnBrk="1" hangingPunct="1">
              <a:spcBef>
                <a:spcPct val="0"/>
              </a:spcBef>
              <a:buNone/>
            </a:pPr>
            <a:r>
              <a:rPr lang="en-US" altLang="en-US" sz="1800" kern="1200" dirty="0">
                <a:solidFill>
                  <a:srgbClr val="000000"/>
                </a:solidFill>
                <a:latin typeface="Arial" panose="020B0604020202020204" pitchFamily="34" charset="0"/>
                <a:cs typeface="Arial" panose="020B0604020202020204" pitchFamily="34" charset="0"/>
              </a:rPr>
              <a:t>Locating the node containing </a:t>
            </a:r>
            <a:r>
              <a:rPr lang="en-US" altLang="en-US" sz="1800" kern="1200" dirty="0" smtClean="0">
                <a:solidFill>
                  <a:srgbClr val="000000"/>
                </a:solidFill>
                <a:latin typeface="Courier New" panose="02070309020205020404" pitchFamily="49" charset="0"/>
                <a:cs typeface="Arial" panose="020B0604020202020204" pitchFamily="34" charset="0"/>
              </a:rPr>
              <a:t>13</a:t>
            </a:r>
            <a:endParaRPr lang="en-US" altLang="en-US" sz="1800" kern="1200" dirty="0">
              <a:solidFill>
                <a:srgbClr val="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868620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Deleting a Node </a:t>
            </a:r>
            <a:r>
              <a:rPr lang="en-US" altLang="en-US" sz="1200" dirty="0" smtClean="0"/>
              <a:t>(3 </a:t>
            </a:r>
            <a:r>
              <a:rPr lang="en-US" altLang="en-US" sz="1200" dirty="0"/>
              <a:t>of 4)</a:t>
            </a:r>
            <a:endParaRPr lang="en-IN" dirty="0"/>
          </a:p>
        </p:txBody>
      </p:sp>
      <p:pic>
        <p:nvPicPr>
          <p:cNvPr id="4" name="Picture 3" descr="The screenshot shows the process of deleting a node. A linear linked list  consists of a list head and three nodes. The list head on the left side points to the first node on the right. The first node with 5 points to the node with 13, the node with 13 points to the node with 19. The last node with 19 points to a null address. A node pointer points to the node containing 13. The previousNode points to the node containing 5. The pointer is adjusted around the node to be deleted."/>
          <p:cNvPicPr>
            <a:picLocks noChangeAspect="1"/>
          </p:cNvPicPr>
          <p:nvPr/>
        </p:nvPicPr>
        <p:blipFill>
          <a:blip r:embed="rId2"/>
          <a:stretch>
            <a:fillRect/>
          </a:stretch>
        </p:blipFill>
        <p:spPr>
          <a:xfrm>
            <a:off x="793488" y="2057400"/>
            <a:ext cx="7557025" cy="2667185"/>
          </a:xfrm>
          <a:prstGeom prst="rect">
            <a:avLst/>
          </a:prstGeom>
        </p:spPr>
      </p:pic>
      <p:sp>
        <p:nvSpPr>
          <p:cNvPr id="3" name="Content Placeholder 2"/>
          <p:cNvSpPr>
            <a:spLocks noGrp="1"/>
          </p:cNvSpPr>
          <p:nvPr>
            <p:ph idx="1"/>
          </p:nvPr>
        </p:nvSpPr>
        <p:spPr>
          <a:xfrm>
            <a:off x="990598" y="5337264"/>
            <a:ext cx="5029200" cy="381000"/>
          </a:xfrm>
        </p:spPr>
        <p:txBody>
          <a:bodyPr/>
          <a:lstStyle/>
          <a:p>
            <a:pPr marL="0" lvl="0" indent="0" eaLnBrk="1" hangingPunct="1">
              <a:lnSpc>
                <a:spcPct val="80000"/>
              </a:lnSpc>
              <a:spcBef>
                <a:spcPct val="0"/>
              </a:spcBef>
              <a:buNone/>
            </a:pPr>
            <a:r>
              <a:rPr lang="en-US" altLang="en-US" sz="1800" kern="1200" dirty="0">
                <a:solidFill>
                  <a:srgbClr val="037797"/>
                </a:solidFill>
                <a:latin typeface="Arial" panose="020B0604020202020204" pitchFamily="34" charset="0"/>
                <a:cs typeface="Arial" panose="020B0604020202020204" pitchFamily="34" charset="0"/>
              </a:rPr>
              <a:t>Adjusting pointer around the node to be </a:t>
            </a:r>
            <a:r>
              <a:rPr lang="en-US" altLang="en-US" sz="1800" kern="1200" dirty="0" smtClean="0">
                <a:solidFill>
                  <a:srgbClr val="037797"/>
                </a:solidFill>
                <a:latin typeface="Arial" panose="020B0604020202020204" pitchFamily="34" charset="0"/>
                <a:cs typeface="Arial" panose="020B0604020202020204" pitchFamily="34" charset="0"/>
              </a:rPr>
              <a:t>deleted</a:t>
            </a:r>
            <a:endParaRPr lang="en-US" altLang="en-US" sz="1800" kern="1200" dirty="0">
              <a:solidFill>
                <a:srgbClr val="037797"/>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200825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Deleting a Node </a:t>
            </a:r>
            <a:r>
              <a:rPr lang="en-US" altLang="en-US" sz="1200" dirty="0" smtClean="0"/>
              <a:t>(4 </a:t>
            </a:r>
            <a:r>
              <a:rPr lang="en-US" altLang="en-US" sz="1200" dirty="0"/>
              <a:t>of 4)</a:t>
            </a:r>
            <a:endParaRPr lang="en-IN" dirty="0"/>
          </a:p>
        </p:txBody>
      </p:sp>
      <p:pic>
        <p:nvPicPr>
          <p:cNvPr id="4" name="Picture 3" descr="The screenshot shows the linked list after deleting the node containing 13. The list shows the list head on the left points to the node containing 5. The previousNode points to the node containing 5. The node pointer points tot eh node containing 19. The node with 19 points to a null pointer."/>
          <p:cNvPicPr>
            <a:picLocks noChangeAspect="1"/>
          </p:cNvPicPr>
          <p:nvPr/>
        </p:nvPicPr>
        <p:blipFill>
          <a:blip r:embed="rId2"/>
          <a:stretch>
            <a:fillRect/>
          </a:stretch>
        </p:blipFill>
        <p:spPr>
          <a:xfrm>
            <a:off x="484043" y="1902835"/>
            <a:ext cx="8156864" cy="3195205"/>
          </a:xfrm>
          <a:prstGeom prst="rect">
            <a:avLst/>
          </a:prstGeom>
        </p:spPr>
      </p:pic>
      <p:sp>
        <p:nvSpPr>
          <p:cNvPr id="3" name="Content Placeholder 2"/>
          <p:cNvSpPr>
            <a:spLocks noGrp="1"/>
          </p:cNvSpPr>
          <p:nvPr>
            <p:ph idx="1"/>
          </p:nvPr>
        </p:nvSpPr>
        <p:spPr>
          <a:xfrm>
            <a:off x="920928" y="5492928"/>
            <a:ext cx="5105400" cy="381000"/>
          </a:xfrm>
        </p:spPr>
        <p:txBody>
          <a:bodyPr/>
          <a:lstStyle/>
          <a:p>
            <a:pPr marL="0" lvl="0" indent="0" eaLnBrk="1" hangingPunct="1">
              <a:spcBef>
                <a:spcPct val="0"/>
              </a:spcBef>
              <a:buNone/>
            </a:pPr>
            <a:r>
              <a:rPr lang="en-US" altLang="en-US" sz="1800" kern="1200" dirty="0">
                <a:solidFill>
                  <a:srgbClr val="037797"/>
                </a:solidFill>
                <a:latin typeface="Arial" panose="020B0604020202020204" pitchFamily="34" charset="0"/>
                <a:cs typeface="Arial" panose="020B0604020202020204" pitchFamily="34" charset="0"/>
              </a:rPr>
              <a:t>Linked list after deleting the node containing </a:t>
            </a:r>
            <a:r>
              <a:rPr lang="en-US" altLang="en-US" sz="1800" kern="1200" dirty="0" smtClean="0">
                <a:solidFill>
                  <a:srgbClr val="037797"/>
                </a:solidFill>
                <a:latin typeface="Courier New" panose="02070309020205020404" pitchFamily="49" charset="0"/>
                <a:cs typeface="Arial" panose="020B0604020202020204" pitchFamily="34" charset="0"/>
              </a:rPr>
              <a:t>13</a:t>
            </a:r>
            <a:endParaRPr lang="en-US" altLang="en-US" sz="1800" kern="1200" dirty="0">
              <a:solidFill>
                <a:srgbClr val="037797"/>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08455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4962"/>
          </a:xfrm>
        </p:spPr>
        <p:txBody>
          <a:bodyPr/>
          <a:lstStyle/>
          <a:p>
            <a:r>
              <a:rPr lang="en-US" dirty="0" smtClean="0"/>
              <a:t>     </a:t>
            </a:r>
            <a:endParaRPr lang="en-IN" dirty="0"/>
          </a:p>
        </p:txBody>
      </p:sp>
      <p:pic>
        <p:nvPicPr>
          <p:cNvPr id="4" name="Picture 1" descr="A program displays the code to delete a node. The node pointer traverses the list. The previousNode points to the previous node. If the list is empty, the program does nothing. If it is the head the program returns."/>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33463" y="2366963"/>
            <a:ext cx="7077075"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425656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endParaRPr lang="en-IN" dirty="0"/>
          </a:p>
        </p:txBody>
      </p:sp>
      <p:pic>
        <p:nvPicPr>
          <p:cNvPr id="4" name="Picture 1" descr="The screenshot shows the program source code to determine if the first node is the one. The if-loop checks if the value assigned to the head equals num. Else, it initializes the node pointer to the head of the list. The node pointer traverses the list and skips all nodes whose value member is not equal to num."/>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90563" y="1233488"/>
            <a:ext cx="7762875" cy="439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274637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endParaRPr lang="en-IN" dirty="0"/>
          </a:p>
        </p:txBody>
      </p:sp>
      <p:pic>
        <p:nvPicPr>
          <p:cNvPr id="4" name="Picture 1" descr="The screenshot shows the program source code to determine if the first node is the one. The if-loop checks if the value assigned to the head equals num. Else, it initializes the node pointer to the head of the list. The node pointer traverses the list and skips all nodes whose value member is not equal to num. If the node pointer is not at the end of the list, link the previous node to the node after the node pointer, then delete the node pointe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00113" y="2305050"/>
            <a:ext cx="7343775"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504613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58762"/>
          </a:xfrm>
        </p:spPr>
        <p:txBody>
          <a:bodyPr/>
          <a:lstStyle/>
          <a:p>
            <a:r>
              <a:rPr lang="en-US" dirty="0" smtClean="0"/>
              <a:t>        </a:t>
            </a:r>
            <a:endParaRPr lang="en-IN" dirty="0"/>
          </a:p>
        </p:txBody>
      </p:sp>
      <p:pic>
        <p:nvPicPr>
          <p:cNvPr id="4" name="Picture 1" descr="The screenshot shows the program to demonstrate the deleteNode member function. The main function defines the NumberList object. The program builds the list with some values: list.appendNode (2.5); list.appendNode (7.9); list.appendNode (12.6). The program displays the initial values in the list, deletes the middle node, and displays the nodes that are lef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228600"/>
            <a:ext cx="6140450" cy="580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853020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58762"/>
          </a:xfrm>
        </p:spPr>
        <p:txBody>
          <a:bodyPr/>
          <a:lstStyle/>
          <a:p>
            <a:r>
              <a:rPr lang="en-US" dirty="0" smtClean="0"/>
              <a:t>         </a:t>
            </a:r>
            <a:endParaRPr lang="en-IN" dirty="0"/>
          </a:p>
        </p:txBody>
      </p:sp>
      <p:pic>
        <p:nvPicPr>
          <p:cNvPr id="4" name="Picture 1" descr="The screenshot shows the program to demonstrate the deleteNode member function. The main function defines the NumberList object. The program builds the list with some values: list.appendNode (2.5); list.appendNode (7.9); list.appendNode (12.6). The program displays the initial values in the list, deletes the middle node, and displays the nodes that are left. The program continues and deletes the last node and displays the list. Finally, it deletes the only node left in the list and displays the lis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2950" y="852488"/>
            <a:ext cx="7658100" cy="515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80185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85800"/>
          </a:xfrm>
        </p:spPr>
        <p:txBody>
          <a:bodyPr/>
          <a:lstStyle/>
          <a:p>
            <a:r>
              <a:rPr lang="en-US" dirty="0" smtClean="0"/>
              <a:t>          </a:t>
            </a:r>
            <a:endParaRPr lang="en-IN" dirty="0"/>
          </a:p>
        </p:txBody>
      </p:sp>
      <p:pic>
        <p:nvPicPr>
          <p:cNvPr id="4" name="Picture 1" descr="The screenshot shows the program output to demonstrate the deleteNode member function. It displays the initial values: 2.5, 7.9, and 12.6. Now deleting the node in the middle. Here are the nodes left: 2.5, 12.6. Now deleting the last node. Here are the nodes left: 2.5. Now deleting the only remaining node. Here are the nodes lef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5825" y="1233488"/>
            <a:ext cx="7372350" cy="439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965641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Destroying a Linked List</a:t>
            </a:r>
            <a:endParaRPr lang="en-IN" dirty="0"/>
          </a:p>
        </p:txBody>
      </p:sp>
      <p:sp>
        <p:nvSpPr>
          <p:cNvPr id="3" name="Content Placeholder 2"/>
          <p:cNvSpPr>
            <a:spLocks noGrp="1"/>
          </p:cNvSpPr>
          <p:nvPr>
            <p:ph idx="1"/>
          </p:nvPr>
        </p:nvSpPr>
        <p:spPr/>
        <p:txBody>
          <a:bodyPr/>
          <a:lstStyle/>
          <a:p>
            <a:pPr lvl="0">
              <a:spcBef>
                <a:spcPct val="50000"/>
              </a:spcBef>
              <a:buFontTx/>
              <a:buChar char="•"/>
            </a:pPr>
            <a:r>
              <a:rPr lang="en-US" altLang="en-US" sz="2800" dirty="0">
                <a:solidFill>
                  <a:srgbClr val="000000"/>
                </a:solidFill>
              </a:rPr>
              <a:t>Must remove all nodes used in the list</a:t>
            </a:r>
          </a:p>
          <a:p>
            <a:pPr lvl="0">
              <a:spcBef>
                <a:spcPct val="50000"/>
              </a:spcBef>
              <a:buFontTx/>
              <a:buChar char="•"/>
            </a:pPr>
            <a:r>
              <a:rPr lang="en-US" altLang="en-US" sz="2800" dirty="0">
                <a:solidFill>
                  <a:srgbClr val="000000"/>
                </a:solidFill>
              </a:rPr>
              <a:t>To do this, use list traversal to visit each node</a:t>
            </a:r>
          </a:p>
          <a:p>
            <a:pPr lvl="0">
              <a:spcBef>
                <a:spcPct val="50000"/>
              </a:spcBef>
              <a:buFontTx/>
              <a:buChar char="•"/>
            </a:pPr>
            <a:r>
              <a:rPr lang="en-US" altLang="en-US" sz="2800" dirty="0">
                <a:solidFill>
                  <a:srgbClr val="000000"/>
                </a:solidFill>
              </a:rPr>
              <a:t>For each node,</a:t>
            </a:r>
          </a:p>
          <a:p>
            <a:pPr lvl="1">
              <a:spcBef>
                <a:spcPct val="50000"/>
              </a:spcBef>
            </a:pPr>
            <a:r>
              <a:rPr lang="en-US" altLang="en-US" sz="2400" dirty="0">
                <a:solidFill>
                  <a:srgbClr val="000000"/>
                </a:solidFill>
              </a:rPr>
              <a:t>Unlink the node from the list</a:t>
            </a:r>
          </a:p>
          <a:p>
            <a:pPr lvl="1">
              <a:spcBef>
                <a:spcPct val="50000"/>
              </a:spcBef>
            </a:pPr>
            <a:r>
              <a:rPr lang="en-US" altLang="en-US" sz="2400" dirty="0">
                <a:solidFill>
                  <a:srgbClr val="000000"/>
                </a:solidFill>
              </a:rPr>
              <a:t>If the list uses dynamic memory, then free the node’s memory</a:t>
            </a:r>
          </a:p>
          <a:p>
            <a:pPr lvl="0">
              <a:spcBef>
                <a:spcPct val="50000"/>
              </a:spcBef>
              <a:buFontTx/>
              <a:buChar char="•"/>
            </a:pPr>
            <a:r>
              <a:rPr lang="en-US" altLang="en-US" sz="2800" dirty="0">
                <a:solidFill>
                  <a:srgbClr val="000000"/>
                </a:solidFill>
              </a:rPr>
              <a:t>Set the list head to </a:t>
            </a:r>
            <a:r>
              <a:rPr lang="en-US" altLang="en-US" sz="2800" dirty="0" smtClean="0">
                <a:solidFill>
                  <a:srgbClr val="000000"/>
                </a:solidFill>
                <a:latin typeface="Courier New" panose="02070309020205020404" pitchFamily="49" charset="0"/>
              </a:rPr>
              <a:t>nullptr</a:t>
            </a:r>
            <a:endParaRPr lang="en-US" altLang="en-US" sz="2800"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972271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lstStyle/>
          <a:p>
            <a:r>
              <a:rPr lang="en-US" dirty="0" smtClean="0"/>
              <a:t>          </a:t>
            </a:r>
            <a:r>
              <a:rPr lang="en-US" baseline="0" dirty="0" smtClean="0"/>
              <a:t> </a:t>
            </a:r>
            <a:endParaRPr lang="en-IN" dirty="0"/>
          </a:p>
        </p:txBody>
      </p:sp>
      <p:pic>
        <p:nvPicPr>
          <p:cNvPr id="4" name="Picture 1" descr="A program shows a NumberList. It uses the node pointer to traverse the list and the nextNode to point to the next node. The code positions the node pointer at the head of the list: nodePtr equals head. The while statement checks while the node pointer is not at the end of the list, save a pointer to the next node, delete the current node, and position the nodePtr at the next node."/>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81125" y="1152525"/>
            <a:ext cx="6381750" cy="455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182520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noChangeArrowheads="1"/>
          </p:cNvSpPr>
          <p:nvPr>
            <p:ph type="ctrTitle"/>
          </p:nvPr>
        </p:nvSpPr>
        <p:spPr/>
        <p:txBody>
          <a:bodyPr/>
          <a:lstStyle/>
          <a:p>
            <a:r>
              <a:rPr lang="en-US" altLang="en-US" dirty="0" smtClean="0"/>
              <a:t>18.3</a:t>
            </a:r>
          </a:p>
        </p:txBody>
      </p:sp>
      <p:sp>
        <p:nvSpPr>
          <p:cNvPr id="58371" name="Subtitle 2"/>
          <p:cNvSpPr>
            <a:spLocks noGrp="1" noChangeArrowheads="1"/>
          </p:cNvSpPr>
          <p:nvPr>
            <p:ph type="subTitle" idx="1"/>
          </p:nvPr>
        </p:nvSpPr>
        <p:spPr>
          <a:xfrm>
            <a:off x="1371600" y="4267200"/>
            <a:ext cx="6400800" cy="685800"/>
          </a:xfrm>
        </p:spPr>
        <p:txBody>
          <a:bodyPr/>
          <a:lstStyle/>
          <a:p>
            <a:r>
              <a:rPr lang="en-US" altLang="en-US" dirty="0" smtClean="0"/>
              <a:t>A Linked List Template</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 Linked List Template</a:t>
            </a:r>
            <a:endParaRPr lang="en-IN" dirty="0"/>
          </a:p>
        </p:txBody>
      </p:sp>
      <p:sp>
        <p:nvSpPr>
          <p:cNvPr id="3" name="Content Placeholder 2"/>
          <p:cNvSpPr>
            <a:spLocks noGrp="1"/>
          </p:cNvSpPr>
          <p:nvPr>
            <p:ph idx="1"/>
          </p:nvPr>
        </p:nvSpPr>
        <p:spPr/>
        <p:txBody>
          <a:bodyPr/>
          <a:lstStyle/>
          <a:p>
            <a:pPr lvl="0">
              <a:buFontTx/>
              <a:buChar char="•"/>
            </a:pPr>
            <a:r>
              <a:rPr lang="en-US" altLang="en-US" dirty="0">
                <a:solidFill>
                  <a:srgbClr val="000000"/>
                </a:solidFill>
              </a:rPr>
              <a:t>When declaring a linked list, must specify the type of data to be held in each node</a:t>
            </a:r>
          </a:p>
          <a:p>
            <a:pPr lvl="0">
              <a:buFontTx/>
              <a:buChar char="•"/>
            </a:pPr>
            <a:r>
              <a:rPr lang="en-US" altLang="en-US" dirty="0">
                <a:solidFill>
                  <a:srgbClr val="000000"/>
                </a:solidFill>
              </a:rPr>
              <a:t>Using templates, you can declare a linked list that can hold data type determined at list definition </a:t>
            </a:r>
            <a:r>
              <a:rPr lang="en-US" altLang="en-US" dirty="0" smtClean="0">
                <a:solidFill>
                  <a:srgbClr val="000000"/>
                </a:solidFill>
              </a:rPr>
              <a:t>time</a:t>
            </a:r>
            <a:endParaRPr lang="en-US" altLang="en-US" dirty="0">
              <a:solidFill>
                <a:srgbClr val="000000"/>
              </a:solidFill>
            </a:endParaRPr>
          </a:p>
          <a:p>
            <a:pPr lvl="0">
              <a:buFontTx/>
              <a:buChar char="•"/>
            </a:pPr>
            <a:r>
              <a:rPr lang="en-US" altLang="en-US" dirty="0">
                <a:solidFill>
                  <a:srgbClr val="000000"/>
                </a:solidFill>
              </a:rPr>
              <a:t>See </a:t>
            </a:r>
            <a:r>
              <a:rPr lang="en-US" altLang="en-US" dirty="0">
                <a:solidFill>
                  <a:srgbClr val="000000"/>
                </a:solidFill>
                <a:latin typeface="Courier New" panose="02070309020205020404" pitchFamily="49" charset="0"/>
              </a:rPr>
              <a:t>LinkedList.h</a:t>
            </a:r>
            <a:r>
              <a:rPr lang="en-US" altLang="en-US" dirty="0">
                <a:solidFill>
                  <a:srgbClr val="000000"/>
                </a:solidFill>
              </a:rPr>
              <a:t> (versions 1 and 2) and Program </a:t>
            </a:r>
            <a:r>
              <a:rPr lang="en-US" altLang="en-US" dirty="0" smtClean="0">
                <a:solidFill>
                  <a:srgbClr val="000000"/>
                </a:solidFill>
              </a:rPr>
              <a:t>18-5</a:t>
            </a:r>
            <a:endParaRPr lang="en-US" altLang="en-US" dirty="0">
              <a:solidFill>
                <a:srgbClr val="000000"/>
              </a:solidFill>
            </a:endParaRPr>
          </a:p>
        </p:txBody>
      </p:sp>
    </p:spTree>
    <p:extLst>
      <p:ext uri="{BB962C8B-B14F-4D97-AF65-F5344CB8AC3E}">
        <p14:creationId xmlns:p14="http://schemas.microsoft.com/office/powerpoint/2010/main" val="5088398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noChangeArrowheads="1"/>
          </p:cNvSpPr>
          <p:nvPr>
            <p:ph type="ctrTitle"/>
          </p:nvPr>
        </p:nvSpPr>
        <p:spPr/>
        <p:txBody>
          <a:bodyPr/>
          <a:lstStyle/>
          <a:p>
            <a:r>
              <a:rPr lang="en-US" altLang="en-US" dirty="0" smtClean="0"/>
              <a:t>18.4</a:t>
            </a:r>
          </a:p>
        </p:txBody>
      </p:sp>
      <p:sp>
        <p:nvSpPr>
          <p:cNvPr id="61443" name="Subtitle 2"/>
          <p:cNvSpPr>
            <a:spLocks noGrp="1" noChangeArrowheads="1"/>
          </p:cNvSpPr>
          <p:nvPr>
            <p:ph type="subTitle" idx="1"/>
          </p:nvPr>
        </p:nvSpPr>
        <p:spPr>
          <a:xfrm>
            <a:off x="1371600" y="4267200"/>
            <a:ext cx="6400800" cy="1066800"/>
          </a:xfrm>
        </p:spPr>
        <p:txBody>
          <a:bodyPr/>
          <a:lstStyle/>
          <a:p>
            <a:r>
              <a:rPr lang="en-US" altLang="en-US" dirty="0" smtClean="0"/>
              <a:t>Variations of the</a:t>
            </a:r>
            <a:br>
              <a:rPr lang="en-US" altLang="en-US" dirty="0" smtClean="0"/>
            </a:br>
            <a:r>
              <a:rPr lang="en-US" altLang="en-US" dirty="0" smtClean="0"/>
              <a:t> Linked List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smtClean="0"/>
              <a:t>Variations of the Linked List </a:t>
            </a:r>
            <a:r>
              <a:rPr lang="en-US" altLang="en-US" sz="1200" dirty="0" smtClean="0"/>
              <a:t>(1 of 2)</a:t>
            </a:r>
            <a:endParaRPr lang="en-IN" sz="1200" dirty="0"/>
          </a:p>
        </p:txBody>
      </p:sp>
      <p:sp>
        <p:nvSpPr>
          <p:cNvPr id="3" name="Content Placeholder 2"/>
          <p:cNvSpPr>
            <a:spLocks noGrp="1"/>
          </p:cNvSpPr>
          <p:nvPr>
            <p:ph idx="1"/>
          </p:nvPr>
        </p:nvSpPr>
        <p:spPr>
          <a:xfrm>
            <a:off x="457200" y="1600201"/>
            <a:ext cx="8229600" cy="2057400"/>
          </a:xfrm>
        </p:spPr>
        <p:txBody>
          <a:bodyPr/>
          <a:lstStyle/>
          <a:p>
            <a:pPr lvl="0">
              <a:spcBef>
                <a:spcPct val="50000"/>
              </a:spcBef>
              <a:buFontTx/>
              <a:buChar char="•"/>
            </a:pPr>
            <a:r>
              <a:rPr lang="en-US" altLang="en-US" dirty="0">
                <a:solidFill>
                  <a:srgbClr val="000000"/>
                </a:solidFill>
              </a:rPr>
              <a:t>Other linked list organizations:</a:t>
            </a:r>
          </a:p>
          <a:p>
            <a:pPr lvl="1">
              <a:spcBef>
                <a:spcPct val="50000"/>
              </a:spcBef>
            </a:pPr>
            <a:r>
              <a:rPr lang="en-US" altLang="en-US" dirty="0">
                <a:solidFill>
                  <a:srgbClr val="000000"/>
                </a:solidFill>
              </a:rPr>
              <a:t>doubly-linked list: each node contains two pointers: one to the next node in the list, one to the previous node in the </a:t>
            </a:r>
            <a:r>
              <a:rPr lang="en-US" altLang="en-US" dirty="0" smtClean="0">
                <a:solidFill>
                  <a:srgbClr val="000000"/>
                </a:solidFill>
              </a:rPr>
              <a:t>list</a:t>
            </a:r>
            <a:endParaRPr lang="en-US" altLang="en-US" dirty="0">
              <a:solidFill>
                <a:srgbClr val="000000"/>
              </a:solidFill>
            </a:endParaRPr>
          </a:p>
        </p:txBody>
      </p:sp>
      <p:pic>
        <p:nvPicPr>
          <p:cNvPr id="4" name="Picture 3" descr="The screenshot shows the doubly linked list. It list consists of a list head and three nodes. The list head on the left side points to the first node on the right. The first node contain 5 and two null pointers, one of which points to the node containing 13 and the other points downwards. The node with 13 points to the node with 19 and points to the previous node. The last node containing 19 points to a null address and points to the previous node."/>
          <p:cNvPicPr>
            <a:picLocks noChangeAspect="1"/>
          </p:cNvPicPr>
          <p:nvPr/>
        </p:nvPicPr>
        <p:blipFill>
          <a:blip r:embed="rId2"/>
          <a:stretch>
            <a:fillRect/>
          </a:stretch>
        </p:blipFill>
        <p:spPr>
          <a:xfrm>
            <a:off x="263936" y="3679842"/>
            <a:ext cx="7965664" cy="2213174"/>
          </a:xfrm>
          <a:prstGeom prst="rect">
            <a:avLst/>
          </a:prstGeom>
        </p:spPr>
      </p:pic>
    </p:spTree>
    <p:extLst>
      <p:ext uri="{BB962C8B-B14F-4D97-AF65-F5344CB8AC3E}">
        <p14:creationId xmlns:p14="http://schemas.microsoft.com/office/powerpoint/2010/main" val="9070812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Variations of the Linked List </a:t>
            </a:r>
            <a:r>
              <a:rPr lang="en-US" altLang="en-US" sz="1200" dirty="0" smtClean="0"/>
              <a:t>(2 </a:t>
            </a:r>
            <a:r>
              <a:rPr lang="en-US" altLang="en-US" sz="1200" dirty="0"/>
              <a:t>of 2)</a:t>
            </a:r>
            <a:endParaRPr lang="en-IN" dirty="0"/>
          </a:p>
        </p:txBody>
      </p:sp>
      <p:sp>
        <p:nvSpPr>
          <p:cNvPr id="3" name="Content Placeholder 2"/>
          <p:cNvSpPr>
            <a:spLocks noGrp="1"/>
          </p:cNvSpPr>
          <p:nvPr>
            <p:ph idx="1"/>
          </p:nvPr>
        </p:nvSpPr>
        <p:spPr>
          <a:xfrm>
            <a:off x="457200" y="1600201"/>
            <a:ext cx="8229600" cy="2057400"/>
          </a:xfrm>
        </p:spPr>
        <p:txBody>
          <a:bodyPr/>
          <a:lstStyle/>
          <a:p>
            <a:pPr lvl="0">
              <a:spcBef>
                <a:spcPct val="50000"/>
              </a:spcBef>
              <a:buFontTx/>
              <a:buChar char="•"/>
            </a:pPr>
            <a:r>
              <a:rPr lang="en-US" altLang="en-US" dirty="0">
                <a:solidFill>
                  <a:srgbClr val="000000"/>
                </a:solidFill>
              </a:rPr>
              <a:t>Other linked list organizations:</a:t>
            </a:r>
          </a:p>
          <a:p>
            <a:pPr lvl="1">
              <a:spcBef>
                <a:spcPct val="50000"/>
              </a:spcBef>
            </a:pPr>
            <a:r>
              <a:rPr lang="en-US" altLang="en-US" dirty="0">
                <a:solidFill>
                  <a:srgbClr val="000000"/>
                </a:solidFill>
              </a:rPr>
              <a:t>circular linked list: the last node in the list points back to the first node in the list, not to the null </a:t>
            </a:r>
            <a:r>
              <a:rPr lang="en-US" altLang="en-US" dirty="0" smtClean="0">
                <a:solidFill>
                  <a:srgbClr val="000000"/>
                </a:solidFill>
              </a:rPr>
              <a:t>pointer</a:t>
            </a:r>
            <a:endParaRPr lang="en-US" altLang="en-US" dirty="0">
              <a:solidFill>
                <a:srgbClr val="000000"/>
              </a:solidFill>
            </a:endParaRPr>
          </a:p>
        </p:txBody>
      </p:sp>
      <p:pic>
        <p:nvPicPr>
          <p:cNvPr id="4" name="Picture 3" descr="The screenshot shows the circular linked list. It consists of a list head and three nodes. The list head on the left side points to the first node on the right. The node containing 5 points to the node with 13, the node with 13 points to the node with 19. The last node with 19 points to back to the node containing 5."/>
          <p:cNvPicPr>
            <a:picLocks noChangeAspect="1"/>
          </p:cNvPicPr>
          <p:nvPr/>
        </p:nvPicPr>
        <p:blipFill>
          <a:blip r:embed="rId2"/>
          <a:stretch>
            <a:fillRect/>
          </a:stretch>
        </p:blipFill>
        <p:spPr>
          <a:xfrm>
            <a:off x="189568" y="3962400"/>
            <a:ext cx="6744632" cy="1891351"/>
          </a:xfrm>
          <a:prstGeom prst="rect">
            <a:avLst/>
          </a:prstGeom>
        </p:spPr>
      </p:pic>
    </p:spTree>
    <p:extLst>
      <p:ext uri="{BB962C8B-B14F-4D97-AF65-F5344CB8AC3E}">
        <p14:creationId xmlns:p14="http://schemas.microsoft.com/office/powerpoint/2010/main" val="39267906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noChangeArrowheads="1"/>
          </p:cNvSpPr>
          <p:nvPr>
            <p:ph type="ctrTitle"/>
          </p:nvPr>
        </p:nvSpPr>
        <p:spPr/>
        <p:txBody>
          <a:bodyPr/>
          <a:lstStyle/>
          <a:p>
            <a:r>
              <a:rPr lang="en-US" altLang="en-US" dirty="0" smtClean="0"/>
              <a:t>18.5</a:t>
            </a:r>
          </a:p>
        </p:txBody>
      </p:sp>
      <p:sp>
        <p:nvSpPr>
          <p:cNvPr id="64515" name="Subtitle 2"/>
          <p:cNvSpPr>
            <a:spLocks noGrp="1" noChangeArrowheads="1"/>
          </p:cNvSpPr>
          <p:nvPr>
            <p:ph type="subTitle" idx="1"/>
          </p:nvPr>
        </p:nvSpPr>
        <p:spPr>
          <a:xfrm>
            <a:off x="1371600" y="4267200"/>
            <a:ext cx="6400800" cy="1143000"/>
          </a:xfrm>
        </p:spPr>
        <p:txBody>
          <a:bodyPr/>
          <a:lstStyle/>
          <a:p>
            <a:r>
              <a:rPr lang="en-US" altLang="en-US" dirty="0" smtClean="0"/>
              <a:t>The STL </a:t>
            </a:r>
            <a:r>
              <a:rPr lang="en-US" altLang="en-US" dirty="0" smtClean="0">
                <a:latin typeface="Courier New" panose="02070309020205020404" pitchFamily="49" charset="0"/>
              </a:rPr>
              <a:t>list</a:t>
            </a:r>
            <a:r>
              <a:rPr lang="en-US" altLang="en-US" dirty="0" smtClean="0"/>
              <a:t> and </a:t>
            </a:r>
            <a:r>
              <a:rPr lang="en-US" altLang="en-US" dirty="0" smtClean="0">
                <a:latin typeface="Courier New" panose="02070309020205020404" pitchFamily="49" charset="0"/>
                <a:cs typeface="Courier New" panose="02070309020205020404" pitchFamily="49" charset="0"/>
              </a:rPr>
              <a:t>forward_list</a:t>
            </a:r>
            <a:r>
              <a:rPr lang="en-US" altLang="en-US" dirty="0" smtClean="0"/>
              <a:t> Containers</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STL </a:t>
            </a:r>
            <a:r>
              <a:rPr lang="en-US" altLang="en-US" dirty="0">
                <a:latin typeface="Courier New" panose="02070309020205020404" pitchFamily="49" charset="0"/>
              </a:rPr>
              <a:t>list</a:t>
            </a:r>
            <a:r>
              <a:rPr lang="en-US" altLang="en-US" dirty="0"/>
              <a:t> </a:t>
            </a:r>
            <a:r>
              <a:rPr lang="en-US" altLang="en-US" dirty="0" smtClean="0"/>
              <a:t>Container</a:t>
            </a:r>
            <a:endParaRPr lang="en-IN" sz="1200" dirty="0"/>
          </a:p>
        </p:txBody>
      </p:sp>
      <p:sp>
        <p:nvSpPr>
          <p:cNvPr id="3" name="Content Placeholder 2"/>
          <p:cNvSpPr>
            <a:spLocks noGrp="1"/>
          </p:cNvSpPr>
          <p:nvPr>
            <p:ph idx="1"/>
          </p:nvPr>
        </p:nvSpPr>
        <p:spPr>
          <a:xfrm>
            <a:off x="317856" y="1735182"/>
            <a:ext cx="8229600" cy="4513218"/>
          </a:xfrm>
        </p:spPr>
        <p:txBody>
          <a:bodyPr/>
          <a:lstStyle/>
          <a:p>
            <a:pPr lvl="0">
              <a:spcBef>
                <a:spcPct val="30000"/>
              </a:spcBef>
              <a:buFontTx/>
              <a:buChar char="•"/>
            </a:pPr>
            <a:r>
              <a:rPr lang="en-US" altLang="en-US" sz="2400" dirty="0">
                <a:solidFill>
                  <a:srgbClr val="000000"/>
                </a:solidFill>
              </a:rPr>
              <a:t>Template for a doubly linked </a:t>
            </a:r>
            <a:r>
              <a:rPr lang="en-US" altLang="en-US" sz="2400" dirty="0" smtClean="0">
                <a:solidFill>
                  <a:srgbClr val="000000"/>
                </a:solidFill>
              </a:rPr>
              <a:t>list</a:t>
            </a:r>
            <a:endParaRPr lang="en-US" altLang="en-US" sz="2400" dirty="0">
              <a:solidFill>
                <a:srgbClr val="000000"/>
              </a:solidFill>
            </a:endParaRPr>
          </a:p>
          <a:p>
            <a:pPr lvl="0">
              <a:spcBef>
                <a:spcPts val="3800"/>
              </a:spcBef>
              <a:buFontTx/>
              <a:buChar char="•"/>
            </a:pPr>
            <a:r>
              <a:rPr lang="en-US" altLang="en-US" sz="2400" dirty="0">
                <a:solidFill>
                  <a:srgbClr val="000000"/>
                </a:solidFill>
              </a:rPr>
              <a:t>Member functions for</a:t>
            </a:r>
          </a:p>
          <a:p>
            <a:pPr lvl="1">
              <a:spcBef>
                <a:spcPct val="30000"/>
              </a:spcBef>
            </a:pPr>
            <a:r>
              <a:rPr lang="en-US" altLang="en-US" sz="2000" dirty="0">
                <a:solidFill>
                  <a:srgbClr val="000000"/>
                </a:solidFill>
              </a:rPr>
              <a:t>locating beginning, end of list: </a:t>
            </a:r>
            <a:r>
              <a:rPr lang="en-US" altLang="en-US" sz="2000" dirty="0">
                <a:solidFill>
                  <a:srgbClr val="000000"/>
                </a:solidFill>
                <a:latin typeface="Courier New" panose="02070309020205020404" pitchFamily="49" charset="0"/>
              </a:rPr>
              <a:t>front, back, end</a:t>
            </a:r>
            <a:endParaRPr lang="en-US" altLang="en-US" sz="2000" dirty="0">
              <a:solidFill>
                <a:srgbClr val="000000"/>
              </a:solidFill>
            </a:endParaRPr>
          </a:p>
          <a:p>
            <a:pPr lvl="1">
              <a:spcBef>
                <a:spcPct val="30000"/>
              </a:spcBef>
            </a:pPr>
            <a:r>
              <a:rPr lang="en-US" altLang="en-US" sz="2000" dirty="0">
                <a:solidFill>
                  <a:srgbClr val="000000"/>
                </a:solidFill>
              </a:rPr>
              <a:t>adding elements to the list: </a:t>
            </a:r>
            <a:r>
              <a:rPr lang="en-US" altLang="en-US" sz="2000" dirty="0">
                <a:solidFill>
                  <a:srgbClr val="000000"/>
                </a:solidFill>
                <a:latin typeface="Courier New" panose="02070309020205020404" pitchFamily="49" charset="0"/>
              </a:rPr>
              <a:t>insert, merge, push_back, push_front</a:t>
            </a:r>
            <a:endParaRPr lang="en-US" altLang="en-US" sz="2000" dirty="0">
              <a:solidFill>
                <a:srgbClr val="000000"/>
              </a:solidFill>
            </a:endParaRPr>
          </a:p>
          <a:p>
            <a:pPr lvl="1">
              <a:spcBef>
                <a:spcPct val="30000"/>
              </a:spcBef>
            </a:pPr>
            <a:r>
              <a:rPr lang="en-US" altLang="en-US" sz="2000" dirty="0">
                <a:solidFill>
                  <a:srgbClr val="000000"/>
                </a:solidFill>
              </a:rPr>
              <a:t>removing elements from the list: </a:t>
            </a:r>
            <a:r>
              <a:rPr lang="en-US" altLang="en-US" sz="2000" dirty="0">
                <a:solidFill>
                  <a:srgbClr val="000000"/>
                </a:solidFill>
                <a:latin typeface="Courier New" panose="02070309020205020404" pitchFamily="49" charset="0"/>
              </a:rPr>
              <a:t>erase, pop_back, pop_front, </a:t>
            </a:r>
            <a:r>
              <a:rPr lang="en-US" altLang="en-US" sz="2000" dirty="0" smtClean="0">
                <a:solidFill>
                  <a:srgbClr val="000000"/>
                </a:solidFill>
                <a:latin typeface="Courier New" panose="02070309020205020404" pitchFamily="49" charset="0"/>
              </a:rPr>
              <a:t>unique</a:t>
            </a:r>
            <a:endParaRPr lang="en-US" altLang="en-US" sz="2000" dirty="0">
              <a:solidFill>
                <a:srgbClr val="000000"/>
              </a:solidFill>
              <a:latin typeface="Courier New" panose="02070309020205020404" pitchFamily="49" charset="0"/>
            </a:endParaRPr>
          </a:p>
          <a:p>
            <a:pPr lvl="0">
              <a:spcBef>
                <a:spcPts val="3200"/>
              </a:spcBef>
              <a:buFontTx/>
              <a:buChar char="•"/>
            </a:pPr>
            <a:r>
              <a:rPr lang="en-US" altLang="en-US" sz="2400" dirty="0">
                <a:solidFill>
                  <a:srgbClr val="000000"/>
                </a:solidFill>
              </a:rPr>
              <a:t>See Table 18-1 for a list of constructors</a:t>
            </a:r>
          </a:p>
          <a:p>
            <a:pPr lvl="0">
              <a:spcBef>
                <a:spcPct val="30000"/>
              </a:spcBef>
              <a:buFontTx/>
              <a:buChar char="•"/>
            </a:pPr>
            <a:r>
              <a:rPr lang="en-US" altLang="en-US" sz="2400" dirty="0">
                <a:solidFill>
                  <a:srgbClr val="000000"/>
                </a:solidFill>
              </a:rPr>
              <a:t>See Table 18-2 for a list of member </a:t>
            </a:r>
            <a:r>
              <a:rPr lang="en-US" altLang="en-US" sz="2400" dirty="0" smtClean="0">
                <a:solidFill>
                  <a:srgbClr val="000000"/>
                </a:solidFill>
              </a:rPr>
              <a:t>functions</a:t>
            </a:r>
            <a:endParaRPr lang="en-US" altLang="en-US" sz="2400" dirty="0">
              <a:solidFill>
                <a:srgbClr val="000000"/>
              </a:solidFill>
            </a:endParaRPr>
          </a:p>
        </p:txBody>
      </p:sp>
    </p:spTree>
    <p:extLst>
      <p:ext uri="{BB962C8B-B14F-4D97-AF65-F5344CB8AC3E}">
        <p14:creationId xmlns:p14="http://schemas.microsoft.com/office/powerpoint/2010/main" val="39897702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STL </a:t>
            </a:r>
            <a:r>
              <a:rPr lang="en-US" altLang="en-US" dirty="0">
                <a:latin typeface="Courier New" panose="02070309020205020404" pitchFamily="49" charset="0"/>
              </a:rPr>
              <a:t>forward_list</a:t>
            </a:r>
            <a:r>
              <a:rPr lang="en-US" altLang="en-US" dirty="0"/>
              <a:t> Container</a:t>
            </a:r>
            <a:endParaRPr lang="en-IN" dirty="0"/>
          </a:p>
        </p:txBody>
      </p:sp>
      <p:sp>
        <p:nvSpPr>
          <p:cNvPr id="3" name="Content Placeholder 2"/>
          <p:cNvSpPr>
            <a:spLocks noGrp="1"/>
          </p:cNvSpPr>
          <p:nvPr>
            <p:ph idx="1"/>
          </p:nvPr>
        </p:nvSpPr>
        <p:spPr>
          <a:xfrm>
            <a:off x="317856" y="1739544"/>
            <a:ext cx="8064144" cy="4525963"/>
          </a:xfrm>
        </p:spPr>
        <p:txBody>
          <a:bodyPr/>
          <a:lstStyle/>
          <a:p>
            <a:pPr lvl="0">
              <a:spcBef>
                <a:spcPct val="30000"/>
              </a:spcBef>
              <a:buFontTx/>
              <a:buChar char="•"/>
            </a:pPr>
            <a:r>
              <a:rPr lang="en-US" altLang="en-US" sz="2400" dirty="0">
                <a:solidFill>
                  <a:srgbClr val="000000"/>
                </a:solidFill>
              </a:rPr>
              <a:t>Template for a singly linked </a:t>
            </a:r>
            <a:r>
              <a:rPr lang="en-US" altLang="en-US" sz="2400" dirty="0" smtClean="0">
                <a:solidFill>
                  <a:srgbClr val="000000"/>
                </a:solidFill>
              </a:rPr>
              <a:t>list</a:t>
            </a:r>
            <a:endParaRPr lang="en-US" altLang="en-US" sz="2400" dirty="0">
              <a:solidFill>
                <a:srgbClr val="000000"/>
              </a:solidFill>
            </a:endParaRPr>
          </a:p>
          <a:p>
            <a:pPr lvl="0">
              <a:spcBef>
                <a:spcPts val="3700"/>
              </a:spcBef>
              <a:buFontTx/>
              <a:buChar char="•"/>
            </a:pPr>
            <a:r>
              <a:rPr lang="en-US" altLang="en-US" sz="2400" dirty="0">
                <a:solidFill>
                  <a:srgbClr val="000000"/>
                </a:solidFill>
              </a:rPr>
              <a:t>You can only step forward in a </a:t>
            </a:r>
            <a:r>
              <a:rPr lang="en-US" altLang="en-US" sz="2400" dirty="0">
                <a:solidFill>
                  <a:srgbClr val="000000"/>
                </a:solidFill>
                <a:latin typeface="Courier New" panose="02070309020205020404" pitchFamily="49" charset="0"/>
                <a:cs typeface="Courier New" panose="02070309020205020404" pitchFamily="49" charset="0"/>
              </a:rPr>
              <a:t>forward_list</a:t>
            </a:r>
            <a:r>
              <a:rPr lang="en-US" altLang="en-US" sz="2400" dirty="0" smtClean="0">
                <a:solidFill>
                  <a:srgbClr val="000000"/>
                </a:solidFill>
              </a:rPr>
              <a:t>.</a:t>
            </a:r>
            <a:endParaRPr lang="en-US" altLang="en-US" sz="2400" dirty="0">
              <a:solidFill>
                <a:srgbClr val="000000"/>
              </a:solidFill>
            </a:endParaRPr>
          </a:p>
          <a:p>
            <a:pPr lvl="0">
              <a:spcBef>
                <a:spcPts val="3700"/>
              </a:spcBef>
              <a:buFontTx/>
              <a:buChar char="•"/>
            </a:pPr>
            <a:r>
              <a:rPr lang="en-US" altLang="en-US" sz="2400" dirty="0">
                <a:solidFill>
                  <a:srgbClr val="000000"/>
                </a:solidFill>
              </a:rPr>
              <a:t>A </a:t>
            </a:r>
            <a:r>
              <a:rPr lang="en-US" altLang="en-US" sz="2400" dirty="0">
                <a:solidFill>
                  <a:srgbClr val="000000"/>
                </a:solidFill>
                <a:latin typeface="Courier New" panose="02070309020205020404" pitchFamily="49" charset="0"/>
                <a:cs typeface="Courier New" panose="02070309020205020404" pitchFamily="49" charset="0"/>
              </a:rPr>
              <a:t>forward_list</a:t>
            </a:r>
            <a:r>
              <a:rPr lang="en-US" altLang="en-US" sz="2400" dirty="0">
                <a:solidFill>
                  <a:srgbClr val="000000"/>
                </a:solidFill>
              </a:rPr>
              <a:t> uses slightly less memory than a </a:t>
            </a:r>
            <a:r>
              <a:rPr lang="en-US" altLang="en-US" sz="2400" dirty="0">
                <a:solidFill>
                  <a:srgbClr val="000000"/>
                </a:solidFill>
                <a:latin typeface="Courier New" panose="02070309020205020404" pitchFamily="49" charset="0"/>
                <a:cs typeface="Courier New" panose="02070309020205020404" pitchFamily="49" charset="0"/>
              </a:rPr>
              <a:t>list</a:t>
            </a:r>
            <a:r>
              <a:rPr lang="en-US" altLang="en-US" sz="2400" dirty="0">
                <a:solidFill>
                  <a:srgbClr val="000000"/>
                </a:solidFill>
              </a:rPr>
              <a:t>, and has takes slightly less time for inserting and removing nodes</a:t>
            </a:r>
            <a:r>
              <a:rPr lang="en-US" altLang="en-US" sz="2400" dirty="0" smtClean="0">
                <a:solidFill>
                  <a:srgbClr val="000000"/>
                </a:solidFill>
              </a:rPr>
              <a:t>.</a:t>
            </a:r>
            <a:endParaRPr lang="en-US" altLang="en-US" sz="2400" dirty="0">
              <a:solidFill>
                <a:srgbClr val="000000"/>
              </a:solidFill>
            </a:endParaRPr>
          </a:p>
          <a:p>
            <a:pPr lvl="0">
              <a:spcBef>
                <a:spcPts val="3700"/>
              </a:spcBef>
              <a:buFontTx/>
              <a:buChar char="•"/>
            </a:pPr>
            <a:r>
              <a:rPr lang="en-US" altLang="en-US" sz="2400" dirty="0">
                <a:solidFill>
                  <a:srgbClr val="000000"/>
                </a:solidFill>
              </a:rPr>
              <a:t>Provides most, but not all, of the same member functions as the </a:t>
            </a:r>
            <a:r>
              <a:rPr lang="en-US" altLang="en-US" sz="2400" dirty="0">
                <a:solidFill>
                  <a:srgbClr val="000000"/>
                </a:solidFill>
                <a:latin typeface="Courier New" panose="02070309020205020404" pitchFamily="49" charset="0"/>
                <a:cs typeface="Courier New" panose="02070309020205020404" pitchFamily="49" charset="0"/>
              </a:rPr>
              <a:t>list</a:t>
            </a:r>
            <a:r>
              <a:rPr lang="en-US" altLang="en-US" sz="2400" dirty="0">
                <a:solidFill>
                  <a:srgbClr val="000000"/>
                </a:solidFill>
              </a:rPr>
              <a:t> </a:t>
            </a:r>
            <a:r>
              <a:rPr lang="en-US" altLang="en-US" sz="2400" dirty="0" smtClean="0">
                <a:solidFill>
                  <a:srgbClr val="000000"/>
                </a:solidFill>
              </a:rPr>
              <a:t>container</a:t>
            </a:r>
            <a:endParaRPr lang="en-US" altLang="en-US" sz="2400" dirty="0">
              <a:solidFill>
                <a:srgbClr val="000000"/>
              </a:solidFill>
            </a:endParaRPr>
          </a:p>
        </p:txBody>
      </p:sp>
    </p:spTree>
    <p:extLst>
      <p:ext uri="{BB962C8B-B14F-4D97-AF65-F5344CB8AC3E}">
        <p14:creationId xmlns:p14="http://schemas.microsoft.com/office/powerpoint/2010/main" val="2094955129"/>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2C71FBD443DB645BC32CB9A99CF976B" ma:contentTypeVersion="17" ma:contentTypeDescription="Create a new document." ma:contentTypeScope="" ma:versionID="39a3bbf795037644b9fd5734deb0019b">
  <xsd:schema xmlns:xsd="http://www.w3.org/2001/XMLSchema" xmlns:xs="http://www.w3.org/2001/XMLSchema" xmlns:p="http://schemas.microsoft.com/office/2006/metadata/properties" xmlns:ns1="http://schemas.microsoft.com/sharepoint/v3" xmlns:ns2="a29706ce-7dd9-430f-9203-d15122c9954d" xmlns:ns3="564477d5-28bc-4281-951a-a6595459d476" targetNamespace="http://schemas.microsoft.com/office/2006/metadata/properties" ma:root="true" ma:fieldsID="6bd08733601efdedf8e3b4f70a48190e" ns1:_="" ns2:_="" ns3:_="">
    <xsd:import namespace="http://schemas.microsoft.com/sharepoint/v3"/>
    <xsd:import namespace="a29706ce-7dd9-430f-9203-d15122c9954d"/>
    <xsd:import namespace="564477d5-28bc-4281-951a-a6595459d476"/>
    <xsd:element name="properties">
      <xsd:complexType>
        <xsd:sequence>
          <xsd:element name="documentManagement">
            <xsd:complexType>
              <xsd:all>
                <xsd:element ref="ns2:MediaServiceMetadata" minOccurs="0"/>
                <xsd:element ref="ns2:MediaServiceFastMetadata" minOccurs="0"/>
                <xsd:element ref="ns2:MediaLengthInSecond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ObjectDetectorVersions" minOccurs="0"/>
                <xsd:element ref="ns2:MediaServiceLocation" minOccurs="0"/>
                <xsd:element ref="ns1:_ip_UnifiedCompliancePolicyProperties" minOccurs="0"/>
                <xsd:element ref="ns1:_ip_UnifiedCompliancePolicyUIAc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2" nillable="true" ma:displayName="Unified Compliance Policy Properties" ma:hidden="true" ma:internalName="_ip_UnifiedCompliancePolicyProperties">
      <xsd:simpleType>
        <xsd:restriction base="dms:Note"/>
      </xsd:simpleType>
    </xsd:element>
    <xsd:element name="_ip_UnifiedCompliancePolicyUIAction" ma:index="2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9706ce-7dd9-430f-9203-d15122c995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MediaLengthInSeconds" ma:hidden="true" ma:internalName="MediaLengthInSeconds" ma:readOnly="true">
      <xsd:simpleType>
        <xsd:restriction base="dms:Unknown"/>
      </xsd:simpleType>
    </xsd:element>
    <xsd:element name="MediaServiceDateTaken" ma:index="11" nillable="true" ma:displayName="MediaServiceDateTaken" ma:hidden="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fab9d10e-cf46-43c3-8dbe-852b4cfb5ddc"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64477d5-28bc-4281-951a-a6595459d47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8a014298-9250-4e8d-9453-de0460558e4e}" ma:internalName="TaxCatchAll" ma:showField="CatchAllData" ma:web="564477d5-28bc-4281-951a-a6595459d476">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564477d5-28bc-4281-951a-a6595459d476" xsi:nil="true"/>
    <_ip_UnifiedCompliancePolicyUIAction xmlns="http://schemas.microsoft.com/sharepoint/v3" xsi:nil="true"/>
    <_ip_UnifiedCompliancePolicyProperties xmlns="http://schemas.microsoft.com/sharepoint/v3" xsi:nil="true"/>
    <lcf76f155ced4ddcb4097134ff3c332f xmlns="a29706ce-7dd9-430f-9203-d15122c9954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7C507AFE-C08C-4B77-86EE-71FED22CF8AF}"/>
</file>

<file path=customXml/itemProps2.xml><?xml version="1.0" encoding="utf-8"?>
<ds:datastoreItem xmlns:ds="http://schemas.openxmlformats.org/officeDocument/2006/customXml" ds:itemID="{45976E4E-93D4-472F-8970-9FD582F94A64}"/>
</file>

<file path=customXml/itemProps3.xml><?xml version="1.0" encoding="utf-8"?>
<ds:datastoreItem xmlns:ds="http://schemas.openxmlformats.org/officeDocument/2006/customXml" ds:itemID="{CED8C9F8-7198-4092-8538-EEE815149999}"/>
</file>

<file path=docProps/app.xml><?xml version="1.0" encoding="utf-8"?>
<Properties xmlns="http://schemas.openxmlformats.org/officeDocument/2006/extended-properties" xmlns:vt="http://schemas.openxmlformats.org/officeDocument/2006/docPropsVTypes">
  <Template/>
  <TotalTime>1259</TotalTime>
  <Words>1153</Words>
  <Application>Microsoft Office PowerPoint</Application>
  <PresentationFormat>On-screen Show (4:3)</PresentationFormat>
  <Paragraphs>156</Paragraphs>
  <Slides>50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50</vt:i4>
      </vt:variant>
    </vt:vector>
  </HeadingPairs>
  <TitlesOfParts>
    <vt:vector size="55" baseType="lpstr">
      <vt:lpstr>Arial</vt:lpstr>
      <vt:lpstr>Calibri</vt:lpstr>
      <vt:lpstr>Courier New</vt:lpstr>
      <vt:lpstr>Times New Roman</vt:lpstr>
      <vt:lpstr>Default Design</vt:lpstr>
      <vt:lpstr>Chapter 18: Linked Lists</vt:lpstr>
      <vt:lpstr>18.1</vt:lpstr>
      <vt:lpstr>Introduction to the Linked List ADT (1 of 2)</vt:lpstr>
      <vt:lpstr>Introduction to the Linked List ADT (2 of 2)</vt:lpstr>
      <vt:lpstr>Linked Lists vs. Arrays and Vectors</vt:lpstr>
      <vt:lpstr>Node Organization</vt:lpstr>
      <vt:lpstr>Linked List Organization</vt:lpstr>
      <vt:lpstr>Empty List</vt:lpstr>
      <vt:lpstr>Declaring a Node</vt:lpstr>
      <vt:lpstr>Defining a Linked List</vt:lpstr>
      <vt:lpstr>The Null Pointer</vt:lpstr>
      <vt:lpstr>18.2</vt:lpstr>
      <vt:lpstr>Linked List Operations</vt:lpstr>
      <vt:lpstr>Contents of NumberList.h (1 of 2)</vt:lpstr>
      <vt:lpstr>Contents of NumberList.h (2 of 2)</vt:lpstr>
      <vt:lpstr>Create a New Node</vt:lpstr>
      <vt:lpstr>Appending a Node (1 of 3)</vt:lpstr>
      <vt:lpstr>Appending a Node (2 of 3)</vt:lpstr>
      <vt:lpstr>Appending a Node (3 of 3)</vt:lpstr>
      <vt:lpstr>C++ code for Appending a Node (1 of 2)</vt:lpstr>
      <vt:lpstr>C++ code for Appending a Node (2 of 2)</vt:lpstr>
      <vt:lpstr> </vt:lpstr>
      <vt:lpstr>Inserting a Node into a Linked List  (1 of 3)</vt:lpstr>
      <vt:lpstr>Inserting a Node into a Linked List  (2 of 3)</vt:lpstr>
      <vt:lpstr>Inserting a Node into a Linked List  (3 of 3)</vt:lpstr>
      <vt:lpstr>  </vt:lpstr>
      <vt:lpstr>   </vt:lpstr>
      <vt:lpstr>    </vt:lpstr>
      <vt:lpstr>Traversing a Linked List (1 of 2)</vt:lpstr>
      <vt:lpstr>Traversing a Linked List (2 of 2)</vt:lpstr>
      <vt:lpstr>Deleting a Node (1 of 4)</vt:lpstr>
      <vt:lpstr>Deleting a Node (2 of 4)</vt:lpstr>
      <vt:lpstr>Deleting a Node (3 of 4)</vt:lpstr>
      <vt:lpstr>Deleting a Node (4 of 4)</vt:lpstr>
      <vt:lpstr>     </vt:lpstr>
      <vt:lpstr>      </vt:lpstr>
      <vt:lpstr>       </vt:lpstr>
      <vt:lpstr>        </vt:lpstr>
      <vt:lpstr>         </vt:lpstr>
      <vt:lpstr>          </vt:lpstr>
      <vt:lpstr>Destroying a Linked List</vt:lpstr>
      <vt:lpstr>           </vt:lpstr>
      <vt:lpstr>18.3</vt:lpstr>
      <vt:lpstr>A Linked List Template</vt:lpstr>
      <vt:lpstr>18.4</vt:lpstr>
      <vt:lpstr>Variations of the Linked List (1 of 2)</vt:lpstr>
      <vt:lpstr>Variations of the Linked List (2 of 2)</vt:lpstr>
      <vt:lpstr>18.5</vt:lpstr>
      <vt:lpstr>The STL list Container</vt:lpstr>
      <vt:lpstr>The STL forward_list Container</vt:lpstr>
    </vt:vector>
  </TitlesOfParts>
  <Company>PEARSON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dc:title>
  <dc:subject>Introduction to C++</dc:subject>
  <dc:creator>Tony Gaddis</dc:creator>
  <cp:lastModifiedBy>codemantra</cp:lastModifiedBy>
  <cp:revision>237</cp:revision>
  <dcterms:created xsi:type="dcterms:W3CDTF">2011-02-16T20:47:20Z</dcterms:created>
  <dcterms:modified xsi:type="dcterms:W3CDTF">2021-08-19T12:51:05Z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0x01010012C71FBD443DB645BC32CB9A99CF976B</vt:lpwstr>
  </property>
</Properties>
</file>